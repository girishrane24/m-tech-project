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theme/themeOverride1.xml" ContentType="application/vnd.openxmlformats-officedocument.themeOverrid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theme/themeOverride2.xml" ContentType="application/vnd.openxmlformats-officedocument.themeOverrid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theme/themeOverride3.xml" ContentType="application/vnd.openxmlformats-officedocument.themeOverride+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5.xml" ContentType="application/vnd.openxmlformats-officedocument.drawingml.chart+xml"/>
  <Override PartName="/ppt/charts/style35.xml" ContentType="application/vnd.ms-office.chartstyle+xml"/>
  <Override PartName="/ppt/charts/colors35.xml" ContentType="application/vnd.ms-office.chartcolorstyle+xml"/>
  <Override PartName="/ppt/theme/themeOverride4.xml" ContentType="application/vnd.openxmlformats-officedocument.themeOverride+xml"/>
  <Override PartName="/ppt/charts/chart36.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37.xml" ContentType="application/vnd.openxmlformats-officedocument.drawingml.chart+xml"/>
  <Override PartName="/ppt/charts/style37.xml" ContentType="application/vnd.ms-office.chartstyle+xml"/>
  <Override PartName="/ppt/charts/colors37.xml" ContentType="application/vnd.ms-office.chartcolorstyle+xml"/>
  <Override PartName="/ppt/theme/themeOverride5.xml" ContentType="application/vnd.openxmlformats-officedocument.themeOverride+xml"/>
  <Override PartName="/ppt/charts/chart38.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39.xml" ContentType="application/vnd.openxmlformats-officedocument.drawingml.chart+xml"/>
  <Override PartName="/ppt/charts/style39.xml" ContentType="application/vnd.ms-office.chartstyle+xml"/>
  <Override PartName="/ppt/charts/colors39.xml" ContentType="application/vnd.ms-office.chartcolorstyle+xml"/>
  <Override PartName="/ppt/charts/chart40.xml" ContentType="application/vnd.openxmlformats-officedocument.drawingml.chart+xml"/>
  <Override PartName="/ppt/charts/style40.xml" ContentType="application/vnd.ms-office.chartstyle+xml"/>
  <Override PartName="/ppt/charts/colors40.xml" ContentType="application/vnd.ms-office.chartcolorstyle+xml"/>
  <Override PartName="/ppt/charts/chart41.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42.xml" ContentType="application/vnd.openxmlformats-officedocument.drawingml.chart+xml"/>
  <Override PartName="/ppt/charts/style42.xml" ContentType="application/vnd.ms-office.chartstyle+xml"/>
  <Override PartName="/ppt/charts/colors42.xml" ContentType="application/vnd.ms-office.chartcolorstyle+xml"/>
  <Override PartName="/ppt/charts/chart43.xml" ContentType="application/vnd.openxmlformats-officedocument.drawingml.chart+xml"/>
  <Override PartName="/ppt/charts/style43.xml" ContentType="application/vnd.ms-office.chartstyle+xml"/>
  <Override PartName="/ppt/charts/colors43.xml" ContentType="application/vnd.ms-office.chartcolorstyle+xml"/>
  <Override PartName="/ppt/charts/chart44.xml" ContentType="application/vnd.openxmlformats-officedocument.drawingml.chart+xml"/>
  <Override PartName="/ppt/charts/style44.xml" ContentType="application/vnd.ms-office.chartstyle+xml"/>
  <Override PartName="/ppt/charts/colors44.xml" ContentType="application/vnd.ms-office.chartcolorstyle+xml"/>
  <Override PartName="/ppt/charts/chart45.xml" ContentType="application/vnd.openxmlformats-officedocument.drawingml.chart+xml"/>
  <Override PartName="/ppt/charts/style45.xml" ContentType="application/vnd.ms-office.chartstyle+xml"/>
  <Override PartName="/ppt/charts/colors45.xml" ContentType="application/vnd.ms-office.chartcolorstyle+xml"/>
  <Override PartName="/ppt/charts/chart46.xml" ContentType="application/vnd.openxmlformats-officedocument.drawingml.chart+xml"/>
  <Override PartName="/ppt/charts/style46.xml" ContentType="application/vnd.ms-office.chartstyle+xml"/>
  <Override PartName="/ppt/charts/colors46.xml" ContentType="application/vnd.ms-office.chartcolorstyle+xml"/>
  <Override PartName="/ppt/charts/chart47.xml" ContentType="application/vnd.openxmlformats-officedocument.drawingml.chart+xml"/>
  <Override PartName="/ppt/charts/style47.xml" ContentType="application/vnd.ms-office.chartstyle+xml"/>
  <Override PartName="/ppt/charts/colors47.xml" ContentType="application/vnd.ms-office.chartcolorstyle+xml"/>
  <Override PartName="/ppt/charts/chart48.xml" ContentType="application/vnd.openxmlformats-officedocument.drawingml.chart+xml"/>
  <Override PartName="/ppt/charts/style48.xml" ContentType="application/vnd.ms-office.chartstyle+xml"/>
  <Override PartName="/ppt/charts/colors48.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8" r:id="rId1"/>
  </p:sldMasterIdLst>
  <p:notesMasterIdLst>
    <p:notesMasterId r:id="rId94"/>
  </p:notesMasterIdLst>
  <p:handoutMasterIdLst>
    <p:handoutMasterId r:id="rId95"/>
  </p:handoutMasterIdLst>
  <p:sldIdLst>
    <p:sldId id="256" r:id="rId2"/>
    <p:sldId id="371" r:id="rId3"/>
    <p:sldId id="406" r:id="rId4"/>
    <p:sldId id="372" r:id="rId5"/>
    <p:sldId id="523" r:id="rId6"/>
    <p:sldId id="524" r:id="rId7"/>
    <p:sldId id="525" r:id="rId8"/>
    <p:sldId id="373" r:id="rId9"/>
    <p:sldId id="384" r:id="rId10"/>
    <p:sldId id="383" r:id="rId11"/>
    <p:sldId id="386" r:id="rId12"/>
    <p:sldId id="387" r:id="rId13"/>
    <p:sldId id="439" r:id="rId14"/>
    <p:sldId id="475" r:id="rId15"/>
    <p:sldId id="438" r:id="rId16"/>
    <p:sldId id="497" r:id="rId17"/>
    <p:sldId id="440" r:id="rId18"/>
    <p:sldId id="498" r:id="rId19"/>
    <p:sldId id="441" r:id="rId20"/>
    <p:sldId id="499" r:id="rId21"/>
    <p:sldId id="442" r:id="rId22"/>
    <p:sldId id="500" r:id="rId23"/>
    <p:sldId id="443" r:id="rId24"/>
    <p:sldId id="501" r:id="rId25"/>
    <p:sldId id="444" r:id="rId26"/>
    <p:sldId id="502" r:id="rId27"/>
    <p:sldId id="445" r:id="rId28"/>
    <p:sldId id="503" r:id="rId29"/>
    <p:sldId id="446" r:id="rId30"/>
    <p:sldId id="504" r:id="rId31"/>
    <p:sldId id="447" r:id="rId32"/>
    <p:sldId id="505" r:id="rId33"/>
    <p:sldId id="448" r:id="rId34"/>
    <p:sldId id="449" r:id="rId35"/>
    <p:sldId id="453" r:id="rId36"/>
    <p:sldId id="456" r:id="rId37"/>
    <p:sldId id="455" r:id="rId38"/>
    <p:sldId id="506" r:id="rId39"/>
    <p:sldId id="460" r:id="rId40"/>
    <p:sldId id="507" r:id="rId41"/>
    <p:sldId id="457" r:id="rId42"/>
    <p:sldId id="521" r:id="rId43"/>
    <p:sldId id="461" r:id="rId44"/>
    <p:sldId id="508" r:id="rId45"/>
    <p:sldId id="458" r:id="rId46"/>
    <p:sldId id="510" r:id="rId47"/>
    <p:sldId id="462" r:id="rId48"/>
    <p:sldId id="511" r:id="rId49"/>
    <p:sldId id="459" r:id="rId50"/>
    <p:sldId id="463" r:id="rId51"/>
    <p:sldId id="464" r:id="rId52"/>
    <p:sldId id="512" r:id="rId53"/>
    <p:sldId id="466" r:id="rId54"/>
    <p:sldId id="513" r:id="rId55"/>
    <p:sldId id="467" r:id="rId56"/>
    <p:sldId id="514" r:id="rId57"/>
    <p:sldId id="468" r:id="rId58"/>
    <p:sldId id="515" r:id="rId59"/>
    <p:sldId id="469" r:id="rId60"/>
    <p:sldId id="516" r:id="rId61"/>
    <p:sldId id="470" r:id="rId62"/>
    <p:sldId id="517" r:id="rId63"/>
    <p:sldId id="471" r:id="rId64"/>
    <p:sldId id="518" r:id="rId65"/>
    <p:sldId id="473" r:id="rId66"/>
    <p:sldId id="519" r:id="rId67"/>
    <p:sldId id="472" r:id="rId68"/>
    <p:sldId id="520" r:id="rId69"/>
    <p:sldId id="465" r:id="rId70"/>
    <p:sldId id="474" r:id="rId71"/>
    <p:sldId id="476" r:id="rId72"/>
    <p:sldId id="477" r:id="rId73"/>
    <p:sldId id="478" r:id="rId74"/>
    <p:sldId id="480" r:id="rId75"/>
    <p:sldId id="481" r:id="rId76"/>
    <p:sldId id="482" r:id="rId77"/>
    <p:sldId id="479" r:id="rId78"/>
    <p:sldId id="483" r:id="rId79"/>
    <p:sldId id="484" r:id="rId80"/>
    <p:sldId id="485" r:id="rId81"/>
    <p:sldId id="486" r:id="rId82"/>
    <p:sldId id="487" r:id="rId83"/>
    <p:sldId id="488" r:id="rId84"/>
    <p:sldId id="489" r:id="rId85"/>
    <p:sldId id="490" r:id="rId86"/>
    <p:sldId id="491" r:id="rId87"/>
    <p:sldId id="492" r:id="rId88"/>
    <p:sldId id="522" r:id="rId89"/>
    <p:sldId id="493" r:id="rId90"/>
    <p:sldId id="494" r:id="rId91"/>
    <p:sldId id="495" r:id="rId92"/>
    <p:sldId id="496" r:id="rId9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2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04" autoAdjust="0"/>
    <p:restoredTop sz="90894" autoAdjust="0"/>
  </p:normalViewPr>
  <p:slideViewPr>
    <p:cSldViewPr>
      <p:cViewPr varScale="1">
        <p:scale>
          <a:sx n="56" d="100"/>
          <a:sy n="56" d="100"/>
        </p:scale>
        <p:origin x="78" y="282"/>
      </p:cViewPr>
      <p:guideLst>
        <p:guide orient="horz" pos="2160"/>
        <p:guide pos="2880"/>
        <p:guide orient="horz" pos="22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1.xml"/><Relationship Id="rId1" Type="http://schemas.microsoft.com/office/2011/relationships/chartStyle" Target="style21.xml"/><Relationship Id="rId4" Type="http://schemas.openxmlformats.org/officeDocument/2006/relationships/oleObject" Target="file:///C:\Users\giris\OneDrive\Desktop\dataset%20for%20m%20tech%20project_new\sem%20%20ppt\all%20tables.xlsx" TargetMode="External"/></Relationships>
</file>

<file path=ppt/charts/_rels/chart22.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1.xml"/><Relationship Id="rId1" Type="http://schemas.microsoft.com/office/2011/relationships/chartStyle" Target="style31.xml"/><Relationship Id="rId4" Type="http://schemas.openxmlformats.org/officeDocument/2006/relationships/oleObject" Target="file:///C:\Users\giris\OneDrive\Desktop\dataset%20for%20m%20tech%20project_new\sem%20%20ppt\all%20tables.xlsx" TargetMode="External"/></Relationships>
</file>

<file path=ppt/charts/_rels/chart32.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32.xml"/><Relationship Id="rId1" Type="http://schemas.microsoft.com/office/2011/relationships/chartStyle" Target="style32.xml"/></Relationships>
</file>

<file path=ppt/charts/_rels/chart3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3.xml"/><Relationship Id="rId1" Type="http://schemas.microsoft.com/office/2011/relationships/chartStyle" Target="style33.xml"/><Relationship Id="rId4" Type="http://schemas.openxmlformats.org/officeDocument/2006/relationships/oleObject" Target="file:///C:\Users\giris\OneDrive\Desktop\dataset%20for%20m%20tech%20project_new\sem%20%20ppt\all%20tables.xlsx" TargetMode="External"/></Relationships>
</file>

<file path=ppt/charts/_rels/chart34.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34.xml"/><Relationship Id="rId1" Type="http://schemas.microsoft.com/office/2011/relationships/chartStyle" Target="style34.xml"/></Relationships>
</file>

<file path=ppt/charts/_rels/chart35.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35.xml"/><Relationship Id="rId1" Type="http://schemas.microsoft.com/office/2011/relationships/chartStyle" Target="style35.xml"/><Relationship Id="rId4" Type="http://schemas.openxmlformats.org/officeDocument/2006/relationships/oleObject" Target="file:///C:\Users\giris\OneDrive\Desktop\dataset%20for%20m%20tech%20project_new\sem%20%20ppt\all%20tables.xlsx" TargetMode="External"/></Relationships>
</file>

<file path=ppt/charts/_rels/chart36.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36.xml"/><Relationship Id="rId1" Type="http://schemas.microsoft.com/office/2011/relationships/chartStyle" Target="style36.xml"/></Relationships>
</file>

<file path=ppt/charts/_rels/chart37.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37.xml"/><Relationship Id="rId1" Type="http://schemas.microsoft.com/office/2011/relationships/chartStyle" Target="style37.xml"/><Relationship Id="rId4" Type="http://schemas.openxmlformats.org/officeDocument/2006/relationships/oleObject" Target="file:///C:\Users\giris\OneDrive\Desktop\dataset%20for%20m%20tech%20project_new\sem%20%20ppt\all%20tables.xlsx" TargetMode="External"/></Relationships>
</file>

<file path=ppt/charts/_rels/chart38.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38.xml"/><Relationship Id="rId1" Type="http://schemas.microsoft.com/office/2011/relationships/chartStyle" Target="style38.xml"/></Relationships>
</file>

<file path=ppt/charts/_rels/chart39.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39.xml"/><Relationship Id="rId1" Type="http://schemas.microsoft.com/office/2011/relationships/chartStyle" Target="style39.xml"/></Relationships>
</file>

<file path=ppt/charts/_rels/chart40.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40.xml"/><Relationship Id="rId1" Type="http://schemas.microsoft.com/office/2011/relationships/chartStyle" Target="style40.xml"/></Relationships>
</file>

<file path=ppt/charts/_rels/chart41.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41.xml"/><Relationship Id="rId1" Type="http://schemas.microsoft.com/office/2011/relationships/chartStyle" Target="style41.xml"/></Relationships>
</file>

<file path=ppt/charts/_rels/chart42.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42.xml"/><Relationship Id="rId1" Type="http://schemas.microsoft.com/office/2011/relationships/chartStyle" Target="style42.xml"/></Relationships>
</file>

<file path=ppt/charts/_rels/chart43.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43.xml"/><Relationship Id="rId1" Type="http://schemas.microsoft.com/office/2011/relationships/chartStyle" Target="style43.xml"/></Relationships>
</file>

<file path=ppt/charts/_rels/chart44.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44.xml"/><Relationship Id="rId1" Type="http://schemas.microsoft.com/office/2011/relationships/chartStyle" Target="style44.xml"/></Relationships>
</file>

<file path=ppt/charts/_rels/chart45.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45.xml"/><Relationship Id="rId1" Type="http://schemas.microsoft.com/office/2011/relationships/chartStyle" Target="style45.xml"/></Relationships>
</file>

<file path=ppt/charts/_rels/chart46.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46.xml"/><Relationship Id="rId1" Type="http://schemas.microsoft.com/office/2011/relationships/chartStyle" Target="style46.xml"/></Relationships>
</file>

<file path=ppt/charts/_rels/chart47.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47.xml"/><Relationship Id="rId1" Type="http://schemas.microsoft.com/office/2011/relationships/chartStyle" Target="style47.xml"/></Relationships>
</file>

<file path=ppt/charts/_rels/chart48.xml.rels><?xml version="1.0" encoding="UTF-8" standalone="yes"?>
<Relationships xmlns="http://schemas.openxmlformats.org/package/2006/relationships"><Relationship Id="rId3" Type="http://schemas.openxmlformats.org/officeDocument/2006/relationships/oleObject" Target="file:///C:\Users\giris\OneDrive\Desktop\dataset%20for%20m%20tech%20project_new\sem%20%20ppt\all%20tables.xlsx" TargetMode="External"/><Relationship Id="rId2" Type="http://schemas.microsoft.com/office/2011/relationships/chartColorStyle" Target="colors48.xml"/><Relationship Id="rId1" Type="http://schemas.microsoft.com/office/2011/relationships/chartStyle" Target="style4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Analysis</a:t>
            </a:r>
            <a:r>
              <a:rPr lang="en-IN" baseline="0"/>
              <a:t> of MFCC(13) Features</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Sheet1!$AH$125</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Sheet1!$AG$126:$AG$135</c:f>
              <c:strCache>
                <c:ptCount val="10"/>
                <c:pt idx="0">
                  <c:v>RB</c:v>
                </c:pt>
                <c:pt idx="1">
                  <c:v>GT</c:v>
                </c:pt>
                <c:pt idx="2">
                  <c:v>WW</c:v>
                </c:pt>
                <c:pt idx="3">
                  <c:v>EF</c:v>
                </c:pt>
                <c:pt idx="4">
                  <c:v>CB</c:v>
                </c:pt>
                <c:pt idx="5">
                  <c:v>CR</c:v>
                </c:pt>
                <c:pt idx="6">
                  <c:v>GW</c:v>
                </c:pt>
                <c:pt idx="7">
                  <c:v>BJ</c:v>
                </c:pt>
                <c:pt idx="8">
                  <c:v>CS</c:v>
                </c:pt>
                <c:pt idx="9">
                  <c:v>WD</c:v>
                </c:pt>
              </c:strCache>
            </c:strRef>
          </c:cat>
          <c:val>
            <c:numRef>
              <c:f>Sheet1!$AH$126:$AH$135</c:f>
              <c:numCache>
                <c:formatCode>General</c:formatCode>
                <c:ptCount val="10"/>
                <c:pt idx="0">
                  <c:v>0.88</c:v>
                </c:pt>
                <c:pt idx="1">
                  <c:v>0.68</c:v>
                </c:pt>
                <c:pt idx="2">
                  <c:v>0.63</c:v>
                </c:pt>
                <c:pt idx="3">
                  <c:v>0.62</c:v>
                </c:pt>
                <c:pt idx="4">
                  <c:v>0.74</c:v>
                </c:pt>
                <c:pt idx="5">
                  <c:v>0.81</c:v>
                </c:pt>
                <c:pt idx="6">
                  <c:v>0.73</c:v>
                </c:pt>
                <c:pt idx="7">
                  <c:v>0.85</c:v>
                </c:pt>
                <c:pt idx="8">
                  <c:v>0.66</c:v>
                </c:pt>
                <c:pt idx="9">
                  <c:v>0.73</c:v>
                </c:pt>
              </c:numCache>
            </c:numRef>
          </c:val>
          <c:smooth val="0"/>
          <c:extLst>
            <c:ext xmlns:c16="http://schemas.microsoft.com/office/drawing/2014/chart" uri="{C3380CC4-5D6E-409C-BE32-E72D297353CC}">
              <c16:uniqueId val="{00000000-4C56-4CD4-8138-1B0649D5A1AD}"/>
            </c:ext>
          </c:extLst>
        </c:ser>
        <c:ser>
          <c:idx val="1"/>
          <c:order val="1"/>
          <c:tx>
            <c:strRef>
              <c:f>Sheet1!$AI$125</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Sheet1!$AG$126:$AG$135</c:f>
              <c:strCache>
                <c:ptCount val="10"/>
                <c:pt idx="0">
                  <c:v>RB</c:v>
                </c:pt>
                <c:pt idx="1">
                  <c:v>GT</c:v>
                </c:pt>
                <c:pt idx="2">
                  <c:v>WW</c:v>
                </c:pt>
                <c:pt idx="3">
                  <c:v>EF</c:v>
                </c:pt>
                <c:pt idx="4">
                  <c:v>CB</c:v>
                </c:pt>
                <c:pt idx="5">
                  <c:v>CR</c:v>
                </c:pt>
                <c:pt idx="6">
                  <c:v>GW</c:v>
                </c:pt>
                <c:pt idx="7">
                  <c:v>BJ</c:v>
                </c:pt>
                <c:pt idx="8">
                  <c:v>CS</c:v>
                </c:pt>
                <c:pt idx="9">
                  <c:v>WD</c:v>
                </c:pt>
              </c:strCache>
            </c:strRef>
          </c:cat>
          <c:val>
            <c:numRef>
              <c:f>Sheet1!$AI$126:$AI$135</c:f>
              <c:numCache>
                <c:formatCode>General</c:formatCode>
                <c:ptCount val="10"/>
                <c:pt idx="0">
                  <c:v>0.88</c:v>
                </c:pt>
                <c:pt idx="1">
                  <c:v>0.72</c:v>
                </c:pt>
                <c:pt idx="2">
                  <c:v>0.63</c:v>
                </c:pt>
                <c:pt idx="3">
                  <c:v>0.38</c:v>
                </c:pt>
                <c:pt idx="4">
                  <c:v>0.82</c:v>
                </c:pt>
                <c:pt idx="5">
                  <c:v>0.75</c:v>
                </c:pt>
                <c:pt idx="6">
                  <c:v>0.92</c:v>
                </c:pt>
                <c:pt idx="7">
                  <c:v>0.81</c:v>
                </c:pt>
                <c:pt idx="8">
                  <c:v>0.73</c:v>
                </c:pt>
                <c:pt idx="9">
                  <c:v>0.85</c:v>
                </c:pt>
              </c:numCache>
            </c:numRef>
          </c:val>
          <c:smooth val="0"/>
          <c:extLst>
            <c:ext xmlns:c16="http://schemas.microsoft.com/office/drawing/2014/chart" uri="{C3380CC4-5D6E-409C-BE32-E72D297353CC}">
              <c16:uniqueId val="{00000001-4C56-4CD4-8138-1B0649D5A1AD}"/>
            </c:ext>
          </c:extLst>
        </c:ser>
        <c:ser>
          <c:idx val="2"/>
          <c:order val="2"/>
          <c:tx>
            <c:strRef>
              <c:f>Sheet1!$AJ$125</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Sheet1!$AG$126:$AG$135</c:f>
              <c:strCache>
                <c:ptCount val="10"/>
                <c:pt idx="0">
                  <c:v>RB</c:v>
                </c:pt>
                <c:pt idx="1">
                  <c:v>GT</c:v>
                </c:pt>
                <c:pt idx="2">
                  <c:v>WW</c:v>
                </c:pt>
                <c:pt idx="3">
                  <c:v>EF</c:v>
                </c:pt>
                <c:pt idx="4">
                  <c:v>CB</c:v>
                </c:pt>
                <c:pt idx="5">
                  <c:v>CR</c:v>
                </c:pt>
                <c:pt idx="6">
                  <c:v>GW</c:v>
                </c:pt>
                <c:pt idx="7">
                  <c:v>BJ</c:v>
                </c:pt>
                <c:pt idx="8">
                  <c:v>CS</c:v>
                </c:pt>
                <c:pt idx="9">
                  <c:v>WD</c:v>
                </c:pt>
              </c:strCache>
            </c:strRef>
          </c:cat>
          <c:val>
            <c:numRef>
              <c:f>Sheet1!$AJ$126:$AJ$135</c:f>
              <c:numCache>
                <c:formatCode>General</c:formatCode>
                <c:ptCount val="10"/>
                <c:pt idx="0">
                  <c:v>0.88</c:v>
                </c:pt>
                <c:pt idx="1">
                  <c:v>0.7</c:v>
                </c:pt>
                <c:pt idx="2">
                  <c:v>0.63</c:v>
                </c:pt>
                <c:pt idx="3">
                  <c:v>0.47</c:v>
                </c:pt>
                <c:pt idx="4">
                  <c:v>0.78</c:v>
                </c:pt>
                <c:pt idx="5">
                  <c:v>0.78</c:v>
                </c:pt>
                <c:pt idx="6">
                  <c:v>0.82</c:v>
                </c:pt>
                <c:pt idx="7">
                  <c:v>0.83</c:v>
                </c:pt>
                <c:pt idx="8">
                  <c:v>0.69</c:v>
                </c:pt>
                <c:pt idx="9">
                  <c:v>0.78</c:v>
                </c:pt>
              </c:numCache>
            </c:numRef>
          </c:val>
          <c:smooth val="0"/>
          <c:extLst>
            <c:ext xmlns:c16="http://schemas.microsoft.com/office/drawing/2014/chart" uri="{C3380CC4-5D6E-409C-BE32-E72D297353CC}">
              <c16:uniqueId val="{00000002-4C56-4CD4-8138-1B0649D5A1AD}"/>
            </c:ext>
          </c:extLst>
        </c:ser>
        <c:dLbls>
          <c:showLegendKey val="0"/>
          <c:showVal val="0"/>
          <c:showCatName val="0"/>
          <c:showSerName val="0"/>
          <c:showPercent val="0"/>
          <c:showBubbleSize val="0"/>
        </c:dLbls>
        <c:marker val="1"/>
        <c:smooth val="0"/>
        <c:axId val="842077680"/>
        <c:axId val="842069360"/>
      </c:lineChart>
      <c:catAx>
        <c:axId val="842077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42069360"/>
        <c:crosses val="autoZero"/>
        <c:auto val="1"/>
        <c:lblAlgn val="ctr"/>
        <c:lblOffset val="100"/>
        <c:noMultiLvlLbl val="0"/>
      </c:catAx>
      <c:valAx>
        <c:axId val="842069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420776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IN" sz="1800" b="0" i="0" baseline="0">
                <a:effectLst/>
              </a:rPr>
              <a:t>Accuracy of MFCC(13) Features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lineChart>
        <c:grouping val="standard"/>
        <c:varyColors val="0"/>
        <c:ser>
          <c:idx val="0"/>
          <c:order val="0"/>
          <c:tx>
            <c:strRef>
              <c:f>Sheet1!$DA$118</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Sheet1!$CW$119:$CW$128</c:f>
              <c:strCache>
                <c:ptCount val="10"/>
                <c:pt idx="0">
                  <c:v>RB</c:v>
                </c:pt>
                <c:pt idx="1">
                  <c:v>GT</c:v>
                </c:pt>
                <c:pt idx="2">
                  <c:v>WW</c:v>
                </c:pt>
                <c:pt idx="3">
                  <c:v>EF</c:v>
                </c:pt>
                <c:pt idx="4">
                  <c:v>CB</c:v>
                </c:pt>
                <c:pt idx="5">
                  <c:v>CR</c:v>
                </c:pt>
                <c:pt idx="6">
                  <c:v>GW</c:v>
                </c:pt>
                <c:pt idx="7">
                  <c:v>BJ</c:v>
                </c:pt>
                <c:pt idx="8">
                  <c:v>CS</c:v>
                </c:pt>
                <c:pt idx="9">
                  <c:v>WD</c:v>
                </c:pt>
              </c:strCache>
            </c:strRef>
          </c:cat>
          <c:val>
            <c:numRef>
              <c:f>Sheet1!$DA$119:$DA$128</c:f>
              <c:numCache>
                <c:formatCode>General</c:formatCode>
                <c:ptCount val="10"/>
                <c:pt idx="0">
                  <c:v>81.81</c:v>
                </c:pt>
                <c:pt idx="1">
                  <c:v>88.23</c:v>
                </c:pt>
                <c:pt idx="2">
                  <c:v>77.08</c:v>
                </c:pt>
                <c:pt idx="3">
                  <c:v>81.03</c:v>
                </c:pt>
                <c:pt idx="4">
                  <c:v>81.13</c:v>
                </c:pt>
                <c:pt idx="5">
                  <c:v>90.76</c:v>
                </c:pt>
                <c:pt idx="6">
                  <c:v>84.21</c:v>
                </c:pt>
                <c:pt idx="7">
                  <c:v>70.489999999999995</c:v>
                </c:pt>
                <c:pt idx="8">
                  <c:v>95.12</c:v>
                </c:pt>
                <c:pt idx="9">
                  <c:v>76.59</c:v>
                </c:pt>
              </c:numCache>
            </c:numRef>
          </c:val>
          <c:smooth val="0"/>
          <c:extLst>
            <c:ext xmlns:c16="http://schemas.microsoft.com/office/drawing/2014/chart" uri="{C3380CC4-5D6E-409C-BE32-E72D297353CC}">
              <c16:uniqueId val="{00000000-38D1-43DF-9BB6-4F0C37FDB2E9}"/>
            </c:ext>
          </c:extLst>
        </c:ser>
        <c:dLbls>
          <c:showLegendKey val="0"/>
          <c:showVal val="0"/>
          <c:showCatName val="0"/>
          <c:showSerName val="0"/>
          <c:showPercent val="0"/>
          <c:showBubbleSize val="0"/>
        </c:dLbls>
        <c:marker val="1"/>
        <c:smooth val="0"/>
        <c:axId val="810161072"/>
        <c:axId val="810162320"/>
      </c:lineChart>
      <c:catAx>
        <c:axId val="8101610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0162320"/>
        <c:crosses val="autoZero"/>
        <c:auto val="1"/>
        <c:lblAlgn val="ctr"/>
        <c:lblOffset val="100"/>
        <c:noMultiLvlLbl val="0"/>
      </c:catAx>
      <c:valAx>
        <c:axId val="8101623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01610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a:t>
            </a:r>
            <a:r>
              <a:rPr lang="en-IN" sz="1600" baseline="0" dirty="0"/>
              <a:t> of MFCC(26) Features</a:t>
            </a:r>
            <a:endParaRPr lang="en-IN" sz="16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Sheet1!$AN$125</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Sheet1!$AM$126:$AM$135</c:f>
              <c:strCache>
                <c:ptCount val="10"/>
                <c:pt idx="0">
                  <c:v>RB</c:v>
                </c:pt>
                <c:pt idx="1">
                  <c:v>GT</c:v>
                </c:pt>
                <c:pt idx="2">
                  <c:v>WW</c:v>
                </c:pt>
                <c:pt idx="3">
                  <c:v>EF</c:v>
                </c:pt>
                <c:pt idx="4">
                  <c:v>CB</c:v>
                </c:pt>
                <c:pt idx="5">
                  <c:v>CR</c:v>
                </c:pt>
                <c:pt idx="6">
                  <c:v>GW</c:v>
                </c:pt>
                <c:pt idx="7">
                  <c:v>BJ</c:v>
                </c:pt>
                <c:pt idx="8">
                  <c:v>CS</c:v>
                </c:pt>
                <c:pt idx="9">
                  <c:v>WD</c:v>
                </c:pt>
              </c:strCache>
            </c:strRef>
          </c:cat>
          <c:val>
            <c:numRef>
              <c:f>Sheet1!$AN$126:$AN$135</c:f>
              <c:numCache>
                <c:formatCode>General</c:formatCode>
                <c:ptCount val="10"/>
                <c:pt idx="0">
                  <c:v>0.86</c:v>
                </c:pt>
                <c:pt idx="1">
                  <c:v>0.64</c:v>
                </c:pt>
                <c:pt idx="2">
                  <c:v>0.67</c:v>
                </c:pt>
                <c:pt idx="3">
                  <c:v>0.54</c:v>
                </c:pt>
                <c:pt idx="4">
                  <c:v>0.76</c:v>
                </c:pt>
                <c:pt idx="5">
                  <c:v>0.78</c:v>
                </c:pt>
                <c:pt idx="6">
                  <c:v>0.76</c:v>
                </c:pt>
                <c:pt idx="7">
                  <c:v>0.84</c:v>
                </c:pt>
                <c:pt idx="8">
                  <c:v>0.75</c:v>
                </c:pt>
                <c:pt idx="9">
                  <c:v>0.76</c:v>
                </c:pt>
              </c:numCache>
            </c:numRef>
          </c:val>
          <c:smooth val="0"/>
          <c:extLst>
            <c:ext xmlns:c16="http://schemas.microsoft.com/office/drawing/2014/chart" uri="{C3380CC4-5D6E-409C-BE32-E72D297353CC}">
              <c16:uniqueId val="{00000000-E090-4468-AD02-E1E996297F0C}"/>
            </c:ext>
          </c:extLst>
        </c:ser>
        <c:ser>
          <c:idx val="1"/>
          <c:order val="1"/>
          <c:tx>
            <c:strRef>
              <c:f>Sheet1!$AO$125</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Sheet1!$AM$126:$AM$135</c:f>
              <c:strCache>
                <c:ptCount val="10"/>
                <c:pt idx="0">
                  <c:v>RB</c:v>
                </c:pt>
                <c:pt idx="1">
                  <c:v>GT</c:v>
                </c:pt>
                <c:pt idx="2">
                  <c:v>WW</c:v>
                </c:pt>
                <c:pt idx="3">
                  <c:v>EF</c:v>
                </c:pt>
                <c:pt idx="4">
                  <c:v>CB</c:v>
                </c:pt>
                <c:pt idx="5">
                  <c:v>CR</c:v>
                </c:pt>
                <c:pt idx="6">
                  <c:v>GW</c:v>
                </c:pt>
                <c:pt idx="7">
                  <c:v>BJ</c:v>
                </c:pt>
                <c:pt idx="8">
                  <c:v>CS</c:v>
                </c:pt>
                <c:pt idx="9">
                  <c:v>WD</c:v>
                </c:pt>
              </c:strCache>
            </c:strRef>
          </c:cat>
          <c:val>
            <c:numRef>
              <c:f>Sheet1!$AO$126:$AO$135</c:f>
              <c:numCache>
                <c:formatCode>General</c:formatCode>
                <c:ptCount val="10"/>
                <c:pt idx="0">
                  <c:v>0.84</c:v>
                </c:pt>
                <c:pt idx="1">
                  <c:v>0.71</c:v>
                </c:pt>
                <c:pt idx="2">
                  <c:v>0.75</c:v>
                </c:pt>
                <c:pt idx="3">
                  <c:v>0.28000000000000003</c:v>
                </c:pt>
                <c:pt idx="4">
                  <c:v>0.85</c:v>
                </c:pt>
                <c:pt idx="5">
                  <c:v>0.93</c:v>
                </c:pt>
                <c:pt idx="6">
                  <c:v>0.92</c:v>
                </c:pt>
                <c:pt idx="7">
                  <c:v>0.79</c:v>
                </c:pt>
                <c:pt idx="8">
                  <c:v>0.72</c:v>
                </c:pt>
                <c:pt idx="9">
                  <c:v>0.76</c:v>
                </c:pt>
              </c:numCache>
            </c:numRef>
          </c:val>
          <c:smooth val="0"/>
          <c:extLst>
            <c:ext xmlns:c16="http://schemas.microsoft.com/office/drawing/2014/chart" uri="{C3380CC4-5D6E-409C-BE32-E72D297353CC}">
              <c16:uniqueId val="{00000001-E090-4468-AD02-E1E996297F0C}"/>
            </c:ext>
          </c:extLst>
        </c:ser>
        <c:ser>
          <c:idx val="2"/>
          <c:order val="2"/>
          <c:tx>
            <c:strRef>
              <c:f>Sheet1!$AP$125</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Sheet1!$AM$126:$AM$135</c:f>
              <c:strCache>
                <c:ptCount val="10"/>
                <c:pt idx="0">
                  <c:v>RB</c:v>
                </c:pt>
                <c:pt idx="1">
                  <c:v>GT</c:v>
                </c:pt>
                <c:pt idx="2">
                  <c:v>WW</c:v>
                </c:pt>
                <c:pt idx="3">
                  <c:v>EF</c:v>
                </c:pt>
                <c:pt idx="4">
                  <c:v>CB</c:v>
                </c:pt>
                <c:pt idx="5">
                  <c:v>CR</c:v>
                </c:pt>
                <c:pt idx="6">
                  <c:v>GW</c:v>
                </c:pt>
                <c:pt idx="7">
                  <c:v>BJ</c:v>
                </c:pt>
                <c:pt idx="8">
                  <c:v>CS</c:v>
                </c:pt>
                <c:pt idx="9">
                  <c:v>WD</c:v>
                </c:pt>
              </c:strCache>
            </c:strRef>
          </c:cat>
          <c:val>
            <c:numRef>
              <c:f>Sheet1!$AP$126:$AP$135</c:f>
              <c:numCache>
                <c:formatCode>General</c:formatCode>
                <c:ptCount val="10"/>
                <c:pt idx="0">
                  <c:v>0.85</c:v>
                </c:pt>
                <c:pt idx="1">
                  <c:v>0.67</c:v>
                </c:pt>
                <c:pt idx="2">
                  <c:v>0.71</c:v>
                </c:pt>
                <c:pt idx="3">
                  <c:v>0.37</c:v>
                </c:pt>
                <c:pt idx="4">
                  <c:v>0.8</c:v>
                </c:pt>
                <c:pt idx="5">
                  <c:v>0.85</c:v>
                </c:pt>
                <c:pt idx="6">
                  <c:v>0.83</c:v>
                </c:pt>
                <c:pt idx="7">
                  <c:v>0.81</c:v>
                </c:pt>
                <c:pt idx="8">
                  <c:v>0.73</c:v>
                </c:pt>
                <c:pt idx="9">
                  <c:v>0.76</c:v>
                </c:pt>
              </c:numCache>
            </c:numRef>
          </c:val>
          <c:smooth val="0"/>
          <c:extLst>
            <c:ext xmlns:c16="http://schemas.microsoft.com/office/drawing/2014/chart" uri="{C3380CC4-5D6E-409C-BE32-E72D297353CC}">
              <c16:uniqueId val="{00000002-E090-4468-AD02-E1E996297F0C}"/>
            </c:ext>
          </c:extLst>
        </c:ser>
        <c:dLbls>
          <c:showLegendKey val="0"/>
          <c:showVal val="0"/>
          <c:showCatName val="0"/>
          <c:showSerName val="0"/>
          <c:showPercent val="0"/>
          <c:showBubbleSize val="0"/>
        </c:dLbls>
        <c:marker val="1"/>
        <c:smooth val="0"/>
        <c:axId val="842097648"/>
        <c:axId val="842099312"/>
      </c:lineChart>
      <c:catAx>
        <c:axId val="8420976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42099312"/>
        <c:crosses val="autoZero"/>
        <c:auto val="1"/>
        <c:lblAlgn val="ctr"/>
        <c:lblOffset val="100"/>
        <c:noMultiLvlLbl val="0"/>
      </c:catAx>
      <c:valAx>
        <c:axId val="8420993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420976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IN" sz="1600" b="0" i="0" baseline="0" dirty="0">
                <a:effectLst/>
              </a:rPr>
              <a:t>Accuracy of MFCC(26) Features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lineChart>
        <c:grouping val="standard"/>
        <c:varyColors val="0"/>
        <c:ser>
          <c:idx val="0"/>
          <c:order val="0"/>
          <c:tx>
            <c:strRef>
              <c:f>Sheet1!$DH$118</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Sheet1!$DD$119:$DD$128</c:f>
              <c:strCache>
                <c:ptCount val="10"/>
                <c:pt idx="0">
                  <c:v>RB</c:v>
                </c:pt>
                <c:pt idx="1">
                  <c:v>GT</c:v>
                </c:pt>
                <c:pt idx="2">
                  <c:v>WW</c:v>
                </c:pt>
                <c:pt idx="3">
                  <c:v>EF</c:v>
                </c:pt>
                <c:pt idx="4">
                  <c:v>CB</c:v>
                </c:pt>
                <c:pt idx="5">
                  <c:v>CR</c:v>
                </c:pt>
                <c:pt idx="6">
                  <c:v>GW</c:v>
                </c:pt>
                <c:pt idx="7">
                  <c:v>BJ</c:v>
                </c:pt>
                <c:pt idx="8">
                  <c:v>CS</c:v>
                </c:pt>
                <c:pt idx="9">
                  <c:v>WD</c:v>
                </c:pt>
              </c:strCache>
            </c:strRef>
          </c:cat>
          <c:val>
            <c:numRef>
              <c:f>Sheet1!$DH$119:$DH$128</c:f>
              <c:numCache>
                <c:formatCode>General</c:formatCode>
                <c:ptCount val="10"/>
                <c:pt idx="0">
                  <c:v>83.82</c:v>
                </c:pt>
                <c:pt idx="1">
                  <c:v>70.510000000000005</c:v>
                </c:pt>
                <c:pt idx="2">
                  <c:v>75.319999999999993</c:v>
                </c:pt>
                <c:pt idx="3">
                  <c:v>28.08</c:v>
                </c:pt>
                <c:pt idx="4">
                  <c:v>84.81</c:v>
                </c:pt>
                <c:pt idx="5">
                  <c:v>92.64</c:v>
                </c:pt>
                <c:pt idx="6">
                  <c:v>68.349999999999994</c:v>
                </c:pt>
                <c:pt idx="7">
                  <c:v>79.22</c:v>
                </c:pt>
                <c:pt idx="8">
                  <c:v>71.64</c:v>
                </c:pt>
                <c:pt idx="9">
                  <c:v>76.08</c:v>
                </c:pt>
              </c:numCache>
            </c:numRef>
          </c:val>
          <c:smooth val="0"/>
          <c:extLst>
            <c:ext xmlns:c16="http://schemas.microsoft.com/office/drawing/2014/chart" uri="{C3380CC4-5D6E-409C-BE32-E72D297353CC}">
              <c16:uniqueId val="{00000000-E0B1-4BC2-A208-94EF556015C1}"/>
            </c:ext>
          </c:extLst>
        </c:ser>
        <c:dLbls>
          <c:showLegendKey val="0"/>
          <c:showVal val="0"/>
          <c:showCatName val="0"/>
          <c:showSerName val="0"/>
          <c:showPercent val="0"/>
          <c:showBubbleSize val="0"/>
        </c:dLbls>
        <c:marker val="1"/>
        <c:smooth val="0"/>
        <c:axId val="703533392"/>
        <c:axId val="703533808"/>
      </c:lineChart>
      <c:catAx>
        <c:axId val="703533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3533808"/>
        <c:crosses val="autoZero"/>
        <c:auto val="1"/>
        <c:lblAlgn val="ctr"/>
        <c:lblOffset val="100"/>
        <c:noMultiLvlLbl val="0"/>
      </c:catAx>
      <c:valAx>
        <c:axId val="703533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35333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a:t>
            </a:r>
            <a:r>
              <a:rPr lang="en-IN" sz="1600" baseline="0" dirty="0"/>
              <a:t> of MFCC(39) Features</a:t>
            </a:r>
            <a:endParaRPr lang="en-IN" sz="16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Sheet1!$AT$125</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Sheet1!$AS$126:$AS$135</c:f>
              <c:strCache>
                <c:ptCount val="10"/>
                <c:pt idx="0">
                  <c:v>RB</c:v>
                </c:pt>
                <c:pt idx="1">
                  <c:v>GT</c:v>
                </c:pt>
                <c:pt idx="2">
                  <c:v>WW</c:v>
                </c:pt>
                <c:pt idx="3">
                  <c:v>EF</c:v>
                </c:pt>
                <c:pt idx="4">
                  <c:v>CB</c:v>
                </c:pt>
                <c:pt idx="5">
                  <c:v>CR</c:v>
                </c:pt>
                <c:pt idx="6">
                  <c:v>GW</c:v>
                </c:pt>
                <c:pt idx="7">
                  <c:v>BJ</c:v>
                </c:pt>
                <c:pt idx="8">
                  <c:v>CS</c:v>
                </c:pt>
                <c:pt idx="9">
                  <c:v>WD</c:v>
                </c:pt>
              </c:strCache>
            </c:strRef>
          </c:cat>
          <c:val>
            <c:numRef>
              <c:f>Sheet1!$AT$126:$AT$135</c:f>
              <c:numCache>
                <c:formatCode>General</c:formatCode>
                <c:ptCount val="10"/>
                <c:pt idx="0">
                  <c:v>0.77</c:v>
                </c:pt>
                <c:pt idx="1">
                  <c:v>0.61</c:v>
                </c:pt>
                <c:pt idx="2">
                  <c:v>0.55000000000000004</c:v>
                </c:pt>
                <c:pt idx="3">
                  <c:v>0.49</c:v>
                </c:pt>
                <c:pt idx="4">
                  <c:v>0.84</c:v>
                </c:pt>
                <c:pt idx="5">
                  <c:v>0.88</c:v>
                </c:pt>
                <c:pt idx="6">
                  <c:v>0.87</c:v>
                </c:pt>
                <c:pt idx="7">
                  <c:v>0.77</c:v>
                </c:pt>
                <c:pt idx="8">
                  <c:v>0.73</c:v>
                </c:pt>
                <c:pt idx="9">
                  <c:v>0.89</c:v>
                </c:pt>
              </c:numCache>
            </c:numRef>
          </c:val>
          <c:smooth val="0"/>
          <c:extLst>
            <c:ext xmlns:c16="http://schemas.microsoft.com/office/drawing/2014/chart" uri="{C3380CC4-5D6E-409C-BE32-E72D297353CC}">
              <c16:uniqueId val="{00000000-14DD-4D69-AA12-162E2BE1BF06}"/>
            </c:ext>
          </c:extLst>
        </c:ser>
        <c:ser>
          <c:idx val="1"/>
          <c:order val="1"/>
          <c:tx>
            <c:strRef>
              <c:f>Sheet1!$AU$125</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Sheet1!$AS$126:$AS$135</c:f>
              <c:strCache>
                <c:ptCount val="10"/>
                <c:pt idx="0">
                  <c:v>RB</c:v>
                </c:pt>
                <c:pt idx="1">
                  <c:v>GT</c:v>
                </c:pt>
                <c:pt idx="2">
                  <c:v>WW</c:v>
                </c:pt>
                <c:pt idx="3">
                  <c:v>EF</c:v>
                </c:pt>
                <c:pt idx="4">
                  <c:v>CB</c:v>
                </c:pt>
                <c:pt idx="5">
                  <c:v>CR</c:v>
                </c:pt>
                <c:pt idx="6">
                  <c:v>GW</c:v>
                </c:pt>
                <c:pt idx="7">
                  <c:v>BJ</c:v>
                </c:pt>
                <c:pt idx="8">
                  <c:v>CS</c:v>
                </c:pt>
                <c:pt idx="9">
                  <c:v>WD</c:v>
                </c:pt>
              </c:strCache>
            </c:strRef>
          </c:cat>
          <c:val>
            <c:numRef>
              <c:f>Sheet1!$AU$126:$AU$135</c:f>
              <c:numCache>
                <c:formatCode>General</c:formatCode>
                <c:ptCount val="10"/>
                <c:pt idx="0">
                  <c:v>0.86</c:v>
                </c:pt>
                <c:pt idx="1">
                  <c:v>0.71</c:v>
                </c:pt>
                <c:pt idx="2">
                  <c:v>0.72</c:v>
                </c:pt>
                <c:pt idx="3">
                  <c:v>0.37</c:v>
                </c:pt>
                <c:pt idx="4">
                  <c:v>0.8</c:v>
                </c:pt>
                <c:pt idx="5">
                  <c:v>0.61</c:v>
                </c:pt>
                <c:pt idx="6">
                  <c:v>0.88</c:v>
                </c:pt>
                <c:pt idx="7">
                  <c:v>0.87</c:v>
                </c:pt>
                <c:pt idx="8">
                  <c:v>0.74</c:v>
                </c:pt>
                <c:pt idx="9">
                  <c:v>0.75</c:v>
                </c:pt>
              </c:numCache>
            </c:numRef>
          </c:val>
          <c:smooth val="0"/>
          <c:extLst>
            <c:ext xmlns:c16="http://schemas.microsoft.com/office/drawing/2014/chart" uri="{C3380CC4-5D6E-409C-BE32-E72D297353CC}">
              <c16:uniqueId val="{00000001-14DD-4D69-AA12-162E2BE1BF06}"/>
            </c:ext>
          </c:extLst>
        </c:ser>
        <c:ser>
          <c:idx val="2"/>
          <c:order val="2"/>
          <c:tx>
            <c:strRef>
              <c:f>Sheet1!$AV$125</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Sheet1!$AS$126:$AS$135</c:f>
              <c:strCache>
                <c:ptCount val="10"/>
                <c:pt idx="0">
                  <c:v>RB</c:v>
                </c:pt>
                <c:pt idx="1">
                  <c:v>GT</c:v>
                </c:pt>
                <c:pt idx="2">
                  <c:v>WW</c:v>
                </c:pt>
                <c:pt idx="3">
                  <c:v>EF</c:v>
                </c:pt>
                <c:pt idx="4">
                  <c:v>CB</c:v>
                </c:pt>
                <c:pt idx="5">
                  <c:v>CR</c:v>
                </c:pt>
                <c:pt idx="6">
                  <c:v>GW</c:v>
                </c:pt>
                <c:pt idx="7">
                  <c:v>BJ</c:v>
                </c:pt>
                <c:pt idx="8">
                  <c:v>CS</c:v>
                </c:pt>
                <c:pt idx="9">
                  <c:v>WD</c:v>
                </c:pt>
              </c:strCache>
            </c:strRef>
          </c:cat>
          <c:val>
            <c:numRef>
              <c:f>Sheet1!$AV$126:$AV$135</c:f>
              <c:numCache>
                <c:formatCode>General</c:formatCode>
                <c:ptCount val="10"/>
                <c:pt idx="0">
                  <c:v>0.81</c:v>
                </c:pt>
                <c:pt idx="1">
                  <c:v>0.66</c:v>
                </c:pt>
                <c:pt idx="2">
                  <c:v>0.62</c:v>
                </c:pt>
                <c:pt idx="3">
                  <c:v>0.42</c:v>
                </c:pt>
                <c:pt idx="4">
                  <c:v>0.82</c:v>
                </c:pt>
                <c:pt idx="5">
                  <c:v>0.72</c:v>
                </c:pt>
                <c:pt idx="6">
                  <c:v>0.88</c:v>
                </c:pt>
                <c:pt idx="7">
                  <c:v>0.82</c:v>
                </c:pt>
                <c:pt idx="8">
                  <c:v>0.74</c:v>
                </c:pt>
                <c:pt idx="9">
                  <c:v>0.82</c:v>
                </c:pt>
              </c:numCache>
            </c:numRef>
          </c:val>
          <c:smooth val="0"/>
          <c:extLst>
            <c:ext xmlns:c16="http://schemas.microsoft.com/office/drawing/2014/chart" uri="{C3380CC4-5D6E-409C-BE32-E72D297353CC}">
              <c16:uniqueId val="{00000002-14DD-4D69-AA12-162E2BE1BF06}"/>
            </c:ext>
          </c:extLst>
        </c:ser>
        <c:dLbls>
          <c:showLegendKey val="0"/>
          <c:showVal val="0"/>
          <c:showCatName val="0"/>
          <c:showSerName val="0"/>
          <c:showPercent val="0"/>
          <c:showBubbleSize val="0"/>
        </c:dLbls>
        <c:marker val="1"/>
        <c:smooth val="0"/>
        <c:axId val="812606112"/>
        <c:axId val="812630656"/>
      </c:lineChart>
      <c:catAx>
        <c:axId val="812606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2630656"/>
        <c:crosses val="autoZero"/>
        <c:auto val="1"/>
        <c:lblAlgn val="ctr"/>
        <c:lblOffset val="100"/>
        <c:noMultiLvlLbl val="0"/>
      </c:catAx>
      <c:valAx>
        <c:axId val="8126306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26061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IN" sz="1600" b="0" i="0" baseline="0" dirty="0">
                <a:effectLst/>
              </a:rPr>
              <a:t>Accuracy of MFCC(39) Features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lineChart>
        <c:grouping val="standard"/>
        <c:varyColors val="0"/>
        <c:ser>
          <c:idx val="0"/>
          <c:order val="0"/>
          <c:tx>
            <c:strRef>
              <c:f>Sheet1!$DO$118</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Sheet1!$DK$119:$DK$128</c:f>
              <c:strCache>
                <c:ptCount val="10"/>
                <c:pt idx="0">
                  <c:v>RB</c:v>
                </c:pt>
                <c:pt idx="1">
                  <c:v>GT</c:v>
                </c:pt>
                <c:pt idx="2">
                  <c:v>WW</c:v>
                </c:pt>
                <c:pt idx="3">
                  <c:v>EF</c:v>
                </c:pt>
                <c:pt idx="4">
                  <c:v>CB</c:v>
                </c:pt>
                <c:pt idx="5">
                  <c:v>CR</c:v>
                </c:pt>
                <c:pt idx="6">
                  <c:v>GW</c:v>
                </c:pt>
                <c:pt idx="7">
                  <c:v>BJ</c:v>
                </c:pt>
                <c:pt idx="8">
                  <c:v>CS</c:v>
                </c:pt>
                <c:pt idx="9">
                  <c:v>WD</c:v>
                </c:pt>
              </c:strCache>
            </c:strRef>
          </c:cat>
          <c:val>
            <c:numRef>
              <c:f>Sheet1!$DO$119:$DO$128</c:f>
              <c:numCache>
                <c:formatCode>General</c:formatCode>
                <c:ptCount val="10"/>
                <c:pt idx="0">
                  <c:v>85.71</c:v>
                </c:pt>
                <c:pt idx="1">
                  <c:v>71.42</c:v>
                </c:pt>
                <c:pt idx="2">
                  <c:v>71.62</c:v>
                </c:pt>
                <c:pt idx="3">
                  <c:v>36.9</c:v>
                </c:pt>
                <c:pt idx="4">
                  <c:v>80.239999999999995</c:v>
                </c:pt>
                <c:pt idx="5">
                  <c:v>60.65</c:v>
                </c:pt>
                <c:pt idx="6">
                  <c:v>88.4</c:v>
                </c:pt>
                <c:pt idx="7">
                  <c:v>86.67</c:v>
                </c:pt>
                <c:pt idx="8">
                  <c:v>74.319999999999993</c:v>
                </c:pt>
                <c:pt idx="9">
                  <c:v>75</c:v>
                </c:pt>
              </c:numCache>
            </c:numRef>
          </c:val>
          <c:smooth val="0"/>
          <c:extLst>
            <c:ext xmlns:c16="http://schemas.microsoft.com/office/drawing/2014/chart" uri="{C3380CC4-5D6E-409C-BE32-E72D297353CC}">
              <c16:uniqueId val="{00000000-FCE7-43B2-BF0F-503EEE5223C6}"/>
            </c:ext>
          </c:extLst>
        </c:ser>
        <c:dLbls>
          <c:showLegendKey val="0"/>
          <c:showVal val="0"/>
          <c:showCatName val="0"/>
          <c:showSerName val="0"/>
          <c:showPercent val="0"/>
          <c:showBubbleSize val="0"/>
        </c:dLbls>
        <c:marker val="1"/>
        <c:smooth val="0"/>
        <c:axId val="382764560"/>
        <c:axId val="382765392"/>
      </c:lineChart>
      <c:catAx>
        <c:axId val="3827645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82765392"/>
        <c:crosses val="autoZero"/>
        <c:auto val="1"/>
        <c:lblAlgn val="ctr"/>
        <c:lblOffset val="100"/>
        <c:noMultiLvlLbl val="0"/>
      </c:catAx>
      <c:valAx>
        <c:axId val="3827653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827645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a:t>
            </a:r>
            <a:r>
              <a:rPr lang="en-IN" sz="1600" baseline="0" dirty="0"/>
              <a:t> of LFCC(13) Features</a:t>
            </a:r>
            <a:endParaRPr lang="en-IN" sz="16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Sheet1!$AH$139</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Sheet1!$AG$140:$AG$149</c:f>
              <c:strCache>
                <c:ptCount val="10"/>
                <c:pt idx="0">
                  <c:v>RB</c:v>
                </c:pt>
                <c:pt idx="1">
                  <c:v>GT</c:v>
                </c:pt>
                <c:pt idx="2">
                  <c:v>WW</c:v>
                </c:pt>
                <c:pt idx="3">
                  <c:v>EF</c:v>
                </c:pt>
                <c:pt idx="4">
                  <c:v>CB</c:v>
                </c:pt>
                <c:pt idx="5">
                  <c:v>CR</c:v>
                </c:pt>
                <c:pt idx="6">
                  <c:v>GW</c:v>
                </c:pt>
                <c:pt idx="7">
                  <c:v>BJ</c:v>
                </c:pt>
                <c:pt idx="8">
                  <c:v>CS</c:v>
                </c:pt>
                <c:pt idx="9">
                  <c:v>WD</c:v>
                </c:pt>
              </c:strCache>
            </c:strRef>
          </c:cat>
          <c:val>
            <c:numRef>
              <c:f>Sheet1!$AH$140:$AH$149</c:f>
              <c:numCache>
                <c:formatCode>General</c:formatCode>
                <c:ptCount val="10"/>
                <c:pt idx="0">
                  <c:v>0.69</c:v>
                </c:pt>
                <c:pt idx="1">
                  <c:v>0.69</c:v>
                </c:pt>
                <c:pt idx="2">
                  <c:v>0.55000000000000004</c:v>
                </c:pt>
                <c:pt idx="3">
                  <c:v>0.57999999999999996</c:v>
                </c:pt>
                <c:pt idx="4">
                  <c:v>0.79</c:v>
                </c:pt>
                <c:pt idx="5">
                  <c:v>0.92</c:v>
                </c:pt>
                <c:pt idx="6">
                  <c:v>0.93</c:v>
                </c:pt>
                <c:pt idx="7">
                  <c:v>0.76</c:v>
                </c:pt>
                <c:pt idx="8">
                  <c:v>0.77</c:v>
                </c:pt>
                <c:pt idx="9">
                  <c:v>0.78</c:v>
                </c:pt>
              </c:numCache>
            </c:numRef>
          </c:val>
          <c:smooth val="0"/>
          <c:extLst>
            <c:ext xmlns:c16="http://schemas.microsoft.com/office/drawing/2014/chart" uri="{C3380CC4-5D6E-409C-BE32-E72D297353CC}">
              <c16:uniqueId val="{00000000-428A-43C1-BAB5-0EF9E8A24E5F}"/>
            </c:ext>
          </c:extLst>
        </c:ser>
        <c:ser>
          <c:idx val="1"/>
          <c:order val="1"/>
          <c:tx>
            <c:strRef>
              <c:f>Sheet1!$AI$139</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Sheet1!$AG$140:$AG$149</c:f>
              <c:strCache>
                <c:ptCount val="10"/>
                <c:pt idx="0">
                  <c:v>RB</c:v>
                </c:pt>
                <c:pt idx="1">
                  <c:v>GT</c:v>
                </c:pt>
                <c:pt idx="2">
                  <c:v>WW</c:v>
                </c:pt>
                <c:pt idx="3">
                  <c:v>EF</c:v>
                </c:pt>
                <c:pt idx="4">
                  <c:v>CB</c:v>
                </c:pt>
                <c:pt idx="5">
                  <c:v>CR</c:v>
                </c:pt>
                <c:pt idx="6">
                  <c:v>GW</c:v>
                </c:pt>
                <c:pt idx="7">
                  <c:v>BJ</c:v>
                </c:pt>
                <c:pt idx="8">
                  <c:v>CS</c:v>
                </c:pt>
                <c:pt idx="9">
                  <c:v>WD</c:v>
                </c:pt>
              </c:strCache>
            </c:strRef>
          </c:cat>
          <c:val>
            <c:numRef>
              <c:f>Sheet1!$AI$140:$AI$149</c:f>
              <c:numCache>
                <c:formatCode>General</c:formatCode>
                <c:ptCount val="10"/>
                <c:pt idx="0">
                  <c:v>0.75</c:v>
                </c:pt>
                <c:pt idx="1">
                  <c:v>0.75</c:v>
                </c:pt>
                <c:pt idx="2">
                  <c:v>0.78</c:v>
                </c:pt>
                <c:pt idx="3">
                  <c:v>0.48</c:v>
                </c:pt>
                <c:pt idx="4">
                  <c:v>0.76</c:v>
                </c:pt>
                <c:pt idx="5">
                  <c:v>0.57999999999999996</c:v>
                </c:pt>
                <c:pt idx="6">
                  <c:v>0.9</c:v>
                </c:pt>
                <c:pt idx="7">
                  <c:v>0.8</c:v>
                </c:pt>
                <c:pt idx="8">
                  <c:v>0.81</c:v>
                </c:pt>
                <c:pt idx="9">
                  <c:v>0.69</c:v>
                </c:pt>
              </c:numCache>
            </c:numRef>
          </c:val>
          <c:smooth val="0"/>
          <c:extLst>
            <c:ext xmlns:c16="http://schemas.microsoft.com/office/drawing/2014/chart" uri="{C3380CC4-5D6E-409C-BE32-E72D297353CC}">
              <c16:uniqueId val="{00000001-428A-43C1-BAB5-0EF9E8A24E5F}"/>
            </c:ext>
          </c:extLst>
        </c:ser>
        <c:ser>
          <c:idx val="2"/>
          <c:order val="2"/>
          <c:tx>
            <c:strRef>
              <c:f>Sheet1!$AJ$139</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Sheet1!$AG$140:$AG$149</c:f>
              <c:strCache>
                <c:ptCount val="10"/>
                <c:pt idx="0">
                  <c:v>RB</c:v>
                </c:pt>
                <c:pt idx="1">
                  <c:v>GT</c:v>
                </c:pt>
                <c:pt idx="2">
                  <c:v>WW</c:v>
                </c:pt>
                <c:pt idx="3">
                  <c:v>EF</c:v>
                </c:pt>
                <c:pt idx="4">
                  <c:v>CB</c:v>
                </c:pt>
                <c:pt idx="5">
                  <c:v>CR</c:v>
                </c:pt>
                <c:pt idx="6">
                  <c:v>GW</c:v>
                </c:pt>
                <c:pt idx="7">
                  <c:v>BJ</c:v>
                </c:pt>
                <c:pt idx="8">
                  <c:v>CS</c:v>
                </c:pt>
                <c:pt idx="9">
                  <c:v>WD</c:v>
                </c:pt>
              </c:strCache>
            </c:strRef>
          </c:cat>
          <c:val>
            <c:numRef>
              <c:f>Sheet1!$AJ$140:$AJ$149</c:f>
              <c:numCache>
                <c:formatCode>General</c:formatCode>
                <c:ptCount val="10"/>
                <c:pt idx="0">
                  <c:v>0.72</c:v>
                </c:pt>
                <c:pt idx="1">
                  <c:v>0.72</c:v>
                </c:pt>
                <c:pt idx="2">
                  <c:v>0.64</c:v>
                </c:pt>
                <c:pt idx="3">
                  <c:v>0.53</c:v>
                </c:pt>
                <c:pt idx="4">
                  <c:v>0.77</c:v>
                </c:pt>
                <c:pt idx="5">
                  <c:v>0.71</c:v>
                </c:pt>
                <c:pt idx="6">
                  <c:v>0.91</c:v>
                </c:pt>
                <c:pt idx="7">
                  <c:v>0.78</c:v>
                </c:pt>
                <c:pt idx="8">
                  <c:v>0.79</c:v>
                </c:pt>
                <c:pt idx="9">
                  <c:v>0.73</c:v>
                </c:pt>
              </c:numCache>
            </c:numRef>
          </c:val>
          <c:smooth val="0"/>
          <c:extLst>
            <c:ext xmlns:c16="http://schemas.microsoft.com/office/drawing/2014/chart" uri="{C3380CC4-5D6E-409C-BE32-E72D297353CC}">
              <c16:uniqueId val="{00000002-428A-43C1-BAB5-0EF9E8A24E5F}"/>
            </c:ext>
          </c:extLst>
        </c:ser>
        <c:dLbls>
          <c:showLegendKey val="0"/>
          <c:showVal val="0"/>
          <c:showCatName val="0"/>
          <c:showSerName val="0"/>
          <c:showPercent val="0"/>
          <c:showBubbleSize val="0"/>
        </c:dLbls>
        <c:marker val="1"/>
        <c:smooth val="0"/>
        <c:axId val="842063536"/>
        <c:axId val="842075600"/>
      </c:lineChart>
      <c:catAx>
        <c:axId val="8420635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42075600"/>
        <c:crosses val="autoZero"/>
        <c:auto val="1"/>
        <c:lblAlgn val="ctr"/>
        <c:lblOffset val="100"/>
        <c:noMultiLvlLbl val="0"/>
      </c:catAx>
      <c:valAx>
        <c:axId val="8420756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420635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IN" sz="1600" b="0" i="0" baseline="0" dirty="0">
                <a:effectLst/>
              </a:rPr>
              <a:t>Accuracy of LFCC(13) Features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lineChart>
        <c:grouping val="standard"/>
        <c:varyColors val="0"/>
        <c:ser>
          <c:idx val="0"/>
          <c:order val="0"/>
          <c:tx>
            <c:strRef>
              <c:f>Sheet1!$DA$132</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Sheet1!$CW$133:$CW$142</c:f>
              <c:strCache>
                <c:ptCount val="10"/>
                <c:pt idx="0">
                  <c:v>RB</c:v>
                </c:pt>
                <c:pt idx="1">
                  <c:v>GT</c:v>
                </c:pt>
                <c:pt idx="2">
                  <c:v>WW</c:v>
                </c:pt>
                <c:pt idx="3">
                  <c:v>EF</c:v>
                </c:pt>
                <c:pt idx="4">
                  <c:v>CB</c:v>
                </c:pt>
                <c:pt idx="5">
                  <c:v>CR</c:v>
                </c:pt>
                <c:pt idx="6">
                  <c:v>GW</c:v>
                </c:pt>
                <c:pt idx="7">
                  <c:v>BJ</c:v>
                </c:pt>
                <c:pt idx="8">
                  <c:v>CS</c:v>
                </c:pt>
                <c:pt idx="9">
                  <c:v>WD</c:v>
                </c:pt>
              </c:strCache>
            </c:strRef>
          </c:cat>
          <c:val>
            <c:numRef>
              <c:f>Sheet1!$DA$133:$DA$142</c:f>
              <c:numCache>
                <c:formatCode>General</c:formatCode>
                <c:ptCount val="10"/>
                <c:pt idx="0">
                  <c:v>64.930000000000007</c:v>
                </c:pt>
                <c:pt idx="1">
                  <c:v>52.77</c:v>
                </c:pt>
                <c:pt idx="2">
                  <c:v>58.73</c:v>
                </c:pt>
                <c:pt idx="3">
                  <c:v>60.91</c:v>
                </c:pt>
                <c:pt idx="4">
                  <c:v>60</c:v>
                </c:pt>
                <c:pt idx="5">
                  <c:v>88.9</c:v>
                </c:pt>
                <c:pt idx="6">
                  <c:v>94.77</c:v>
                </c:pt>
                <c:pt idx="7">
                  <c:v>73.17</c:v>
                </c:pt>
                <c:pt idx="8">
                  <c:v>74.040000000000006</c:v>
                </c:pt>
                <c:pt idx="9">
                  <c:v>61.81</c:v>
                </c:pt>
              </c:numCache>
            </c:numRef>
          </c:val>
          <c:smooth val="0"/>
          <c:extLst>
            <c:ext xmlns:c16="http://schemas.microsoft.com/office/drawing/2014/chart" uri="{C3380CC4-5D6E-409C-BE32-E72D297353CC}">
              <c16:uniqueId val="{00000000-DB7E-47F8-ADFF-14376DCE3DA3}"/>
            </c:ext>
          </c:extLst>
        </c:ser>
        <c:dLbls>
          <c:showLegendKey val="0"/>
          <c:showVal val="0"/>
          <c:showCatName val="0"/>
          <c:showSerName val="0"/>
          <c:showPercent val="0"/>
          <c:showBubbleSize val="0"/>
        </c:dLbls>
        <c:marker val="1"/>
        <c:smooth val="0"/>
        <c:axId val="923557536"/>
        <c:axId val="849622096"/>
      </c:lineChart>
      <c:catAx>
        <c:axId val="9235575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49622096"/>
        <c:crosses val="autoZero"/>
        <c:auto val="1"/>
        <c:lblAlgn val="ctr"/>
        <c:lblOffset val="100"/>
        <c:noMultiLvlLbl val="0"/>
      </c:catAx>
      <c:valAx>
        <c:axId val="8496220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35575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a:t>
            </a:r>
            <a:r>
              <a:rPr lang="en-IN" sz="1600" baseline="0" dirty="0"/>
              <a:t> of LFCC(26) Features</a:t>
            </a:r>
            <a:endParaRPr lang="en-IN" sz="16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Sheet1!$AN$139</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Sheet1!$AM$140:$AM$149</c:f>
              <c:strCache>
                <c:ptCount val="10"/>
                <c:pt idx="0">
                  <c:v>RB</c:v>
                </c:pt>
                <c:pt idx="1">
                  <c:v>GT</c:v>
                </c:pt>
                <c:pt idx="2">
                  <c:v>WW</c:v>
                </c:pt>
                <c:pt idx="3">
                  <c:v>EF</c:v>
                </c:pt>
                <c:pt idx="4">
                  <c:v>CB</c:v>
                </c:pt>
                <c:pt idx="5">
                  <c:v>CR</c:v>
                </c:pt>
                <c:pt idx="6">
                  <c:v>GW</c:v>
                </c:pt>
                <c:pt idx="7">
                  <c:v>BJ</c:v>
                </c:pt>
                <c:pt idx="8">
                  <c:v>CS</c:v>
                </c:pt>
                <c:pt idx="9">
                  <c:v>WD</c:v>
                </c:pt>
              </c:strCache>
            </c:strRef>
          </c:cat>
          <c:val>
            <c:numRef>
              <c:f>Sheet1!$AN$140:$AN$149</c:f>
              <c:numCache>
                <c:formatCode>General</c:formatCode>
                <c:ptCount val="10"/>
                <c:pt idx="0">
                  <c:v>0.69</c:v>
                </c:pt>
                <c:pt idx="1">
                  <c:v>0.69</c:v>
                </c:pt>
                <c:pt idx="2">
                  <c:v>0.47</c:v>
                </c:pt>
                <c:pt idx="3">
                  <c:v>0.64</c:v>
                </c:pt>
                <c:pt idx="4">
                  <c:v>0.82</c:v>
                </c:pt>
                <c:pt idx="5">
                  <c:v>0.89</c:v>
                </c:pt>
                <c:pt idx="6">
                  <c:v>0.8</c:v>
                </c:pt>
                <c:pt idx="7">
                  <c:v>0.76</c:v>
                </c:pt>
                <c:pt idx="8">
                  <c:v>0.77</c:v>
                </c:pt>
                <c:pt idx="9">
                  <c:v>0.78</c:v>
                </c:pt>
              </c:numCache>
            </c:numRef>
          </c:val>
          <c:smooth val="0"/>
          <c:extLst>
            <c:ext xmlns:c16="http://schemas.microsoft.com/office/drawing/2014/chart" uri="{C3380CC4-5D6E-409C-BE32-E72D297353CC}">
              <c16:uniqueId val="{00000000-5843-4E71-A7FF-ED42F19F149D}"/>
            </c:ext>
          </c:extLst>
        </c:ser>
        <c:ser>
          <c:idx val="1"/>
          <c:order val="1"/>
          <c:tx>
            <c:strRef>
              <c:f>Sheet1!$AO$139</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Sheet1!$AM$140:$AM$149</c:f>
              <c:strCache>
                <c:ptCount val="10"/>
                <c:pt idx="0">
                  <c:v>RB</c:v>
                </c:pt>
                <c:pt idx="1">
                  <c:v>GT</c:v>
                </c:pt>
                <c:pt idx="2">
                  <c:v>WW</c:v>
                </c:pt>
                <c:pt idx="3">
                  <c:v>EF</c:v>
                </c:pt>
                <c:pt idx="4">
                  <c:v>CB</c:v>
                </c:pt>
                <c:pt idx="5">
                  <c:v>CR</c:v>
                </c:pt>
                <c:pt idx="6">
                  <c:v>GW</c:v>
                </c:pt>
                <c:pt idx="7">
                  <c:v>BJ</c:v>
                </c:pt>
                <c:pt idx="8">
                  <c:v>CS</c:v>
                </c:pt>
                <c:pt idx="9">
                  <c:v>WD</c:v>
                </c:pt>
              </c:strCache>
            </c:strRef>
          </c:cat>
          <c:val>
            <c:numRef>
              <c:f>Sheet1!$AO$140:$AO$149</c:f>
              <c:numCache>
                <c:formatCode>General</c:formatCode>
                <c:ptCount val="10"/>
                <c:pt idx="0">
                  <c:v>0.69</c:v>
                </c:pt>
                <c:pt idx="1">
                  <c:v>0.76</c:v>
                </c:pt>
                <c:pt idx="2">
                  <c:v>0.69</c:v>
                </c:pt>
                <c:pt idx="3">
                  <c:v>0.41</c:v>
                </c:pt>
                <c:pt idx="4">
                  <c:v>0.77</c:v>
                </c:pt>
                <c:pt idx="5">
                  <c:v>0.74</c:v>
                </c:pt>
                <c:pt idx="6">
                  <c:v>0.86</c:v>
                </c:pt>
                <c:pt idx="7">
                  <c:v>0.67</c:v>
                </c:pt>
                <c:pt idx="8">
                  <c:v>0.88</c:v>
                </c:pt>
                <c:pt idx="9">
                  <c:v>0.73</c:v>
                </c:pt>
              </c:numCache>
            </c:numRef>
          </c:val>
          <c:smooth val="0"/>
          <c:extLst>
            <c:ext xmlns:c16="http://schemas.microsoft.com/office/drawing/2014/chart" uri="{C3380CC4-5D6E-409C-BE32-E72D297353CC}">
              <c16:uniqueId val="{00000001-5843-4E71-A7FF-ED42F19F149D}"/>
            </c:ext>
          </c:extLst>
        </c:ser>
        <c:ser>
          <c:idx val="2"/>
          <c:order val="2"/>
          <c:tx>
            <c:strRef>
              <c:f>Sheet1!$AP$139</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Sheet1!$AM$140:$AM$149</c:f>
              <c:strCache>
                <c:ptCount val="10"/>
                <c:pt idx="0">
                  <c:v>RB</c:v>
                </c:pt>
                <c:pt idx="1">
                  <c:v>GT</c:v>
                </c:pt>
                <c:pt idx="2">
                  <c:v>WW</c:v>
                </c:pt>
                <c:pt idx="3">
                  <c:v>EF</c:v>
                </c:pt>
                <c:pt idx="4">
                  <c:v>CB</c:v>
                </c:pt>
                <c:pt idx="5">
                  <c:v>CR</c:v>
                </c:pt>
                <c:pt idx="6">
                  <c:v>GW</c:v>
                </c:pt>
                <c:pt idx="7">
                  <c:v>BJ</c:v>
                </c:pt>
                <c:pt idx="8">
                  <c:v>CS</c:v>
                </c:pt>
                <c:pt idx="9">
                  <c:v>WD</c:v>
                </c:pt>
              </c:strCache>
            </c:strRef>
          </c:cat>
          <c:val>
            <c:numRef>
              <c:f>Sheet1!$AP$140:$AP$149</c:f>
              <c:numCache>
                <c:formatCode>General</c:formatCode>
                <c:ptCount val="10"/>
                <c:pt idx="0">
                  <c:v>0.69</c:v>
                </c:pt>
                <c:pt idx="1">
                  <c:v>0.73</c:v>
                </c:pt>
                <c:pt idx="2">
                  <c:v>0.56000000000000005</c:v>
                </c:pt>
                <c:pt idx="3">
                  <c:v>0.5</c:v>
                </c:pt>
                <c:pt idx="4">
                  <c:v>0.79</c:v>
                </c:pt>
                <c:pt idx="5">
                  <c:v>0.81</c:v>
                </c:pt>
                <c:pt idx="6">
                  <c:v>0.83</c:v>
                </c:pt>
                <c:pt idx="7">
                  <c:v>0.71</c:v>
                </c:pt>
                <c:pt idx="8">
                  <c:v>0.82</c:v>
                </c:pt>
                <c:pt idx="9">
                  <c:v>0.75</c:v>
                </c:pt>
              </c:numCache>
            </c:numRef>
          </c:val>
          <c:smooth val="0"/>
          <c:extLst>
            <c:ext xmlns:c16="http://schemas.microsoft.com/office/drawing/2014/chart" uri="{C3380CC4-5D6E-409C-BE32-E72D297353CC}">
              <c16:uniqueId val="{00000002-5843-4E71-A7FF-ED42F19F149D}"/>
            </c:ext>
          </c:extLst>
        </c:ser>
        <c:dLbls>
          <c:showLegendKey val="0"/>
          <c:showVal val="0"/>
          <c:showCatName val="0"/>
          <c:showSerName val="0"/>
          <c:showPercent val="0"/>
          <c:showBubbleSize val="0"/>
        </c:dLbls>
        <c:marker val="1"/>
        <c:smooth val="0"/>
        <c:axId val="818420608"/>
        <c:axId val="818404384"/>
      </c:lineChart>
      <c:catAx>
        <c:axId val="8184206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8404384"/>
        <c:crosses val="autoZero"/>
        <c:auto val="1"/>
        <c:lblAlgn val="ctr"/>
        <c:lblOffset val="100"/>
        <c:noMultiLvlLbl val="0"/>
      </c:catAx>
      <c:valAx>
        <c:axId val="8184043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84206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IN" sz="1600" b="0" i="0" baseline="0" dirty="0">
                <a:effectLst/>
              </a:rPr>
              <a:t>Accuracy of LFCC(26) Features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lineChart>
        <c:grouping val="standard"/>
        <c:varyColors val="0"/>
        <c:ser>
          <c:idx val="0"/>
          <c:order val="0"/>
          <c:tx>
            <c:strRef>
              <c:f>Sheet1!$DH$132</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Sheet1!$DD$133:$DD$142</c:f>
              <c:strCache>
                <c:ptCount val="10"/>
                <c:pt idx="0">
                  <c:v>RB</c:v>
                </c:pt>
                <c:pt idx="1">
                  <c:v>GT</c:v>
                </c:pt>
                <c:pt idx="2">
                  <c:v>WW</c:v>
                </c:pt>
                <c:pt idx="3">
                  <c:v>EF</c:v>
                </c:pt>
                <c:pt idx="4">
                  <c:v>CB</c:v>
                </c:pt>
                <c:pt idx="5">
                  <c:v>CR</c:v>
                </c:pt>
                <c:pt idx="6">
                  <c:v>GW</c:v>
                </c:pt>
                <c:pt idx="7">
                  <c:v>BJ</c:v>
                </c:pt>
                <c:pt idx="8">
                  <c:v>CS</c:v>
                </c:pt>
                <c:pt idx="9">
                  <c:v>WD</c:v>
                </c:pt>
              </c:strCache>
            </c:strRef>
          </c:cat>
          <c:val>
            <c:numRef>
              <c:f>Sheet1!$DH$133:$DH$142</c:f>
              <c:numCache>
                <c:formatCode>General</c:formatCode>
                <c:ptCount val="10"/>
                <c:pt idx="0">
                  <c:v>68.75</c:v>
                </c:pt>
                <c:pt idx="1">
                  <c:v>76.47</c:v>
                </c:pt>
                <c:pt idx="2">
                  <c:v>68.83</c:v>
                </c:pt>
                <c:pt idx="3">
                  <c:v>41.37</c:v>
                </c:pt>
                <c:pt idx="4">
                  <c:v>76.62</c:v>
                </c:pt>
                <c:pt idx="5">
                  <c:v>73.84</c:v>
                </c:pt>
                <c:pt idx="6">
                  <c:v>85.96</c:v>
                </c:pt>
                <c:pt idx="7">
                  <c:v>67.459999999999994</c:v>
                </c:pt>
                <c:pt idx="8">
                  <c:v>87.8</c:v>
                </c:pt>
                <c:pt idx="9">
                  <c:v>72.91</c:v>
                </c:pt>
              </c:numCache>
            </c:numRef>
          </c:val>
          <c:smooth val="0"/>
          <c:extLst>
            <c:ext xmlns:c16="http://schemas.microsoft.com/office/drawing/2014/chart" uri="{C3380CC4-5D6E-409C-BE32-E72D297353CC}">
              <c16:uniqueId val="{00000000-7C24-4781-A688-5BCFBC0A5FB5}"/>
            </c:ext>
          </c:extLst>
        </c:ser>
        <c:dLbls>
          <c:showLegendKey val="0"/>
          <c:showVal val="0"/>
          <c:showCatName val="0"/>
          <c:showSerName val="0"/>
          <c:showPercent val="0"/>
          <c:showBubbleSize val="0"/>
        </c:dLbls>
        <c:marker val="1"/>
        <c:smooth val="0"/>
        <c:axId val="813634368"/>
        <c:axId val="813632288"/>
      </c:lineChart>
      <c:catAx>
        <c:axId val="8136343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3632288"/>
        <c:crosses val="autoZero"/>
        <c:auto val="1"/>
        <c:lblAlgn val="ctr"/>
        <c:lblOffset val="100"/>
        <c:noMultiLvlLbl val="0"/>
      </c:catAx>
      <c:valAx>
        <c:axId val="8136322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36343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 of LFCC(39) Features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Sheet1!$AT$139</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Sheet1!$AS$140:$AS$149</c:f>
              <c:strCache>
                <c:ptCount val="10"/>
                <c:pt idx="0">
                  <c:v>RB</c:v>
                </c:pt>
                <c:pt idx="1">
                  <c:v>GT</c:v>
                </c:pt>
                <c:pt idx="2">
                  <c:v>WW</c:v>
                </c:pt>
                <c:pt idx="3">
                  <c:v>EF</c:v>
                </c:pt>
                <c:pt idx="4">
                  <c:v>CB</c:v>
                </c:pt>
                <c:pt idx="5">
                  <c:v>CR</c:v>
                </c:pt>
                <c:pt idx="6">
                  <c:v>GW</c:v>
                </c:pt>
                <c:pt idx="7">
                  <c:v>BJ</c:v>
                </c:pt>
                <c:pt idx="8">
                  <c:v>CS</c:v>
                </c:pt>
                <c:pt idx="9">
                  <c:v>WD</c:v>
                </c:pt>
              </c:strCache>
            </c:strRef>
          </c:cat>
          <c:val>
            <c:numRef>
              <c:f>Sheet1!$AT$140:$AT$149</c:f>
              <c:numCache>
                <c:formatCode>General</c:formatCode>
                <c:ptCount val="10"/>
                <c:pt idx="0">
                  <c:v>0.72</c:v>
                </c:pt>
                <c:pt idx="1">
                  <c:v>0.73</c:v>
                </c:pt>
                <c:pt idx="2">
                  <c:v>0.51</c:v>
                </c:pt>
                <c:pt idx="3">
                  <c:v>0.53</c:v>
                </c:pt>
                <c:pt idx="4">
                  <c:v>0.77</c:v>
                </c:pt>
                <c:pt idx="5">
                  <c:v>0.88</c:v>
                </c:pt>
                <c:pt idx="6">
                  <c:v>0.88</c:v>
                </c:pt>
                <c:pt idx="7">
                  <c:v>0.78</c:v>
                </c:pt>
                <c:pt idx="8">
                  <c:v>0.71</c:v>
                </c:pt>
                <c:pt idx="9">
                  <c:v>0.7</c:v>
                </c:pt>
              </c:numCache>
            </c:numRef>
          </c:val>
          <c:smooth val="0"/>
          <c:extLst>
            <c:ext xmlns:c16="http://schemas.microsoft.com/office/drawing/2014/chart" uri="{C3380CC4-5D6E-409C-BE32-E72D297353CC}">
              <c16:uniqueId val="{00000000-9030-4890-8D58-012B0CFBB7EA}"/>
            </c:ext>
          </c:extLst>
        </c:ser>
        <c:ser>
          <c:idx val="1"/>
          <c:order val="1"/>
          <c:tx>
            <c:strRef>
              <c:f>Sheet1!$AU$139</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Sheet1!$AS$140:$AS$149</c:f>
              <c:strCache>
                <c:ptCount val="10"/>
                <c:pt idx="0">
                  <c:v>RB</c:v>
                </c:pt>
                <c:pt idx="1">
                  <c:v>GT</c:v>
                </c:pt>
                <c:pt idx="2">
                  <c:v>WW</c:v>
                </c:pt>
                <c:pt idx="3">
                  <c:v>EF</c:v>
                </c:pt>
                <c:pt idx="4">
                  <c:v>CB</c:v>
                </c:pt>
                <c:pt idx="5">
                  <c:v>CR</c:v>
                </c:pt>
                <c:pt idx="6">
                  <c:v>GW</c:v>
                </c:pt>
                <c:pt idx="7">
                  <c:v>BJ</c:v>
                </c:pt>
                <c:pt idx="8">
                  <c:v>CS</c:v>
                </c:pt>
                <c:pt idx="9">
                  <c:v>WD</c:v>
                </c:pt>
              </c:strCache>
            </c:strRef>
          </c:cat>
          <c:val>
            <c:numRef>
              <c:f>Sheet1!$AU$140:$AU$149</c:f>
              <c:numCache>
                <c:formatCode>General</c:formatCode>
                <c:ptCount val="10"/>
                <c:pt idx="0">
                  <c:v>0.74</c:v>
                </c:pt>
                <c:pt idx="1">
                  <c:v>0.77</c:v>
                </c:pt>
                <c:pt idx="2">
                  <c:v>0.64</c:v>
                </c:pt>
                <c:pt idx="3">
                  <c:v>0.46</c:v>
                </c:pt>
                <c:pt idx="4">
                  <c:v>0.66</c:v>
                </c:pt>
                <c:pt idx="5">
                  <c:v>0.64</c:v>
                </c:pt>
                <c:pt idx="6">
                  <c:v>0.82</c:v>
                </c:pt>
                <c:pt idx="7">
                  <c:v>0.79</c:v>
                </c:pt>
                <c:pt idx="8">
                  <c:v>0.82</c:v>
                </c:pt>
                <c:pt idx="9">
                  <c:v>0.74</c:v>
                </c:pt>
              </c:numCache>
            </c:numRef>
          </c:val>
          <c:smooth val="0"/>
          <c:extLst>
            <c:ext xmlns:c16="http://schemas.microsoft.com/office/drawing/2014/chart" uri="{C3380CC4-5D6E-409C-BE32-E72D297353CC}">
              <c16:uniqueId val="{00000001-9030-4890-8D58-012B0CFBB7EA}"/>
            </c:ext>
          </c:extLst>
        </c:ser>
        <c:ser>
          <c:idx val="2"/>
          <c:order val="2"/>
          <c:tx>
            <c:strRef>
              <c:f>Sheet1!$AV$139</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Sheet1!$AS$140:$AS$149</c:f>
              <c:strCache>
                <c:ptCount val="10"/>
                <c:pt idx="0">
                  <c:v>RB</c:v>
                </c:pt>
                <c:pt idx="1">
                  <c:v>GT</c:v>
                </c:pt>
                <c:pt idx="2">
                  <c:v>WW</c:v>
                </c:pt>
                <c:pt idx="3">
                  <c:v>EF</c:v>
                </c:pt>
                <c:pt idx="4">
                  <c:v>CB</c:v>
                </c:pt>
                <c:pt idx="5">
                  <c:v>CR</c:v>
                </c:pt>
                <c:pt idx="6">
                  <c:v>GW</c:v>
                </c:pt>
                <c:pt idx="7">
                  <c:v>BJ</c:v>
                </c:pt>
                <c:pt idx="8">
                  <c:v>CS</c:v>
                </c:pt>
                <c:pt idx="9">
                  <c:v>WD</c:v>
                </c:pt>
              </c:strCache>
            </c:strRef>
          </c:cat>
          <c:val>
            <c:numRef>
              <c:f>Sheet1!$AV$140:$AV$149</c:f>
              <c:numCache>
                <c:formatCode>General</c:formatCode>
                <c:ptCount val="10"/>
                <c:pt idx="0">
                  <c:v>0.73</c:v>
                </c:pt>
                <c:pt idx="1">
                  <c:v>0.75</c:v>
                </c:pt>
                <c:pt idx="2">
                  <c:v>0.56000000000000005</c:v>
                </c:pt>
                <c:pt idx="3">
                  <c:v>0.5</c:v>
                </c:pt>
                <c:pt idx="4">
                  <c:v>0.71</c:v>
                </c:pt>
                <c:pt idx="5">
                  <c:v>0.74</c:v>
                </c:pt>
                <c:pt idx="6">
                  <c:v>0.84</c:v>
                </c:pt>
                <c:pt idx="7">
                  <c:v>0.79</c:v>
                </c:pt>
                <c:pt idx="8">
                  <c:v>0.76</c:v>
                </c:pt>
                <c:pt idx="9">
                  <c:v>0.72</c:v>
                </c:pt>
              </c:numCache>
            </c:numRef>
          </c:val>
          <c:smooth val="0"/>
          <c:extLst>
            <c:ext xmlns:c16="http://schemas.microsoft.com/office/drawing/2014/chart" uri="{C3380CC4-5D6E-409C-BE32-E72D297353CC}">
              <c16:uniqueId val="{00000002-9030-4890-8D58-012B0CFBB7EA}"/>
            </c:ext>
          </c:extLst>
        </c:ser>
        <c:dLbls>
          <c:showLegendKey val="0"/>
          <c:showVal val="0"/>
          <c:showCatName val="0"/>
          <c:showSerName val="0"/>
          <c:showPercent val="0"/>
          <c:showBubbleSize val="0"/>
        </c:dLbls>
        <c:marker val="1"/>
        <c:smooth val="0"/>
        <c:axId val="702005680"/>
        <c:axId val="702011504"/>
      </c:lineChart>
      <c:catAx>
        <c:axId val="702005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2011504"/>
        <c:crosses val="autoZero"/>
        <c:auto val="1"/>
        <c:lblAlgn val="ctr"/>
        <c:lblOffset val="100"/>
        <c:noMultiLvlLbl val="0"/>
      </c:catAx>
      <c:valAx>
        <c:axId val="7020115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20056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IN" sz="1600" b="0" i="0" baseline="0" dirty="0">
                <a:effectLst/>
              </a:rPr>
              <a:t>Accuracy of LFCC(39) Features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lineChart>
        <c:grouping val="standard"/>
        <c:varyColors val="0"/>
        <c:ser>
          <c:idx val="0"/>
          <c:order val="0"/>
          <c:tx>
            <c:strRef>
              <c:f>Sheet1!$DO$132</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Sheet1!$DK$133:$DK$142</c:f>
              <c:strCache>
                <c:ptCount val="10"/>
                <c:pt idx="0">
                  <c:v>RB</c:v>
                </c:pt>
                <c:pt idx="1">
                  <c:v>GT</c:v>
                </c:pt>
                <c:pt idx="2">
                  <c:v>WW</c:v>
                </c:pt>
                <c:pt idx="3">
                  <c:v>EF</c:v>
                </c:pt>
                <c:pt idx="4">
                  <c:v>CB</c:v>
                </c:pt>
                <c:pt idx="5">
                  <c:v>CR</c:v>
                </c:pt>
                <c:pt idx="6">
                  <c:v>GW</c:v>
                </c:pt>
                <c:pt idx="7">
                  <c:v>BJ</c:v>
                </c:pt>
                <c:pt idx="8">
                  <c:v>CS</c:v>
                </c:pt>
                <c:pt idx="9">
                  <c:v>WD</c:v>
                </c:pt>
              </c:strCache>
            </c:strRef>
          </c:cat>
          <c:val>
            <c:numRef>
              <c:f>Sheet1!$DO$133:$DO$142</c:f>
              <c:numCache>
                <c:formatCode>General</c:formatCode>
                <c:ptCount val="10"/>
                <c:pt idx="0">
                  <c:v>74.239999999999995</c:v>
                </c:pt>
                <c:pt idx="1">
                  <c:v>76.709999999999994</c:v>
                </c:pt>
                <c:pt idx="2">
                  <c:v>63.88</c:v>
                </c:pt>
                <c:pt idx="3">
                  <c:v>46.42</c:v>
                </c:pt>
                <c:pt idx="4">
                  <c:v>66.23</c:v>
                </c:pt>
                <c:pt idx="5">
                  <c:v>63.63</c:v>
                </c:pt>
                <c:pt idx="6">
                  <c:v>81.66</c:v>
                </c:pt>
                <c:pt idx="7">
                  <c:v>79.06</c:v>
                </c:pt>
                <c:pt idx="8">
                  <c:v>82.05</c:v>
                </c:pt>
                <c:pt idx="9">
                  <c:v>73.680000000000007</c:v>
                </c:pt>
              </c:numCache>
            </c:numRef>
          </c:val>
          <c:smooth val="0"/>
          <c:extLst>
            <c:ext xmlns:c16="http://schemas.microsoft.com/office/drawing/2014/chart" uri="{C3380CC4-5D6E-409C-BE32-E72D297353CC}">
              <c16:uniqueId val="{00000000-B590-4259-A520-1DC41CA4EC37}"/>
            </c:ext>
          </c:extLst>
        </c:ser>
        <c:dLbls>
          <c:showLegendKey val="0"/>
          <c:showVal val="0"/>
          <c:showCatName val="0"/>
          <c:showSerName val="0"/>
          <c:showPercent val="0"/>
          <c:showBubbleSize val="0"/>
        </c:dLbls>
        <c:marker val="1"/>
        <c:smooth val="0"/>
        <c:axId val="932549248"/>
        <c:axId val="932553824"/>
      </c:lineChart>
      <c:catAx>
        <c:axId val="932549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53824"/>
        <c:crosses val="autoZero"/>
        <c:auto val="1"/>
        <c:lblAlgn val="ctr"/>
        <c:lblOffset val="100"/>
        <c:noMultiLvlLbl val="0"/>
      </c:catAx>
      <c:valAx>
        <c:axId val="9325538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492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a:t>
            </a:r>
            <a:r>
              <a:rPr lang="en-IN" sz="1600" baseline="0" dirty="0"/>
              <a:t> of GFCC(13) Features</a:t>
            </a:r>
            <a:endParaRPr lang="en-IN" sz="16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Sheet1!$AH$153</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Sheet1!$AG$154:$AG$163</c:f>
              <c:strCache>
                <c:ptCount val="10"/>
                <c:pt idx="0">
                  <c:v>RB</c:v>
                </c:pt>
                <c:pt idx="1">
                  <c:v>GT</c:v>
                </c:pt>
                <c:pt idx="2">
                  <c:v>WW</c:v>
                </c:pt>
                <c:pt idx="3">
                  <c:v>EF</c:v>
                </c:pt>
                <c:pt idx="4">
                  <c:v>CB</c:v>
                </c:pt>
                <c:pt idx="5">
                  <c:v>CR</c:v>
                </c:pt>
                <c:pt idx="6">
                  <c:v>GW</c:v>
                </c:pt>
                <c:pt idx="7">
                  <c:v>BJ</c:v>
                </c:pt>
                <c:pt idx="8">
                  <c:v>CS</c:v>
                </c:pt>
                <c:pt idx="9">
                  <c:v>WD</c:v>
                </c:pt>
              </c:strCache>
            </c:strRef>
          </c:cat>
          <c:val>
            <c:numRef>
              <c:f>Sheet1!$AH$154:$AH$163</c:f>
              <c:numCache>
                <c:formatCode>General</c:formatCode>
                <c:ptCount val="10"/>
                <c:pt idx="0">
                  <c:v>0.67</c:v>
                </c:pt>
                <c:pt idx="1">
                  <c:v>0.65</c:v>
                </c:pt>
                <c:pt idx="2">
                  <c:v>0.4</c:v>
                </c:pt>
                <c:pt idx="3">
                  <c:v>0.69</c:v>
                </c:pt>
                <c:pt idx="4">
                  <c:v>0.74</c:v>
                </c:pt>
                <c:pt idx="5">
                  <c:v>0.74</c:v>
                </c:pt>
                <c:pt idx="6">
                  <c:v>0.74</c:v>
                </c:pt>
                <c:pt idx="7">
                  <c:v>0.76</c:v>
                </c:pt>
                <c:pt idx="8">
                  <c:v>0.83</c:v>
                </c:pt>
                <c:pt idx="9">
                  <c:v>0.9</c:v>
                </c:pt>
              </c:numCache>
            </c:numRef>
          </c:val>
          <c:smooth val="0"/>
          <c:extLst>
            <c:ext xmlns:c16="http://schemas.microsoft.com/office/drawing/2014/chart" uri="{C3380CC4-5D6E-409C-BE32-E72D297353CC}">
              <c16:uniqueId val="{00000000-C233-476B-9887-C0D4075A6E4E}"/>
            </c:ext>
          </c:extLst>
        </c:ser>
        <c:ser>
          <c:idx val="1"/>
          <c:order val="1"/>
          <c:tx>
            <c:strRef>
              <c:f>Sheet1!$AI$153</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Sheet1!$AG$154:$AG$163</c:f>
              <c:strCache>
                <c:ptCount val="10"/>
                <c:pt idx="0">
                  <c:v>RB</c:v>
                </c:pt>
                <c:pt idx="1">
                  <c:v>GT</c:v>
                </c:pt>
                <c:pt idx="2">
                  <c:v>WW</c:v>
                </c:pt>
                <c:pt idx="3">
                  <c:v>EF</c:v>
                </c:pt>
                <c:pt idx="4">
                  <c:v>CB</c:v>
                </c:pt>
                <c:pt idx="5">
                  <c:v>CR</c:v>
                </c:pt>
                <c:pt idx="6">
                  <c:v>GW</c:v>
                </c:pt>
                <c:pt idx="7">
                  <c:v>BJ</c:v>
                </c:pt>
                <c:pt idx="8">
                  <c:v>CS</c:v>
                </c:pt>
                <c:pt idx="9">
                  <c:v>WD</c:v>
                </c:pt>
              </c:strCache>
            </c:strRef>
          </c:cat>
          <c:val>
            <c:numRef>
              <c:f>Sheet1!$AI$154:$AI$163</c:f>
              <c:numCache>
                <c:formatCode>General</c:formatCode>
                <c:ptCount val="10"/>
                <c:pt idx="0">
                  <c:v>0.81</c:v>
                </c:pt>
                <c:pt idx="1">
                  <c:v>0.64</c:v>
                </c:pt>
                <c:pt idx="2">
                  <c:v>0.54</c:v>
                </c:pt>
                <c:pt idx="3">
                  <c:v>0.41</c:v>
                </c:pt>
                <c:pt idx="4">
                  <c:v>0.8</c:v>
                </c:pt>
                <c:pt idx="5">
                  <c:v>0.68</c:v>
                </c:pt>
                <c:pt idx="6">
                  <c:v>0.9</c:v>
                </c:pt>
                <c:pt idx="7">
                  <c:v>0.88</c:v>
                </c:pt>
                <c:pt idx="8">
                  <c:v>0.74</c:v>
                </c:pt>
                <c:pt idx="9">
                  <c:v>0.49</c:v>
                </c:pt>
              </c:numCache>
            </c:numRef>
          </c:val>
          <c:smooth val="0"/>
          <c:extLst>
            <c:ext xmlns:c16="http://schemas.microsoft.com/office/drawing/2014/chart" uri="{C3380CC4-5D6E-409C-BE32-E72D297353CC}">
              <c16:uniqueId val="{00000001-C233-476B-9887-C0D4075A6E4E}"/>
            </c:ext>
          </c:extLst>
        </c:ser>
        <c:ser>
          <c:idx val="2"/>
          <c:order val="2"/>
          <c:tx>
            <c:strRef>
              <c:f>Sheet1!$AJ$153</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Sheet1!$AG$154:$AG$163</c:f>
              <c:strCache>
                <c:ptCount val="10"/>
                <c:pt idx="0">
                  <c:v>RB</c:v>
                </c:pt>
                <c:pt idx="1">
                  <c:v>GT</c:v>
                </c:pt>
                <c:pt idx="2">
                  <c:v>WW</c:v>
                </c:pt>
                <c:pt idx="3">
                  <c:v>EF</c:v>
                </c:pt>
                <c:pt idx="4">
                  <c:v>CB</c:v>
                </c:pt>
                <c:pt idx="5">
                  <c:v>CR</c:v>
                </c:pt>
                <c:pt idx="6">
                  <c:v>GW</c:v>
                </c:pt>
                <c:pt idx="7">
                  <c:v>BJ</c:v>
                </c:pt>
                <c:pt idx="8">
                  <c:v>CS</c:v>
                </c:pt>
                <c:pt idx="9">
                  <c:v>WD</c:v>
                </c:pt>
              </c:strCache>
            </c:strRef>
          </c:cat>
          <c:val>
            <c:numRef>
              <c:f>Sheet1!$AJ$154:$AJ$163</c:f>
              <c:numCache>
                <c:formatCode>General</c:formatCode>
                <c:ptCount val="10"/>
                <c:pt idx="0">
                  <c:v>0.74</c:v>
                </c:pt>
                <c:pt idx="1">
                  <c:v>0.64</c:v>
                </c:pt>
                <c:pt idx="2">
                  <c:v>0.46</c:v>
                </c:pt>
                <c:pt idx="3">
                  <c:v>0.52</c:v>
                </c:pt>
                <c:pt idx="4">
                  <c:v>0.77</c:v>
                </c:pt>
                <c:pt idx="5">
                  <c:v>0.71</c:v>
                </c:pt>
                <c:pt idx="6">
                  <c:v>0.81</c:v>
                </c:pt>
                <c:pt idx="7">
                  <c:v>0.81</c:v>
                </c:pt>
                <c:pt idx="8">
                  <c:v>0.78</c:v>
                </c:pt>
                <c:pt idx="9">
                  <c:v>0.64</c:v>
                </c:pt>
              </c:numCache>
            </c:numRef>
          </c:val>
          <c:smooth val="0"/>
          <c:extLst>
            <c:ext xmlns:c16="http://schemas.microsoft.com/office/drawing/2014/chart" uri="{C3380CC4-5D6E-409C-BE32-E72D297353CC}">
              <c16:uniqueId val="{00000002-C233-476B-9887-C0D4075A6E4E}"/>
            </c:ext>
          </c:extLst>
        </c:ser>
        <c:dLbls>
          <c:showLegendKey val="0"/>
          <c:showVal val="0"/>
          <c:showCatName val="0"/>
          <c:showSerName val="0"/>
          <c:showPercent val="0"/>
          <c:showBubbleSize val="0"/>
        </c:dLbls>
        <c:marker val="1"/>
        <c:smooth val="0"/>
        <c:axId val="812608192"/>
        <c:axId val="812614432"/>
      </c:lineChart>
      <c:catAx>
        <c:axId val="812608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2614432"/>
        <c:crosses val="autoZero"/>
        <c:auto val="1"/>
        <c:lblAlgn val="ctr"/>
        <c:lblOffset val="100"/>
        <c:noMultiLvlLbl val="0"/>
      </c:catAx>
      <c:valAx>
        <c:axId val="8126144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26081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IN" sz="1600" b="0" i="0" baseline="0" dirty="0">
                <a:effectLst/>
              </a:rPr>
              <a:t>Accuracy of GFCC(13) Features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lineChart>
        <c:grouping val="standard"/>
        <c:varyColors val="0"/>
        <c:ser>
          <c:idx val="0"/>
          <c:order val="0"/>
          <c:tx>
            <c:strRef>
              <c:f>Sheet1!$DA$146</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Sheet1!$CW$147:$CW$156</c:f>
              <c:strCache>
                <c:ptCount val="10"/>
                <c:pt idx="0">
                  <c:v>RB</c:v>
                </c:pt>
                <c:pt idx="1">
                  <c:v>GT</c:v>
                </c:pt>
                <c:pt idx="2">
                  <c:v>WW</c:v>
                </c:pt>
                <c:pt idx="3">
                  <c:v>EF</c:v>
                </c:pt>
                <c:pt idx="4">
                  <c:v>CB</c:v>
                </c:pt>
                <c:pt idx="5">
                  <c:v>CR</c:v>
                </c:pt>
                <c:pt idx="6">
                  <c:v>GW</c:v>
                </c:pt>
                <c:pt idx="7">
                  <c:v>BJ</c:v>
                </c:pt>
                <c:pt idx="8">
                  <c:v>CS</c:v>
                </c:pt>
                <c:pt idx="9">
                  <c:v>WD</c:v>
                </c:pt>
              </c:strCache>
            </c:strRef>
          </c:cat>
          <c:val>
            <c:numRef>
              <c:f>Sheet1!$DA$147:$DA$156</c:f>
              <c:numCache>
                <c:formatCode>General</c:formatCode>
                <c:ptCount val="10"/>
                <c:pt idx="0">
                  <c:v>81.150000000000006</c:v>
                </c:pt>
                <c:pt idx="1">
                  <c:v>63.89</c:v>
                </c:pt>
                <c:pt idx="2">
                  <c:v>54.16</c:v>
                </c:pt>
                <c:pt idx="3">
                  <c:v>41.46</c:v>
                </c:pt>
                <c:pt idx="4">
                  <c:v>80</c:v>
                </c:pt>
                <c:pt idx="5">
                  <c:v>68</c:v>
                </c:pt>
                <c:pt idx="6">
                  <c:v>90</c:v>
                </c:pt>
                <c:pt idx="7">
                  <c:v>87.5</c:v>
                </c:pt>
                <c:pt idx="8">
                  <c:v>74.349999999999994</c:v>
                </c:pt>
                <c:pt idx="9">
                  <c:v>49.12</c:v>
                </c:pt>
              </c:numCache>
            </c:numRef>
          </c:val>
          <c:smooth val="0"/>
          <c:extLst>
            <c:ext xmlns:c16="http://schemas.microsoft.com/office/drawing/2014/chart" uri="{C3380CC4-5D6E-409C-BE32-E72D297353CC}">
              <c16:uniqueId val="{00000000-A6FC-4101-AAD3-6EB22FC77162}"/>
            </c:ext>
          </c:extLst>
        </c:ser>
        <c:dLbls>
          <c:showLegendKey val="0"/>
          <c:showVal val="0"/>
          <c:showCatName val="0"/>
          <c:showSerName val="0"/>
          <c:showPercent val="0"/>
          <c:showBubbleSize val="0"/>
        </c:dLbls>
        <c:marker val="1"/>
        <c:smooth val="0"/>
        <c:axId val="838608192"/>
        <c:axId val="809928448"/>
      </c:lineChart>
      <c:catAx>
        <c:axId val="838608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09928448"/>
        <c:crosses val="autoZero"/>
        <c:auto val="1"/>
        <c:lblAlgn val="ctr"/>
        <c:lblOffset val="100"/>
        <c:noMultiLvlLbl val="0"/>
      </c:catAx>
      <c:valAx>
        <c:axId val="8099284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86081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 of GFCC(26) Features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Sheet1!$AN$153</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Sheet1!$AM$154:$AM$163</c:f>
              <c:strCache>
                <c:ptCount val="10"/>
                <c:pt idx="0">
                  <c:v>RB</c:v>
                </c:pt>
                <c:pt idx="1">
                  <c:v>GT</c:v>
                </c:pt>
                <c:pt idx="2">
                  <c:v>WW</c:v>
                </c:pt>
                <c:pt idx="3">
                  <c:v>EF</c:v>
                </c:pt>
                <c:pt idx="4">
                  <c:v>CB</c:v>
                </c:pt>
                <c:pt idx="5">
                  <c:v>CR</c:v>
                </c:pt>
                <c:pt idx="6">
                  <c:v>GW</c:v>
                </c:pt>
                <c:pt idx="7">
                  <c:v>BJ</c:v>
                </c:pt>
                <c:pt idx="8">
                  <c:v>CS</c:v>
                </c:pt>
                <c:pt idx="9">
                  <c:v>WD</c:v>
                </c:pt>
              </c:strCache>
            </c:strRef>
          </c:cat>
          <c:val>
            <c:numRef>
              <c:f>Sheet1!$AN$154:$AN$163</c:f>
              <c:numCache>
                <c:formatCode>General</c:formatCode>
                <c:ptCount val="10"/>
                <c:pt idx="0">
                  <c:v>0.72</c:v>
                </c:pt>
                <c:pt idx="1">
                  <c:v>0.74</c:v>
                </c:pt>
                <c:pt idx="2">
                  <c:v>0.51</c:v>
                </c:pt>
                <c:pt idx="3">
                  <c:v>0.72</c:v>
                </c:pt>
                <c:pt idx="4">
                  <c:v>0.8</c:v>
                </c:pt>
                <c:pt idx="5">
                  <c:v>0.86</c:v>
                </c:pt>
                <c:pt idx="6">
                  <c:v>0.7</c:v>
                </c:pt>
                <c:pt idx="7">
                  <c:v>0.61</c:v>
                </c:pt>
                <c:pt idx="8">
                  <c:v>0.78</c:v>
                </c:pt>
                <c:pt idx="9">
                  <c:v>0.79</c:v>
                </c:pt>
              </c:numCache>
            </c:numRef>
          </c:val>
          <c:smooth val="0"/>
          <c:extLst>
            <c:ext xmlns:c16="http://schemas.microsoft.com/office/drawing/2014/chart" uri="{C3380CC4-5D6E-409C-BE32-E72D297353CC}">
              <c16:uniqueId val="{00000000-51C2-4C07-9BD8-7FF7163200F5}"/>
            </c:ext>
          </c:extLst>
        </c:ser>
        <c:ser>
          <c:idx val="1"/>
          <c:order val="1"/>
          <c:tx>
            <c:strRef>
              <c:f>Sheet1!$AO$153</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Sheet1!$AM$154:$AM$163</c:f>
              <c:strCache>
                <c:ptCount val="10"/>
                <c:pt idx="0">
                  <c:v>RB</c:v>
                </c:pt>
                <c:pt idx="1">
                  <c:v>GT</c:v>
                </c:pt>
                <c:pt idx="2">
                  <c:v>WW</c:v>
                </c:pt>
                <c:pt idx="3">
                  <c:v>EF</c:v>
                </c:pt>
                <c:pt idx="4">
                  <c:v>CB</c:v>
                </c:pt>
                <c:pt idx="5">
                  <c:v>CR</c:v>
                </c:pt>
                <c:pt idx="6">
                  <c:v>GW</c:v>
                </c:pt>
                <c:pt idx="7">
                  <c:v>BJ</c:v>
                </c:pt>
                <c:pt idx="8">
                  <c:v>CS</c:v>
                </c:pt>
                <c:pt idx="9">
                  <c:v>WD</c:v>
                </c:pt>
              </c:strCache>
            </c:strRef>
          </c:cat>
          <c:val>
            <c:numRef>
              <c:f>Sheet1!$AO$154:$AO$163</c:f>
              <c:numCache>
                <c:formatCode>General</c:formatCode>
                <c:ptCount val="10"/>
                <c:pt idx="0">
                  <c:v>0.77</c:v>
                </c:pt>
                <c:pt idx="1">
                  <c:v>0.56999999999999995</c:v>
                </c:pt>
                <c:pt idx="2">
                  <c:v>0.64</c:v>
                </c:pt>
                <c:pt idx="3">
                  <c:v>0.51</c:v>
                </c:pt>
                <c:pt idx="4">
                  <c:v>0.8</c:v>
                </c:pt>
                <c:pt idx="5">
                  <c:v>0.62</c:v>
                </c:pt>
                <c:pt idx="6">
                  <c:v>0.96</c:v>
                </c:pt>
                <c:pt idx="7">
                  <c:v>0.81</c:v>
                </c:pt>
                <c:pt idx="8">
                  <c:v>0.81</c:v>
                </c:pt>
                <c:pt idx="9">
                  <c:v>0.61</c:v>
                </c:pt>
              </c:numCache>
            </c:numRef>
          </c:val>
          <c:smooth val="0"/>
          <c:extLst>
            <c:ext xmlns:c16="http://schemas.microsoft.com/office/drawing/2014/chart" uri="{C3380CC4-5D6E-409C-BE32-E72D297353CC}">
              <c16:uniqueId val="{00000001-51C2-4C07-9BD8-7FF7163200F5}"/>
            </c:ext>
          </c:extLst>
        </c:ser>
        <c:ser>
          <c:idx val="2"/>
          <c:order val="2"/>
          <c:tx>
            <c:strRef>
              <c:f>Sheet1!$AP$153</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Sheet1!$AM$154:$AM$163</c:f>
              <c:strCache>
                <c:ptCount val="10"/>
                <c:pt idx="0">
                  <c:v>RB</c:v>
                </c:pt>
                <c:pt idx="1">
                  <c:v>GT</c:v>
                </c:pt>
                <c:pt idx="2">
                  <c:v>WW</c:v>
                </c:pt>
                <c:pt idx="3">
                  <c:v>EF</c:v>
                </c:pt>
                <c:pt idx="4">
                  <c:v>CB</c:v>
                </c:pt>
                <c:pt idx="5">
                  <c:v>CR</c:v>
                </c:pt>
                <c:pt idx="6">
                  <c:v>GW</c:v>
                </c:pt>
                <c:pt idx="7">
                  <c:v>BJ</c:v>
                </c:pt>
                <c:pt idx="8">
                  <c:v>CS</c:v>
                </c:pt>
                <c:pt idx="9">
                  <c:v>WD</c:v>
                </c:pt>
              </c:strCache>
            </c:strRef>
          </c:cat>
          <c:val>
            <c:numRef>
              <c:f>Sheet1!$AP$154:$AP$163</c:f>
              <c:numCache>
                <c:formatCode>General</c:formatCode>
                <c:ptCount val="10"/>
                <c:pt idx="0">
                  <c:v>0.75</c:v>
                </c:pt>
                <c:pt idx="1">
                  <c:v>0.65</c:v>
                </c:pt>
                <c:pt idx="2">
                  <c:v>0.56999999999999995</c:v>
                </c:pt>
                <c:pt idx="3">
                  <c:v>0.59</c:v>
                </c:pt>
                <c:pt idx="4">
                  <c:v>0.8</c:v>
                </c:pt>
                <c:pt idx="5">
                  <c:v>0.72</c:v>
                </c:pt>
                <c:pt idx="6">
                  <c:v>0.81</c:v>
                </c:pt>
                <c:pt idx="7">
                  <c:v>0.7</c:v>
                </c:pt>
                <c:pt idx="8">
                  <c:v>0.79</c:v>
                </c:pt>
                <c:pt idx="9">
                  <c:v>0.69</c:v>
                </c:pt>
              </c:numCache>
            </c:numRef>
          </c:val>
          <c:smooth val="0"/>
          <c:extLst>
            <c:ext xmlns:c16="http://schemas.microsoft.com/office/drawing/2014/chart" uri="{C3380CC4-5D6E-409C-BE32-E72D297353CC}">
              <c16:uniqueId val="{00000002-51C2-4C07-9BD8-7FF7163200F5}"/>
            </c:ext>
          </c:extLst>
        </c:ser>
        <c:dLbls>
          <c:showLegendKey val="0"/>
          <c:showVal val="0"/>
          <c:showCatName val="0"/>
          <c:showSerName val="0"/>
          <c:showPercent val="0"/>
          <c:showBubbleSize val="0"/>
        </c:dLbls>
        <c:marker val="1"/>
        <c:smooth val="0"/>
        <c:axId val="818426016"/>
        <c:axId val="818413536"/>
      </c:lineChart>
      <c:catAx>
        <c:axId val="818426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8413536"/>
        <c:crosses val="autoZero"/>
        <c:auto val="1"/>
        <c:lblAlgn val="ctr"/>
        <c:lblOffset val="100"/>
        <c:noMultiLvlLbl val="0"/>
      </c:catAx>
      <c:valAx>
        <c:axId val="818413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84260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IN" sz="1600" b="0" i="0" baseline="0" dirty="0">
                <a:effectLst/>
              </a:rPr>
              <a:t>Accuracy of GFCC(26) Features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lineChart>
        <c:grouping val="standard"/>
        <c:varyColors val="0"/>
        <c:ser>
          <c:idx val="0"/>
          <c:order val="0"/>
          <c:tx>
            <c:strRef>
              <c:f>Sheet1!$DH$146</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Sheet1!$DD$147:$DD$156</c:f>
              <c:strCache>
                <c:ptCount val="10"/>
                <c:pt idx="0">
                  <c:v>RB</c:v>
                </c:pt>
                <c:pt idx="1">
                  <c:v>GT</c:v>
                </c:pt>
                <c:pt idx="2">
                  <c:v>WW</c:v>
                </c:pt>
                <c:pt idx="3">
                  <c:v>EF</c:v>
                </c:pt>
                <c:pt idx="4">
                  <c:v>CB</c:v>
                </c:pt>
                <c:pt idx="5">
                  <c:v>CR</c:v>
                </c:pt>
                <c:pt idx="6">
                  <c:v>GW</c:v>
                </c:pt>
                <c:pt idx="7">
                  <c:v>BJ</c:v>
                </c:pt>
                <c:pt idx="8">
                  <c:v>CS</c:v>
                </c:pt>
                <c:pt idx="9">
                  <c:v>WD</c:v>
                </c:pt>
              </c:strCache>
            </c:strRef>
          </c:cat>
          <c:val>
            <c:numRef>
              <c:f>Sheet1!$DH$147:$DH$156</c:f>
              <c:numCache>
                <c:formatCode>General</c:formatCode>
                <c:ptCount val="10"/>
                <c:pt idx="0">
                  <c:v>77.33</c:v>
                </c:pt>
                <c:pt idx="1">
                  <c:v>57.14</c:v>
                </c:pt>
                <c:pt idx="2">
                  <c:v>63.75</c:v>
                </c:pt>
                <c:pt idx="3">
                  <c:v>50.54</c:v>
                </c:pt>
                <c:pt idx="4">
                  <c:v>79.510000000000005</c:v>
                </c:pt>
                <c:pt idx="5">
                  <c:v>62.06</c:v>
                </c:pt>
                <c:pt idx="6">
                  <c:v>95.91</c:v>
                </c:pt>
                <c:pt idx="7">
                  <c:v>81.33</c:v>
                </c:pt>
                <c:pt idx="8">
                  <c:v>80.819999999999993</c:v>
                </c:pt>
                <c:pt idx="9">
                  <c:v>61.11</c:v>
                </c:pt>
              </c:numCache>
            </c:numRef>
          </c:val>
          <c:smooth val="0"/>
          <c:extLst>
            <c:ext xmlns:c16="http://schemas.microsoft.com/office/drawing/2014/chart" uri="{C3380CC4-5D6E-409C-BE32-E72D297353CC}">
              <c16:uniqueId val="{00000000-EA59-4A15-BC07-AA6B1780A203}"/>
            </c:ext>
          </c:extLst>
        </c:ser>
        <c:dLbls>
          <c:showLegendKey val="0"/>
          <c:showVal val="0"/>
          <c:showCatName val="0"/>
          <c:showSerName val="0"/>
          <c:showPercent val="0"/>
          <c:showBubbleSize val="0"/>
        </c:dLbls>
        <c:marker val="1"/>
        <c:smooth val="0"/>
        <c:axId val="713670304"/>
        <c:axId val="713671552"/>
      </c:lineChart>
      <c:catAx>
        <c:axId val="7136703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3671552"/>
        <c:crosses val="autoZero"/>
        <c:auto val="1"/>
        <c:lblAlgn val="ctr"/>
        <c:lblOffset val="100"/>
        <c:noMultiLvlLbl val="0"/>
      </c:catAx>
      <c:valAx>
        <c:axId val="7136715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36703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a:t>
            </a:r>
            <a:r>
              <a:rPr lang="en-IN" sz="1600" baseline="0" dirty="0"/>
              <a:t> of GFCC(39) Features</a:t>
            </a:r>
            <a:endParaRPr lang="en-IN" sz="16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Sheet1!$AT$153</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Sheet1!$AS$154:$AS$163</c:f>
              <c:strCache>
                <c:ptCount val="10"/>
                <c:pt idx="0">
                  <c:v>RB</c:v>
                </c:pt>
                <c:pt idx="1">
                  <c:v>GT</c:v>
                </c:pt>
                <c:pt idx="2">
                  <c:v>WW</c:v>
                </c:pt>
                <c:pt idx="3">
                  <c:v>EF</c:v>
                </c:pt>
                <c:pt idx="4">
                  <c:v>CB</c:v>
                </c:pt>
                <c:pt idx="5">
                  <c:v>CR</c:v>
                </c:pt>
                <c:pt idx="6">
                  <c:v>GW</c:v>
                </c:pt>
                <c:pt idx="7">
                  <c:v>BJ</c:v>
                </c:pt>
                <c:pt idx="8">
                  <c:v>CS</c:v>
                </c:pt>
                <c:pt idx="9">
                  <c:v>WD</c:v>
                </c:pt>
              </c:strCache>
            </c:strRef>
          </c:cat>
          <c:val>
            <c:numRef>
              <c:f>Sheet1!$AT$154:$AT$163</c:f>
              <c:numCache>
                <c:formatCode>General</c:formatCode>
                <c:ptCount val="10"/>
                <c:pt idx="0">
                  <c:v>0.69</c:v>
                </c:pt>
                <c:pt idx="1">
                  <c:v>0.75</c:v>
                </c:pt>
                <c:pt idx="2">
                  <c:v>0.46</c:v>
                </c:pt>
                <c:pt idx="3">
                  <c:v>0.68</c:v>
                </c:pt>
                <c:pt idx="4">
                  <c:v>0.78</c:v>
                </c:pt>
                <c:pt idx="5">
                  <c:v>0.79</c:v>
                </c:pt>
                <c:pt idx="6">
                  <c:v>0.8</c:v>
                </c:pt>
                <c:pt idx="7">
                  <c:v>0.74</c:v>
                </c:pt>
                <c:pt idx="8">
                  <c:v>0.87</c:v>
                </c:pt>
                <c:pt idx="9">
                  <c:v>0.86</c:v>
                </c:pt>
              </c:numCache>
            </c:numRef>
          </c:val>
          <c:smooth val="0"/>
          <c:extLst>
            <c:ext xmlns:c16="http://schemas.microsoft.com/office/drawing/2014/chart" uri="{C3380CC4-5D6E-409C-BE32-E72D297353CC}">
              <c16:uniqueId val="{00000000-B477-491C-8B10-EEAB38AF5A57}"/>
            </c:ext>
          </c:extLst>
        </c:ser>
        <c:ser>
          <c:idx val="1"/>
          <c:order val="1"/>
          <c:tx>
            <c:strRef>
              <c:f>Sheet1!$AU$153</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Sheet1!$AS$154:$AS$163</c:f>
              <c:strCache>
                <c:ptCount val="10"/>
                <c:pt idx="0">
                  <c:v>RB</c:v>
                </c:pt>
                <c:pt idx="1">
                  <c:v>GT</c:v>
                </c:pt>
                <c:pt idx="2">
                  <c:v>WW</c:v>
                </c:pt>
                <c:pt idx="3">
                  <c:v>EF</c:v>
                </c:pt>
                <c:pt idx="4">
                  <c:v>CB</c:v>
                </c:pt>
                <c:pt idx="5">
                  <c:v>CR</c:v>
                </c:pt>
                <c:pt idx="6">
                  <c:v>GW</c:v>
                </c:pt>
                <c:pt idx="7">
                  <c:v>BJ</c:v>
                </c:pt>
                <c:pt idx="8">
                  <c:v>CS</c:v>
                </c:pt>
                <c:pt idx="9">
                  <c:v>WD</c:v>
                </c:pt>
              </c:strCache>
            </c:strRef>
          </c:cat>
          <c:val>
            <c:numRef>
              <c:f>Sheet1!$AU$154:$AU$163</c:f>
              <c:numCache>
                <c:formatCode>General</c:formatCode>
                <c:ptCount val="10"/>
                <c:pt idx="0">
                  <c:v>0.82</c:v>
                </c:pt>
                <c:pt idx="1">
                  <c:v>0.57999999999999996</c:v>
                </c:pt>
                <c:pt idx="2">
                  <c:v>0.63</c:v>
                </c:pt>
                <c:pt idx="3">
                  <c:v>0.56999999999999995</c:v>
                </c:pt>
                <c:pt idx="4">
                  <c:v>0.85</c:v>
                </c:pt>
                <c:pt idx="5">
                  <c:v>0.66</c:v>
                </c:pt>
                <c:pt idx="6">
                  <c:v>0.94</c:v>
                </c:pt>
                <c:pt idx="7">
                  <c:v>0.84</c:v>
                </c:pt>
                <c:pt idx="8">
                  <c:v>0.73</c:v>
                </c:pt>
                <c:pt idx="9">
                  <c:v>0.55000000000000004</c:v>
                </c:pt>
              </c:numCache>
            </c:numRef>
          </c:val>
          <c:smooth val="0"/>
          <c:extLst>
            <c:ext xmlns:c16="http://schemas.microsoft.com/office/drawing/2014/chart" uri="{C3380CC4-5D6E-409C-BE32-E72D297353CC}">
              <c16:uniqueId val="{00000001-B477-491C-8B10-EEAB38AF5A57}"/>
            </c:ext>
          </c:extLst>
        </c:ser>
        <c:ser>
          <c:idx val="2"/>
          <c:order val="2"/>
          <c:tx>
            <c:strRef>
              <c:f>Sheet1!$AV$153</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Sheet1!$AS$154:$AS$163</c:f>
              <c:strCache>
                <c:ptCount val="10"/>
                <c:pt idx="0">
                  <c:v>RB</c:v>
                </c:pt>
                <c:pt idx="1">
                  <c:v>GT</c:v>
                </c:pt>
                <c:pt idx="2">
                  <c:v>WW</c:v>
                </c:pt>
                <c:pt idx="3">
                  <c:v>EF</c:v>
                </c:pt>
                <c:pt idx="4">
                  <c:v>CB</c:v>
                </c:pt>
                <c:pt idx="5">
                  <c:v>CR</c:v>
                </c:pt>
                <c:pt idx="6">
                  <c:v>GW</c:v>
                </c:pt>
                <c:pt idx="7">
                  <c:v>BJ</c:v>
                </c:pt>
                <c:pt idx="8">
                  <c:v>CS</c:v>
                </c:pt>
                <c:pt idx="9">
                  <c:v>WD</c:v>
                </c:pt>
              </c:strCache>
            </c:strRef>
          </c:cat>
          <c:val>
            <c:numRef>
              <c:f>Sheet1!$AV$154:$AV$163</c:f>
              <c:numCache>
                <c:formatCode>General</c:formatCode>
                <c:ptCount val="10"/>
                <c:pt idx="0">
                  <c:v>0.75</c:v>
                </c:pt>
                <c:pt idx="1">
                  <c:v>0.65</c:v>
                </c:pt>
                <c:pt idx="2">
                  <c:v>0.53</c:v>
                </c:pt>
                <c:pt idx="3">
                  <c:v>0.62</c:v>
                </c:pt>
                <c:pt idx="4">
                  <c:v>0.82</c:v>
                </c:pt>
                <c:pt idx="5">
                  <c:v>0.72</c:v>
                </c:pt>
                <c:pt idx="6">
                  <c:v>0.86</c:v>
                </c:pt>
                <c:pt idx="7">
                  <c:v>0.78</c:v>
                </c:pt>
                <c:pt idx="8">
                  <c:v>0.79</c:v>
                </c:pt>
                <c:pt idx="9">
                  <c:v>0.67</c:v>
                </c:pt>
              </c:numCache>
            </c:numRef>
          </c:val>
          <c:smooth val="0"/>
          <c:extLst>
            <c:ext xmlns:c16="http://schemas.microsoft.com/office/drawing/2014/chart" uri="{C3380CC4-5D6E-409C-BE32-E72D297353CC}">
              <c16:uniqueId val="{00000002-B477-491C-8B10-EEAB38AF5A57}"/>
            </c:ext>
          </c:extLst>
        </c:ser>
        <c:dLbls>
          <c:showLegendKey val="0"/>
          <c:showVal val="0"/>
          <c:showCatName val="0"/>
          <c:showSerName val="0"/>
          <c:showPercent val="0"/>
          <c:showBubbleSize val="0"/>
        </c:dLbls>
        <c:marker val="1"/>
        <c:smooth val="0"/>
        <c:axId val="932537184"/>
        <c:axId val="932519712"/>
      </c:lineChart>
      <c:catAx>
        <c:axId val="932537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19712"/>
        <c:crosses val="autoZero"/>
        <c:auto val="1"/>
        <c:lblAlgn val="ctr"/>
        <c:lblOffset val="100"/>
        <c:noMultiLvlLbl val="0"/>
      </c:catAx>
      <c:valAx>
        <c:axId val="932519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371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IN" sz="1600" b="0" i="0" baseline="0" dirty="0">
                <a:effectLst/>
              </a:rPr>
              <a:t>Accuracy of GFCC(39) Features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lineChart>
        <c:grouping val="standard"/>
        <c:varyColors val="0"/>
        <c:ser>
          <c:idx val="0"/>
          <c:order val="0"/>
          <c:tx>
            <c:strRef>
              <c:f>Sheet1!$DO$146</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Sheet1!$DK$147:$DK$156</c:f>
              <c:strCache>
                <c:ptCount val="10"/>
                <c:pt idx="0">
                  <c:v>RB</c:v>
                </c:pt>
                <c:pt idx="1">
                  <c:v>GT</c:v>
                </c:pt>
                <c:pt idx="2">
                  <c:v>WW</c:v>
                </c:pt>
                <c:pt idx="3">
                  <c:v>EF</c:v>
                </c:pt>
                <c:pt idx="4">
                  <c:v>CB</c:v>
                </c:pt>
                <c:pt idx="5">
                  <c:v>CR</c:v>
                </c:pt>
                <c:pt idx="6">
                  <c:v>GW</c:v>
                </c:pt>
                <c:pt idx="7">
                  <c:v>BJ</c:v>
                </c:pt>
                <c:pt idx="8">
                  <c:v>CS</c:v>
                </c:pt>
                <c:pt idx="9">
                  <c:v>WD</c:v>
                </c:pt>
              </c:strCache>
            </c:strRef>
          </c:cat>
          <c:val>
            <c:numRef>
              <c:f>Sheet1!$DO$147:$DO$156</c:f>
              <c:numCache>
                <c:formatCode>General</c:formatCode>
                <c:ptCount val="10"/>
                <c:pt idx="0">
                  <c:v>82.14</c:v>
                </c:pt>
                <c:pt idx="1">
                  <c:v>57.74</c:v>
                </c:pt>
                <c:pt idx="2">
                  <c:v>63.29</c:v>
                </c:pt>
                <c:pt idx="3">
                  <c:v>57.14</c:v>
                </c:pt>
                <c:pt idx="4">
                  <c:v>84.93</c:v>
                </c:pt>
                <c:pt idx="5">
                  <c:v>66.069999999999993</c:v>
                </c:pt>
                <c:pt idx="6">
                  <c:v>94.11</c:v>
                </c:pt>
                <c:pt idx="7">
                  <c:v>83.51</c:v>
                </c:pt>
                <c:pt idx="8">
                  <c:v>72.97</c:v>
                </c:pt>
                <c:pt idx="9">
                  <c:v>55.35</c:v>
                </c:pt>
              </c:numCache>
            </c:numRef>
          </c:val>
          <c:smooth val="0"/>
          <c:extLst>
            <c:ext xmlns:c16="http://schemas.microsoft.com/office/drawing/2014/chart" uri="{C3380CC4-5D6E-409C-BE32-E72D297353CC}">
              <c16:uniqueId val="{00000000-C1C2-431E-AC41-57497B18EA8B}"/>
            </c:ext>
          </c:extLst>
        </c:ser>
        <c:dLbls>
          <c:showLegendKey val="0"/>
          <c:showVal val="0"/>
          <c:showCatName val="0"/>
          <c:showSerName val="0"/>
          <c:showPercent val="0"/>
          <c:showBubbleSize val="0"/>
        </c:dLbls>
        <c:marker val="1"/>
        <c:smooth val="0"/>
        <c:axId val="846904416"/>
        <c:axId val="379103856"/>
      </c:lineChart>
      <c:catAx>
        <c:axId val="84690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79103856"/>
        <c:crosses val="autoZero"/>
        <c:auto val="1"/>
        <c:lblAlgn val="ctr"/>
        <c:lblOffset val="100"/>
        <c:noMultiLvlLbl val="0"/>
      </c:catAx>
      <c:valAx>
        <c:axId val="3791038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469044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a:t>
            </a:r>
            <a:r>
              <a:rPr lang="en-IN" sz="1600" baseline="0" dirty="0"/>
              <a:t> of MFCC(27) Features</a:t>
            </a:r>
            <a:endParaRPr lang="en-IN" sz="16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Sheet1!$AZ$125</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Sheet1!$AY$126:$AY$135</c:f>
              <c:strCache>
                <c:ptCount val="10"/>
                <c:pt idx="0">
                  <c:v>RB</c:v>
                </c:pt>
                <c:pt idx="1">
                  <c:v>GT</c:v>
                </c:pt>
                <c:pt idx="2">
                  <c:v>WW</c:v>
                </c:pt>
                <c:pt idx="3">
                  <c:v>EF</c:v>
                </c:pt>
                <c:pt idx="4">
                  <c:v>CB</c:v>
                </c:pt>
                <c:pt idx="5">
                  <c:v>CR</c:v>
                </c:pt>
                <c:pt idx="6">
                  <c:v>GW</c:v>
                </c:pt>
                <c:pt idx="7">
                  <c:v>BJ</c:v>
                </c:pt>
                <c:pt idx="8">
                  <c:v>CS</c:v>
                </c:pt>
                <c:pt idx="9">
                  <c:v>WD</c:v>
                </c:pt>
              </c:strCache>
            </c:strRef>
          </c:cat>
          <c:val>
            <c:numRef>
              <c:f>Sheet1!$AZ$126:$AZ$135</c:f>
              <c:numCache>
                <c:formatCode>General</c:formatCode>
                <c:ptCount val="10"/>
                <c:pt idx="0">
                  <c:v>0.93</c:v>
                </c:pt>
                <c:pt idx="1">
                  <c:v>0.65</c:v>
                </c:pt>
                <c:pt idx="2">
                  <c:v>0.68</c:v>
                </c:pt>
                <c:pt idx="3">
                  <c:v>0.54</c:v>
                </c:pt>
                <c:pt idx="4">
                  <c:v>0.78</c:v>
                </c:pt>
                <c:pt idx="5">
                  <c:v>0.75</c:v>
                </c:pt>
                <c:pt idx="6">
                  <c:v>0.9</c:v>
                </c:pt>
                <c:pt idx="7">
                  <c:v>0.71</c:v>
                </c:pt>
                <c:pt idx="8">
                  <c:v>0.64</c:v>
                </c:pt>
                <c:pt idx="9">
                  <c:v>0.86</c:v>
                </c:pt>
              </c:numCache>
            </c:numRef>
          </c:val>
          <c:smooth val="0"/>
          <c:extLst>
            <c:ext xmlns:c16="http://schemas.microsoft.com/office/drawing/2014/chart" uri="{C3380CC4-5D6E-409C-BE32-E72D297353CC}">
              <c16:uniqueId val="{00000000-F261-4F2B-899F-EA9003C540F4}"/>
            </c:ext>
          </c:extLst>
        </c:ser>
        <c:ser>
          <c:idx val="1"/>
          <c:order val="1"/>
          <c:tx>
            <c:strRef>
              <c:f>Sheet1!$BA$125</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Sheet1!$AY$126:$AY$135</c:f>
              <c:strCache>
                <c:ptCount val="10"/>
                <c:pt idx="0">
                  <c:v>RB</c:v>
                </c:pt>
                <c:pt idx="1">
                  <c:v>GT</c:v>
                </c:pt>
                <c:pt idx="2">
                  <c:v>WW</c:v>
                </c:pt>
                <c:pt idx="3">
                  <c:v>EF</c:v>
                </c:pt>
                <c:pt idx="4">
                  <c:v>CB</c:v>
                </c:pt>
                <c:pt idx="5">
                  <c:v>CR</c:v>
                </c:pt>
                <c:pt idx="6">
                  <c:v>GW</c:v>
                </c:pt>
                <c:pt idx="7">
                  <c:v>BJ</c:v>
                </c:pt>
                <c:pt idx="8">
                  <c:v>CS</c:v>
                </c:pt>
                <c:pt idx="9">
                  <c:v>WD</c:v>
                </c:pt>
              </c:strCache>
            </c:strRef>
          </c:cat>
          <c:val>
            <c:numRef>
              <c:f>Sheet1!$BA$126:$BA$135</c:f>
              <c:numCache>
                <c:formatCode>General</c:formatCode>
                <c:ptCount val="10"/>
                <c:pt idx="0">
                  <c:v>0.79</c:v>
                </c:pt>
                <c:pt idx="1">
                  <c:v>0.86</c:v>
                </c:pt>
                <c:pt idx="2">
                  <c:v>0.69</c:v>
                </c:pt>
                <c:pt idx="3">
                  <c:v>0.39</c:v>
                </c:pt>
                <c:pt idx="4">
                  <c:v>0.8</c:v>
                </c:pt>
                <c:pt idx="5">
                  <c:v>0.88</c:v>
                </c:pt>
                <c:pt idx="6">
                  <c:v>0.85</c:v>
                </c:pt>
                <c:pt idx="7">
                  <c:v>0.75</c:v>
                </c:pt>
                <c:pt idx="8">
                  <c:v>0.66</c:v>
                </c:pt>
                <c:pt idx="9">
                  <c:v>0.75</c:v>
                </c:pt>
              </c:numCache>
            </c:numRef>
          </c:val>
          <c:smooth val="0"/>
          <c:extLst>
            <c:ext xmlns:c16="http://schemas.microsoft.com/office/drawing/2014/chart" uri="{C3380CC4-5D6E-409C-BE32-E72D297353CC}">
              <c16:uniqueId val="{00000001-F261-4F2B-899F-EA9003C540F4}"/>
            </c:ext>
          </c:extLst>
        </c:ser>
        <c:ser>
          <c:idx val="2"/>
          <c:order val="2"/>
          <c:tx>
            <c:strRef>
              <c:f>Sheet1!$BB$125</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Sheet1!$AY$126:$AY$135</c:f>
              <c:strCache>
                <c:ptCount val="10"/>
                <c:pt idx="0">
                  <c:v>RB</c:v>
                </c:pt>
                <c:pt idx="1">
                  <c:v>GT</c:v>
                </c:pt>
                <c:pt idx="2">
                  <c:v>WW</c:v>
                </c:pt>
                <c:pt idx="3">
                  <c:v>EF</c:v>
                </c:pt>
                <c:pt idx="4">
                  <c:v>CB</c:v>
                </c:pt>
                <c:pt idx="5">
                  <c:v>CR</c:v>
                </c:pt>
                <c:pt idx="6">
                  <c:v>GW</c:v>
                </c:pt>
                <c:pt idx="7">
                  <c:v>BJ</c:v>
                </c:pt>
                <c:pt idx="8">
                  <c:v>CS</c:v>
                </c:pt>
                <c:pt idx="9">
                  <c:v>WD</c:v>
                </c:pt>
              </c:strCache>
            </c:strRef>
          </c:cat>
          <c:val>
            <c:numRef>
              <c:f>Sheet1!$BB$126:$BB$135</c:f>
              <c:numCache>
                <c:formatCode>General</c:formatCode>
                <c:ptCount val="10"/>
                <c:pt idx="0">
                  <c:v>0.85</c:v>
                </c:pt>
                <c:pt idx="1">
                  <c:v>0.74</c:v>
                </c:pt>
                <c:pt idx="2">
                  <c:v>0.69</c:v>
                </c:pt>
                <c:pt idx="3">
                  <c:v>0.45</c:v>
                </c:pt>
                <c:pt idx="4">
                  <c:v>0.79</c:v>
                </c:pt>
                <c:pt idx="5">
                  <c:v>0.81</c:v>
                </c:pt>
                <c:pt idx="6">
                  <c:v>0.87</c:v>
                </c:pt>
                <c:pt idx="7">
                  <c:v>0.73</c:v>
                </c:pt>
                <c:pt idx="8">
                  <c:v>0.65</c:v>
                </c:pt>
                <c:pt idx="9">
                  <c:v>0.8</c:v>
                </c:pt>
              </c:numCache>
            </c:numRef>
          </c:val>
          <c:smooth val="0"/>
          <c:extLst>
            <c:ext xmlns:c16="http://schemas.microsoft.com/office/drawing/2014/chart" uri="{C3380CC4-5D6E-409C-BE32-E72D297353CC}">
              <c16:uniqueId val="{00000002-F261-4F2B-899F-EA9003C540F4}"/>
            </c:ext>
          </c:extLst>
        </c:ser>
        <c:dLbls>
          <c:showLegendKey val="0"/>
          <c:showVal val="0"/>
          <c:showCatName val="0"/>
          <c:showSerName val="0"/>
          <c:showPercent val="0"/>
          <c:showBubbleSize val="0"/>
        </c:dLbls>
        <c:marker val="1"/>
        <c:smooth val="0"/>
        <c:axId val="707331776"/>
        <c:axId val="707332608"/>
      </c:lineChart>
      <c:catAx>
        <c:axId val="707331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7332608"/>
        <c:crosses val="autoZero"/>
        <c:auto val="1"/>
        <c:lblAlgn val="ctr"/>
        <c:lblOffset val="100"/>
        <c:noMultiLvlLbl val="0"/>
      </c:catAx>
      <c:valAx>
        <c:axId val="7073326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73317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IN" sz="1600" b="0" i="0" baseline="0" dirty="0">
                <a:effectLst/>
              </a:rPr>
              <a:t>Accuracy of MFCC(27) Features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lineChart>
        <c:grouping val="standard"/>
        <c:varyColors val="0"/>
        <c:ser>
          <c:idx val="0"/>
          <c:order val="0"/>
          <c:tx>
            <c:strRef>
              <c:f>Sheet1!$DV$118</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Sheet1!$DR$119:$DR$128</c:f>
              <c:strCache>
                <c:ptCount val="10"/>
                <c:pt idx="0">
                  <c:v>RB</c:v>
                </c:pt>
                <c:pt idx="1">
                  <c:v>GT</c:v>
                </c:pt>
                <c:pt idx="2">
                  <c:v>WW</c:v>
                </c:pt>
                <c:pt idx="3">
                  <c:v>EF</c:v>
                </c:pt>
                <c:pt idx="4">
                  <c:v>CB</c:v>
                </c:pt>
                <c:pt idx="5">
                  <c:v>CR</c:v>
                </c:pt>
                <c:pt idx="6">
                  <c:v>GW</c:v>
                </c:pt>
                <c:pt idx="7">
                  <c:v>BJ</c:v>
                </c:pt>
                <c:pt idx="8">
                  <c:v>CS</c:v>
                </c:pt>
                <c:pt idx="9">
                  <c:v>WD</c:v>
                </c:pt>
              </c:strCache>
            </c:strRef>
          </c:cat>
          <c:val>
            <c:numRef>
              <c:f>Sheet1!$DV$119:$DV$128</c:f>
              <c:numCache>
                <c:formatCode>General</c:formatCode>
                <c:ptCount val="10"/>
                <c:pt idx="0">
                  <c:v>78.87</c:v>
                </c:pt>
                <c:pt idx="1">
                  <c:v>85.91</c:v>
                </c:pt>
                <c:pt idx="2">
                  <c:v>69.41</c:v>
                </c:pt>
                <c:pt idx="3">
                  <c:v>39.47</c:v>
                </c:pt>
                <c:pt idx="4">
                  <c:v>80.45</c:v>
                </c:pt>
                <c:pt idx="5">
                  <c:v>87.75</c:v>
                </c:pt>
                <c:pt idx="6">
                  <c:v>84.72</c:v>
                </c:pt>
                <c:pt idx="7">
                  <c:v>74.680000000000007</c:v>
                </c:pt>
                <c:pt idx="8">
                  <c:v>65.67</c:v>
                </c:pt>
                <c:pt idx="9">
                  <c:v>74.5</c:v>
                </c:pt>
              </c:numCache>
            </c:numRef>
          </c:val>
          <c:smooth val="0"/>
          <c:extLst>
            <c:ext xmlns:c16="http://schemas.microsoft.com/office/drawing/2014/chart" uri="{C3380CC4-5D6E-409C-BE32-E72D297353CC}">
              <c16:uniqueId val="{00000000-51F3-4533-8FE9-FB72CECBD28C}"/>
            </c:ext>
          </c:extLst>
        </c:ser>
        <c:dLbls>
          <c:showLegendKey val="0"/>
          <c:showVal val="0"/>
          <c:showCatName val="0"/>
          <c:showSerName val="0"/>
          <c:showPercent val="0"/>
          <c:showBubbleSize val="0"/>
        </c:dLbls>
        <c:marker val="1"/>
        <c:smooth val="0"/>
        <c:axId val="812320624"/>
        <c:axId val="812318960"/>
      </c:lineChart>
      <c:catAx>
        <c:axId val="8123206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2318960"/>
        <c:crosses val="autoZero"/>
        <c:auto val="1"/>
        <c:lblAlgn val="ctr"/>
        <c:lblOffset val="100"/>
        <c:noMultiLvlLbl val="0"/>
      </c:catAx>
      <c:valAx>
        <c:axId val="8123189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232062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a:t>
            </a:r>
            <a:r>
              <a:rPr lang="en-IN" sz="1600" baseline="0" dirty="0"/>
              <a:t> of MFCC(27) Features </a:t>
            </a:r>
          </a:p>
          <a:p>
            <a:pPr>
              <a:defRPr/>
            </a:pPr>
            <a:r>
              <a:rPr lang="en-IN" sz="1600" baseline="0" dirty="0"/>
              <a:t>with KNN Algorithm</a:t>
            </a:r>
            <a:endParaRPr lang="en-IN" sz="16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Sheet1!$Z$125</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Sheet1!$Y$126:$Y$135</c:f>
              <c:strCache>
                <c:ptCount val="10"/>
                <c:pt idx="0">
                  <c:v>RB</c:v>
                </c:pt>
                <c:pt idx="1">
                  <c:v>GT</c:v>
                </c:pt>
                <c:pt idx="2">
                  <c:v>WW</c:v>
                </c:pt>
                <c:pt idx="3">
                  <c:v>EF</c:v>
                </c:pt>
                <c:pt idx="4">
                  <c:v>CB</c:v>
                </c:pt>
                <c:pt idx="5">
                  <c:v>CR</c:v>
                </c:pt>
                <c:pt idx="6">
                  <c:v>GW</c:v>
                </c:pt>
                <c:pt idx="7">
                  <c:v>BJ</c:v>
                </c:pt>
                <c:pt idx="8">
                  <c:v>CS</c:v>
                </c:pt>
                <c:pt idx="9">
                  <c:v>WD</c:v>
                </c:pt>
              </c:strCache>
            </c:strRef>
          </c:cat>
          <c:val>
            <c:numRef>
              <c:f>Sheet1!$Z$126:$Z$135</c:f>
              <c:numCache>
                <c:formatCode>General</c:formatCode>
                <c:ptCount val="10"/>
                <c:pt idx="0">
                  <c:v>1</c:v>
                </c:pt>
                <c:pt idx="1">
                  <c:v>0.98</c:v>
                </c:pt>
                <c:pt idx="2">
                  <c:v>0.88</c:v>
                </c:pt>
                <c:pt idx="3">
                  <c:v>0.79</c:v>
                </c:pt>
                <c:pt idx="4">
                  <c:v>0.99</c:v>
                </c:pt>
                <c:pt idx="5">
                  <c:v>0.97</c:v>
                </c:pt>
                <c:pt idx="6">
                  <c:v>0.97</c:v>
                </c:pt>
                <c:pt idx="7">
                  <c:v>0.96</c:v>
                </c:pt>
                <c:pt idx="8">
                  <c:v>1</c:v>
                </c:pt>
                <c:pt idx="9">
                  <c:v>0.98</c:v>
                </c:pt>
              </c:numCache>
            </c:numRef>
          </c:val>
          <c:smooth val="0"/>
          <c:extLst>
            <c:ext xmlns:c16="http://schemas.microsoft.com/office/drawing/2014/chart" uri="{C3380CC4-5D6E-409C-BE32-E72D297353CC}">
              <c16:uniqueId val="{00000000-4131-4232-A592-67C107A9A615}"/>
            </c:ext>
          </c:extLst>
        </c:ser>
        <c:ser>
          <c:idx val="1"/>
          <c:order val="1"/>
          <c:tx>
            <c:strRef>
              <c:f>Sheet1!$AA$125</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Sheet1!$Y$126:$Y$135</c:f>
              <c:strCache>
                <c:ptCount val="10"/>
                <c:pt idx="0">
                  <c:v>RB</c:v>
                </c:pt>
                <c:pt idx="1">
                  <c:v>GT</c:v>
                </c:pt>
                <c:pt idx="2">
                  <c:v>WW</c:v>
                </c:pt>
                <c:pt idx="3">
                  <c:v>EF</c:v>
                </c:pt>
                <c:pt idx="4">
                  <c:v>CB</c:v>
                </c:pt>
                <c:pt idx="5">
                  <c:v>CR</c:v>
                </c:pt>
                <c:pt idx="6">
                  <c:v>GW</c:v>
                </c:pt>
                <c:pt idx="7">
                  <c:v>BJ</c:v>
                </c:pt>
                <c:pt idx="8">
                  <c:v>CS</c:v>
                </c:pt>
                <c:pt idx="9">
                  <c:v>WD</c:v>
                </c:pt>
              </c:strCache>
            </c:strRef>
          </c:cat>
          <c:val>
            <c:numRef>
              <c:f>Sheet1!$AA$126:$AA$135</c:f>
              <c:numCache>
                <c:formatCode>General</c:formatCode>
                <c:ptCount val="10"/>
                <c:pt idx="0">
                  <c:v>0.96</c:v>
                </c:pt>
                <c:pt idx="1">
                  <c:v>0.98</c:v>
                </c:pt>
                <c:pt idx="2">
                  <c:v>0.82</c:v>
                </c:pt>
                <c:pt idx="3">
                  <c:v>0.88800000000000001</c:v>
                </c:pt>
                <c:pt idx="4">
                  <c:v>0.9</c:v>
                </c:pt>
                <c:pt idx="5">
                  <c:v>1</c:v>
                </c:pt>
                <c:pt idx="6">
                  <c:v>1</c:v>
                </c:pt>
                <c:pt idx="7">
                  <c:v>1</c:v>
                </c:pt>
                <c:pt idx="8">
                  <c:v>1</c:v>
                </c:pt>
                <c:pt idx="9">
                  <c:v>0.98</c:v>
                </c:pt>
              </c:numCache>
            </c:numRef>
          </c:val>
          <c:smooth val="0"/>
          <c:extLst>
            <c:ext xmlns:c16="http://schemas.microsoft.com/office/drawing/2014/chart" uri="{C3380CC4-5D6E-409C-BE32-E72D297353CC}">
              <c16:uniqueId val="{00000001-4131-4232-A592-67C107A9A615}"/>
            </c:ext>
          </c:extLst>
        </c:ser>
        <c:ser>
          <c:idx val="2"/>
          <c:order val="2"/>
          <c:tx>
            <c:strRef>
              <c:f>Sheet1!$AB$125</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Sheet1!$Y$126:$Y$135</c:f>
              <c:strCache>
                <c:ptCount val="10"/>
                <c:pt idx="0">
                  <c:v>RB</c:v>
                </c:pt>
                <c:pt idx="1">
                  <c:v>GT</c:v>
                </c:pt>
                <c:pt idx="2">
                  <c:v>WW</c:v>
                </c:pt>
                <c:pt idx="3">
                  <c:v>EF</c:v>
                </c:pt>
                <c:pt idx="4">
                  <c:v>CB</c:v>
                </c:pt>
                <c:pt idx="5">
                  <c:v>CR</c:v>
                </c:pt>
                <c:pt idx="6">
                  <c:v>GW</c:v>
                </c:pt>
                <c:pt idx="7">
                  <c:v>BJ</c:v>
                </c:pt>
                <c:pt idx="8">
                  <c:v>CS</c:v>
                </c:pt>
                <c:pt idx="9">
                  <c:v>WD</c:v>
                </c:pt>
              </c:strCache>
            </c:strRef>
          </c:cat>
          <c:val>
            <c:numRef>
              <c:f>Sheet1!$AB$126:$AB$135</c:f>
              <c:numCache>
                <c:formatCode>General</c:formatCode>
                <c:ptCount val="10"/>
                <c:pt idx="0">
                  <c:v>0.98</c:v>
                </c:pt>
                <c:pt idx="1">
                  <c:v>0.98</c:v>
                </c:pt>
                <c:pt idx="2">
                  <c:v>0.85</c:v>
                </c:pt>
                <c:pt idx="3">
                  <c:v>0.83</c:v>
                </c:pt>
                <c:pt idx="4">
                  <c:v>0.94</c:v>
                </c:pt>
                <c:pt idx="5">
                  <c:v>0.98</c:v>
                </c:pt>
                <c:pt idx="6">
                  <c:v>0.99</c:v>
                </c:pt>
                <c:pt idx="7">
                  <c:v>0.98</c:v>
                </c:pt>
                <c:pt idx="8">
                  <c:v>1</c:v>
                </c:pt>
                <c:pt idx="9">
                  <c:v>0.98</c:v>
                </c:pt>
              </c:numCache>
            </c:numRef>
          </c:val>
          <c:smooth val="0"/>
          <c:extLst>
            <c:ext xmlns:c16="http://schemas.microsoft.com/office/drawing/2014/chart" uri="{C3380CC4-5D6E-409C-BE32-E72D297353CC}">
              <c16:uniqueId val="{00000002-4131-4232-A592-67C107A9A615}"/>
            </c:ext>
          </c:extLst>
        </c:ser>
        <c:dLbls>
          <c:showLegendKey val="0"/>
          <c:showVal val="0"/>
          <c:showCatName val="0"/>
          <c:showSerName val="0"/>
          <c:showPercent val="0"/>
          <c:showBubbleSize val="0"/>
        </c:dLbls>
        <c:marker val="1"/>
        <c:smooth val="0"/>
        <c:axId val="592648671"/>
        <c:axId val="592633279"/>
      </c:lineChart>
      <c:catAx>
        <c:axId val="5926486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2633279"/>
        <c:crosses val="autoZero"/>
        <c:auto val="1"/>
        <c:lblAlgn val="ctr"/>
        <c:lblOffset val="100"/>
        <c:noMultiLvlLbl val="0"/>
      </c:catAx>
      <c:valAx>
        <c:axId val="5926332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26486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b="0" i="0" baseline="0" dirty="0">
                <a:effectLst/>
              </a:rPr>
              <a:t>Accuracy of MFCC(27) Features </a:t>
            </a:r>
          </a:p>
          <a:p>
            <a:pPr>
              <a:defRPr/>
            </a:pPr>
            <a:r>
              <a:rPr lang="en-IN" sz="1600" b="0" i="0" baseline="0" dirty="0">
                <a:effectLst/>
              </a:rPr>
              <a:t>with KNN Algorithm</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Sheet1!$CR$118</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Sheet1!$CN$119:$CN$128</c:f>
              <c:strCache>
                <c:ptCount val="10"/>
                <c:pt idx="0">
                  <c:v>RB</c:v>
                </c:pt>
                <c:pt idx="1">
                  <c:v>GT</c:v>
                </c:pt>
                <c:pt idx="2">
                  <c:v>WW</c:v>
                </c:pt>
                <c:pt idx="3">
                  <c:v>EF</c:v>
                </c:pt>
                <c:pt idx="4">
                  <c:v>CB</c:v>
                </c:pt>
                <c:pt idx="5">
                  <c:v>CR</c:v>
                </c:pt>
                <c:pt idx="6">
                  <c:v>GW</c:v>
                </c:pt>
                <c:pt idx="7">
                  <c:v>BJ</c:v>
                </c:pt>
                <c:pt idx="8">
                  <c:v>CS</c:v>
                </c:pt>
                <c:pt idx="9">
                  <c:v>WD</c:v>
                </c:pt>
              </c:strCache>
            </c:strRef>
          </c:cat>
          <c:val>
            <c:numRef>
              <c:f>Sheet1!$CR$119:$CR$128</c:f>
              <c:numCache>
                <c:formatCode>General</c:formatCode>
                <c:ptCount val="10"/>
                <c:pt idx="0">
                  <c:v>96</c:v>
                </c:pt>
                <c:pt idx="1">
                  <c:v>98.48</c:v>
                </c:pt>
                <c:pt idx="2">
                  <c:v>82.43</c:v>
                </c:pt>
                <c:pt idx="3">
                  <c:v>87.8</c:v>
                </c:pt>
                <c:pt idx="4">
                  <c:v>89.53</c:v>
                </c:pt>
                <c:pt idx="5">
                  <c:v>100</c:v>
                </c:pt>
                <c:pt idx="6">
                  <c:v>100</c:v>
                </c:pt>
                <c:pt idx="7">
                  <c:v>100</c:v>
                </c:pt>
                <c:pt idx="8">
                  <c:v>100</c:v>
                </c:pt>
                <c:pt idx="9">
                  <c:v>98.18</c:v>
                </c:pt>
              </c:numCache>
            </c:numRef>
          </c:val>
          <c:smooth val="0"/>
          <c:extLst>
            <c:ext xmlns:c16="http://schemas.microsoft.com/office/drawing/2014/chart" uri="{C3380CC4-5D6E-409C-BE32-E72D297353CC}">
              <c16:uniqueId val="{00000000-E8B4-4A86-AAC5-D4800B338BB4}"/>
            </c:ext>
          </c:extLst>
        </c:ser>
        <c:dLbls>
          <c:showLegendKey val="0"/>
          <c:showVal val="0"/>
          <c:showCatName val="0"/>
          <c:showSerName val="0"/>
          <c:showPercent val="0"/>
          <c:showBubbleSize val="0"/>
        </c:dLbls>
        <c:marker val="1"/>
        <c:smooth val="0"/>
        <c:axId val="932561312"/>
        <c:axId val="932550080"/>
      </c:lineChart>
      <c:catAx>
        <c:axId val="932561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50080"/>
        <c:crosses val="autoZero"/>
        <c:auto val="1"/>
        <c:lblAlgn val="ctr"/>
        <c:lblOffset val="100"/>
        <c:noMultiLvlLbl val="0"/>
      </c:catAx>
      <c:valAx>
        <c:axId val="932550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6131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 of LFCC(27) Features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Sheet1!$AZ$139</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Sheet1!$AY$140:$AY$149</c:f>
              <c:strCache>
                <c:ptCount val="10"/>
                <c:pt idx="0">
                  <c:v>RB</c:v>
                </c:pt>
                <c:pt idx="1">
                  <c:v>GT</c:v>
                </c:pt>
                <c:pt idx="2">
                  <c:v>WW</c:v>
                </c:pt>
                <c:pt idx="3">
                  <c:v>EF</c:v>
                </c:pt>
                <c:pt idx="4">
                  <c:v>CB</c:v>
                </c:pt>
                <c:pt idx="5">
                  <c:v>CR</c:v>
                </c:pt>
                <c:pt idx="6">
                  <c:v>GW</c:v>
                </c:pt>
                <c:pt idx="7">
                  <c:v>BJ</c:v>
                </c:pt>
                <c:pt idx="8">
                  <c:v>CS</c:v>
                </c:pt>
                <c:pt idx="9">
                  <c:v>WD</c:v>
                </c:pt>
              </c:strCache>
            </c:strRef>
          </c:cat>
          <c:val>
            <c:numRef>
              <c:f>Sheet1!$AZ$140:$AZ$149</c:f>
              <c:numCache>
                <c:formatCode>General</c:formatCode>
                <c:ptCount val="10"/>
                <c:pt idx="0">
                  <c:v>0.88</c:v>
                </c:pt>
                <c:pt idx="1">
                  <c:v>0.71</c:v>
                </c:pt>
                <c:pt idx="2">
                  <c:v>0.61</c:v>
                </c:pt>
                <c:pt idx="3">
                  <c:v>0.56999999999999995</c:v>
                </c:pt>
                <c:pt idx="4">
                  <c:v>0.89</c:v>
                </c:pt>
                <c:pt idx="5">
                  <c:v>0.75</c:v>
                </c:pt>
                <c:pt idx="6">
                  <c:v>0.85</c:v>
                </c:pt>
                <c:pt idx="7">
                  <c:v>0.69</c:v>
                </c:pt>
                <c:pt idx="8">
                  <c:v>0.68</c:v>
                </c:pt>
                <c:pt idx="9">
                  <c:v>0.77</c:v>
                </c:pt>
              </c:numCache>
            </c:numRef>
          </c:val>
          <c:smooth val="0"/>
          <c:extLst>
            <c:ext xmlns:c16="http://schemas.microsoft.com/office/drawing/2014/chart" uri="{C3380CC4-5D6E-409C-BE32-E72D297353CC}">
              <c16:uniqueId val="{00000000-582A-4A12-8E12-77B10851F548}"/>
            </c:ext>
          </c:extLst>
        </c:ser>
        <c:ser>
          <c:idx val="1"/>
          <c:order val="1"/>
          <c:tx>
            <c:strRef>
              <c:f>Sheet1!$BA$139</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Sheet1!$AY$140:$AY$149</c:f>
              <c:strCache>
                <c:ptCount val="10"/>
                <c:pt idx="0">
                  <c:v>RB</c:v>
                </c:pt>
                <c:pt idx="1">
                  <c:v>GT</c:v>
                </c:pt>
                <c:pt idx="2">
                  <c:v>WW</c:v>
                </c:pt>
                <c:pt idx="3">
                  <c:v>EF</c:v>
                </c:pt>
                <c:pt idx="4">
                  <c:v>CB</c:v>
                </c:pt>
                <c:pt idx="5">
                  <c:v>CR</c:v>
                </c:pt>
                <c:pt idx="6">
                  <c:v>GW</c:v>
                </c:pt>
                <c:pt idx="7">
                  <c:v>BJ</c:v>
                </c:pt>
                <c:pt idx="8">
                  <c:v>CS</c:v>
                </c:pt>
                <c:pt idx="9">
                  <c:v>WD</c:v>
                </c:pt>
              </c:strCache>
            </c:strRef>
          </c:cat>
          <c:val>
            <c:numRef>
              <c:f>Sheet1!$BA$140:$BA$149</c:f>
              <c:numCache>
                <c:formatCode>General</c:formatCode>
                <c:ptCount val="10"/>
                <c:pt idx="0">
                  <c:v>0.69</c:v>
                </c:pt>
                <c:pt idx="1">
                  <c:v>0.8</c:v>
                </c:pt>
                <c:pt idx="2">
                  <c:v>0.65</c:v>
                </c:pt>
                <c:pt idx="3">
                  <c:v>0.46</c:v>
                </c:pt>
                <c:pt idx="4">
                  <c:v>0.75</c:v>
                </c:pt>
                <c:pt idx="5">
                  <c:v>0.8</c:v>
                </c:pt>
                <c:pt idx="6">
                  <c:v>0.93</c:v>
                </c:pt>
                <c:pt idx="7">
                  <c:v>0.8</c:v>
                </c:pt>
                <c:pt idx="8">
                  <c:v>0.81</c:v>
                </c:pt>
                <c:pt idx="9">
                  <c:v>0.71</c:v>
                </c:pt>
              </c:numCache>
            </c:numRef>
          </c:val>
          <c:smooth val="0"/>
          <c:extLst>
            <c:ext xmlns:c16="http://schemas.microsoft.com/office/drawing/2014/chart" uri="{C3380CC4-5D6E-409C-BE32-E72D297353CC}">
              <c16:uniqueId val="{00000001-582A-4A12-8E12-77B10851F548}"/>
            </c:ext>
          </c:extLst>
        </c:ser>
        <c:ser>
          <c:idx val="2"/>
          <c:order val="2"/>
          <c:tx>
            <c:strRef>
              <c:f>Sheet1!$BB$139</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Sheet1!$AY$140:$AY$149</c:f>
              <c:strCache>
                <c:ptCount val="10"/>
                <c:pt idx="0">
                  <c:v>RB</c:v>
                </c:pt>
                <c:pt idx="1">
                  <c:v>GT</c:v>
                </c:pt>
                <c:pt idx="2">
                  <c:v>WW</c:v>
                </c:pt>
                <c:pt idx="3">
                  <c:v>EF</c:v>
                </c:pt>
                <c:pt idx="4">
                  <c:v>CB</c:v>
                </c:pt>
                <c:pt idx="5">
                  <c:v>CR</c:v>
                </c:pt>
                <c:pt idx="6">
                  <c:v>GW</c:v>
                </c:pt>
                <c:pt idx="7">
                  <c:v>BJ</c:v>
                </c:pt>
                <c:pt idx="8">
                  <c:v>CS</c:v>
                </c:pt>
                <c:pt idx="9">
                  <c:v>WD</c:v>
                </c:pt>
              </c:strCache>
            </c:strRef>
          </c:cat>
          <c:val>
            <c:numRef>
              <c:f>Sheet1!$BB$140:$BB$149</c:f>
              <c:numCache>
                <c:formatCode>General</c:formatCode>
                <c:ptCount val="10"/>
                <c:pt idx="0">
                  <c:v>0.77</c:v>
                </c:pt>
                <c:pt idx="1">
                  <c:v>0.75</c:v>
                </c:pt>
                <c:pt idx="2">
                  <c:v>0.63</c:v>
                </c:pt>
                <c:pt idx="3">
                  <c:v>0.51</c:v>
                </c:pt>
                <c:pt idx="4">
                  <c:v>0.81</c:v>
                </c:pt>
                <c:pt idx="5">
                  <c:v>0.77</c:v>
                </c:pt>
                <c:pt idx="6">
                  <c:v>0.89</c:v>
                </c:pt>
                <c:pt idx="7">
                  <c:v>0.74</c:v>
                </c:pt>
                <c:pt idx="8">
                  <c:v>0.74</c:v>
                </c:pt>
                <c:pt idx="9">
                  <c:v>0.73</c:v>
                </c:pt>
              </c:numCache>
            </c:numRef>
          </c:val>
          <c:smooth val="0"/>
          <c:extLst>
            <c:ext xmlns:c16="http://schemas.microsoft.com/office/drawing/2014/chart" uri="{C3380CC4-5D6E-409C-BE32-E72D297353CC}">
              <c16:uniqueId val="{00000002-582A-4A12-8E12-77B10851F548}"/>
            </c:ext>
          </c:extLst>
        </c:ser>
        <c:dLbls>
          <c:showLegendKey val="0"/>
          <c:showVal val="0"/>
          <c:showCatName val="0"/>
          <c:showSerName val="0"/>
          <c:showPercent val="0"/>
          <c:showBubbleSize val="0"/>
        </c:dLbls>
        <c:marker val="1"/>
        <c:smooth val="0"/>
        <c:axId val="707303904"/>
        <c:axId val="707315968"/>
      </c:lineChart>
      <c:catAx>
        <c:axId val="707303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7315968"/>
        <c:crosses val="autoZero"/>
        <c:auto val="1"/>
        <c:lblAlgn val="ctr"/>
        <c:lblOffset val="100"/>
        <c:noMultiLvlLbl val="0"/>
      </c:catAx>
      <c:valAx>
        <c:axId val="7073159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073039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IN" sz="1600" b="0" i="0" baseline="0" dirty="0">
                <a:effectLst/>
              </a:rPr>
              <a:t>Accuracy of LFCC(27) Features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lineChart>
        <c:grouping val="standard"/>
        <c:varyColors val="0"/>
        <c:ser>
          <c:idx val="0"/>
          <c:order val="0"/>
          <c:tx>
            <c:strRef>
              <c:f>Sheet1!$DV$132</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Sheet1!$DR$133:$DR$142</c:f>
              <c:strCache>
                <c:ptCount val="10"/>
                <c:pt idx="0">
                  <c:v>RB</c:v>
                </c:pt>
                <c:pt idx="1">
                  <c:v>GT</c:v>
                </c:pt>
                <c:pt idx="2">
                  <c:v>WW</c:v>
                </c:pt>
                <c:pt idx="3">
                  <c:v>EF</c:v>
                </c:pt>
                <c:pt idx="4">
                  <c:v>CB</c:v>
                </c:pt>
                <c:pt idx="5">
                  <c:v>CR</c:v>
                </c:pt>
                <c:pt idx="6">
                  <c:v>GW</c:v>
                </c:pt>
                <c:pt idx="7">
                  <c:v>BJ</c:v>
                </c:pt>
                <c:pt idx="8">
                  <c:v>CS</c:v>
                </c:pt>
                <c:pt idx="9">
                  <c:v>WD</c:v>
                </c:pt>
              </c:strCache>
            </c:strRef>
          </c:cat>
          <c:val>
            <c:numRef>
              <c:f>Sheet1!$DV$133:$DV$142</c:f>
              <c:numCache>
                <c:formatCode>General</c:formatCode>
                <c:ptCount val="10"/>
                <c:pt idx="0">
                  <c:v>69.010000000000005</c:v>
                </c:pt>
                <c:pt idx="1">
                  <c:v>80.28</c:v>
                </c:pt>
                <c:pt idx="2">
                  <c:v>64.7</c:v>
                </c:pt>
                <c:pt idx="3">
                  <c:v>46.05</c:v>
                </c:pt>
                <c:pt idx="4">
                  <c:v>74.709999999999994</c:v>
                </c:pt>
                <c:pt idx="5">
                  <c:v>98.21</c:v>
                </c:pt>
                <c:pt idx="6">
                  <c:v>87.5</c:v>
                </c:pt>
                <c:pt idx="7">
                  <c:v>68.349999999999994</c:v>
                </c:pt>
                <c:pt idx="8">
                  <c:v>80.59</c:v>
                </c:pt>
                <c:pt idx="9">
                  <c:v>70.58</c:v>
                </c:pt>
              </c:numCache>
            </c:numRef>
          </c:val>
          <c:smooth val="0"/>
          <c:extLst>
            <c:ext xmlns:c16="http://schemas.microsoft.com/office/drawing/2014/chart" uri="{C3380CC4-5D6E-409C-BE32-E72D297353CC}">
              <c16:uniqueId val="{00000000-A21A-43DF-9DF4-681D2BA27238}"/>
            </c:ext>
          </c:extLst>
        </c:ser>
        <c:dLbls>
          <c:showLegendKey val="0"/>
          <c:showVal val="0"/>
          <c:showCatName val="0"/>
          <c:showSerName val="0"/>
          <c:showPercent val="0"/>
          <c:showBubbleSize val="0"/>
        </c:dLbls>
        <c:marker val="1"/>
        <c:smooth val="0"/>
        <c:axId val="932570048"/>
        <c:axId val="932574208"/>
      </c:lineChart>
      <c:catAx>
        <c:axId val="932570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74208"/>
        <c:crosses val="autoZero"/>
        <c:auto val="1"/>
        <c:lblAlgn val="ctr"/>
        <c:lblOffset val="100"/>
        <c:noMultiLvlLbl val="0"/>
      </c:catAx>
      <c:valAx>
        <c:axId val="9325742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700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a:t>
            </a:r>
            <a:r>
              <a:rPr lang="en-IN" sz="1600" baseline="0" dirty="0"/>
              <a:t> of LFCC(27) Features </a:t>
            </a:r>
          </a:p>
          <a:p>
            <a:pPr>
              <a:defRPr/>
            </a:pPr>
            <a:r>
              <a:rPr lang="en-IN" sz="1600" baseline="0" dirty="0"/>
              <a:t>with KNN Algorithm</a:t>
            </a:r>
            <a:endParaRPr lang="en-IN" sz="16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Sheet1!$CO$132</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Sheet1!$CN$133:$CN$142</c:f>
              <c:strCache>
                <c:ptCount val="10"/>
                <c:pt idx="0">
                  <c:v>RB</c:v>
                </c:pt>
                <c:pt idx="1">
                  <c:v>GT</c:v>
                </c:pt>
                <c:pt idx="2">
                  <c:v>WW</c:v>
                </c:pt>
                <c:pt idx="3">
                  <c:v>EF</c:v>
                </c:pt>
                <c:pt idx="4">
                  <c:v>CB</c:v>
                </c:pt>
                <c:pt idx="5">
                  <c:v>CR</c:v>
                </c:pt>
                <c:pt idx="6">
                  <c:v>GW</c:v>
                </c:pt>
                <c:pt idx="7">
                  <c:v>BJ</c:v>
                </c:pt>
                <c:pt idx="8">
                  <c:v>CS</c:v>
                </c:pt>
                <c:pt idx="9">
                  <c:v>WD</c:v>
                </c:pt>
              </c:strCache>
            </c:strRef>
          </c:cat>
          <c:val>
            <c:numRef>
              <c:f>Sheet1!$CO$133:$CO$142</c:f>
              <c:numCache>
                <c:formatCode>General</c:formatCode>
                <c:ptCount val="10"/>
                <c:pt idx="0">
                  <c:v>1</c:v>
                </c:pt>
                <c:pt idx="1">
                  <c:v>0.93</c:v>
                </c:pt>
                <c:pt idx="2">
                  <c:v>0.98</c:v>
                </c:pt>
                <c:pt idx="3">
                  <c:v>0.82</c:v>
                </c:pt>
                <c:pt idx="4">
                  <c:v>0.94</c:v>
                </c:pt>
                <c:pt idx="5">
                  <c:v>0.98</c:v>
                </c:pt>
                <c:pt idx="6">
                  <c:v>0.98</c:v>
                </c:pt>
                <c:pt idx="7">
                  <c:v>0.99</c:v>
                </c:pt>
                <c:pt idx="8">
                  <c:v>0.99</c:v>
                </c:pt>
                <c:pt idx="9">
                  <c:v>1</c:v>
                </c:pt>
              </c:numCache>
            </c:numRef>
          </c:val>
          <c:smooth val="0"/>
          <c:extLst>
            <c:ext xmlns:c16="http://schemas.microsoft.com/office/drawing/2014/chart" uri="{C3380CC4-5D6E-409C-BE32-E72D297353CC}">
              <c16:uniqueId val="{00000000-8FEE-41CD-A834-A90278AF2958}"/>
            </c:ext>
          </c:extLst>
        </c:ser>
        <c:ser>
          <c:idx val="1"/>
          <c:order val="1"/>
          <c:tx>
            <c:strRef>
              <c:f>Sheet1!$CP$132</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Sheet1!$CN$133:$CN$142</c:f>
              <c:strCache>
                <c:ptCount val="10"/>
                <c:pt idx="0">
                  <c:v>RB</c:v>
                </c:pt>
                <c:pt idx="1">
                  <c:v>GT</c:v>
                </c:pt>
                <c:pt idx="2">
                  <c:v>WW</c:v>
                </c:pt>
                <c:pt idx="3">
                  <c:v>EF</c:v>
                </c:pt>
                <c:pt idx="4">
                  <c:v>CB</c:v>
                </c:pt>
                <c:pt idx="5">
                  <c:v>CR</c:v>
                </c:pt>
                <c:pt idx="6">
                  <c:v>GW</c:v>
                </c:pt>
                <c:pt idx="7">
                  <c:v>BJ</c:v>
                </c:pt>
                <c:pt idx="8">
                  <c:v>CS</c:v>
                </c:pt>
                <c:pt idx="9">
                  <c:v>WD</c:v>
                </c:pt>
              </c:strCache>
            </c:strRef>
          </c:cat>
          <c:val>
            <c:numRef>
              <c:f>Sheet1!$CP$133:$CP$142</c:f>
              <c:numCache>
                <c:formatCode>General</c:formatCode>
                <c:ptCount val="10"/>
                <c:pt idx="0">
                  <c:v>0.99</c:v>
                </c:pt>
                <c:pt idx="1">
                  <c:v>0.92</c:v>
                </c:pt>
                <c:pt idx="2">
                  <c:v>0.79</c:v>
                </c:pt>
                <c:pt idx="3">
                  <c:v>0.93</c:v>
                </c:pt>
                <c:pt idx="4">
                  <c:v>0.97</c:v>
                </c:pt>
                <c:pt idx="5">
                  <c:v>1</c:v>
                </c:pt>
                <c:pt idx="6">
                  <c:v>0.96</c:v>
                </c:pt>
                <c:pt idx="7">
                  <c:v>0.99</c:v>
                </c:pt>
                <c:pt idx="8">
                  <c:v>0.99</c:v>
                </c:pt>
                <c:pt idx="9">
                  <c:v>1</c:v>
                </c:pt>
              </c:numCache>
            </c:numRef>
          </c:val>
          <c:smooth val="0"/>
          <c:extLst>
            <c:ext xmlns:c16="http://schemas.microsoft.com/office/drawing/2014/chart" uri="{C3380CC4-5D6E-409C-BE32-E72D297353CC}">
              <c16:uniqueId val="{00000001-8FEE-41CD-A834-A90278AF2958}"/>
            </c:ext>
          </c:extLst>
        </c:ser>
        <c:ser>
          <c:idx val="2"/>
          <c:order val="2"/>
          <c:tx>
            <c:strRef>
              <c:f>Sheet1!$CQ$132</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Sheet1!$CN$133:$CN$142</c:f>
              <c:strCache>
                <c:ptCount val="10"/>
                <c:pt idx="0">
                  <c:v>RB</c:v>
                </c:pt>
                <c:pt idx="1">
                  <c:v>GT</c:v>
                </c:pt>
                <c:pt idx="2">
                  <c:v>WW</c:v>
                </c:pt>
                <c:pt idx="3">
                  <c:v>EF</c:v>
                </c:pt>
                <c:pt idx="4">
                  <c:v>CB</c:v>
                </c:pt>
                <c:pt idx="5">
                  <c:v>CR</c:v>
                </c:pt>
                <c:pt idx="6">
                  <c:v>GW</c:v>
                </c:pt>
                <c:pt idx="7">
                  <c:v>BJ</c:v>
                </c:pt>
                <c:pt idx="8">
                  <c:v>CS</c:v>
                </c:pt>
                <c:pt idx="9">
                  <c:v>WD</c:v>
                </c:pt>
              </c:strCache>
            </c:strRef>
          </c:cat>
          <c:val>
            <c:numRef>
              <c:f>Sheet1!$CQ$133:$CQ$142</c:f>
              <c:numCache>
                <c:formatCode>General</c:formatCode>
                <c:ptCount val="10"/>
                <c:pt idx="0">
                  <c:v>0.99</c:v>
                </c:pt>
                <c:pt idx="1">
                  <c:v>0.93</c:v>
                </c:pt>
                <c:pt idx="2">
                  <c:v>0.88</c:v>
                </c:pt>
                <c:pt idx="3">
                  <c:v>0.87</c:v>
                </c:pt>
                <c:pt idx="4">
                  <c:v>0.95</c:v>
                </c:pt>
                <c:pt idx="5">
                  <c:v>0.99</c:v>
                </c:pt>
                <c:pt idx="6">
                  <c:v>0.97</c:v>
                </c:pt>
                <c:pt idx="7">
                  <c:v>0.99</c:v>
                </c:pt>
                <c:pt idx="8">
                  <c:v>0.99</c:v>
                </c:pt>
                <c:pt idx="9">
                  <c:v>1</c:v>
                </c:pt>
              </c:numCache>
            </c:numRef>
          </c:val>
          <c:smooth val="0"/>
          <c:extLst>
            <c:ext xmlns:c16="http://schemas.microsoft.com/office/drawing/2014/chart" uri="{C3380CC4-5D6E-409C-BE32-E72D297353CC}">
              <c16:uniqueId val="{00000002-8FEE-41CD-A834-A90278AF2958}"/>
            </c:ext>
          </c:extLst>
        </c:ser>
        <c:dLbls>
          <c:showLegendKey val="0"/>
          <c:showVal val="0"/>
          <c:showCatName val="0"/>
          <c:showSerName val="0"/>
          <c:showPercent val="0"/>
          <c:showBubbleSize val="0"/>
        </c:dLbls>
        <c:marker val="1"/>
        <c:smooth val="0"/>
        <c:axId val="814332688"/>
        <c:axId val="814333104"/>
      </c:lineChart>
      <c:catAx>
        <c:axId val="814332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4333104"/>
        <c:crosses val="autoZero"/>
        <c:auto val="1"/>
        <c:lblAlgn val="ctr"/>
        <c:lblOffset val="100"/>
        <c:noMultiLvlLbl val="0"/>
      </c:catAx>
      <c:valAx>
        <c:axId val="8143331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43326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b="0" i="0" baseline="0" dirty="0">
                <a:effectLst/>
              </a:rPr>
              <a:t>Accuracy of LFCC(27) Features </a:t>
            </a:r>
          </a:p>
          <a:p>
            <a:pPr>
              <a:defRPr/>
            </a:pPr>
            <a:r>
              <a:rPr lang="en-IN" sz="1600" b="0" i="0" baseline="0" dirty="0">
                <a:effectLst/>
              </a:rPr>
              <a:t>with KNN Algorithm</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Sheet1!$CR$132</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Sheet1!$CN$133:$CN$142</c:f>
              <c:strCache>
                <c:ptCount val="10"/>
                <c:pt idx="0">
                  <c:v>RB</c:v>
                </c:pt>
                <c:pt idx="1">
                  <c:v>GT</c:v>
                </c:pt>
                <c:pt idx="2">
                  <c:v>WW</c:v>
                </c:pt>
                <c:pt idx="3">
                  <c:v>EF</c:v>
                </c:pt>
                <c:pt idx="4">
                  <c:v>CB</c:v>
                </c:pt>
                <c:pt idx="5">
                  <c:v>CR</c:v>
                </c:pt>
                <c:pt idx="6">
                  <c:v>GW</c:v>
                </c:pt>
                <c:pt idx="7">
                  <c:v>BJ</c:v>
                </c:pt>
                <c:pt idx="8">
                  <c:v>CS</c:v>
                </c:pt>
                <c:pt idx="9">
                  <c:v>WD</c:v>
                </c:pt>
              </c:strCache>
            </c:strRef>
          </c:cat>
          <c:val>
            <c:numRef>
              <c:f>Sheet1!$CR$133:$CR$142</c:f>
              <c:numCache>
                <c:formatCode>General</c:formatCode>
                <c:ptCount val="10"/>
                <c:pt idx="0">
                  <c:v>98.5</c:v>
                </c:pt>
                <c:pt idx="1">
                  <c:v>92.2</c:v>
                </c:pt>
                <c:pt idx="2">
                  <c:v>79.45</c:v>
                </c:pt>
                <c:pt idx="3">
                  <c:v>92.78</c:v>
                </c:pt>
                <c:pt idx="4">
                  <c:v>97.29</c:v>
                </c:pt>
                <c:pt idx="5">
                  <c:v>100</c:v>
                </c:pt>
                <c:pt idx="6">
                  <c:v>96.42</c:v>
                </c:pt>
                <c:pt idx="7">
                  <c:v>98.73</c:v>
                </c:pt>
                <c:pt idx="8">
                  <c:v>98.52</c:v>
                </c:pt>
                <c:pt idx="9">
                  <c:v>100</c:v>
                </c:pt>
              </c:numCache>
            </c:numRef>
          </c:val>
          <c:smooth val="0"/>
          <c:extLst>
            <c:ext xmlns:c16="http://schemas.microsoft.com/office/drawing/2014/chart" uri="{C3380CC4-5D6E-409C-BE32-E72D297353CC}">
              <c16:uniqueId val="{00000000-9907-462F-B908-0D326173DF32}"/>
            </c:ext>
          </c:extLst>
        </c:ser>
        <c:dLbls>
          <c:showLegendKey val="0"/>
          <c:showVal val="0"/>
          <c:showCatName val="0"/>
          <c:showSerName val="0"/>
          <c:showPercent val="0"/>
          <c:showBubbleSize val="0"/>
        </c:dLbls>
        <c:marker val="1"/>
        <c:smooth val="0"/>
        <c:axId val="932567552"/>
        <c:axId val="932562144"/>
      </c:lineChart>
      <c:catAx>
        <c:axId val="932567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62144"/>
        <c:crosses val="autoZero"/>
        <c:auto val="1"/>
        <c:lblAlgn val="ctr"/>
        <c:lblOffset val="100"/>
        <c:noMultiLvlLbl val="0"/>
      </c:catAx>
      <c:valAx>
        <c:axId val="932562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675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a:t>
            </a:r>
            <a:r>
              <a:rPr lang="en-IN" sz="1600" baseline="0" dirty="0"/>
              <a:t> of GFCC(27) Features</a:t>
            </a:r>
            <a:endParaRPr lang="en-IN" sz="16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Sheet1!$AZ$153</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Sheet1!$AY$154:$AY$163</c:f>
              <c:strCache>
                <c:ptCount val="10"/>
                <c:pt idx="0">
                  <c:v>RB</c:v>
                </c:pt>
                <c:pt idx="1">
                  <c:v>GT</c:v>
                </c:pt>
                <c:pt idx="2">
                  <c:v>WW</c:v>
                </c:pt>
                <c:pt idx="3">
                  <c:v>EF</c:v>
                </c:pt>
                <c:pt idx="4">
                  <c:v>CB</c:v>
                </c:pt>
                <c:pt idx="5">
                  <c:v>CR</c:v>
                </c:pt>
                <c:pt idx="6">
                  <c:v>GW</c:v>
                </c:pt>
                <c:pt idx="7">
                  <c:v>BJ</c:v>
                </c:pt>
                <c:pt idx="8">
                  <c:v>CS</c:v>
                </c:pt>
                <c:pt idx="9">
                  <c:v>WD</c:v>
                </c:pt>
              </c:strCache>
            </c:strRef>
          </c:cat>
          <c:val>
            <c:numRef>
              <c:f>Sheet1!$AZ$154:$AZ$163</c:f>
              <c:numCache>
                <c:formatCode>General</c:formatCode>
                <c:ptCount val="10"/>
                <c:pt idx="0">
                  <c:v>0.6</c:v>
                </c:pt>
                <c:pt idx="1">
                  <c:v>0.76</c:v>
                </c:pt>
                <c:pt idx="2">
                  <c:v>0.49</c:v>
                </c:pt>
                <c:pt idx="3">
                  <c:v>0.62</c:v>
                </c:pt>
                <c:pt idx="4">
                  <c:v>0.77</c:v>
                </c:pt>
                <c:pt idx="5">
                  <c:v>0.83</c:v>
                </c:pt>
                <c:pt idx="6">
                  <c:v>0.69</c:v>
                </c:pt>
                <c:pt idx="7">
                  <c:v>0.71</c:v>
                </c:pt>
                <c:pt idx="8">
                  <c:v>0.69</c:v>
                </c:pt>
                <c:pt idx="9">
                  <c:v>0.68</c:v>
                </c:pt>
              </c:numCache>
            </c:numRef>
          </c:val>
          <c:smooth val="0"/>
          <c:extLst>
            <c:ext xmlns:c16="http://schemas.microsoft.com/office/drawing/2014/chart" uri="{C3380CC4-5D6E-409C-BE32-E72D297353CC}">
              <c16:uniqueId val="{00000000-B6E1-4375-90B1-B11C97DF1F85}"/>
            </c:ext>
          </c:extLst>
        </c:ser>
        <c:ser>
          <c:idx val="1"/>
          <c:order val="1"/>
          <c:tx>
            <c:strRef>
              <c:f>Sheet1!$BA$153</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Sheet1!$AY$154:$AY$163</c:f>
              <c:strCache>
                <c:ptCount val="10"/>
                <c:pt idx="0">
                  <c:v>RB</c:v>
                </c:pt>
                <c:pt idx="1">
                  <c:v>GT</c:v>
                </c:pt>
                <c:pt idx="2">
                  <c:v>WW</c:v>
                </c:pt>
                <c:pt idx="3">
                  <c:v>EF</c:v>
                </c:pt>
                <c:pt idx="4">
                  <c:v>CB</c:v>
                </c:pt>
                <c:pt idx="5">
                  <c:v>CR</c:v>
                </c:pt>
                <c:pt idx="6">
                  <c:v>GW</c:v>
                </c:pt>
                <c:pt idx="7">
                  <c:v>BJ</c:v>
                </c:pt>
                <c:pt idx="8">
                  <c:v>CS</c:v>
                </c:pt>
                <c:pt idx="9">
                  <c:v>WD</c:v>
                </c:pt>
              </c:strCache>
            </c:strRef>
          </c:cat>
          <c:val>
            <c:numRef>
              <c:f>Sheet1!$BA$154:$BA$163</c:f>
              <c:numCache>
                <c:formatCode>General</c:formatCode>
                <c:ptCount val="10"/>
                <c:pt idx="0">
                  <c:v>0.69</c:v>
                </c:pt>
                <c:pt idx="1">
                  <c:v>0.68</c:v>
                </c:pt>
                <c:pt idx="2">
                  <c:v>0.49</c:v>
                </c:pt>
                <c:pt idx="3">
                  <c:v>0.54</c:v>
                </c:pt>
                <c:pt idx="4">
                  <c:v>0.7</c:v>
                </c:pt>
                <c:pt idx="5">
                  <c:v>0.61</c:v>
                </c:pt>
                <c:pt idx="6">
                  <c:v>0.97</c:v>
                </c:pt>
                <c:pt idx="7">
                  <c:v>0.81</c:v>
                </c:pt>
                <c:pt idx="8">
                  <c:v>0.64</c:v>
                </c:pt>
                <c:pt idx="9">
                  <c:v>0.59</c:v>
                </c:pt>
              </c:numCache>
            </c:numRef>
          </c:val>
          <c:smooth val="0"/>
          <c:extLst>
            <c:ext xmlns:c16="http://schemas.microsoft.com/office/drawing/2014/chart" uri="{C3380CC4-5D6E-409C-BE32-E72D297353CC}">
              <c16:uniqueId val="{00000001-B6E1-4375-90B1-B11C97DF1F85}"/>
            </c:ext>
          </c:extLst>
        </c:ser>
        <c:ser>
          <c:idx val="2"/>
          <c:order val="2"/>
          <c:tx>
            <c:strRef>
              <c:f>Sheet1!$BB$153</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Sheet1!$AY$154:$AY$163</c:f>
              <c:strCache>
                <c:ptCount val="10"/>
                <c:pt idx="0">
                  <c:v>RB</c:v>
                </c:pt>
                <c:pt idx="1">
                  <c:v>GT</c:v>
                </c:pt>
                <c:pt idx="2">
                  <c:v>WW</c:v>
                </c:pt>
                <c:pt idx="3">
                  <c:v>EF</c:v>
                </c:pt>
                <c:pt idx="4">
                  <c:v>CB</c:v>
                </c:pt>
                <c:pt idx="5">
                  <c:v>CR</c:v>
                </c:pt>
                <c:pt idx="6">
                  <c:v>GW</c:v>
                </c:pt>
                <c:pt idx="7">
                  <c:v>BJ</c:v>
                </c:pt>
                <c:pt idx="8">
                  <c:v>CS</c:v>
                </c:pt>
                <c:pt idx="9">
                  <c:v>WD</c:v>
                </c:pt>
              </c:strCache>
            </c:strRef>
          </c:cat>
          <c:val>
            <c:numRef>
              <c:f>Sheet1!$BB$154:$BB$163</c:f>
              <c:numCache>
                <c:formatCode>General</c:formatCode>
                <c:ptCount val="10"/>
                <c:pt idx="0">
                  <c:v>0.64</c:v>
                </c:pt>
                <c:pt idx="1">
                  <c:v>0.72</c:v>
                </c:pt>
                <c:pt idx="2">
                  <c:v>0.49</c:v>
                </c:pt>
                <c:pt idx="3">
                  <c:v>0.57999999999999996</c:v>
                </c:pt>
                <c:pt idx="4">
                  <c:v>0.73</c:v>
                </c:pt>
                <c:pt idx="5">
                  <c:v>0.71</c:v>
                </c:pt>
                <c:pt idx="6">
                  <c:v>0.8</c:v>
                </c:pt>
                <c:pt idx="7">
                  <c:v>0.76</c:v>
                </c:pt>
                <c:pt idx="8">
                  <c:v>0.67</c:v>
                </c:pt>
                <c:pt idx="9">
                  <c:v>0.63</c:v>
                </c:pt>
              </c:numCache>
            </c:numRef>
          </c:val>
          <c:smooth val="0"/>
          <c:extLst>
            <c:ext xmlns:c16="http://schemas.microsoft.com/office/drawing/2014/chart" uri="{C3380CC4-5D6E-409C-BE32-E72D297353CC}">
              <c16:uniqueId val="{00000002-B6E1-4375-90B1-B11C97DF1F85}"/>
            </c:ext>
          </c:extLst>
        </c:ser>
        <c:dLbls>
          <c:showLegendKey val="0"/>
          <c:showVal val="0"/>
          <c:showCatName val="0"/>
          <c:showSerName val="0"/>
          <c:showPercent val="0"/>
          <c:showBubbleSize val="0"/>
        </c:dLbls>
        <c:marker val="1"/>
        <c:smooth val="0"/>
        <c:axId val="932552160"/>
        <c:axId val="932544256"/>
      </c:lineChart>
      <c:catAx>
        <c:axId val="9325521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44256"/>
        <c:crosses val="autoZero"/>
        <c:auto val="1"/>
        <c:lblAlgn val="ctr"/>
        <c:lblOffset val="100"/>
        <c:noMultiLvlLbl val="0"/>
      </c:catAx>
      <c:valAx>
        <c:axId val="9325442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521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IN" sz="1600" b="0" i="0" baseline="0" dirty="0">
                <a:effectLst/>
              </a:rPr>
              <a:t>Accuracy of GFCC(27) Features</a:t>
            </a:r>
          </a:p>
        </c:rich>
      </c:tx>
      <c:layout>
        <c:manualLayout>
          <c:xMode val="edge"/>
          <c:yMode val="edge"/>
          <c:x val="0.18147900262467195"/>
          <c:y val="2.7777777777777776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lineChart>
        <c:grouping val="standard"/>
        <c:varyColors val="0"/>
        <c:ser>
          <c:idx val="0"/>
          <c:order val="0"/>
          <c:tx>
            <c:strRef>
              <c:f>Sheet1!$DV$146</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Sheet1!$DR$147:$DR$156</c:f>
              <c:strCache>
                <c:ptCount val="10"/>
                <c:pt idx="0">
                  <c:v>RB</c:v>
                </c:pt>
                <c:pt idx="1">
                  <c:v>GT</c:v>
                </c:pt>
                <c:pt idx="2">
                  <c:v>WW</c:v>
                </c:pt>
                <c:pt idx="3">
                  <c:v>EF</c:v>
                </c:pt>
                <c:pt idx="4">
                  <c:v>CB</c:v>
                </c:pt>
                <c:pt idx="5">
                  <c:v>CR</c:v>
                </c:pt>
                <c:pt idx="6">
                  <c:v>GW</c:v>
                </c:pt>
                <c:pt idx="7">
                  <c:v>BJ</c:v>
                </c:pt>
                <c:pt idx="8">
                  <c:v>CS</c:v>
                </c:pt>
                <c:pt idx="9">
                  <c:v>WD</c:v>
                </c:pt>
              </c:strCache>
            </c:strRef>
          </c:cat>
          <c:val>
            <c:numRef>
              <c:f>Sheet1!$DV$147:$DV$156</c:f>
              <c:numCache>
                <c:formatCode>General</c:formatCode>
                <c:ptCount val="10"/>
                <c:pt idx="0">
                  <c:v>69.010000000000005</c:v>
                </c:pt>
                <c:pt idx="1">
                  <c:v>67.599999999999994</c:v>
                </c:pt>
                <c:pt idx="2">
                  <c:v>49.41</c:v>
                </c:pt>
                <c:pt idx="3">
                  <c:v>53.94</c:v>
                </c:pt>
                <c:pt idx="4">
                  <c:v>94.25</c:v>
                </c:pt>
                <c:pt idx="5">
                  <c:v>61.22</c:v>
                </c:pt>
                <c:pt idx="6">
                  <c:v>97.22</c:v>
                </c:pt>
                <c:pt idx="7">
                  <c:v>81.010000000000005</c:v>
                </c:pt>
                <c:pt idx="8">
                  <c:v>64.17</c:v>
                </c:pt>
                <c:pt idx="9">
                  <c:v>58.82</c:v>
                </c:pt>
              </c:numCache>
            </c:numRef>
          </c:val>
          <c:smooth val="0"/>
          <c:extLst>
            <c:ext xmlns:c16="http://schemas.microsoft.com/office/drawing/2014/chart" uri="{C3380CC4-5D6E-409C-BE32-E72D297353CC}">
              <c16:uniqueId val="{00000000-6D91-4AF0-A3BD-BBBB5F44AA29}"/>
            </c:ext>
          </c:extLst>
        </c:ser>
        <c:dLbls>
          <c:showLegendKey val="0"/>
          <c:showVal val="0"/>
          <c:showCatName val="0"/>
          <c:showSerName val="0"/>
          <c:showPercent val="0"/>
          <c:showBubbleSize val="0"/>
        </c:dLbls>
        <c:marker val="1"/>
        <c:smooth val="0"/>
        <c:axId val="935790496"/>
        <c:axId val="935788832"/>
      </c:lineChart>
      <c:catAx>
        <c:axId val="935790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5788832"/>
        <c:crosses val="autoZero"/>
        <c:auto val="1"/>
        <c:lblAlgn val="ctr"/>
        <c:lblOffset val="100"/>
        <c:noMultiLvlLbl val="0"/>
      </c:catAx>
      <c:valAx>
        <c:axId val="9357888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579049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err="1"/>
              <a:t>Analysys</a:t>
            </a:r>
            <a:r>
              <a:rPr lang="en-IN" sz="1600" dirty="0"/>
              <a:t> of GFCC(27) Features </a:t>
            </a:r>
          </a:p>
          <a:p>
            <a:pPr>
              <a:defRPr/>
            </a:pPr>
            <a:r>
              <a:rPr lang="en-IN" sz="1600" dirty="0"/>
              <a:t>with KNN Algorithm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Sheet1!$CO$146</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Sheet1!$CN$147:$CN$156</c:f>
              <c:strCache>
                <c:ptCount val="10"/>
                <c:pt idx="0">
                  <c:v>RB</c:v>
                </c:pt>
                <c:pt idx="1">
                  <c:v>GT</c:v>
                </c:pt>
                <c:pt idx="2">
                  <c:v>WW</c:v>
                </c:pt>
                <c:pt idx="3">
                  <c:v>EF</c:v>
                </c:pt>
                <c:pt idx="4">
                  <c:v>CB</c:v>
                </c:pt>
                <c:pt idx="5">
                  <c:v>CR</c:v>
                </c:pt>
                <c:pt idx="6">
                  <c:v>GW</c:v>
                </c:pt>
                <c:pt idx="7">
                  <c:v>BJ</c:v>
                </c:pt>
                <c:pt idx="8">
                  <c:v>CS</c:v>
                </c:pt>
                <c:pt idx="9">
                  <c:v>WD</c:v>
                </c:pt>
              </c:strCache>
            </c:strRef>
          </c:cat>
          <c:val>
            <c:numRef>
              <c:f>Sheet1!$CO$147:$CO$156</c:f>
              <c:numCache>
                <c:formatCode>General</c:formatCode>
                <c:ptCount val="10"/>
                <c:pt idx="0">
                  <c:v>0.95</c:v>
                </c:pt>
                <c:pt idx="1">
                  <c:v>0.93</c:v>
                </c:pt>
                <c:pt idx="2">
                  <c:v>0.78</c:v>
                </c:pt>
                <c:pt idx="3">
                  <c:v>0.76</c:v>
                </c:pt>
                <c:pt idx="4">
                  <c:v>0.97</c:v>
                </c:pt>
                <c:pt idx="5">
                  <c:v>0.96</c:v>
                </c:pt>
                <c:pt idx="6">
                  <c:v>0.94</c:v>
                </c:pt>
                <c:pt idx="7">
                  <c:v>1</c:v>
                </c:pt>
                <c:pt idx="8">
                  <c:v>0.99</c:v>
                </c:pt>
                <c:pt idx="9">
                  <c:v>0.92</c:v>
                </c:pt>
              </c:numCache>
            </c:numRef>
          </c:val>
          <c:smooth val="0"/>
          <c:extLst>
            <c:ext xmlns:c16="http://schemas.microsoft.com/office/drawing/2014/chart" uri="{C3380CC4-5D6E-409C-BE32-E72D297353CC}">
              <c16:uniqueId val="{00000000-57E5-4E7E-818C-ECB27B284CBF}"/>
            </c:ext>
          </c:extLst>
        </c:ser>
        <c:ser>
          <c:idx val="1"/>
          <c:order val="1"/>
          <c:tx>
            <c:strRef>
              <c:f>Sheet1!$CP$146</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Sheet1!$CN$147:$CN$156</c:f>
              <c:strCache>
                <c:ptCount val="10"/>
                <c:pt idx="0">
                  <c:v>RB</c:v>
                </c:pt>
                <c:pt idx="1">
                  <c:v>GT</c:v>
                </c:pt>
                <c:pt idx="2">
                  <c:v>WW</c:v>
                </c:pt>
                <c:pt idx="3">
                  <c:v>EF</c:v>
                </c:pt>
                <c:pt idx="4">
                  <c:v>CB</c:v>
                </c:pt>
                <c:pt idx="5">
                  <c:v>CR</c:v>
                </c:pt>
                <c:pt idx="6">
                  <c:v>GW</c:v>
                </c:pt>
                <c:pt idx="7">
                  <c:v>BJ</c:v>
                </c:pt>
                <c:pt idx="8">
                  <c:v>CS</c:v>
                </c:pt>
                <c:pt idx="9">
                  <c:v>WD</c:v>
                </c:pt>
              </c:strCache>
            </c:strRef>
          </c:cat>
          <c:val>
            <c:numRef>
              <c:f>Sheet1!$CP$147:$CP$156</c:f>
              <c:numCache>
                <c:formatCode>General</c:formatCode>
                <c:ptCount val="10"/>
                <c:pt idx="0">
                  <c:v>1</c:v>
                </c:pt>
                <c:pt idx="1">
                  <c:v>0.93</c:v>
                </c:pt>
                <c:pt idx="2">
                  <c:v>0.83</c:v>
                </c:pt>
                <c:pt idx="3">
                  <c:v>0.88</c:v>
                </c:pt>
                <c:pt idx="4">
                  <c:v>0.94</c:v>
                </c:pt>
                <c:pt idx="5">
                  <c:v>0.92</c:v>
                </c:pt>
                <c:pt idx="6">
                  <c:v>0.98</c:v>
                </c:pt>
                <c:pt idx="7">
                  <c:v>0.94</c:v>
                </c:pt>
                <c:pt idx="8">
                  <c:v>1</c:v>
                </c:pt>
                <c:pt idx="9">
                  <c:v>0.75</c:v>
                </c:pt>
              </c:numCache>
            </c:numRef>
          </c:val>
          <c:smooth val="0"/>
          <c:extLst>
            <c:ext xmlns:c16="http://schemas.microsoft.com/office/drawing/2014/chart" uri="{C3380CC4-5D6E-409C-BE32-E72D297353CC}">
              <c16:uniqueId val="{00000001-57E5-4E7E-818C-ECB27B284CBF}"/>
            </c:ext>
          </c:extLst>
        </c:ser>
        <c:ser>
          <c:idx val="2"/>
          <c:order val="2"/>
          <c:tx>
            <c:strRef>
              <c:f>Sheet1!$CQ$146</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Sheet1!$CN$147:$CN$156</c:f>
              <c:strCache>
                <c:ptCount val="10"/>
                <c:pt idx="0">
                  <c:v>RB</c:v>
                </c:pt>
                <c:pt idx="1">
                  <c:v>GT</c:v>
                </c:pt>
                <c:pt idx="2">
                  <c:v>WW</c:v>
                </c:pt>
                <c:pt idx="3">
                  <c:v>EF</c:v>
                </c:pt>
                <c:pt idx="4">
                  <c:v>CB</c:v>
                </c:pt>
                <c:pt idx="5">
                  <c:v>CR</c:v>
                </c:pt>
                <c:pt idx="6">
                  <c:v>GW</c:v>
                </c:pt>
                <c:pt idx="7">
                  <c:v>BJ</c:v>
                </c:pt>
                <c:pt idx="8">
                  <c:v>CS</c:v>
                </c:pt>
                <c:pt idx="9">
                  <c:v>WD</c:v>
                </c:pt>
              </c:strCache>
            </c:strRef>
          </c:cat>
          <c:val>
            <c:numRef>
              <c:f>Sheet1!$CQ$147:$CQ$156</c:f>
              <c:numCache>
                <c:formatCode>General</c:formatCode>
                <c:ptCount val="10"/>
                <c:pt idx="0">
                  <c:v>0.98</c:v>
                </c:pt>
                <c:pt idx="1">
                  <c:v>0.93</c:v>
                </c:pt>
                <c:pt idx="2">
                  <c:v>0.8</c:v>
                </c:pt>
                <c:pt idx="3">
                  <c:v>0.81</c:v>
                </c:pt>
                <c:pt idx="4">
                  <c:v>0.95</c:v>
                </c:pt>
                <c:pt idx="5">
                  <c:v>0.94</c:v>
                </c:pt>
                <c:pt idx="6">
                  <c:v>0.96</c:v>
                </c:pt>
                <c:pt idx="7">
                  <c:v>0.97</c:v>
                </c:pt>
                <c:pt idx="8">
                  <c:v>0.99</c:v>
                </c:pt>
                <c:pt idx="9">
                  <c:v>0.83</c:v>
                </c:pt>
              </c:numCache>
            </c:numRef>
          </c:val>
          <c:smooth val="0"/>
          <c:extLst>
            <c:ext xmlns:c16="http://schemas.microsoft.com/office/drawing/2014/chart" uri="{C3380CC4-5D6E-409C-BE32-E72D297353CC}">
              <c16:uniqueId val="{00000002-57E5-4E7E-818C-ECB27B284CBF}"/>
            </c:ext>
          </c:extLst>
        </c:ser>
        <c:dLbls>
          <c:showLegendKey val="0"/>
          <c:showVal val="0"/>
          <c:showCatName val="0"/>
          <c:showSerName val="0"/>
          <c:showPercent val="0"/>
          <c:showBubbleSize val="0"/>
        </c:dLbls>
        <c:marker val="1"/>
        <c:smooth val="0"/>
        <c:axId val="109157168"/>
        <c:axId val="109155504"/>
      </c:lineChart>
      <c:catAx>
        <c:axId val="1091571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155504"/>
        <c:crosses val="autoZero"/>
        <c:auto val="1"/>
        <c:lblAlgn val="ctr"/>
        <c:lblOffset val="100"/>
        <c:noMultiLvlLbl val="0"/>
      </c:catAx>
      <c:valAx>
        <c:axId val="1091555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1571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b="0" i="0" baseline="0" dirty="0">
                <a:effectLst/>
              </a:rPr>
              <a:t>Accuracy of GFCC (27) Features </a:t>
            </a:r>
          </a:p>
          <a:p>
            <a:pPr>
              <a:defRPr/>
            </a:pPr>
            <a:r>
              <a:rPr lang="en-IN" sz="1600" b="0" i="0" baseline="0" dirty="0">
                <a:effectLst/>
              </a:rPr>
              <a:t>with KNN Algorithm</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Sheet1!$CR$146</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Sheet1!$CN$147:$CN$156</c:f>
              <c:strCache>
                <c:ptCount val="10"/>
                <c:pt idx="0">
                  <c:v>RB</c:v>
                </c:pt>
                <c:pt idx="1">
                  <c:v>GT</c:v>
                </c:pt>
                <c:pt idx="2">
                  <c:v>WW</c:v>
                </c:pt>
                <c:pt idx="3">
                  <c:v>EF</c:v>
                </c:pt>
                <c:pt idx="4">
                  <c:v>CB</c:v>
                </c:pt>
                <c:pt idx="5">
                  <c:v>CR</c:v>
                </c:pt>
                <c:pt idx="6">
                  <c:v>GW</c:v>
                </c:pt>
                <c:pt idx="7">
                  <c:v>BJ</c:v>
                </c:pt>
                <c:pt idx="8">
                  <c:v>CS</c:v>
                </c:pt>
                <c:pt idx="9">
                  <c:v>WD</c:v>
                </c:pt>
              </c:strCache>
            </c:strRef>
          </c:cat>
          <c:val>
            <c:numRef>
              <c:f>Sheet1!$CR$147:$CR$156</c:f>
              <c:numCache>
                <c:formatCode>General</c:formatCode>
                <c:ptCount val="10"/>
                <c:pt idx="0">
                  <c:v>79.03</c:v>
                </c:pt>
                <c:pt idx="1">
                  <c:v>64.86</c:v>
                </c:pt>
                <c:pt idx="2">
                  <c:v>60.86</c:v>
                </c:pt>
                <c:pt idx="3">
                  <c:v>55.4</c:v>
                </c:pt>
                <c:pt idx="4">
                  <c:v>88.17</c:v>
                </c:pt>
                <c:pt idx="5">
                  <c:v>62.5</c:v>
                </c:pt>
                <c:pt idx="6">
                  <c:v>96.77</c:v>
                </c:pt>
                <c:pt idx="7">
                  <c:v>82.05</c:v>
                </c:pt>
                <c:pt idx="8">
                  <c:v>60.56</c:v>
                </c:pt>
                <c:pt idx="9">
                  <c:v>46.15</c:v>
                </c:pt>
              </c:numCache>
            </c:numRef>
          </c:val>
          <c:smooth val="0"/>
          <c:extLst>
            <c:ext xmlns:c16="http://schemas.microsoft.com/office/drawing/2014/chart" uri="{C3380CC4-5D6E-409C-BE32-E72D297353CC}">
              <c16:uniqueId val="{00000000-51F3-4EE6-987A-7E3ADDDB573D}"/>
            </c:ext>
          </c:extLst>
        </c:ser>
        <c:dLbls>
          <c:showLegendKey val="0"/>
          <c:showVal val="0"/>
          <c:showCatName val="0"/>
          <c:showSerName val="0"/>
          <c:showPercent val="0"/>
          <c:showBubbleSize val="0"/>
        </c:dLbls>
        <c:marker val="1"/>
        <c:smooth val="0"/>
        <c:axId val="932579200"/>
        <c:axId val="932571296"/>
      </c:lineChart>
      <c:catAx>
        <c:axId val="9325792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71296"/>
        <c:crosses val="autoZero"/>
        <c:auto val="1"/>
        <c:lblAlgn val="ctr"/>
        <c:lblOffset val="100"/>
        <c:noMultiLvlLbl val="0"/>
      </c:catAx>
      <c:valAx>
        <c:axId val="932571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792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a:t>
            </a:r>
            <a:r>
              <a:rPr lang="en-IN" sz="1600" baseline="0" dirty="0"/>
              <a:t> of MFCC(13) Features </a:t>
            </a:r>
          </a:p>
          <a:p>
            <a:pPr>
              <a:defRPr/>
            </a:pPr>
            <a:r>
              <a:rPr lang="en-IN" sz="1600" baseline="0" dirty="0"/>
              <a:t>with KNN Algorithm</a:t>
            </a:r>
            <a:endParaRPr lang="en-IN" sz="16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Sheet1!$H$125</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Sheet1!$G$126:$G$135</c:f>
              <c:strCache>
                <c:ptCount val="10"/>
                <c:pt idx="0">
                  <c:v>RB</c:v>
                </c:pt>
                <c:pt idx="1">
                  <c:v>GT</c:v>
                </c:pt>
                <c:pt idx="2">
                  <c:v>WW</c:v>
                </c:pt>
                <c:pt idx="3">
                  <c:v>EF</c:v>
                </c:pt>
                <c:pt idx="4">
                  <c:v>CB</c:v>
                </c:pt>
                <c:pt idx="5">
                  <c:v>CR</c:v>
                </c:pt>
                <c:pt idx="6">
                  <c:v>GW</c:v>
                </c:pt>
                <c:pt idx="7">
                  <c:v>BJ</c:v>
                </c:pt>
                <c:pt idx="8">
                  <c:v>CS</c:v>
                </c:pt>
                <c:pt idx="9">
                  <c:v>WD</c:v>
                </c:pt>
              </c:strCache>
            </c:strRef>
          </c:cat>
          <c:val>
            <c:numRef>
              <c:f>Sheet1!$H$126:$H$135</c:f>
              <c:numCache>
                <c:formatCode>General</c:formatCode>
                <c:ptCount val="10"/>
                <c:pt idx="0">
                  <c:v>0.99</c:v>
                </c:pt>
                <c:pt idx="1">
                  <c:v>0.99</c:v>
                </c:pt>
                <c:pt idx="2">
                  <c:v>0.88</c:v>
                </c:pt>
                <c:pt idx="3">
                  <c:v>0.8</c:v>
                </c:pt>
                <c:pt idx="4">
                  <c:v>0.96</c:v>
                </c:pt>
                <c:pt idx="5">
                  <c:v>1</c:v>
                </c:pt>
                <c:pt idx="6">
                  <c:v>0.96</c:v>
                </c:pt>
                <c:pt idx="7">
                  <c:v>0.94</c:v>
                </c:pt>
                <c:pt idx="8">
                  <c:v>0.96</c:v>
                </c:pt>
                <c:pt idx="9">
                  <c:v>0.94</c:v>
                </c:pt>
              </c:numCache>
            </c:numRef>
          </c:val>
          <c:smooth val="0"/>
          <c:extLst>
            <c:ext xmlns:c16="http://schemas.microsoft.com/office/drawing/2014/chart" uri="{C3380CC4-5D6E-409C-BE32-E72D297353CC}">
              <c16:uniqueId val="{00000000-CF01-475B-9666-2B1E50931434}"/>
            </c:ext>
          </c:extLst>
        </c:ser>
        <c:ser>
          <c:idx val="1"/>
          <c:order val="1"/>
          <c:tx>
            <c:strRef>
              <c:f>Sheet1!$I$125</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Sheet1!$G$126:$G$135</c:f>
              <c:strCache>
                <c:ptCount val="10"/>
                <c:pt idx="0">
                  <c:v>RB</c:v>
                </c:pt>
                <c:pt idx="1">
                  <c:v>GT</c:v>
                </c:pt>
                <c:pt idx="2">
                  <c:v>WW</c:v>
                </c:pt>
                <c:pt idx="3">
                  <c:v>EF</c:v>
                </c:pt>
                <c:pt idx="4">
                  <c:v>CB</c:v>
                </c:pt>
                <c:pt idx="5">
                  <c:v>CR</c:v>
                </c:pt>
                <c:pt idx="6">
                  <c:v>GW</c:v>
                </c:pt>
                <c:pt idx="7">
                  <c:v>BJ</c:v>
                </c:pt>
                <c:pt idx="8">
                  <c:v>CS</c:v>
                </c:pt>
                <c:pt idx="9">
                  <c:v>WD</c:v>
                </c:pt>
              </c:strCache>
            </c:strRef>
          </c:cat>
          <c:val>
            <c:numRef>
              <c:f>Sheet1!$I$126:$I$135</c:f>
              <c:numCache>
                <c:formatCode>General</c:formatCode>
                <c:ptCount val="10"/>
                <c:pt idx="0">
                  <c:v>0.96</c:v>
                </c:pt>
                <c:pt idx="1">
                  <c:v>0.85</c:v>
                </c:pt>
                <c:pt idx="2">
                  <c:v>0.92</c:v>
                </c:pt>
                <c:pt idx="3">
                  <c:v>0.88</c:v>
                </c:pt>
                <c:pt idx="4">
                  <c:v>0.94</c:v>
                </c:pt>
                <c:pt idx="5">
                  <c:v>0.93</c:v>
                </c:pt>
                <c:pt idx="6">
                  <c:v>0.96</c:v>
                </c:pt>
                <c:pt idx="7">
                  <c:v>0.99</c:v>
                </c:pt>
                <c:pt idx="8">
                  <c:v>0.97</c:v>
                </c:pt>
                <c:pt idx="9">
                  <c:v>0.95</c:v>
                </c:pt>
              </c:numCache>
            </c:numRef>
          </c:val>
          <c:smooth val="0"/>
          <c:extLst>
            <c:ext xmlns:c16="http://schemas.microsoft.com/office/drawing/2014/chart" uri="{C3380CC4-5D6E-409C-BE32-E72D297353CC}">
              <c16:uniqueId val="{00000001-CF01-475B-9666-2B1E50931434}"/>
            </c:ext>
          </c:extLst>
        </c:ser>
        <c:ser>
          <c:idx val="2"/>
          <c:order val="2"/>
          <c:tx>
            <c:strRef>
              <c:f>Sheet1!$J$125</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Sheet1!$G$126:$G$135</c:f>
              <c:strCache>
                <c:ptCount val="10"/>
                <c:pt idx="0">
                  <c:v>RB</c:v>
                </c:pt>
                <c:pt idx="1">
                  <c:v>GT</c:v>
                </c:pt>
                <c:pt idx="2">
                  <c:v>WW</c:v>
                </c:pt>
                <c:pt idx="3">
                  <c:v>EF</c:v>
                </c:pt>
                <c:pt idx="4">
                  <c:v>CB</c:v>
                </c:pt>
                <c:pt idx="5">
                  <c:v>CR</c:v>
                </c:pt>
                <c:pt idx="6">
                  <c:v>GW</c:v>
                </c:pt>
                <c:pt idx="7">
                  <c:v>BJ</c:v>
                </c:pt>
                <c:pt idx="8">
                  <c:v>CS</c:v>
                </c:pt>
                <c:pt idx="9">
                  <c:v>WD</c:v>
                </c:pt>
              </c:strCache>
            </c:strRef>
          </c:cat>
          <c:val>
            <c:numRef>
              <c:f>Sheet1!$J$126:$J$135</c:f>
              <c:numCache>
                <c:formatCode>General</c:formatCode>
                <c:ptCount val="10"/>
                <c:pt idx="0">
                  <c:v>0.97</c:v>
                </c:pt>
                <c:pt idx="1">
                  <c:v>0.91</c:v>
                </c:pt>
                <c:pt idx="2">
                  <c:v>0.9</c:v>
                </c:pt>
                <c:pt idx="3">
                  <c:v>0.84</c:v>
                </c:pt>
                <c:pt idx="4">
                  <c:v>0.95</c:v>
                </c:pt>
                <c:pt idx="5">
                  <c:v>0.96</c:v>
                </c:pt>
                <c:pt idx="6">
                  <c:v>0.96</c:v>
                </c:pt>
                <c:pt idx="7">
                  <c:v>0.96</c:v>
                </c:pt>
                <c:pt idx="8">
                  <c:v>0.97</c:v>
                </c:pt>
                <c:pt idx="9">
                  <c:v>0.94</c:v>
                </c:pt>
              </c:numCache>
            </c:numRef>
          </c:val>
          <c:smooth val="0"/>
          <c:extLst>
            <c:ext xmlns:c16="http://schemas.microsoft.com/office/drawing/2014/chart" uri="{C3380CC4-5D6E-409C-BE32-E72D297353CC}">
              <c16:uniqueId val="{00000002-CF01-475B-9666-2B1E50931434}"/>
            </c:ext>
          </c:extLst>
        </c:ser>
        <c:dLbls>
          <c:showLegendKey val="0"/>
          <c:showVal val="0"/>
          <c:showCatName val="0"/>
          <c:showSerName val="0"/>
          <c:showPercent val="0"/>
          <c:showBubbleSize val="0"/>
        </c:dLbls>
        <c:marker val="1"/>
        <c:smooth val="0"/>
        <c:axId val="1345686703"/>
        <c:axId val="1345689199"/>
      </c:lineChart>
      <c:catAx>
        <c:axId val="13456867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5689199"/>
        <c:crosses val="autoZero"/>
        <c:auto val="1"/>
        <c:lblAlgn val="ctr"/>
        <c:lblOffset val="100"/>
        <c:noMultiLvlLbl val="0"/>
      </c:catAx>
      <c:valAx>
        <c:axId val="13456891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56867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b="0" i="0" baseline="0" dirty="0">
                <a:effectLst/>
              </a:rPr>
              <a:t>Accuracy of MFCC(13) Features </a:t>
            </a:r>
          </a:p>
          <a:p>
            <a:pPr>
              <a:defRPr/>
            </a:pPr>
            <a:r>
              <a:rPr lang="en-IN" sz="1600" b="0" i="0" baseline="0" dirty="0">
                <a:effectLst/>
              </a:rPr>
              <a:t>with KNN Algorithm</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Sheet1!$BW$118</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Sheet1!$BS$119:$BS$128</c:f>
              <c:strCache>
                <c:ptCount val="10"/>
                <c:pt idx="0">
                  <c:v>RB</c:v>
                </c:pt>
                <c:pt idx="1">
                  <c:v>GT</c:v>
                </c:pt>
                <c:pt idx="2">
                  <c:v>WW</c:v>
                </c:pt>
                <c:pt idx="3">
                  <c:v>EF</c:v>
                </c:pt>
                <c:pt idx="4">
                  <c:v>CB</c:v>
                </c:pt>
                <c:pt idx="5">
                  <c:v>CR</c:v>
                </c:pt>
                <c:pt idx="6">
                  <c:v>GW</c:v>
                </c:pt>
                <c:pt idx="7">
                  <c:v>BJ</c:v>
                </c:pt>
                <c:pt idx="8">
                  <c:v>CS</c:v>
                </c:pt>
                <c:pt idx="9">
                  <c:v>WD</c:v>
                </c:pt>
              </c:strCache>
            </c:strRef>
          </c:cat>
          <c:val>
            <c:numRef>
              <c:f>Sheet1!$BW$119:$BW$128</c:f>
              <c:numCache>
                <c:formatCode>General</c:formatCode>
                <c:ptCount val="10"/>
                <c:pt idx="0">
                  <c:v>95.83</c:v>
                </c:pt>
                <c:pt idx="1">
                  <c:v>84.61</c:v>
                </c:pt>
                <c:pt idx="2">
                  <c:v>92.3</c:v>
                </c:pt>
                <c:pt idx="3">
                  <c:v>88.31</c:v>
                </c:pt>
                <c:pt idx="4">
                  <c:v>94.44</c:v>
                </c:pt>
                <c:pt idx="5">
                  <c:v>93.1</c:v>
                </c:pt>
                <c:pt idx="6">
                  <c:v>96.42</c:v>
                </c:pt>
                <c:pt idx="7">
                  <c:v>98.75</c:v>
                </c:pt>
                <c:pt idx="8">
                  <c:v>97.36</c:v>
                </c:pt>
                <c:pt idx="9">
                  <c:v>95.08</c:v>
                </c:pt>
              </c:numCache>
            </c:numRef>
          </c:val>
          <c:smooth val="0"/>
          <c:extLst>
            <c:ext xmlns:c16="http://schemas.microsoft.com/office/drawing/2014/chart" uri="{C3380CC4-5D6E-409C-BE32-E72D297353CC}">
              <c16:uniqueId val="{00000000-B814-4337-A8A9-C50C39E9568E}"/>
            </c:ext>
          </c:extLst>
        </c:ser>
        <c:dLbls>
          <c:showLegendKey val="0"/>
          <c:showVal val="0"/>
          <c:showCatName val="0"/>
          <c:showSerName val="0"/>
          <c:showPercent val="0"/>
          <c:showBubbleSize val="0"/>
        </c:dLbls>
        <c:marker val="1"/>
        <c:smooth val="0"/>
        <c:axId val="842097232"/>
        <c:axId val="842094320"/>
      </c:lineChart>
      <c:catAx>
        <c:axId val="8420972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42094320"/>
        <c:crosses val="autoZero"/>
        <c:auto val="1"/>
        <c:lblAlgn val="ctr"/>
        <c:lblOffset val="100"/>
        <c:noMultiLvlLbl val="0"/>
      </c:catAx>
      <c:valAx>
        <c:axId val="8420943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420972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600" dirty="0"/>
              <a:t>Analysis of MFCC(26) Features</a:t>
            </a:r>
          </a:p>
          <a:p>
            <a:pPr>
              <a:defRPr/>
            </a:pPr>
            <a:r>
              <a:rPr lang="en-US" sz="1600" dirty="0"/>
              <a:t> With KNN Algorithm</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Sheet1!$N$125</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Sheet1!$M$126:$M$135</c:f>
              <c:strCache>
                <c:ptCount val="10"/>
                <c:pt idx="0">
                  <c:v>RB</c:v>
                </c:pt>
                <c:pt idx="1">
                  <c:v>GT</c:v>
                </c:pt>
                <c:pt idx="2">
                  <c:v>WW</c:v>
                </c:pt>
                <c:pt idx="3">
                  <c:v>EF</c:v>
                </c:pt>
                <c:pt idx="4">
                  <c:v>CB</c:v>
                </c:pt>
                <c:pt idx="5">
                  <c:v>CR</c:v>
                </c:pt>
                <c:pt idx="6">
                  <c:v>GW</c:v>
                </c:pt>
                <c:pt idx="7">
                  <c:v>BJ</c:v>
                </c:pt>
                <c:pt idx="8">
                  <c:v>CS</c:v>
                </c:pt>
                <c:pt idx="9">
                  <c:v>WD</c:v>
                </c:pt>
              </c:strCache>
            </c:strRef>
          </c:cat>
          <c:val>
            <c:numRef>
              <c:f>Sheet1!$N$126:$N$135</c:f>
              <c:numCache>
                <c:formatCode>General</c:formatCode>
                <c:ptCount val="10"/>
                <c:pt idx="0">
                  <c:v>1</c:v>
                </c:pt>
                <c:pt idx="1">
                  <c:v>0.98</c:v>
                </c:pt>
                <c:pt idx="2">
                  <c:v>0.84</c:v>
                </c:pt>
                <c:pt idx="3">
                  <c:v>0.75</c:v>
                </c:pt>
                <c:pt idx="4">
                  <c:v>0.97</c:v>
                </c:pt>
                <c:pt idx="5">
                  <c:v>0.98</c:v>
                </c:pt>
                <c:pt idx="6">
                  <c:v>0.96</c:v>
                </c:pt>
                <c:pt idx="7">
                  <c:v>0.99</c:v>
                </c:pt>
                <c:pt idx="8">
                  <c:v>0.95</c:v>
                </c:pt>
                <c:pt idx="9">
                  <c:v>1</c:v>
                </c:pt>
              </c:numCache>
            </c:numRef>
          </c:val>
          <c:smooth val="0"/>
          <c:extLst>
            <c:ext xmlns:c16="http://schemas.microsoft.com/office/drawing/2014/chart" uri="{C3380CC4-5D6E-409C-BE32-E72D297353CC}">
              <c16:uniqueId val="{00000000-9E9A-4C89-A09C-215F8C85AE9C}"/>
            </c:ext>
          </c:extLst>
        </c:ser>
        <c:ser>
          <c:idx val="1"/>
          <c:order val="1"/>
          <c:tx>
            <c:strRef>
              <c:f>Sheet1!$O$125</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Sheet1!$M$126:$M$135</c:f>
              <c:strCache>
                <c:ptCount val="10"/>
                <c:pt idx="0">
                  <c:v>RB</c:v>
                </c:pt>
                <c:pt idx="1">
                  <c:v>GT</c:v>
                </c:pt>
                <c:pt idx="2">
                  <c:v>WW</c:v>
                </c:pt>
                <c:pt idx="3">
                  <c:v>EF</c:v>
                </c:pt>
                <c:pt idx="4">
                  <c:v>CB</c:v>
                </c:pt>
                <c:pt idx="5">
                  <c:v>CR</c:v>
                </c:pt>
                <c:pt idx="6">
                  <c:v>GW</c:v>
                </c:pt>
                <c:pt idx="7">
                  <c:v>BJ</c:v>
                </c:pt>
                <c:pt idx="8">
                  <c:v>CS</c:v>
                </c:pt>
                <c:pt idx="9">
                  <c:v>WD</c:v>
                </c:pt>
              </c:strCache>
            </c:strRef>
          </c:cat>
          <c:val>
            <c:numRef>
              <c:f>Sheet1!$O$126:$O$135</c:f>
              <c:numCache>
                <c:formatCode>General</c:formatCode>
                <c:ptCount val="10"/>
                <c:pt idx="0">
                  <c:v>0.98</c:v>
                </c:pt>
                <c:pt idx="1">
                  <c:v>0.94</c:v>
                </c:pt>
                <c:pt idx="2">
                  <c:v>0.84</c:v>
                </c:pt>
                <c:pt idx="3">
                  <c:v>0.84</c:v>
                </c:pt>
                <c:pt idx="4">
                  <c:v>0.89</c:v>
                </c:pt>
                <c:pt idx="5">
                  <c:v>0.98</c:v>
                </c:pt>
                <c:pt idx="6">
                  <c:v>1</c:v>
                </c:pt>
                <c:pt idx="7">
                  <c:v>0.96</c:v>
                </c:pt>
                <c:pt idx="8">
                  <c:v>1</c:v>
                </c:pt>
                <c:pt idx="9">
                  <c:v>0.96</c:v>
                </c:pt>
              </c:numCache>
            </c:numRef>
          </c:val>
          <c:smooth val="0"/>
          <c:extLst>
            <c:ext xmlns:c16="http://schemas.microsoft.com/office/drawing/2014/chart" uri="{C3380CC4-5D6E-409C-BE32-E72D297353CC}">
              <c16:uniqueId val="{00000001-9E9A-4C89-A09C-215F8C85AE9C}"/>
            </c:ext>
          </c:extLst>
        </c:ser>
        <c:ser>
          <c:idx val="2"/>
          <c:order val="2"/>
          <c:tx>
            <c:strRef>
              <c:f>Sheet1!$P$125</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Sheet1!$M$126:$M$135</c:f>
              <c:strCache>
                <c:ptCount val="10"/>
                <c:pt idx="0">
                  <c:v>RB</c:v>
                </c:pt>
                <c:pt idx="1">
                  <c:v>GT</c:v>
                </c:pt>
                <c:pt idx="2">
                  <c:v>WW</c:v>
                </c:pt>
                <c:pt idx="3">
                  <c:v>EF</c:v>
                </c:pt>
                <c:pt idx="4">
                  <c:v>CB</c:v>
                </c:pt>
                <c:pt idx="5">
                  <c:v>CR</c:v>
                </c:pt>
                <c:pt idx="6">
                  <c:v>GW</c:v>
                </c:pt>
                <c:pt idx="7">
                  <c:v>BJ</c:v>
                </c:pt>
                <c:pt idx="8">
                  <c:v>CS</c:v>
                </c:pt>
                <c:pt idx="9">
                  <c:v>WD</c:v>
                </c:pt>
              </c:strCache>
            </c:strRef>
          </c:cat>
          <c:val>
            <c:numRef>
              <c:f>Sheet1!$P$126:$P$135</c:f>
              <c:numCache>
                <c:formatCode>General</c:formatCode>
                <c:ptCount val="10"/>
                <c:pt idx="0">
                  <c:v>0.99</c:v>
                </c:pt>
                <c:pt idx="1">
                  <c:v>0.96</c:v>
                </c:pt>
                <c:pt idx="2">
                  <c:v>0.84</c:v>
                </c:pt>
                <c:pt idx="3">
                  <c:v>0.79</c:v>
                </c:pt>
                <c:pt idx="4">
                  <c:v>0.93</c:v>
                </c:pt>
                <c:pt idx="5">
                  <c:v>0.98</c:v>
                </c:pt>
                <c:pt idx="6">
                  <c:v>0.98</c:v>
                </c:pt>
                <c:pt idx="7">
                  <c:v>0.98</c:v>
                </c:pt>
                <c:pt idx="8">
                  <c:v>0.98</c:v>
                </c:pt>
                <c:pt idx="9">
                  <c:v>0.98</c:v>
                </c:pt>
              </c:numCache>
            </c:numRef>
          </c:val>
          <c:smooth val="0"/>
          <c:extLst>
            <c:ext xmlns:c16="http://schemas.microsoft.com/office/drawing/2014/chart" uri="{C3380CC4-5D6E-409C-BE32-E72D297353CC}">
              <c16:uniqueId val="{00000002-9E9A-4C89-A09C-215F8C85AE9C}"/>
            </c:ext>
          </c:extLst>
        </c:ser>
        <c:dLbls>
          <c:showLegendKey val="0"/>
          <c:showVal val="0"/>
          <c:showCatName val="0"/>
          <c:showSerName val="0"/>
          <c:showPercent val="0"/>
          <c:showBubbleSize val="0"/>
        </c:dLbls>
        <c:marker val="1"/>
        <c:smooth val="0"/>
        <c:axId val="1345700015"/>
        <c:axId val="1345695855"/>
      </c:lineChart>
      <c:catAx>
        <c:axId val="13457000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5695855"/>
        <c:crosses val="autoZero"/>
        <c:auto val="1"/>
        <c:lblAlgn val="ctr"/>
        <c:lblOffset val="100"/>
        <c:noMultiLvlLbl val="0"/>
      </c:catAx>
      <c:valAx>
        <c:axId val="13456958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57000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b="0" i="0" baseline="0" dirty="0">
                <a:effectLst/>
              </a:rPr>
              <a:t>Accuracy of MFCC(26) Features </a:t>
            </a:r>
          </a:p>
          <a:p>
            <a:pPr>
              <a:defRPr/>
            </a:pPr>
            <a:r>
              <a:rPr lang="en-IN" sz="1600" b="0" i="0" baseline="0" dirty="0">
                <a:effectLst/>
              </a:rPr>
              <a:t>with KNN Algorithm</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Sheet1!$CD$118</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Sheet1!$BZ$119:$BZ$128</c:f>
              <c:strCache>
                <c:ptCount val="10"/>
                <c:pt idx="0">
                  <c:v>RB</c:v>
                </c:pt>
                <c:pt idx="1">
                  <c:v>GT</c:v>
                </c:pt>
                <c:pt idx="2">
                  <c:v>WW</c:v>
                </c:pt>
                <c:pt idx="3">
                  <c:v>EF</c:v>
                </c:pt>
                <c:pt idx="4">
                  <c:v>CB</c:v>
                </c:pt>
                <c:pt idx="5">
                  <c:v>CR</c:v>
                </c:pt>
                <c:pt idx="6">
                  <c:v>GW</c:v>
                </c:pt>
                <c:pt idx="7">
                  <c:v>BJ</c:v>
                </c:pt>
                <c:pt idx="8">
                  <c:v>CS</c:v>
                </c:pt>
                <c:pt idx="9">
                  <c:v>WD</c:v>
                </c:pt>
              </c:strCache>
            </c:strRef>
          </c:cat>
          <c:val>
            <c:numRef>
              <c:f>Sheet1!$CD$119:$CD$128</c:f>
              <c:numCache>
                <c:formatCode>General</c:formatCode>
                <c:ptCount val="10"/>
                <c:pt idx="0">
                  <c:v>98.41</c:v>
                </c:pt>
                <c:pt idx="1">
                  <c:v>94.18</c:v>
                </c:pt>
                <c:pt idx="2">
                  <c:v>83.56</c:v>
                </c:pt>
                <c:pt idx="3">
                  <c:v>83.54</c:v>
                </c:pt>
                <c:pt idx="4">
                  <c:v>88.75</c:v>
                </c:pt>
                <c:pt idx="5">
                  <c:v>98.21</c:v>
                </c:pt>
                <c:pt idx="6">
                  <c:v>100</c:v>
                </c:pt>
                <c:pt idx="7">
                  <c:v>96.38</c:v>
                </c:pt>
                <c:pt idx="8">
                  <c:v>100</c:v>
                </c:pt>
                <c:pt idx="9">
                  <c:v>96.42</c:v>
                </c:pt>
              </c:numCache>
            </c:numRef>
          </c:val>
          <c:smooth val="0"/>
          <c:extLst>
            <c:ext xmlns:c16="http://schemas.microsoft.com/office/drawing/2014/chart" uri="{C3380CC4-5D6E-409C-BE32-E72D297353CC}">
              <c16:uniqueId val="{00000000-A63D-4FC3-8431-5661A4CC8AA2}"/>
            </c:ext>
          </c:extLst>
        </c:ser>
        <c:dLbls>
          <c:showLegendKey val="0"/>
          <c:showVal val="0"/>
          <c:showCatName val="0"/>
          <c:showSerName val="0"/>
          <c:showPercent val="0"/>
          <c:showBubbleSize val="0"/>
        </c:dLbls>
        <c:marker val="1"/>
        <c:smooth val="0"/>
        <c:axId val="932547584"/>
        <c:axId val="932551328"/>
      </c:lineChart>
      <c:catAx>
        <c:axId val="932547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51328"/>
        <c:crosses val="autoZero"/>
        <c:auto val="1"/>
        <c:lblAlgn val="ctr"/>
        <c:lblOffset val="100"/>
        <c:noMultiLvlLbl val="0"/>
      </c:catAx>
      <c:valAx>
        <c:axId val="9325513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475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600" b="0" i="0" baseline="0" dirty="0">
                <a:effectLst/>
              </a:rPr>
              <a:t>Analysis of MFCC(39) Features</a:t>
            </a:r>
          </a:p>
          <a:p>
            <a:pPr>
              <a:defRPr/>
            </a:pPr>
            <a:r>
              <a:rPr lang="en-US" sz="1600" b="0" i="0" baseline="0" dirty="0">
                <a:effectLst/>
              </a:rPr>
              <a:t> With KNN Algorithm</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Sheet1!$T$125</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Sheet1!$S$126:$S$135</c:f>
              <c:strCache>
                <c:ptCount val="10"/>
                <c:pt idx="0">
                  <c:v>RB</c:v>
                </c:pt>
                <c:pt idx="1">
                  <c:v>GT</c:v>
                </c:pt>
                <c:pt idx="2">
                  <c:v>WW</c:v>
                </c:pt>
                <c:pt idx="3">
                  <c:v>EF</c:v>
                </c:pt>
                <c:pt idx="4">
                  <c:v>CB</c:v>
                </c:pt>
                <c:pt idx="5">
                  <c:v>CR</c:v>
                </c:pt>
                <c:pt idx="6">
                  <c:v>GW</c:v>
                </c:pt>
                <c:pt idx="7">
                  <c:v>BJ</c:v>
                </c:pt>
                <c:pt idx="8">
                  <c:v>CS</c:v>
                </c:pt>
                <c:pt idx="9">
                  <c:v>WD</c:v>
                </c:pt>
              </c:strCache>
            </c:strRef>
          </c:cat>
          <c:val>
            <c:numRef>
              <c:f>Sheet1!$T$126:$T$135</c:f>
              <c:numCache>
                <c:formatCode>General</c:formatCode>
                <c:ptCount val="10"/>
                <c:pt idx="0">
                  <c:v>0.99</c:v>
                </c:pt>
                <c:pt idx="1">
                  <c:v>0.92</c:v>
                </c:pt>
                <c:pt idx="2">
                  <c:v>0.9</c:v>
                </c:pt>
                <c:pt idx="3">
                  <c:v>0.81</c:v>
                </c:pt>
                <c:pt idx="4">
                  <c:v>0.91</c:v>
                </c:pt>
                <c:pt idx="5">
                  <c:v>1</c:v>
                </c:pt>
                <c:pt idx="6">
                  <c:v>0.94</c:v>
                </c:pt>
                <c:pt idx="7">
                  <c:v>0.97</c:v>
                </c:pt>
                <c:pt idx="8">
                  <c:v>1</c:v>
                </c:pt>
                <c:pt idx="9">
                  <c:v>1</c:v>
                </c:pt>
              </c:numCache>
            </c:numRef>
          </c:val>
          <c:smooth val="0"/>
          <c:extLst>
            <c:ext xmlns:c16="http://schemas.microsoft.com/office/drawing/2014/chart" uri="{C3380CC4-5D6E-409C-BE32-E72D297353CC}">
              <c16:uniqueId val="{00000000-341D-4E0B-80C2-841335D66A51}"/>
            </c:ext>
          </c:extLst>
        </c:ser>
        <c:ser>
          <c:idx val="1"/>
          <c:order val="1"/>
          <c:tx>
            <c:strRef>
              <c:f>Sheet1!$U$125</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Sheet1!$S$126:$S$135</c:f>
              <c:strCache>
                <c:ptCount val="10"/>
                <c:pt idx="0">
                  <c:v>RB</c:v>
                </c:pt>
                <c:pt idx="1">
                  <c:v>GT</c:v>
                </c:pt>
                <c:pt idx="2">
                  <c:v>WW</c:v>
                </c:pt>
                <c:pt idx="3">
                  <c:v>EF</c:v>
                </c:pt>
                <c:pt idx="4">
                  <c:v>CB</c:v>
                </c:pt>
                <c:pt idx="5">
                  <c:v>CR</c:v>
                </c:pt>
                <c:pt idx="6">
                  <c:v>GW</c:v>
                </c:pt>
                <c:pt idx="7">
                  <c:v>BJ</c:v>
                </c:pt>
                <c:pt idx="8">
                  <c:v>CS</c:v>
                </c:pt>
                <c:pt idx="9">
                  <c:v>WD</c:v>
                </c:pt>
              </c:strCache>
            </c:strRef>
          </c:cat>
          <c:val>
            <c:numRef>
              <c:f>Sheet1!$U$126:$U$135</c:f>
              <c:numCache>
                <c:formatCode>General</c:formatCode>
                <c:ptCount val="10"/>
                <c:pt idx="0">
                  <c:v>0.89</c:v>
                </c:pt>
                <c:pt idx="1">
                  <c:v>0.92</c:v>
                </c:pt>
                <c:pt idx="2">
                  <c:v>0.83</c:v>
                </c:pt>
                <c:pt idx="3">
                  <c:v>0.87</c:v>
                </c:pt>
                <c:pt idx="4">
                  <c:v>0.97</c:v>
                </c:pt>
                <c:pt idx="5">
                  <c:v>1</c:v>
                </c:pt>
                <c:pt idx="6">
                  <c:v>0.98</c:v>
                </c:pt>
                <c:pt idx="7">
                  <c:v>0.98</c:v>
                </c:pt>
                <c:pt idx="8">
                  <c:v>1</c:v>
                </c:pt>
                <c:pt idx="9">
                  <c:v>0.97</c:v>
                </c:pt>
              </c:numCache>
            </c:numRef>
          </c:val>
          <c:smooth val="0"/>
          <c:extLst>
            <c:ext xmlns:c16="http://schemas.microsoft.com/office/drawing/2014/chart" uri="{C3380CC4-5D6E-409C-BE32-E72D297353CC}">
              <c16:uniqueId val="{00000001-341D-4E0B-80C2-841335D66A51}"/>
            </c:ext>
          </c:extLst>
        </c:ser>
        <c:ser>
          <c:idx val="2"/>
          <c:order val="2"/>
          <c:tx>
            <c:strRef>
              <c:f>Sheet1!$V$125</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Sheet1!$S$126:$S$135</c:f>
              <c:strCache>
                <c:ptCount val="10"/>
                <c:pt idx="0">
                  <c:v>RB</c:v>
                </c:pt>
                <c:pt idx="1">
                  <c:v>GT</c:v>
                </c:pt>
                <c:pt idx="2">
                  <c:v>WW</c:v>
                </c:pt>
                <c:pt idx="3">
                  <c:v>EF</c:v>
                </c:pt>
                <c:pt idx="4">
                  <c:v>CB</c:v>
                </c:pt>
                <c:pt idx="5">
                  <c:v>CR</c:v>
                </c:pt>
                <c:pt idx="6">
                  <c:v>GW</c:v>
                </c:pt>
                <c:pt idx="7">
                  <c:v>BJ</c:v>
                </c:pt>
                <c:pt idx="8">
                  <c:v>CS</c:v>
                </c:pt>
                <c:pt idx="9">
                  <c:v>WD</c:v>
                </c:pt>
              </c:strCache>
            </c:strRef>
          </c:cat>
          <c:val>
            <c:numRef>
              <c:f>Sheet1!$V$126:$V$135</c:f>
              <c:numCache>
                <c:formatCode>General</c:formatCode>
                <c:ptCount val="10"/>
                <c:pt idx="0">
                  <c:v>0.94</c:v>
                </c:pt>
                <c:pt idx="1">
                  <c:v>0.92</c:v>
                </c:pt>
                <c:pt idx="2">
                  <c:v>0.87</c:v>
                </c:pt>
                <c:pt idx="3">
                  <c:v>0.84</c:v>
                </c:pt>
                <c:pt idx="4">
                  <c:v>0.94</c:v>
                </c:pt>
                <c:pt idx="5">
                  <c:v>1</c:v>
                </c:pt>
                <c:pt idx="6">
                  <c:v>0.96</c:v>
                </c:pt>
                <c:pt idx="7">
                  <c:v>0.97</c:v>
                </c:pt>
                <c:pt idx="8">
                  <c:v>1</c:v>
                </c:pt>
                <c:pt idx="9">
                  <c:v>0.98</c:v>
                </c:pt>
              </c:numCache>
            </c:numRef>
          </c:val>
          <c:smooth val="0"/>
          <c:extLst>
            <c:ext xmlns:c16="http://schemas.microsoft.com/office/drawing/2014/chart" uri="{C3380CC4-5D6E-409C-BE32-E72D297353CC}">
              <c16:uniqueId val="{00000002-341D-4E0B-80C2-841335D66A51}"/>
            </c:ext>
          </c:extLst>
        </c:ser>
        <c:dLbls>
          <c:showLegendKey val="0"/>
          <c:showVal val="0"/>
          <c:showCatName val="0"/>
          <c:showSerName val="0"/>
          <c:showPercent val="0"/>
          <c:showBubbleSize val="0"/>
        </c:dLbls>
        <c:marker val="1"/>
        <c:smooth val="0"/>
        <c:axId val="1391283935"/>
        <c:axId val="1391281439"/>
      </c:lineChart>
      <c:catAx>
        <c:axId val="13912839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1281439"/>
        <c:crosses val="autoZero"/>
        <c:auto val="1"/>
        <c:lblAlgn val="ctr"/>
        <c:lblOffset val="100"/>
        <c:noMultiLvlLbl val="0"/>
      </c:catAx>
      <c:valAx>
        <c:axId val="139128143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12839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b="0" i="0" baseline="0" dirty="0">
                <a:effectLst/>
              </a:rPr>
              <a:t>Accuracy of MFCC(39) Features </a:t>
            </a:r>
          </a:p>
          <a:p>
            <a:pPr>
              <a:defRPr/>
            </a:pPr>
            <a:r>
              <a:rPr lang="en-IN" sz="1600" b="0" i="0" baseline="0" dirty="0">
                <a:effectLst/>
              </a:rPr>
              <a:t>with KNN Algorithm</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Sheet1!$CK$118</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Sheet1!$CG$119:$CG$128</c:f>
              <c:strCache>
                <c:ptCount val="10"/>
                <c:pt idx="0">
                  <c:v>RB</c:v>
                </c:pt>
                <c:pt idx="1">
                  <c:v>GT</c:v>
                </c:pt>
                <c:pt idx="2">
                  <c:v>WW</c:v>
                </c:pt>
                <c:pt idx="3">
                  <c:v>EF</c:v>
                </c:pt>
                <c:pt idx="4">
                  <c:v>CB</c:v>
                </c:pt>
                <c:pt idx="5">
                  <c:v>CR</c:v>
                </c:pt>
                <c:pt idx="6">
                  <c:v>GW</c:v>
                </c:pt>
                <c:pt idx="7">
                  <c:v>BJ</c:v>
                </c:pt>
                <c:pt idx="8">
                  <c:v>CS</c:v>
                </c:pt>
                <c:pt idx="9">
                  <c:v>WD</c:v>
                </c:pt>
              </c:strCache>
            </c:strRef>
          </c:cat>
          <c:val>
            <c:numRef>
              <c:f>Sheet1!$CK$119:$CK$128</c:f>
              <c:numCache>
                <c:formatCode>General</c:formatCode>
                <c:ptCount val="10"/>
                <c:pt idx="0">
                  <c:v>89.47</c:v>
                </c:pt>
                <c:pt idx="1">
                  <c:v>91.93</c:v>
                </c:pt>
                <c:pt idx="2">
                  <c:v>83.33</c:v>
                </c:pt>
                <c:pt idx="3">
                  <c:v>86.51</c:v>
                </c:pt>
                <c:pt idx="4">
                  <c:v>97.29</c:v>
                </c:pt>
                <c:pt idx="5">
                  <c:v>100</c:v>
                </c:pt>
                <c:pt idx="6">
                  <c:v>98.36</c:v>
                </c:pt>
                <c:pt idx="7">
                  <c:v>97.7</c:v>
                </c:pt>
                <c:pt idx="8">
                  <c:v>100</c:v>
                </c:pt>
                <c:pt idx="9">
                  <c:v>96.61</c:v>
                </c:pt>
              </c:numCache>
            </c:numRef>
          </c:val>
          <c:smooth val="0"/>
          <c:extLst>
            <c:ext xmlns:c16="http://schemas.microsoft.com/office/drawing/2014/chart" uri="{C3380CC4-5D6E-409C-BE32-E72D297353CC}">
              <c16:uniqueId val="{00000000-A976-43D3-8C72-0997163CAE1E}"/>
            </c:ext>
          </c:extLst>
        </c:ser>
        <c:dLbls>
          <c:showLegendKey val="0"/>
          <c:showVal val="0"/>
          <c:showCatName val="0"/>
          <c:showSerName val="0"/>
          <c:showPercent val="0"/>
          <c:showBubbleSize val="0"/>
        </c:dLbls>
        <c:marker val="1"/>
        <c:smooth val="0"/>
        <c:axId val="932578368"/>
        <c:axId val="932578784"/>
      </c:lineChart>
      <c:catAx>
        <c:axId val="9325783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78784"/>
        <c:crosses val="autoZero"/>
        <c:auto val="1"/>
        <c:lblAlgn val="ctr"/>
        <c:lblOffset val="100"/>
        <c:noMultiLvlLbl val="0"/>
      </c:catAx>
      <c:valAx>
        <c:axId val="9325787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783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a:t>
            </a:r>
            <a:r>
              <a:rPr lang="en-IN" sz="1600" baseline="0" dirty="0"/>
              <a:t> of LFCC(13) Features </a:t>
            </a:r>
          </a:p>
          <a:p>
            <a:pPr>
              <a:defRPr/>
            </a:pPr>
            <a:r>
              <a:rPr lang="en-IN" sz="1600" baseline="0" dirty="0"/>
              <a:t>with KNN Algorithm</a:t>
            </a:r>
            <a:endParaRPr lang="en-IN" sz="16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Sheet1!$H$139</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Sheet1!$G$140:$G$149</c:f>
              <c:strCache>
                <c:ptCount val="10"/>
                <c:pt idx="0">
                  <c:v>RB</c:v>
                </c:pt>
                <c:pt idx="1">
                  <c:v>GT</c:v>
                </c:pt>
                <c:pt idx="2">
                  <c:v>WW</c:v>
                </c:pt>
                <c:pt idx="3">
                  <c:v>EF</c:v>
                </c:pt>
                <c:pt idx="4">
                  <c:v>CB</c:v>
                </c:pt>
                <c:pt idx="5">
                  <c:v>CR</c:v>
                </c:pt>
                <c:pt idx="6">
                  <c:v>GW</c:v>
                </c:pt>
                <c:pt idx="7">
                  <c:v>BJ</c:v>
                </c:pt>
                <c:pt idx="8">
                  <c:v>CS</c:v>
                </c:pt>
                <c:pt idx="9">
                  <c:v>WD</c:v>
                </c:pt>
              </c:strCache>
            </c:strRef>
          </c:cat>
          <c:val>
            <c:numRef>
              <c:f>Sheet1!$H$140:$H$149</c:f>
              <c:numCache>
                <c:formatCode>General</c:formatCode>
                <c:ptCount val="10"/>
                <c:pt idx="0">
                  <c:v>0.95</c:v>
                </c:pt>
                <c:pt idx="1">
                  <c:v>0.88</c:v>
                </c:pt>
                <c:pt idx="2">
                  <c:v>0.88</c:v>
                </c:pt>
                <c:pt idx="3">
                  <c:v>0.82</c:v>
                </c:pt>
                <c:pt idx="4">
                  <c:v>0.93</c:v>
                </c:pt>
                <c:pt idx="5">
                  <c:v>0.9</c:v>
                </c:pt>
                <c:pt idx="6">
                  <c:v>0.95</c:v>
                </c:pt>
                <c:pt idx="7">
                  <c:v>0.91</c:v>
                </c:pt>
                <c:pt idx="8">
                  <c:v>0.98</c:v>
                </c:pt>
                <c:pt idx="9">
                  <c:v>1</c:v>
                </c:pt>
              </c:numCache>
            </c:numRef>
          </c:val>
          <c:smooth val="0"/>
          <c:extLst>
            <c:ext xmlns:c16="http://schemas.microsoft.com/office/drawing/2014/chart" uri="{C3380CC4-5D6E-409C-BE32-E72D297353CC}">
              <c16:uniqueId val="{00000000-FD51-430C-8C2C-424B640D864B}"/>
            </c:ext>
          </c:extLst>
        </c:ser>
        <c:ser>
          <c:idx val="1"/>
          <c:order val="1"/>
          <c:tx>
            <c:strRef>
              <c:f>Sheet1!$I$139</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Sheet1!$G$140:$G$149</c:f>
              <c:strCache>
                <c:ptCount val="10"/>
                <c:pt idx="0">
                  <c:v>RB</c:v>
                </c:pt>
                <c:pt idx="1">
                  <c:v>GT</c:v>
                </c:pt>
                <c:pt idx="2">
                  <c:v>WW</c:v>
                </c:pt>
                <c:pt idx="3">
                  <c:v>EF</c:v>
                </c:pt>
                <c:pt idx="4">
                  <c:v>CB</c:v>
                </c:pt>
                <c:pt idx="5">
                  <c:v>CR</c:v>
                </c:pt>
                <c:pt idx="6">
                  <c:v>GW</c:v>
                </c:pt>
                <c:pt idx="7">
                  <c:v>BJ</c:v>
                </c:pt>
                <c:pt idx="8">
                  <c:v>CS</c:v>
                </c:pt>
                <c:pt idx="9">
                  <c:v>WD</c:v>
                </c:pt>
              </c:strCache>
            </c:strRef>
          </c:cat>
          <c:val>
            <c:numRef>
              <c:f>Sheet1!$I$140:$I$149</c:f>
              <c:numCache>
                <c:formatCode>General</c:formatCode>
                <c:ptCount val="10"/>
                <c:pt idx="0">
                  <c:v>0.99</c:v>
                </c:pt>
                <c:pt idx="1">
                  <c:v>0.94</c:v>
                </c:pt>
                <c:pt idx="2">
                  <c:v>0.81</c:v>
                </c:pt>
                <c:pt idx="3">
                  <c:v>0.76</c:v>
                </c:pt>
                <c:pt idx="4">
                  <c:v>0.9</c:v>
                </c:pt>
                <c:pt idx="5">
                  <c:v>0.98</c:v>
                </c:pt>
                <c:pt idx="6">
                  <c:v>0.9</c:v>
                </c:pt>
                <c:pt idx="7">
                  <c:v>0.96</c:v>
                </c:pt>
                <c:pt idx="8">
                  <c:v>1</c:v>
                </c:pt>
                <c:pt idx="9">
                  <c:v>1</c:v>
                </c:pt>
              </c:numCache>
            </c:numRef>
          </c:val>
          <c:smooth val="0"/>
          <c:extLst>
            <c:ext xmlns:c16="http://schemas.microsoft.com/office/drawing/2014/chart" uri="{C3380CC4-5D6E-409C-BE32-E72D297353CC}">
              <c16:uniqueId val="{00000001-FD51-430C-8C2C-424B640D864B}"/>
            </c:ext>
          </c:extLst>
        </c:ser>
        <c:ser>
          <c:idx val="2"/>
          <c:order val="2"/>
          <c:tx>
            <c:strRef>
              <c:f>Sheet1!$J$139</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Sheet1!$G$140:$G$149</c:f>
              <c:strCache>
                <c:ptCount val="10"/>
                <c:pt idx="0">
                  <c:v>RB</c:v>
                </c:pt>
                <c:pt idx="1">
                  <c:v>GT</c:v>
                </c:pt>
                <c:pt idx="2">
                  <c:v>WW</c:v>
                </c:pt>
                <c:pt idx="3">
                  <c:v>EF</c:v>
                </c:pt>
                <c:pt idx="4">
                  <c:v>CB</c:v>
                </c:pt>
                <c:pt idx="5">
                  <c:v>CR</c:v>
                </c:pt>
                <c:pt idx="6">
                  <c:v>GW</c:v>
                </c:pt>
                <c:pt idx="7">
                  <c:v>BJ</c:v>
                </c:pt>
                <c:pt idx="8">
                  <c:v>CS</c:v>
                </c:pt>
                <c:pt idx="9">
                  <c:v>WD</c:v>
                </c:pt>
              </c:strCache>
            </c:strRef>
          </c:cat>
          <c:val>
            <c:numRef>
              <c:f>Sheet1!$J$140:$J$149</c:f>
              <c:numCache>
                <c:formatCode>General</c:formatCode>
                <c:ptCount val="10"/>
                <c:pt idx="0">
                  <c:v>0.97</c:v>
                </c:pt>
                <c:pt idx="1">
                  <c:v>0.91</c:v>
                </c:pt>
                <c:pt idx="2">
                  <c:v>0.85</c:v>
                </c:pt>
                <c:pt idx="3">
                  <c:v>0.79</c:v>
                </c:pt>
                <c:pt idx="4">
                  <c:v>0.92</c:v>
                </c:pt>
                <c:pt idx="5">
                  <c:v>0.94</c:v>
                </c:pt>
                <c:pt idx="6">
                  <c:v>0.92</c:v>
                </c:pt>
                <c:pt idx="7">
                  <c:v>0.93</c:v>
                </c:pt>
                <c:pt idx="8">
                  <c:v>0.99</c:v>
                </c:pt>
                <c:pt idx="9">
                  <c:v>1</c:v>
                </c:pt>
              </c:numCache>
            </c:numRef>
          </c:val>
          <c:smooth val="0"/>
          <c:extLst>
            <c:ext xmlns:c16="http://schemas.microsoft.com/office/drawing/2014/chart" uri="{C3380CC4-5D6E-409C-BE32-E72D297353CC}">
              <c16:uniqueId val="{00000002-FD51-430C-8C2C-424B640D864B}"/>
            </c:ext>
          </c:extLst>
        </c:ser>
        <c:dLbls>
          <c:showLegendKey val="0"/>
          <c:showVal val="0"/>
          <c:showCatName val="0"/>
          <c:showSerName val="0"/>
          <c:showPercent val="0"/>
          <c:showBubbleSize val="0"/>
        </c:dLbls>
        <c:marker val="1"/>
        <c:smooth val="0"/>
        <c:axId val="919848863"/>
        <c:axId val="919858431"/>
      </c:lineChart>
      <c:catAx>
        <c:axId val="9198488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9858431"/>
        <c:crosses val="autoZero"/>
        <c:auto val="1"/>
        <c:lblAlgn val="ctr"/>
        <c:lblOffset val="100"/>
        <c:noMultiLvlLbl val="0"/>
      </c:catAx>
      <c:valAx>
        <c:axId val="9198584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98488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b="0" i="0" baseline="0" dirty="0">
                <a:effectLst/>
              </a:rPr>
              <a:t>Accuracy of LFCC(13) Features </a:t>
            </a:r>
          </a:p>
          <a:p>
            <a:pPr>
              <a:defRPr/>
            </a:pPr>
            <a:r>
              <a:rPr lang="en-IN" sz="1600" b="0" i="0" baseline="0" dirty="0">
                <a:effectLst/>
              </a:rPr>
              <a:t>with KNN Algorithm</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Sheet1!$BW$132</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Sheet1!$BS$133:$BS$142</c:f>
              <c:strCache>
                <c:ptCount val="10"/>
                <c:pt idx="0">
                  <c:v>RB</c:v>
                </c:pt>
                <c:pt idx="1">
                  <c:v>GT</c:v>
                </c:pt>
                <c:pt idx="2">
                  <c:v>WW</c:v>
                </c:pt>
                <c:pt idx="3">
                  <c:v>EF</c:v>
                </c:pt>
                <c:pt idx="4">
                  <c:v>CB</c:v>
                </c:pt>
                <c:pt idx="5">
                  <c:v>CR</c:v>
                </c:pt>
                <c:pt idx="6">
                  <c:v>GW</c:v>
                </c:pt>
                <c:pt idx="7">
                  <c:v>BJ</c:v>
                </c:pt>
                <c:pt idx="8">
                  <c:v>CS</c:v>
                </c:pt>
                <c:pt idx="9">
                  <c:v>WD</c:v>
                </c:pt>
              </c:strCache>
            </c:strRef>
          </c:cat>
          <c:val>
            <c:numRef>
              <c:f>Sheet1!$BW$133:$BW$142</c:f>
              <c:numCache>
                <c:formatCode>General</c:formatCode>
                <c:ptCount val="10"/>
                <c:pt idx="0">
                  <c:v>98.57</c:v>
                </c:pt>
                <c:pt idx="1">
                  <c:v>94.2</c:v>
                </c:pt>
                <c:pt idx="2">
                  <c:v>81.33</c:v>
                </c:pt>
                <c:pt idx="3">
                  <c:v>76.25</c:v>
                </c:pt>
                <c:pt idx="4">
                  <c:v>90.21</c:v>
                </c:pt>
                <c:pt idx="5">
                  <c:v>98.21</c:v>
                </c:pt>
                <c:pt idx="6">
                  <c:v>90.16</c:v>
                </c:pt>
                <c:pt idx="7">
                  <c:v>95.56</c:v>
                </c:pt>
                <c:pt idx="8">
                  <c:v>100</c:v>
                </c:pt>
                <c:pt idx="9">
                  <c:v>100</c:v>
                </c:pt>
              </c:numCache>
            </c:numRef>
          </c:val>
          <c:smooth val="0"/>
          <c:extLst>
            <c:ext xmlns:c16="http://schemas.microsoft.com/office/drawing/2014/chart" uri="{C3380CC4-5D6E-409C-BE32-E72D297353CC}">
              <c16:uniqueId val="{00000000-D9B0-4D8E-8E01-8C7B750B1F12}"/>
            </c:ext>
          </c:extLst>
        </c:ser>
        <c:dLbls>
          <c:showLegendKey val="0"/>
          <c:showVal val="0"/>
          <c:showCatName val="0"/>
          <c:showSerName val="0"/>
          <c:showPercent val="0"/>
          <c:showBubbleSize val="0"/>
        </c:dLbls>
        <c:marker val="1"/>
        <c:smooth val="0"/>
        <c:axId val="932573376"/>
        <c:axId val="932577536"/>
      </c:lineChart>
      <c:catAx>
        <c:axId val="932573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77536"/>
        <c:crosses val="autoZero"/>
        <c:auto val="1"/>
        <c:lblAlgn val="ctr"/>
        <c:lblOffset val="100"/>
        <c:noMultiLvlLbl val="0"/>
      </c:catAx>
      <c:valAx>
        <c:axId val="932577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7337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a:t>
            </a:r>
            <a:r>
              <a:rPr lang="en-IN" sz="1600" baseline="0" dirty="0"/>
              <a:t> of LFCC(26) Features </a:t>
            </a:r>
          </a:p>
          <a:p>
            <a:pPr>
              <a:defRPr/>
            </a:pPr>
            <a:r>
              <a:rPr lang="en-IN" sz="1600" baseline="0" dirty="0"/>
              <a:t>with KNN Algorithm</a:t>
            </a:r>
            <a:endParaRPr lang="en-IN" sz="16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Sheet1!$N$139</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Sheet1!$M$140:$M$149</c:f>
              <c:strCache>
                <c:ptCount val="10"/>
                <c:pt idx="0">
                  <c:v>RB</c:v>
                </c:pt>
                <c:pt idx="1">
                  <c:v>GT</c:v>
                </c:pt>
                <c:pt idx="2">
                  <c:v>WW</c:v>
                </c:pt>
                <c:pt idx="3">
                  <c:v>EF</c:v>
                </c:pt>
                <c:pt idx="4">
                  <c:v>CB</c:v>
                </c:pt>
                <c:pt idx="5">
                  <c:v>CR</c:v>
                </c:pt>
                <c:pt idx="6">
                  <c:v>GW</c:v>
                </c:pt>
                <c:pt idx="7">
                  <c:v>BJ</c:v>
                </c:pt>
                <c:pt idx="8">
                  <c:v>CS</c:v>
                </c:pt>
                <c:pt idx="9">
                  <c:v>WD</c:v>
                </c:pt>
              </c:strCache>
            </c:strRef>
          </c:cat>
          <c:val>
            <c:numRef>
              <c:f>Sheet1!$N$140:$N$149</c:f>
              <c:numCache>
                <c:formatCode>General</c:formatCode>
                <c:ptCount val="10"/>
                <c:pt idx="0">
                  <c:v>0.95</c:v>
                </c:pt>
                <c:pt idx="1">
                  <c:v>0.91</c:v>
                </c:pt>
                <c:pt idx="2">
                  <c:v>0.84</c:v>
                </c:pt>
                <c:pt idx="3">
                  <c:v>0.83</c:v>
                </c:pt>
                <c:pt idx="4">
                  <c:v>0.97</c:v>
                </c:pt>
                <c:pt idx="5">
                  <c:v>1</c:v>
                </c:pt>
                <c:pt idx="6">
                  <c:v>0.95</c:v>
                </c:pt>
                <c:pt idx="7">
                  <c:v>0.95</c:v>
                </c:pt>
                <c:pt idx="8">
                  <c:v>0.98</c:v>
                </c:pt>
                <c:pt idx="9">
                  <c:v>0.98</c:v>
                </c:pt>
              </c:numCache>
            </c:numRef>
          </c:val>
          <c:smooth val="0"/>
          <c:extLst>
            <c:ext xmlns:c16="http://schemas.microsoft.com/office/drawing/2014/chart" uri="{C3380CC4-5D6E-409C-BE32-E72D297353CC}">
              <c16:uniqueId val="{00000000-DAC2-4F5C-870F-D42A6B81FB5E}"/>
            </c:ext>
          </c:extLst>
        </c:ser>
        <c:ser>
          <c:idx val="1"/>
          <c:order val="1"/>
          <c:tx>
            <c:strRef>
              <c:f>Sheet1!$O$139</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Sheet1!$M$140:$M$149</c:f>
              <c:strCache>
                <c:ptCount val="10"/>
                <c:pt idx="0">
                  <c:v>RB</c:v>
                </c:pt>
                <c:pt idx="1">
                  <c:v>GT</c:v>
                </c:pt>
                <c:pt idx="2">
                  <c:v>WW</c:v>
                </c:pt>
                <c:pt idx="3">
                  <c:v>EF</c:v>
                </c:pt>
                <c:pt idx="4">
                  <c:v>CB</c:v>
                </c:pt>
                <c:pt idx="5">
                  <c:v>CR</c:v>
                </c:pt>
                <c:pt idx="6">
                  <c:v>GW</c:v>
                </c:pt>
                <c:pt idx="7">
                  <c:v>BJ</c:v>
                </c:pt>
                <c:pt idx="8">
                  <c:v>CS</c:v>
                </c:pt>
                <c:pt idx="9">
                  <c:v>WD</c:v>
                </c:pt>
              </c:strCache>
            </c:strRef>
          </c:cat>
          <c:val>
            <c:numRef>
              <c:f>Sheet1!$O$140:$O$149</c:f>
              <c:numCache>
                <c:formatCode>General</c:formatCode>
                <c:ptCount val="10"/>
                <c:pt idx="0">
                  <c:v>0.97</c:v>
                </c:pt>
                <c:pt idx="1">
                  <c:v>1</c:v>
                </c:pt>
                <c:pt idx="2">
                  <c:v>0.87</c:v>
                </c:pt>
                <c:pt idx="3">
                  <c:v>0.81</c:v>
                </c:pt>
                <c:pt idx="4">
                  <c:v>0.9</c:v>
                </c:pt>
                <c:pt idx="5">
                  <c:v>0.97</c:v>
                </c:pt>
                <c:pt idx="6">
                  <c:v>0.97</c:v>
                </c:pt>
                <c:pt idx="7">
                  <c:v>0.96</c:v>
                </c:pt>
                <c:pt idx="8">
                  <c:v>0.92</c:v>
                </c:pt>
                <c:pt idx="9">
                  <c:v>0.98</c:v>
                </c:pt>
              </c:numCache>
            </c:numRef>
          </c:val>
          <c:smooth val="0"/>
          <c:extLst>
            <c:ext xmlns:c16="http://schemas.microsoft.com/office/drawing/2014/chart" uri="{C3380CC4-5D6E-409C-BE32-E72D297353CC}">
              <c16:uniqueId val="{00000001-DAC2-4F5C-870F-D42A6B81FB5E}"/>
            </c:ext>
          </c:extLst>
        </c:ser>
        <c:ser>
          <c:idx val="2"/>
          <c:order val="2"/>
          <c:tx>
            <c:strRef>
              <c:f>Sheet1!$P$139</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Sheet1!$M$140:$M$149</c:f>
              <c:strCache>
                <c:ptCount val="10"/>
                <c:pt idx="0">
                  <c:v>RB</c:v>
                </c:pt>
                <c:pt idx="1">
                  <c:v>GT</c:v>
                </c:pt>
                <c:pt idx="2">
                  <c:v>WW</c:v>
                </c:pt>
                <c:pt idx="3">
                  <c:v>EF</c:v>
                </c:pt>
                <c:pt idx="4">
                  <c:v>CB</c:v>
                </c:pt>
                <c:pt idx="5">
                  <c:v>CR</c:v>
                </c:pt>
                <c:pt idx="6">
                  <c:v>GW</c:v>
                </c:pt>
                <c:pt idx="7">
                  <c:v>BJ</c:v>
                </c:pt>
                <c:pt idx="8">
                  <c:v>CS</c:v>
                </c:pt>
                <c:pt idx="9">
                  <c:v>WD</c:v>
                </c:pt>
              </c:strCache>
            </c:strRef>
          </c:cat>
          <c:val>
            <c:numRef>
              <c:f>Sheet1!$P$140:$P$149</c:f>
              <c:numCache>
                <c:formatCode>General</c:formatCode>
                <c:ptCount val="10"/>
                <c:pt idx="0">
                  <c:v>0.96</c:v>
                </c:pt>
                <c:pt idx="1">
                  <c:v>0.95</c:v>
                </c:pt>
                <c:pt idx="2">
                  <c:v>0.85</c:v>
                </c:pt>
                <c:pt idx="3">
                  <c:v>0.82</c:v>
                </c:pt>
                <c:pt idx="4">
                  <c:v>0.94</c:v>
                </c:pt>
                <c:pt idx="5">
                  <c:v>0.98</c:v>
                </c:pt>
                <c:pt idx="6">
                  <c:v>0.96</c:v>
                </c:pt>
                <c:pt idx="7">
                  <c:v>0.96</c:v>
                </c:pt>
                <c:pt idx="8">
                  <c:v>0.95</c:v>
                </c:pt>
                <c:pt idx="9">
                  <c:v>0.98</c:v>
                </c:pt>
              </c:numCache>
            </c:numRef>
          </c:val>
          <c:smooth val="0"/>
          <c:extLst>
            <c:ext xmlns:c16="http://schemas.microsoft.com/office/drawing/2014/chart" uri="{C3380CC4-5D6E-409C-BE32-E72D297353CC}">
              <c16:uniqueId val="{00000002-DAC2-4F5C-870F-D42A6B81FB5E}"/>
            </c:ext>
          </c:extLst>
        </c:ser>
        <c:dLbls>
          <c:showLegendKey val="0"/>
          <c:showVal val="0"/>
          <c:showCatName val="0"/>
          <c:showSerName val="0"/>
          <c:showPercent val="0"/>
          <c:showBubbleSize val="0"/>
        </c:dLbls>
        <c:marker val="1"/>
        <c:smooth val="0"/>
        <c:axId val="915978287"/>
        <c:axId val="593751007"/>
      </c:lineChart>
      <c:catAx>
        <c:axId val="9159782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3751007"/>
        <c:crosses val="autoZero"/>
        <c:auto val="1"/>
        <c:lblAlgn val="ctr"/>
        <c:lblOffset val="100"/>
        <c:noMultiLvlLbl val="0"/>
      </c:catAx>
      <c:valAx>
        <c:axId val="5937510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59782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b="0" i="0" baseline="0" dirty="0">
                <a:effectLst/>
              </a:rPr>
              <a:t>Accuracy of LFCC(26) Features </a:t>
            </a:r>
          </a:p>
          <a:p>
            <a:pPr>
              <a:defRPr/>
            </a:pPr>
            <a:r>
              <a:rPr lang="en-IN" sz="1600" b="0" i="0" baseline="0" dirty="0">
                <a:effectLst/>
              </a:rPr>
              <a:t>with KNN Algorithm</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Sheet1!$CD$132</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Sheet1!$BZ$133:$BZ$142</c:f>
              <c:strCache>
                <c:ptCount val="10"/>
                <c:pt idx="0">
                  <c:v>RB</c:v>
                </c:pt>
                <c:pt idx="1">
                  <c:v>GT</c:v>
                </c:pt>
                <c:pt idx="2">
                  <c:v>WW</c:v>
                </c:pt>
                <c:pt idx="3">
                  <c:v>EF</c:v>
                </c:pt>
                <c:pt idx="4">
                  <c:v>CB</c:v>
                </c:pt>
                <c:pt idx="5">
                  <c:v>CR</c:v>
                </c:pt>
                <c:pt idx="6">
                  <c:v>GW</c:v>
                </c:pt>
                <c:pt idx="7">
                  <c:v>BJ</c:v>
                </c:pt>
                <c:pt idx="8">
                  <c:v>CS</c:v>
                </c:pt>
                <c:pt idx="9">
                  <c:v>WD</c:v>
                </c:pt>
              </c:strCache>
            </c:strRef>
          </c:cat>
          <c:val>
            <c:numRef>
              <c:f>Sheet1!$CD$133:$CD$142</c:f>
              <c:numCache>
                <c:formatCode>General</c:formatCode>
                <c:ptCount val="10"/>
                <c:pt idx="0">
                  <c:v>97.18</c:v>
                </c:pt>
                <c:pt idx="1">
                  <c:v>100</c:v>
                </c:pt>
                <c:pt idx="2">
                  <c:v>87.01</c:v>
                </c:pt>
                <c:pt idx="3">
                  <c:v>81.39</c:v>
                </c:pt>
                <c:pt idx="4">
                  <c:v>90.12</c:v>
                </c:pt>
                <c:pt idx="5">
                  <c:v>96.82</c:v>
                </c:pt>
                <c:pt idx="6">
                  <c:v>96.77</c:v>
                </c:pt>
                <c:pt idx="7">
                  <c:v>96.29</c:v>
                </c:pt>
                <c:pt idx="8">
                  <c:v>91.93</c:v>
                </c:pt>
                <c:pt idx="9">
                  <c:v>98.27</c:v>
                </c:pt>
              </c:numCache>
            </c:numRef>
          </c:val>
          <c:smooth val="0"/>
          <c:extLst>
            <c:ext xmlns:c16="http://schemas.microsoft.com/office/drawing/2014/chart" uri="{C3380CC4-5D6E-409C-BE32-E72D297353CC}">
              <c16:uniqueId val="{00000000-60A8-4944-9827-07033AF63B4B}"/>
            </c:ext>
          </c:extLst>
        </c:ser>
        <c:dLbls>
          <c:showLegendKey val="0"/>
          <c:showVal val="0"/>
          <c:showCatName val="0"/>
          <c:showSerName val="0"/>
          <c:showPercent val="0"/>
          <c:showBubbleSize val="0"/>
        </c:dLbls>
        <c:marker val="1"/>
        <c:smooth val="0"/>
        <c:axId val="932522624"/>
        <c:axId val="932528864"/>
      </c:lineChart>
      <c:catAx>
        <c:axId val="9325226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28864"/>
        <c:crosses val="autoZero"/>
        <c:auto val="1"/>
        <c:lblAlgn val="ctr"/>
        <c:lblOffset val="100"/>
        <c:noMultiLvlLbl val="0"/>
      </c:catAx>
      <c:valAx>
        <c:axId val="9325288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2262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b="0" i="0" baseline="0" dirty="0">
                <a:effectLst/>
              </a:rPr>
              <a:t>Analysis of LFCC(39) Features </a:t>
            </a:r>
          </a:p>
          <a:p>
            <a:pPr>
              <a:defRPr/>
            </a:pPr>
            <a:r>
              <a:rPr lang="en-IN" sz="1600" b="0" i="0" baseline="0" dirty="0">
                <a:effectLst/>
              </a:rPr>
              <a:t>with KNN Algorithm</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Sheet1!$T$139</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Sheet1!$S$140:$S$149</c:f>
              <c:strCache>
                <c:ptCount val="10"/>
                <c:pt idx="0">
                  <c:v>RB</c:v>
                </c:pt>
                <c:pt idx="1">
                  <c:v>GT</c:v>
                </c:pt>
                <c:pt idx="2">
                  <c:v>WW</c:v>
                </c:pt>
                <c:pt idx="3">
                  <c:v>EF</c:v>
                </c:pt>
                <c:pt idx="4">
                  <c:v>CB</c:v>
                </c:pt>
                <c:pt idx="5">
                  <c:v>CR</c:v>
                </c:pt>
                <c:pt idx="6">
                  <c:v>GW</c:v>
                </c:pt>
                <c:pt idx="7">
                  <c:v>BJ</c:v>
                </c:pt>
                <c:pt idx="8">
                  <c:v>CS</c:v>
                </c:pt>
                <c:pt idx="9">
                  <c:v>WD</c:v>
                </c:pt>
              </c:strCache>
            </c:strRef>
          </c:cat>
          <c:val>
            <c:numRef>
              <c:f>Sheet1!$T$140:$T$149</c:f>
              <c:numCache>
                <c:formatCode>General</c:formatCode>
                <c:ptCount val="10"/>
                <c:pt idx="0">
                  <c:v>0.99</c:v>
                </c:pt>
                <c:pt idx="1">
                  <c:v>0.97</c:v>
                </c:pt>
                <c:pt idx="2">
                  <c:v>0.88</c:v>
                </c:pt>
                <c:pt idx="3">
                  <c:v>0.8</c:v>
                </c:pt>
                <c:pt idx="4">
                  <c:v>0.96</c:v>
                </c:pt>
                <c:pt idx="5">
                  <c:v>0.96</c:v>
                </c:pt>
                <c:pt idx="6">
                  <c:v>0.95</c:v>
                </c:pt>
                <c:pt idx="7">
                  <c:v>1</c:v>
                </c:pt>
                <c:pt idx="8">
                  <c:v>0.99</c:v>
                </c:pt>
                <c:pt idx="9">
                  <c:v>0.94</c:v>
                </c:pt>
              </c:numCache>
            </c:numRef>
          </c:val>
          <c:smooth val="0"/>
          <c:extLst>
            <c:ext xmlns:c16="http://schemas.microsoft.com/office/drawing/2014/chart" uri="{C3380CC4-5D6E-409C-BE32-E72D297353CC}">
              <c16:uniqueId val="{00000000-7E70-49B8-8D11-673BE1EEE768}"/>
            </c:ext>
          </c:extLst>
        </c:ser>
        <c:ser>
          <c:idx val="1"/>
          <c:order val="1"/>
          <c:tx>
            <c:strRef>
              <c:f>Sheet1!$U$139</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Sheet1!$S$140:$S$149</c:f>
              <c:strCache>
                <c:ptCount val="10"/>
                <c:pt idx="0">
                  <c:v>RB</c:v>
                </c:pt>
                <c:pt idx="1">
                  <c:v>GT</c:v>
                </c:pt>
                <c:pt idx="2">
                  <c:v>WW</c:v>
                </c:pt>
                <c:pt idx="3">
                  <c:v>EF</c:v>
                </c:pt>
                <c:pt idx="4">
                  <c:v>CB</c:v>
                </c:pt>
                <c:pt idx="5">
                  <c:v>CR</c:v>
                </c:pt>
                <c:pt idx="6">
                  <c:v>GW</c:v>
                </c:pt>
                <c:pt idx="7">
                  <c:v>BJ</c:v>
                </c:pt>
                <c:pt idx="8">
                  <c:v>CS</c:v>
                </c:pt>
                <c:pt idx="9">
                  <c:v>WD</c:v>
                </c:pt>
              </c:strCache>
            </c:strRef>
          </c:cat>
          <c:val>
            <c:numRef>
              <c:f>Sheet1!$U$140:$U$149</c:f>
              <c:numCache>
                <c:formatCode>General</c:formatCode>
                <c:ptCount val="10"/>
                <c:pt idx="0">
                  <c:v>0.99</c:v>
                </c:pt>
                <c:pt idx="1">
                  <c:v>0.98</c:v>
                </c:pt>
                <c:pt idx="2">
                  <c:v>0.82</c:v>
                </c:pt>
                <c:pt idx="3">
                  <c:v>0.9</c:v>
                </c:pt>
                <c:pt idx="4">
                  <c:v>0.92</c:v>
                </c:pt>
                <c:pt idx="5">
                  <c:v>0.92</c:v>
                </c:pt>
                <c:pt idx="6">
                  <c:v>0.97</c:v>
                </c:pt>
                <c:pt idx="7">
                  <c:v>1</c:v>
                </c:pt>
                <c:pt idx="8">
                  <c:v>0.96</c:v>
                </c:pt>
                <c:pt idx="9">
                  <c:v>0.98</c:v>
                </c:pt>
              </c:numCache>
            </c:numRef>
          </c:val>
          <c:smooth val="0"/>
          <c:extLst>
            <c:ext xmlns:c16="http://schemas.microsoft.com/office/drawing/2014/chart" uri="{C3380CC4-5D6E-409C-BE32-E72D297353CC}">
              <c16:uniqueId val="{00000001-7E70-49B8-8D11-673BE1EEE768}"/>
            </c:ext>
          </c:extLst>
        </c:ser>
        <c:ser>
          <c:idx val="2"/>
          <c:order val="2"/>
          <c:tx>
            <c:strRef>
              <c:f>Sheet1!$V$139</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Sheet1!$S$140:$S$149</c:f>
              <c:strCache>
                <c:ptCount val="10"/>
                <c:pt idx="0">
                  <c:v>RB</c:v>
                </c:pt>
                <c:pt idx="1">
                  <c:v>GT</c:v>
                </c:pt>
                <c:pt idx="2">
                  <c:v>WW</c:v>
                </c:pt>
                <c:pt idx="3">
                  <c:v>EF</c:v>
                </c:pt>
                <c:pt idx="4">
                  <c:v>CB</c:v>
                </c:pt>
                <c:pt idx="5">
                  <c:v>CR</c:v>
                </c:pt>
                <c:pt idx="6">
                  <c:v>GW</c:v>
                </c:pt>
                <c:pt idx="7">
                  <c:v>BJ</c:v>
                </c:pt>
                <c:pt idx="8">
                  <c:v>CS</c:v>
                </c:pt>
                <c:pt idx="9">
                  <c:v>WD</c:v>
                </c:pt>
              </c:strCache>
            </c:strRef>
          </c:cat>
          <c:val>
            <c:numRef>
              <c:f>Sheet1!$V$140:$V$149</c:f>
              <c:numCache>
                <c:formatCode>General</c:formatCode>
                <c:ptCount val="10"/>
                <c:pt idx="0">
                  <c:v>0.99</c:v>
                </c:pt>
                <c:pt idx="1">
                  <c:v>0.98</c:v>
                </c:pt>
                <c:pt idx="2">
                  <c:v>0.85</c:v>
                </c:pt>
                <c:pt idx="3">
                  <c:v>0.85</c:v>
                </c:pt>
                <c:pt idx="4">
                  <c:v>0.94</c:v>
                </c:pt>
                <c:pt idx="5">
                  <c:v>0.94</c:v>
                </c:pt>
                <c:pt idx="6">
                  <c:v>0.96</c:v>
                </c:pt>
                <c:pt idx="7">
                  <c:v>1</c:v>
                </c:pt>
                <c:pt idx="8">
                  <c:v>0.97</c:v>
                </c:pt>
                <c:pt idx="9">
                  <c:v>0.96</c:v>
                </c:pt>
              </c:numCache>
            </c:numRef>
          </c:val>
          <c:smooth val="0"/>
          <c:extLst>
            <c:ext xmlns:c16="http://schemas.microsoft.com/office/drawing/2014/chart" uri="{C3380CC4-5D6E-409C-BE32-E72D297353CC}">
              <c16:uniqueId val="{00000002-7E70-49B8-8D11-673BE1EEE768}"/>
            </c:ext>
          </c:extLst>
        </c:ser>
        <c:dLbls>
          <c:showLegendKey val="0"/>
          <c:showVal val="0"/>
          <c:showCatName val="0"/>
          <c:showSerName val="0"/>
          <c:showPercent val="0"/>
          <c:showBubbleSize val="0"/>
        </c:dLbls>
        <c:marker val="1"/>
        <c:smooth val="0"/>
        <c:axId val="919852607"/>
        <c:axId val="919844287"/>
      </c:lineChart>
      <c:catAx>
        <c:axId val="9198526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9844287"/>
        <c:crosses val="autoZero"/>
        <c:auto val="1"/>
        <c:lblAlgn val="ctr"/>
        <c:lblOffset val="100"/>
        <c:noMultiLvlLbl val="0"/>
      </c:catAx>
      <c:valAx>
        <c:axId val="9198442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985260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b="0" i="0" baseline="0" dirty="0">
                <a:effectLst/>
              </a:rPr>
              <a:t>Accuracy of LFCC(39) Features </a:t>
            </a:r>
          </a:p>
          <a:p>
            <a:pPr>
              <a:defRPr/>
            </a:pPr>
            <a:r>
              <a:rPr lang="en-IN" sz="1600" b="0" i="0" baseline="0" dirty="0">
                <a:effectLst/>
              </a:rPr>
              <a:t>with KNN Algorithm</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Sheet1!$CK$132</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Sheet1!$CG$133:$CG$142</c:f>
              <c:strCache>
                <c:ptCount val="10"/>
                <c:pt idx="0">
                  <c:v>RB</c:v>
                </c:pt>
                <c:pt idx="1">
                  <c:v>GT</c:v>
                </c:pt>
                <c:pt idx="2">
                  <c:v>WW</c:v>
                </c:pt>
                <c:pt idx="3">
                  <c:v>EF</c:v>
                </c:pt>
                <c:pt idx="4">
                  <c:v>CB</c:v>
                </c:pt>
                <c:pt idx="5">
                  <c:v>CR</c:v>
                </c:pt>
                <c:pt idx="6">
                  <c:v>GW</c:v>
                </c:pt>
                <c:pt idx="7">
                  <c:v>BJ</c:v>
                </c:pt>
                <c:pt idx="8">
                  <c:v>CS</c:v>
                </c:pt>
                <c:pt idx="9">
                  <c:v>WD</c:v>
                </c:pt>
              </c:strCache>
            </c:strRef>
          </c:cat>
          <c:val>
            <c:numRef>
              <c:f>Sheet1!$CK$133:$CK$142</c:f>
              <c:numCache>
                <c:formatCode>General</c:formatCode>
                <c:ptCount val="10"/>
                <c:pt idx="0">
                  <c:v>98.71</c:v>
                </c:pt>
                <c:pt idx="1">
                  <c:v>98.43</c:v>
                </c:pt>
                <c:pt idx="2">
                  <c:v>82.5</c:v>
                </c:pt>
                <c:pt idx="3">
                  <c:v>89.74</c:v>
                </c:pt>
                <c:pt idx="4">
                  <c:v>92.04</c:v>
                </c:pt>
                <c:pt idx="5">
                  <c:v>92.45</c:v>
                </c:pt>
                <c:pt idx="6">
                  <c:v>96.92</c:v>
                </c:pt>
                <c:pt idx="7">
                  <c:v>100</c:v>
                </c:pt>
                <c:pt idx="8">
                  <c:v>95.83</c:v>
                </c:pt>
                <c:pt idx="9">
                  <c:v>98.07</c:v>
                </c:pt>
              </c:numCache>
            </c:numRef>
          </c:val>
          <c:smooth val="0"/>
          <c:extLst>
            <c:ext xmlns:c16="http://schemas.microsoft.com/office/drawing/2014/chart" uri="{C3380CC4-5D6E-409C-BE32-E72D297353CC}">
              <c16:uniqueId val="{00000000-74F9-4948-98A8-4BCD6F58FD26}"/>
            </c:ext>
          </c:extLst>
        </c:ser>
        <c:dLbls>
          <c:showLegendKey val="0"/>
          <c:showVal val="0"/>
          <c:showCatName val="0"/>
          <c:showSerName val="0"/>
          <c:showPercent val="0"/>
          <c:showBubbleSize val="0"/>
        </c:dLbls>
        <c:marker val="1"/>
        <c:smooth val="0"/>
        <c:axId val="932572128"/>
        <c:axId val="932569632"/>
      </c:lineChart>
      <c:catAx>
        <c:axId val="932572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69632"/>
        <c:crosses val="autoZero"/>
        <c:auto val="1"/>
        <c:lblAlgn val="ctr"/>
        <c:lblOffset val="100"/>
        <c:noMultiLvlLbl val="0"/>
      </c:catAx>
      <c:valAx>
        <c:axId val="9325696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7212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a:t>
            </a:r>
            <a:r>
              <a:rPr lang="en-IN" sz="1600" baseline="0" dirty="0"/>
              <a:t> of GFCC (13) Features </a:t>
            </a:r>
          </a:p>
          <a:p>
            <a:pPr>
              <a:defRPr/>
            </a:pPr>
            <a:r>
              <a:rPr lang="en-IN" sz="1600" baseline="0" dirty="0"/>
              <a:t>with KNN Algorithm</a:t>
            </a:r>
            <a:endParaRPr lang="en-IN" sz="1600" dirty="0"/>
          </a:p>
        </c:rich>
      </c:tx>
      <c:layout>
        <c:manualLayout>
          <c:xMode val="edge"/>
          <c:yMode val="edge"/>
          <c:x val="0.23644444444444446"/>
          <c:y val="0"/>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Sheet1!$BT$146</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Sheet1!$BS$147:$BS$156</c:f>
              <c:strCache>
                <c:ptCount val="10"/>
                <c:pt idx="0">
                  <c:v>RB</c:v>
                </c:pt>
                <c:pt idx="1">
                  <c:v>GT</c:v>
                </c:pt>
                <c:pt idx="2">
                  <c:v>WW</c:v>
                </c:pt>
                <c:pt idx="3">
                  <c:v>EF</c:v>
                </c:pt>
                <c:pt idx="4">
                  <c:v>CB</c:v>
                </c:pt>
                <c:pt idx="5">
                  <c:v>CR</c:v>
                </c:pt>
                <c:pt idx="6">
                  <c:v>GW</c:v>
                </c:pt>
                <c:pt idx="7">
                  <c:v>BJ</c:v>
                </c:pt>
                <c:pt idx="8">
                  <c:v>CS</c:v>
                </c:pt>
                <c:pt idx="9">
                  <c:v>WD</c:v>
                </c:pt>
              </c:strCache>
            </c:strRef>
          </c:cat>
          <c:val>
            <c:numRef>
              <c:f>Sheet1!$BT$147:$BT$156</c:f>
              <c:numCache>
                <c:formatCode>General</c:formatCode>
                <c:ptCount val="10"/>
                <c:pt idx="0">
                  <c:v>0.97</c:v>
                </c:pt>
                <c:pt idx="1">
                  <c:v>0.99</c:v>
                </c:pt>
                <c:pt idx="2">
                  <c:v>0.95</c:v>
                </c:pt>
                <c:pt idx="3">
                  <c:v>0.76</c:v>
                </c:pt>
                <c:pt idx="4">
                  <c:v>0.98</c:v>
                </c:pt>
                <c:pt idx="5">
                  <c:v>0.95</c:v>
                </c:pt>
                <c:pt idx="6">
                  <c:v>0.96</c:v>
                </c:pt>
                <c:pt idx="7">
                  <c:v>0.91</c:v>
                </c:pt>
                <c:pt idx="8">
                  <c:v>0.96</c:v>
                </c:pt>
                <c:pt idx="9">
                  <c:v>0.96</c:v>
                </c:pt>
              </c:numCache>
            </c:numRef>
          </c:val>
          <c:smooth val="0"/>
          <c:extLst>
            <c:ext xmlns:c16="http://schemas.microsoft.com/office/drawing/2014/chart" uri="{C3380CC4-5D6E-409C-BE32-E72D297353CC}">
              <c16:uniqueId val="{00000000-1E6B-4766-B243-CD170EAE7217}"/>
            </c:ext>
          </c:extLst>
        </c:ser>
        <c:ser>
          <c:idx val="1"/>
          <c:order val="1"/>
          <c:tx>
            <c:strRef>
              <c:f>Sheet1!$BU$146</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Sheet1!$BS$147:$BS$156</c:f>
              <c:strCache>
                <c:ptCount val="10"/>
                <c:pt idx="0">
                  <c:v>RB</c:v>
                </c:pt>
                <c:pt idx="1">
                  <c:v>GT</c:v>
                </c:pt>
                <c:pt idx="2">
                  <c:v>WW</c:v>
                </c:pt>
                <c:pt idx="3">
                  <c:v>EF</c:v>
                </c:pt>
                <c:pt idx="4">
                  <c:v>CB</c:v>
                </c:pt>
                <c:pt idx="5">
                  <c:v>CR</c:v>
                </c:pt>
                <c:pt idx="6">
                  <c:v>GW</c:v>
                </c:pt>
                <c:pt idx="7">
                  <c:v>BJ</c:v>
                </c:pt>
                <c:pt idx="8">
                  <c:v>CS</c:v>
                </c:pt>
                <c:pt idx="9">
                  <c:v>WD</c:v>
                </c:pt>
              </c:strCache>
            </c:strRef>
          </c:cat>
          <c:val>
            <c:numRef>
              <c:f>Sheet1!$BU$147:$BU$156</c:f>
              <c:numCache>
                <c:formatCode>General</c:formatCode>
                <c:ptCount val="10"/>
                <c:pt idx="0">
                  <c:v>0.93</c:v>
                </c:pt>
                <c:pt idx="1">
                  <c:v>1</c:v>
                </c:pt>
                <c:pt idx="2">
                  <c:v>0.82</c:v>
                </c:pt>
                <c:pt idx="3">
                  <c:v>0.9</c:v>
                </c:pt>
                <c:pt idx="4">
                  <c:v>0.91</c:v>
                </c:pt>
                <c:pt idx="5">
                  <c:v>0.96</c:v>
                </c:pt>
                <c:pt idx="6">
                  <c:v>0.99</c:v>
                </c:pt>
                <c:pt idx="7">
                  <c:v>0.96</c:v>
                </c:pt>
                <c:pt idx="8">
                  <c:v>0.95</c:v>
                </c:pt>
                <c:pt idx="9">
                  <c:v>0.98</c:v>
                </c:pt>
              </c:numCache>
            </c:numRef>
          </c:val>
          <c:smooth val="0"/>
          <c:extLst>
            <c:ext xmlns:c16="http://schemas.microsoft.com/office/drawing/2014/chart" uri="{C3380CC4-5D6E-409C-BE32-E72D297353CC}">
              <c16:uniqueId val="{00000001-1E6B-4766-B243-CD170EAE7217}"/>
            </c:ext>
          </c:extLst>
        </c:ser>
        <c:ser>
          <c:idx val="2"/>
          <c:order val="2"/>
          <c:tx>
            <c:strRef>
              <c:f>Sheet1!$BV$146</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Sheet1!$BS$147:$BS$156</c:f>
              <c:strCache>
                <c:ptCount val="10"/>
                <c:pt idx="0">
                  <c:v>RB</c:v>
                </c:pt>
                <c:pt idx="1">
                  <c:v>GT</c:v>
                </c:pt>
                <c:pt idx="2">
                  <c:v>WW</c:v>
                </c:pt>
                <c:pt idx="3">
                  <c:v>EF</c:v>
                </c:pt>
                <c:pt idx="4">
                  <c:v>CB</c:v>
                </c:pt>
                <c:pt idx="5">
                  <c:v>CR</c:v>
                </c:pt>
                <c:pt idx="6">
                  <c:v>GW</c:v>
                </c:pt>
                <c:pt idx="7">
                  <c:v>BJ</c:v>
                </c:pt>
                <c:pt idx="8">
                  <c:v>CS</c:v>
                </c:pt>
                <c:pt idx="9">
                  <c:v>WD</c:v>
                </c:pt>
              </c:strCache>
            </c:strRef>
          </c:cat>
          <c:val>
            <c:numRef>
              <c:f>Sheet1!$BV$147:$BV$156</c:f>
              <c:numCache>
                <c:formatCode>General</c:formatCode>
                <c:ptCount val="10"/>
                <c:pt idx="0">
                  <c:v>0.95</c:v>
                </c:pt>
                <c:pt idx="1">
                  <c:v>0.99</c:v>
                </c:pt>
                <c:pt idx="2">
                  <c:v>0.88</c:v>
                </c:pt>
                <c:pt idx="3">
                  <c:v>0.83</c:v>
                </c:pt>
                <c:pt idx="4">
                  <c:v>0.94</c:v>
                </c:pt>
                <c:pt idx="5">
                  <c:v>0.96</c:v>
                </c:pt>
                <c:pt idx="6">
                  <c:v>0.97</c:v>
                </c:pt>
                <c:pt idx="7">
                  <c:v>0.94</c:v>
                </c:pt>
                <c:pt idx="8">
                  <c:v>0.96</c:v>
                </c:pt>
                <c:pt idx="9">
                  <c:v>0.97</c:v>
                </c:pt>
              </c:numCache>
            </c:numRef>
          </c:val>
          <c:smooth val="0"/>
          <c:extLst>
            <c:ext xmlns:c16="http://schemas.microsoft.com/office/drawing/2014/chart" uri="{C3380CC4-5D6E-409C-BE32-E72D297353CC}">
              <c16:uniqueId val="{00000002-1E6B-4766-B243-CD170EAE7217}"/>
            </c:ext>
          </c:extLst>
        </c:ser>
        <c:dLbls>
          <c:showLegendKey val="0"/>
          <c:showVal val="0"/>
          <c:showCatName val="0"/>
          <c:showSerName val="0"/>
          <c:showPercent val="0"/>
          <c:showBubbleSize val="0"/>
        </c:dLbls>
        <c:marker val="1"/>
        <c:smooth val="0"/>
        <c:axId val="838608608"/>
        <c:axId val="838609024"/>
      </c:lineChart>
      <c:catAx>
        <c:axId val="8386086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8609024"/>
        <c:crosses val="autoZero"/>
        <c:auto val="1"/>
        <c:lblAlgn val="ctr"/>
        <c:lblOffset val="100"/>
        <c:noMultiLvlLbl val="0"/>
      </c:catAx>
      <c:valAx>
        <c:axId val="8386090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86086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b="0" i="0" baseline="0" dirty="0">
                <a:effectLst/>
              </a:rPr>
              <a:t>Accuracy of GFCC (13) Features </a:t>
            </a:r>
          </a:p>
          <a:p>
            <a:pPr>
              <a:defRPr/>
            </a:pPr>
            <a:r>
              <a:rPr lang="en-IN" sz="1600" b="0" i="0" baseline="0" dirty="0">
                <a:effectLst/>
              </a:rPr>
              <a:t>with KNN Algorithm</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Sheet1!$BW$146</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Sheet1!$BS$147:$BS$156</c:f>
              <c:strCache>
                <c:ptCount val="10"/>
                <c:pt idx="0">
                  <c:v>RB</c:v>
                </c:pt>
                <c:pt idx="1">
                  <c:v>GT</c:v>
                </c:pt>
                <c:pt idx="2">
                  <c:v>WW</c:v>
                </c:pt>
                <c:pt idx="3">
                  <c:v>EF</c:v>
                </c:pt>
                <c:pt idx="4">
                  <c:v>CB</c:v>
                </c:pt>
                <c:pt idx="5">
                  <c:v>CR</c:v>
                </c:pt>
                <c:pt idx="6">
                  <c:v>GW</c:v>
                </c:pt>
                <c:pt idx="7">
                  <c:v>BJ</c:v>
                </c:pt>
                <c:pt idx="8">
                  <c:v>CS</c:v>
                </c:pt>
                <c:pt idx="9">
                  <c:v>WD</c:v>
                </c:pt>
              </c:strCache>
            </c:strRef>
          </c:cat>
          <c:val>
            <c:numRef>
              <c:f>Sheet1!$BW$147:$BW$156</c:f>
              <c:numCache>
                <c:formatCode>General</c:formatCode>
                <c:ptCount val="10"/>
                <c:pt idx="0">
                  <c:v>92.85</c:v>
                </c:pt>
                <c:pt idx="1">
                  <c:v>98.61</c:v>
                </c:pt>
                <c:pt idx="2">
                  <c:v>82.35</c:v>
                </c:pt>
                <c:pt idx="3">
                  <c:v>90.16</c:v>
                </c:pt>
                <c:pt idx="4">
                  <c:v>91.11</c:v>
                </c:pt>
                <c:pt idx="5">
                  <c:v>96.42</c:v>
                </c:pt>
                <c:pt idx="6">
                  <c:v>98.5</c:v>
                </c:pt>
                <c:pt idx="7">
                  <c:v>96.38</c:v>
                </c:pt>
                <c:pt idx="8">
                  <c:v>94.93</c:v>
                </c:pt>
                <c:pt idx="9">
                  <c:v>97.78</c:v>
                </c:pt>
              </c:numCache>
            </c:numRef>
          </c:val>
          <c:smooth val="0"/>
          <c:extLst>
            <c:ext xmlns:c16="http://schemas.microsoft.com/office/drawing/2014/chart" uri="{C3380CC4-5D6E-409C-BE32-E72D297353CC}">
              <c16:uniqueId val="{00000000-98FE-40EB-891B-3E3041F6CD22}"/>
            </c:ext>
          </c:extLst>
        </c:ser>
        <c:dLbls>
          <c:showLegendKey val="0"/>
          <c:showVal val="0"/>
          <c:showCatName val="0"/>
          <c:showSerName val="0"/>
          <c:showPercent val="0"/>
          <c:showBubbleSize val="0"/>
        </c:dLbls>
        <c:marker val="1"/>
        <c:smooth val="0"/>
        <c:axId val="842065200"/>
        <c:axId val="842065616"/>
      </c:lineChart>
      <c:catAx>
        <c:axId val="8420652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42065616"/>
        <c:crosses val="autoZero"/>
        <c:auto val="1"/>
        <c:lblAlgn val="ctr"/>
        <c:lblOffset val="100"/>
        <c:noMultiLvlLbl val="0"/>
      </c:catAx>
      <c:valAx>
        <c:axId val="8420656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420652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a:t>
            </a:r>
            <a:r>
              <a:rPr lang="en-IN" sz="1600" baseline="0" dirty="0"/>
              <a:t> of GFCC(26) Features </a:t>
            </a:r>
          </a:p>
          <a:p>
            <a:pPr>
              <a:defRPr/>
            </a:pPr>
            <a:r>
              <a:rPr lang="en-IN" sz="1600" baseline="0" dirty="0"/>
              <a:t>with KNN Algorithm</a:t>
            </a:r>
            <a:endParaRPr lang="en-IN" sz="16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Sheet1!$CA$146</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Sheet1!$BZ$147:$BZ$156</c:f>
              <c:strCache>
                <c:ptCount val="10"/>
                <c:pt idx="0">
                  <c:v>RB</c:v>
                </c:pt>
                <c:pt idx="1">
                  <c:v>GT</c:v>
                </c:pt>
                <c:pt idx="2">
                  <c:v>WW</c:v>
                </c:pt>
                <c:pt idx="3">
                  <c:v>EF</c:v>
                </c:pt>
                <c:pt idx="4">
                  <c:v>CB</c:v>
                </c:pt>
                <c:pt idx="5">
                  <c:v>CR</c:v>
                </c:pt>
                <c:pt idx="6">
                  <c:v>GW</c:v>
                </c:pt>
                <c:pt idx="7">
                  <c:v>BJ</c:v>
                </c:pt>
                <c:pt idx="8">
                  <c:v>CS</c:v>
                </c:pt>
                <c:pt idx="9">
                  <c:v>WD</c:v>
                </c:pt>
              </c:strCache>
            </c:strRef>
          </c:cat>
          <c:val>
            <c:numRef>
              <c:f>Sheet1!$CA$147:$CA$156</c:f>
              <c:numCache>
                <c:formatCode>General</c:formatCode>
                <c:ptCount val="10"/>
                <c:pt idx="0">
                  <c:v>0.96</c:v>
                </c:pt>
                <c:pt idx="1">
                  <c:v>0.95</c:v>
                </c:pt>
                <c:pt idx="2">
                  <c:v>0.86</c:v>
                </c:pt>
                <c:pt idx="3">
                  <c:v>0.75</c:v>
                </c:pt>
                <c:pt idx="4">
                  <c:v>0.94</c:v>
                </c:pt>
                <c:pt idx="5">
                  <c:v>1</c:v>
                </c:pt>
                <c:pt idx="6">
                  <c:v>0.98</c:v>
                </c:pt>
                <c:pt idx="7">
                  <c:v>0.94</c:v>
                </c:pt>
                <c:pt idx="8">
                  <c:v>0.97</c:v>
                </c:pt>
                <c:pt idx="9">
                  <c:v>0.98</c:v>
                </c:pt>
              </c:numCache>
            </c:numRef>
          </c:val>
          <c:smooth val="0"/>
          <c:extLst>
            <c:ext xmlns:c16="http://schemas.microsoft.com/office/drawing/2014/chart" uri="{C3380CC4-5D6E-409C-BE32-E72D297353CC}">
              <c16:uniqueId val="{00000000-DD40-49E8-A82B-001769EBA07C}"/>
            </c:ext>
          </c:extLst>
        </c:ser>
        <c:ser>
          <c:idx val="1"/>
          <c:order val="1"/>
          <c:tx>
            <c:strRef>
              <c:f>Sheet1!$CB$146</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Sheet1!$BZ$147:$BZ$156</c:f>
              <c:strCache>
                <c:ptCount val="10"/>
                <c:pt idx="0">
                  <c:v>RB</c:v>
                </c:pt>
                <c:pt idx="1">
                  <c:v>GT</c:v>
                </c:pt>
                <c:pt idx="2">
                  <c:v>WW</c:v>
                </c:pt>
                <c:pt idx="3">
                  <c:v>EF</c:v>
                </c:pt>
                <c:pt idx="4">
                  <c:v>CB</c:v>
                </c:pt>
                <c:pt idx="5">
                  <c:v>CR</c:v>
                </c:pt>
                <c:pt idx="6">
                  <c:v>GW</c:v>
                </c:pt>
                <c:pt idx="7">
                  <c:v>BJ</c:v>
                </c:pt>
                <c:pt idx="8">
                  <c:v>CS</c:v>
                </c:pt>
                <c:pt idx="9">
                  <c:v>WD</c:v>
                </c:pt>
              </c:strCache>
            </c:strRef>
          </c:cat>
          <c:val>
            <c:numRef>
              <c:f>Sheet1!$CB$147:$CB$156</c:f>
              <c:numCache>
                <c:formatCode>General</c:formatCode>
                <c:ptCount val="10"/>
                <c:pt idx="0">
                  <c:v>0.96</c:v>
                </c:pt>
                <c:pt idx="1">
                  <c:v>0.99</c:v>
                </c:pt>
                <c:pt idx="2">
                  <c:v>0.71</c:v>
                </c:pt>
                <c:pt idx="3">
                  <c:v>0.84</c:v>
                </c:pt>
                <c:pt idx="4">
                  <c:v>0.94</c:v>
                </c:pt>
                <c:pt idx="5">
                  <c:v>1</c:v>
                </c:pt>
                <c:pt idx="6">
                  <c:v>0.98</c:v>
                </c:pt>
                <c:pt idx="7">
                  <c:v>0.96</c:v>
                </c:pt>
                <c:pt idx="8">
                  <c:v>1</c:v>
                </c:pt>
                <c:pt idx="9">
                  <c:v>0.98</c:v>
                </c:pt>
              </c:numCache>
            </c:numRef>
          </c:val>
          <c:smooth val="0"/>
          <c:extLst>
            <c:ext xmlns:c16="http://schemas.microsoft.com/office/drawing/2014/chart" uri="{C3380CC4-5D6E-409C-BE32-E72D297353CC}">
              <c16:uniqueId val="{00000001-DD40-49E8-A82B-001769EBA07C}"/>
            </c:ext>
          </c:extLst>
        </c:ser>
        <c:ser>
          <c:idx val="2"/>
          <c:order val="2"/>
          <c:tx>
            <c:strRef>
              <c:f>Sheet1!$CC$146</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Sheet1!$BZ$147:$BZ$156</c:f>
              <c:strCache>
                <c:ptCount val="10"/>
                <c:pt idx="0">
                  <c:v>RB</c:v>
                </c:pt>
                <c:pt idx="1">
                  <c:v>GT</c:v>
                </c:pt>
                <c:pt idx="2">
                  <c:v>WW</c:v>
                </c:pt>
                <c:pt idx="3">
                  <c:v>EF</c:v>
                </c:pt>
                <c:pt idx="4">
                  <c:v>CB</c:v>
                </c:pt>
                <c:pt idx="5">
                  <c:v>CR</c:v>
                </c:pt>
                <c:pt idx="6">
                  <c:v>GW</c:v>
                </c:pt>
                <c:pt idx="7">
                  <c:v>BJ</c:v>
                </c:pt>
                <c:pt idx="8">
                  <c:v>CS</c:v>
                </c:pt>
                <c:pt idx="9">
                  <c:v>WD</c:v>
                </c:pt>
              </c:strCache>
            </c:strRef>
          </c:cat>
          <c:val>
            <c:numRef>
              <c:f>Sheet1!$CC$147:$CC$156</c:f>
              <c:numCache>
                <c:formatCode>General</c:formatCode>
                <c:ptCount val="10"/>
                <c:pt idx="0">
                  <c:v>0.96</c:v>
                </c:pt>
                <c:pt idx="1">
                  <c:v>0.97</c:v>
                </c:pt>
                <c:pt idx="2">
                  <c:v>0.78</c:v>
                </c:pt>
                <c:pt idx="3">
                  <c:v>0.79</c:v>
                </c:pt>
                <c:pt idx="4">
                  <c:v>0.94</c:v>
                </c:pt>
                <c:pt idx="5">
                  <c:v>1</c:v>
                </c:pt>
                <c:pt idx="6">
                  <c:v>0.98</c:v>
                </c:pt>
                <c:pt idx="7">
                  <c:v>0.95</c:v>
                </c:pt>
                <c:pt idx="8">
                  <c:v>0.99</c:v>
                </c:pt>
                <c:pt idx="9">
                  <c:v>0.98</c:v>
                </c:pt>
              </c:numCache>
            </c:numRef>
          </c:val>
          <c:smooth val="0"/>
          <c:extLst>
            <c:ext xmlns:c16="http://schemas.microsoft.com/office/drawing/2014/chart" uri="{C3380CC4-5D6E-409C-BE32-E72D297353CC}">
              <c16:uniqueId val="{00000002-DD40-49E8-A82B-001769EBA07C}"/>
            </c:ext>
          </c:extLst>
        </c:ser>
        <c:dLbls>
          <c:showLegendKey val="0"/>
          <c:showVal val="0"/>
          <c:showCatName val="0"/>
          <c:showSerName val="0"/>
          <c:showPercent val="0"/>
          <c:showBubbleSize val="0"/>
        </c:dLbls>
        <c:marker val="1"/>
        <c:smooth val="0"/>
        <c:axId val="932528032"/>
        <c:axId val="932520960"/>
      </c:lineChart>
      <c:catAx>
        <c:axId val="932528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20960"/>
        <c:crosses val="autoZero"/>
        <c:auto val="1"/>
        <c:lblAlgn val="ctr"/>
        <c:lblOffset val="100"/>
        <c:noMultiLvlLbl val="0"/>
      </c:catAx>
      <c:valAx>
        <c:axId val="9325209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280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b="0" i="0" baseline="0" dirty="0">
                <a:effectLst/>
              </a:rPr>
              <a:t>Accuracy of GFCC (26) Features </a:t>
            </a:r>
          </a:p>
          <a:p>
            <a:pPr>
              <a:defRPr/>
            </a:pPr>
            <a:r>
              <a:rPr lang="en-IN" sz="1600" b="0" i="0" baseline="0" dirty="0">
                <a:effectLst/>
              </a:rPr>
              <a:t>with KNN Algorithm</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Sheet1!$CD$146</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Sheet1!$BZ$147:$BZ$156</c:f>
              <c:strCache>
                <c:ptCount val="10"/>
                <c:pt idx="0">
                  <c:v>RB</c:v>
                </c:pt>
                <c:pt idx="1">
                  <c:v>GT</c:v>
                </c:pt>
                <c:pt idx="2">
                  <c:v>WW</c:v>
                </c:pt>
                <c:pt idx="3">
                  <c:v>EF</c:v>
                </c:pt>
                <c:pt idx="4">
                  <c:v>CB</c:v>
                </c:pt>
                <c:pt idx="5">
                  <c:v>CR</c:v>
                </c:pt>
                <c:pt idx="6">
                  <c:v>GW</c:v>
                </c:pt>
                <c:pt idx="7">
                  <c:v>BJ</c:v>
                </c:pt>
                <c:pt idx="8">
                  <c:v>CS</c:v>
                </c:pt>
                <c:pt idx="9">
                  <c:v>WD</c:v>
                </c:pt>
              </c:strCache>
            </c:strRef>
          </c:cat>
          <c:val>
            <c:numRef>
              <c:f>Sheet1!$CD$147:$CD$156</c:f>
              <c:numCache>
                <c:formatCode>General</c:formatCode>
                <c:ptCount val="10"/>
                <c:pt idx="0">
                  <c:v>98.71</c:v>
                </c:pt>
                <c:pt idx="1">
                  <c:v>86.3</c:v>
                </c:pt>
                <c:pt idx="2">
                  <c:v>68.040000000000006</c:v>
                </c:pt>
                <c:pt idx="3">
                  <c:v>81.39</c:v>
                </c:pt>
                <c:pt idx="4">
                  <c:v>91.02</c:v>
                </c:pt>
                <c:pt idx="5">
                  <c:v>100</c:v>
                </c:pt>
                <c:pt idx="6">
                  <c:v>95.45</c:v>
                </c:pt>
                <c:pt idx="7">
                  <c:v>100</c:v>
                </c:pt>
                <c:pt idx="8">
                  <c:v>95.83</c:v>
                </c:pt>
                <c:pt idx="9">
                  <c:v>98.07</c:v>
                </c:pt>
              </c:numCache>
            </c:numRef>
          </c:val>
          <c:smooth val="0"/>
          <c:extLst>
            <c:ext xmlns:c16="http://schemas.microsoft.com/office/drawing/2014/chart" uri="{C3380CC4-5D6E-409C-BE32-E72D297353CC}">
              <c16:uniqueId val="{00000000-D6CB-49BD-8B77-018A412705AA}"/>
            </c:ext>
          </c:extLst>
        </c:ser>
        <c:dLbls>
          <c:showLegendKey val="0"/>
          <c:showVal val="0"/>
          <c:showCatName val="0"/>
          <c:showSerName val="0"/>
          <c:showPercent val="0"/>
          <c:showBubbleSize val="0"/>
        </c:dLbls>
        <c:marker val="1"/>
        <c:smooth val="0"/>
        <c:axId val="932575872"/>
        <c:axId val="932570464"/>
      </c:lineChart>
      <c:catAx>
        <c:axId val="9325758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70464"/>
        <c:crosses val="autoZero"/>
        <c:auto val="1"/>
        <c:lblAlgn val="ctr"/>
        <c:lblOffset val="100"/>
        <c:noMultiLvlLbl val="0"/>
      </c:catAx>
      <c:valAx>
        <c:axId val="9325704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758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dirty="0"/>
              <a:t>Analysis</a:t>
            </a:r>
            <a:r>
              <a:rPr lang="en-IN" sz="1600" baseline="0" dirty="0"/>
              <a:t> of GFCC(39) Features </a:t>
            </a:r>
          </a:p>
          <a:p>
            <a:pPr>
              <a:defRPr/>
            </a:pPr>
            <a:r>
              <a:rPr lang="en-IN" sz="1600" baseline="0" dirty="0"/>
              <a:t>with KNN Algorithm</a:t>
            </a:r>
            <a:endParaRPr lang="en-IN" sz="16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Sheet1!$CH$146</c:f>
              <c:strCache>
                <c:ptCount val="1"/>
                <c:pt idx="0">
                  <c:v>precision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Sheet1!$CG$147:$CG$156</c:f>
              <c:strCache>
                <c:ptCount val="10"/>
                <c:pt idx="0">
                  <c:v>RB</c:v>
                </c:pt>
                <c:pt idx="1">
                  <c:v>GT</c:v>
                </c:pt>
                <c:pt idx="2">
                  <c:v>WW</c:v>
                </c:pt>
                <c:pt idx="3">
                  <c:v>EF</c:v>
                </c:pt>
                <c:pt idx="4">
                  <c:v>CB</c:v>
                </c:pt>
                <c:pt idx="5">
                  <c:v>CR</c:v>
                </c:pt>
                <c:pt idx="6">
                  <c:v>GW</c:v>
                </c:pt>
                <c:pt idx="7">
                  <c:v>BJ</c:v>
                </c:pt>
                <c:pt idx="8">
                  <c:v>CS</c:v>
                </c:pt>
                <c:pt idx="9">
                  <c:v>WD</c:v>
                </c:pt>
              </c:strCache>
            </c:strRef>
          </c:cat>
          <c:val>
            <c:numRef>
              <c:f>Sheet1!$CH$147:$CH$156</c:f>
              <c:numCache>
                <c:formatCode>General</c:formatCode>
                <c:ptCount val="10"/>
                <c:pt idx="0">
                  <c:v>0.97</c:v>
                </c:pt>
                <c:pt idx="1">
                  <c:v>0.96</c:v>
                </c:pt>
                <c:pt idx="2">
                  <c:v>0.88</c:v>
                </c:pt>
                <c:pt idx="3">
                  <c:v>0.81</c:v>
                </c:pt>
                <c:pt idx="4">
                  <c:v>0.96</c:v>
                </c:pt>
                <c:pt idx="5">
                  <c:v>0.95</c:v>
                </c:pt>
                <c:pt idx="6">
                  <c:v>1</c:v>
                </c:pt>
                <c:pt idx="7">
                  <c:v>0.99</c:v>
                </c:pt>
                <c:pt idx="8">
                  <c:v>0.96</c:v>
                </c:pt>
                <c:pt idx="9">
                  <c:v>0.98</c:v>
                </c:pt>
              </c:numCache>
            </c:numRef>
          </c:val>
          <c:smooth val="0"/>
          <c:extLst>
            <c:ext xmlns:c16="http://schemas.microsoft.com/office/drawing/2014/chart" uri="{C3380CC4-5D6E-409C-BE32-E72D297353CC}">
              <c16:uniqueId val="{00000000-AD19-4723-8FA6-040FEF7075A4}"/>
            </c:ext>
          </c:extLst>
        </c:ser>
        <c:ser>
          <c:idx val="1"/>
          <c:order val="1"/>
          <c:tx>
            <c:strRef>
              <c:f>Sheet1!$CI$146</c:f>
              <c:strCache>
                <c:ptCount val="1"/>
                <c:pt idx="0">
                  <c:v>recall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Sheet1!$CG$147:$CG$156</c:f>
              <c:strCache>
                <c:ptCount val="10"/>
                <c:pt idx="0">
                  <c:v>RB</c:v>
                </c:pt>
                <c:pt idx="1">
                  <c:v>GT</c:v>
                </c:pt>
                <c:pt idx="2">
                  <c:v>WW</c:v>
                </c:pt>
                <c:pt idx="3">
                  <c:v>EF</c:v>
                </c:pt>
                <c:pt idx="4">
                  <c:v>CB</c:v>
                </c:pt>
                <c:pt idx="5">
                  <c:v>CR</c:v>
                </c:pt>
                <c:pt idx="6">
                  <c:v>GW</c:v>
                </c:pt>
                <c:pt idx="7">
                  <c:v>BJ</c:v>
                </c:pt>
                <c:pt idx="8">
                  <c:v>CS</c:v>
                </c:pt>
                <c:pt idx="9">
                  <c:v>WD</c:v>
                </c:pt>
              </c:strCache>
            </c:strRef>
          </c:cat>
          <c:val>
            <c:numRef>
              <c:f>Sheet1!$CI$147:$CI$156</c:f>
              <c:numCache>
                <c:formatCode>General</c:formatCode>
                <c:ptCount val="10"/>
                <c:pt idx="0">
                  <c:v>0.98</c:v>
                </c:pt>
                <c:pt idx="1">
                  <c:v>0.95</c:v>
                </c:pt>
                <c:pt idx="2">
                  <c:v>0.82</c:v>
                </c:pt>
                <c:pt idx="3">
                  <c:v>0.91</c:v>
                </c:pt>
                <c:pt idx="4">
                  <c:v>0.94</c:v>
                </c:pt>
                <c:pt idx="5">
                  <c:v>0.98</c:v>
                </c:pt>
                <c:pt idx="6">
                  <c:v>0.98</c:v>
                </c:pt>
                <c:pt idx="7">
                  <c:v>0.91</c:v>
                </c:pt>
                <c:pt idx="8">
                  <c:v>1</c:v>
                </c:pt>
                <c:pt idx="9">
                  <c:v>0.94</c:v>
                </c:pt>
              </c:numCache>
            </c:numRef>
          </c:val>
          <c:smooth val="0"/>
          <c:extLst>
            <c:ext xmlns:c16="http://schemas.microsoft.com/office/drawing/2014/chart" uri="{C3380CC4-5D6E-409C-BE32-E72D297353CC}">
              <c16:uniqueId val="{00000001-AD19-4723-8FA6-040FEF7075A4}"/>
            </c:ext>
          </c:extLst>
        </c:ser>
        <c:ser>
          <c:idx val="2"/>
          <c:order val="2"/>
          <c:tx>
            <c:strRef>
              <c:f>Sheet1!$CJ$146</c:f>
              <c:strCache>
                <c:ptCount val="1"/>
                <c:pt idx="0">
                  <c:v>f1 score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Sheet1!$CG$147:$CG$156</c:f>
              <c:strCache>
                <c:ptCount val="10"/>
                <c:pt idx="0">
                  <c:v>RB</c:v>
                </c:pt>
                <c:pt idx="1">
                  <c:v>GT</c:v>
                </c:pt>
                <c:pt idx="2">
                  <c:v>WW</c:v>
                </c:pt>
                <c:pt idx="3">
                  <c:v>EF</c:v>
                </c:pt>
                <c:pt idx="4">
                  <c:v>CB</c:v>
                </c:pt>
                <c:pt idx="5">
                  <c:v>CR</c:v>
                </c:pt>
                <c:pt idx="6">
                  <c:v>GW</c:v>
                </c:pt>
                <c:pt idx="7">
                  <c:v>BJ</c:v>
                </c:pt>
                <c:pt idx="8">
                  <c:v>CS</c:v>
                </c:pt>
                <c:pt idx="9">
                  <c:v>WD</c:v>
                </c:pt>
              </c:strCache>
            </c:strRef>
          </c:cat>
          <c:val>
            <c:numRef>
              <c:f>Sheet1!$CJ$147:$CJ$156</c:f>
              <c:numCache>
                <c:formatCode>General</c:formatCode>
                <c:ptCount val="10"/>
                <c:pt idx="0">
                  <c:v>0.98</c:v>
                </c:pt>
                <c:pt idx="1">
                  <c:v>0.95</c:v>
                </c:pt>
                <c:pt idx="2">
                  <c:v>0.85</c:v>
                </c:pt>
                <c:pt idx="3">
                  <c:v>0.86</c:v>
                </c:pt>
                <c:pt idx="4">
                  <c:v>0.95</c:v>
                </c:pt>
                <c:pt idx="5">
                  <c:v>0.97</c:v>
                </c:pt>
                <c:pt idx="6">
                  <c:v>0.99</c:v>
                </c:pt>
                <c:pt idx="7">
                  <c:v>0.95</c:v>
                </c:pt>
                <c:pt idx="8">
                  <c:v>0.98</c:v>
                </c:pt>
                <c:pt idx="9">
                  <c:v>0.96</c:v>
                </c:pt>
              </c:numCache>
            </c:numRef>
          </c:val>
          <c:smooth val="0"/>
          <c:extLst>
            <c:ext xmlns:c16="http://schemas.microsoft.com/office/drawing/2014/chart" uri="{C3380CC4-5D6E-409C-BE32-E72D297353CC}">
              <c16:uniqueId val="{00000002-AD19-4723-8FA6-040FEF7075A4}"/>
            </c:ext>
          </c:extLst>
        </c:ser>
        <c:dLbls>
          <c:showLegendKey val="0"/>
          <c:showVal val="0"/>
          <c:showCatName val="0"/>
          <c:showSerName val="0"/>
          <c:showPercent val="0"/>
          <c:showBubbleSize val="0"/>
        </c:dLbls>
        <c:marker val="1"/>
        <c:smooth val="0"/>
        <c:axId val="108426960"/>
        <c:axId val="108427376"/>
      </c:lineChart>
      <c:catAx>
        <c:axId val="108426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427376"/>
        <c:crosses val="autoZero"/>
        <c:auto val="1"/>
        <c:lblAlgn val="ctr"/>
        <c:lblOffset val="100"/>
        <c:noMultiLvlLbl val="0"/>
      </c:catAx>
      <c:valAx>
        <c:axId val="1084273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4269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600" b="0" i="0" baseline="0" dirty="0">
                <a:effectLst/>
              </a:rPr>
              <a:t>Accuracy of GFCC (39) Features </a:t>
            </a:r>
          </a:p>
          <a:p>
            <a:pPr>
              <a:defRPr/>
            </a:pPr>
            <a:r>
              <a:rPr lang="en-IN" sz="1600" b="0" i="0" baseline="0" dirty="0">
                <a:effectLst/>
              </a:rPr>
              <a:t>with KNN Algorithm</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Sheet1!$CK$146</c:f>
              <c:strCache>
                <c:ptCount val="1"/>
                <c:pt idx="0">
                  <c:v>Accuracy</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Sheet1!$CG$147:$CG$156</c:f>
              <c:strCache>
                <c:ptCount val="10"/>
                <c:pt idx="0">
                  <c:v>RB</c:v>
                </c:pt>
                <c:pt idx="1">
                  <c:v>GT</c:v>
                </c:pt>
                <c:pt idx="2">
                  <c:v>WW</c:v>
                </c:pt>
                <c:pt idx="3">
                  <c:v>EF</c:v>
                </c:pt>
                <c:pt idx="4">
                  <c:v>CB</c:v>
                </c:pt>
                <c:pt idx="5">
                  <c:v>CR</c:v>
                </c:pt>
                <c:pt idx="6">
                  <c:v>GW</c:v>
                </c:pt>
                <c:pt idx="7">
                  <c:v>BJ</c:v>
                </c:pt>
                <c:pt idx="8">
                  <c:v>CS</c:v>
                </c:pt>
                <c:pt idx="9">
                  <c:v>WD</c:v>
                </c:pt>
              </c:strCache>
            </c:strRef>
          </c:cat>
          <c:val>
            <c:numRef>
              <c:f>Sheet1!$CK$147:$CK$156</c:f>
              <c:numCache>
                <c:formatCode>General</c:formatCode>
                <c:ptCount val="10"/>
                <c:pt idx="0">
                  <c:v>98.46</c:v>
                </c:pt>
                <c:pt idx="1">
                  <c:v>94.67</c:v>
                </c:pt>
                <c:pt idx="2">
                  <c:v>81.81</c:v>
                </c:pt>
                <c:pt idx="3">
                  <c:v>91.01</c:v>
                </c:pt>
                <c:pt idx="4">
                  <c:v>93.9</c:v>
                </c:pt>
                <c:pt idx="5">
                  <c:v>98.36</c:v>
                </c:pt>
                <c:pt idx="6">
                  <c:v>98.24</c:v>
                </c:pt>
                <c:pt idx="7">
                  <c:v>91.02</c:v>
                </c:pt>
                <c:pt idx="8">
                  <c:v>100</c:v>
                </c:pt>
                <c:pt idx="9">
                  <c:v>93.87</c:v>
                </c:pt>
              </c:numCache>
            </c:numRef>
          </c:val>
          <c:smooth val="0"/>
          <c:extLst>
            <c:ext xmlns:c16="http://schemas.microsoft.com/office/drawing/2014/chart" uri="{C3380CC4-5D6E-409C-BE32-E72D297353CC}">
              <c16:uniqueId val="{00000000-10BE-43DA-9E32-92C1D1B810C3}"/>
            </c:ext>
          </c:extLst>
        </c:ser>
        <c:dLbls>
          <c:showLegendKey val="0"/>
          <c:showVal val="0"/>
          <c:showCatName val="0"/>
          <c:showSerName val="0"/>
          <c:showPercent val="0"/>
          <c:showBubbleSize val="0"/>
        </c:dLbls>
        <c:marker val="1"/>
        <c:smooth val="0"/>
        <c:axId val="932559648"/>
        <c:axId val="932556320"/>
      </c:lineChart>
      <c:catAx>
        <c:axId val="9325596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56320"/>
        <c:crosses val="autoZero"/>
        <c:auto val="1"/>
        <c:lblAlgn val="ctr"/>
        <c:lblOffset val="100"/>
        <c:noMultiLvlLbl val="0"/>
      </c:catAx>
      <c:valAx>
        <c:axId val="9325563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5596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847D0D0-D484-4724-BE36-739307BBF20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Real-time implementation of license plate detection</a:t>
            </a:r>
          </a:p>
        </p:txBody>
      </p:sp>
      <p:sp>
        <p:nvSpPr>
          <p:cNvPr id="3" name="Date Placeholder 2">
            <a:extLst>
              <a:ext uri="{FF2B5EF4-FFF2-40B4-BE49-F238E27FC236}">
                <a16:creationId xmlns:a16="http://schemas.microsoft.com/office/drawing/2014/main" id="{BA2B3863-36AB-4B69-9BA3-DA28416691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6E2B6CB-C9C6-4AC3-8E5B-3EB249534750}" type="datetimeFigureOut">
              <a:rPr lang="en-IN" smtClean="0"/>
              <a:pPr/>
              <a:t>26-07-2021</a:t>
            </a:fld>
            <a:endParaRPr lang="en-IN"/>
          </a:p>
        </p:txBody>
      </p:sp>
      <p:sp>
        <p:nvSpPr>
          <p:cNvPr id="4" name="Footer Placeholder 3">
            <a:extLst>
              <a:ext uri="{FF2B5EF4-FFF2-40B4-BE49-F238E27FC236}">
                <a16:creationId xmlns:a16="http://schemas.microsoft.com/office/drawing/2014/main" id="{2CDE0E8F-3616-4948-841E-0C1AC5D8F02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9BD40AA-35A5-4902-9DE1-2291E166E2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F142CC-9503-44AC-A024-FA85ECCC82DB}" type="slidenum">
              <a:rPr lang="en-IN" smtClean="0"/>
              <a:pPr/>
              <a:t>‹#›</a:t>
            </a:fld>
            <a:endParaRPr lang="en-IN"/>
          </a:p>
        </p:txBody>
      </p:sp>
    </p:spTree>
    <p:extLst>
      <p:ext uri="{BB962C8B-B14F-4D97-AF65-F5344CB8AC3E}">
        <p14:creationId xmlns:p14="http://schemas.microsoft.com/office/powerpoint/2010/main" val="1971890681"/>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Real-time implementation of license plate detection</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8BEBAA-934E-486A-9594-BB147B442B6A}" type="datetimeFigureOut">
              <a:rPr lang="en-IN" smtClean="0"/>
              <a:pPr/>
              <a:t>26-07-2021</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BBBF36-4E1A-4DC6-B7BD-4D40C9FB78E5}" type="slidenum">
              <a:rPr lang="en-IN" smtClean="0"/>
              <a:pPr/>
              <a:t>‹#›</a:t>
            </a:fld>
            <a:endParaRPr lang="en-IN"/>
          </a:p>
        </p:txBody>
      </p:sp>
    </p:spTree>
    <p:extLst>
      <p:ext uri="{BB962C8B-B14F-4D97-AF65-F5344CB8AC3E}">
        <p14:creationId xmlns:p14="http://schemas.microsoft.com/office/powerpoint/2010/main" val="3734966165"/>
      </p:ext>
    </p:extLst>
  </p:cSld>
  <p:clrMap bg1="lt1" tx1="dk1" bg2="lt2" tx2="dk2" accent1="accent1" accent2="accent2" accent3="accent3" accent4="accent4" accent5="accent5" accent6="accent6" hlink="hlink" folHlink="folHlink"/>
  <p:hf sldNum="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
            <a:ext cx="7772400" cy="1066800"/>
          </a:xfrm>
          <a:prstGeom prst="rect">
            <a:avLst/>
          </a:prstGeom>
        </p:spPr>
        <p:txBody>
          <a:bodyPr/>
          <a:lstStyle>
            <a:lvl1pPr>
              <a:defRPr sz="3200">
                <a:solidFill>
                  <a:srgbClr val="002060"/>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1447800"/>
            <a:ext cx="7696200" cy="3657600"/>
          </a:xfrm>
          <a:prstGeom prst="rect">
            <a:avLst/>
          </a:prstGeom>
        </p:spPr>
        <p:txBody>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543800" y="5966618"/>
            <a:ext cx="1600200" cy="365125"/>
          </a:xfrm>
          <a:prstGeom prst="rect">
            <a:avLst/>
          </a:prstGeom>
        </p:spPr>
        <p:txBody>
          <a:bodyPr/>
          <a:lstStyle/>
          <a:p>
            <a:fld id="{6D93AA84-9319-464B-AA22-02F373B95630}" type="datetime1">
              <a:rPr lang="en-US" smtClean="0"/>
              <a:pPr/>
              <a:t>7/26/2021</a:t>
            </a:fld>
            <a:endParaRPr lang="en-US"/>
          </a:p>
        </p:txBody>
      </p:sp>
      <p:sp>
        <p:nvSpPr>
          <p:cNvPr id="5" name="Footer Placeholder 4"/>
          <p:cNvSpPr>
            <a:spLocks noGrp="1"/>
          </p:cNvSpPr>
          <p:nvPr>
            <p:ph type="ftr" sz="quarter" idx="11"/>
          </p:nvPr>
        </p:nvSpPr>
        <p:spPr/>
        <p:txBody>
          <a:bodyPr/>
          <a:lstStyle/>
          <a:p>
            <a:r>
              <a:rPr lang="en-US" dirty="0"/>
              <a:t>College of Engineering, Pune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28709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381000" y="937420"/>
            <a:ext cx="8229600" cy="4525963"/>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966618"/>
            <a:ext cx="2133600" cy="365125"/>
          </a:xfrm>
          <a:prstGeom prst="rect">
            <a:avLst/>
          </a:prstGeom>
        </p:spPr>
        <p:txBody>
          <a:bodyPr/>
          <a:lstStyle/>
          <a:p>
            <a:fld id="{4ADEF49E-FE29-4424-8721-6199021D9F80}" type="datetime1">
              <a:rPr lang="en-US" smtClean="0"/>
              <a:pPr/>
              <a:t>7/26/2021</a:t>
            </a:fld>
            <a:endParaRPr lang="en-US"/>
          </a:p>
        </p:txBody>
      </p:sp>
      <p:sp>
        <p:nvSpPr>
          <p:cNvPr id="5" name="Footer Placeholder 4"/>
          <p:cNvSpPr>
            <a:spLocks noGrp="1"/>
          </p:cNvSpPr>
          <p:nvPr>
            <p:ph type="ftr" sz="quarter" idx="11"/>
          </p:nvPr>
        </p:nvSpPr>
        <p:spPr/>
        <p:txBody>
          <a:bodyPr/>
          <a:lstStyle/>
          <a:p>
            <a:r>
              <a:rPr lang="en-US" dirty="0"/>
              <a:t>College of Engineering, Pune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15489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457200" y="5966618"/>
            <a:ext cx="2133600" cy="365125"/>
          </a:xfrm>
          <a:prstGeom prst="rect">
            <a:avLst/>
          </a:prstGeom>
        </p:spPr>
        <p:txBody>
          <a:bodyPr/>
          <a:lstStyle/>
          <a:p>
            <a:fld id="{0C4EACC8-6943-4775-9AE4-4D59007582F6}" type="datetime1">
              <a:rPr lang="en-US" smtClean="0"/>
              <a:pPr/>
              <a:t>7/26/2021</a:t>
            </a:fld>
            <a:endParaRPr lang="en-US"/>
          </a:p>
        </p:txBody>
      </p:sp>
      <p:sp>
        <p:nvSpPr>
          <p:cNvPr id="5" name="Footer Placeholder 4"/>
          <p:cNvSpPr>
            <a:spLocks noGrp="1"/>
          </p:cNvSpPr>
          <p:nvPr>
            <p:ph type="ftr" sz="quarter" idx="11"/>
          </p:nvPr>
        </p:nvSpPr>
        <p:spPr/>
        <p:txBody>
          <a:bodyPr/>
          <a:lstStyle/>
          <a:p>
            <a:r>
              <a:rPr lang="en-US" dirty="0"/>
              <a:t>College of Engineering, Pune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65773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5966618"/>
            <a:ext cx="2133600" cy="365125"/>
          </a:xfrm>
          <a:prstGeom prst="rect">
            <a:avLst/>
          </a:prstGeom>
        </p:spPr>
        <p:txBody>
          <a:bodyPr/>
          <a:lstStyle/>
          <a:p>
            <a:fld id="{0D580DDD-25AF-405A-8EAC-8DB4B2C7DCDB}" type="datetime1">
              <a:rPr lang="en-US" smtClean="0"/>
              <a:pPr/>
              <a:t>7/26/2021</a:t>
            </a:fld>
            <a:endParaRPr lang="en-US"/>
          </a:p>
        </p:txBody>
      </p:sp>
      <p:sp>
        <p:nvSpPr>
          <p:cNvPr id="6" name="Footer Placeholder 5"/>
          <p:cNvSpPr>
            <a:spLocks noGrp="1"/>
          </p:cNvSpPr>
          <p:nvPr>
            <p:ph type="ftr" sz="quarter" idx="11"/>
          </p:nvPr>
        </p:nvSpPr>
        <p:spPr/>
        <p:txBody>
          <a:bodyPr/>
          <a:lstStyle/>
          <a:p>
            <a:r>
              <a:rPr lang="en-US" dirty="0"/>
              <a:t>College of Engineering, Pune</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89107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5966618"/>
            <a:ext cx="2133600" cy="365125"/>
          </a:xfrm>
          <a:prstGeom prst="rect">
            <a:avLst/>
          </a:prstGeom>
        </p:spPr>
        <p:txBody>
          <a:bodyPr/>
          <a:lstStyle/>
          <a:p>
            <a:fld id="{4D1BE079-94DF-46C9-92B6-55191DF8630A}" type="datetime1">
              <a:rPr lang="en-US" smtClean="0"/>
              <a:pPr/>
              <a:t>7/26/2021</a:t>
            </a:fld>
            <a:endParaRPr lang="en-US"/>
          </a:p>
        </p:txBody>
      </p:sp>
      <p:sp>
        <p:nvSpPr>
          <p:cNvPr id="8" name="Footer Placeholder 7"/>
          <p:cNvSpPr>
            <a:spLocks noGrp="1"/>
          </p:cNvSpPr>
          <p:nvPr>
            <p:ph type="ftr" sz="quarter" idx="11"/>
          </p:nvPr>
        </p:nvSpPr>
        <p:spPr/>
        <p:txBody>
          <a:bodyPr/>
          <a:lstStyle/>
          <a:p>
            <a:r>
              <a:rPr lang="en-US" dirty="0"/>
              <a:t>College of Engineering, Pune</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46351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457200" y="5966618"/>
            <a:ext cx="2133600" cy="365125"/>
          </a:xfrm>
          <a:prstGeom prst="rect">
            <a:avLst/>
          </a:prstGeom>
        </p:spPr>
        <p:txBody>
          <a:bodyPr/>
          <a:lstStyle/>
          <a:p>
            <a:fld id="{FA719674-C1FF-402D-842D-07963C6FC568}" type="datetime1">
              <a:rPr lang="en-US" smtClean="0"/>
              <a:pPr/>
              <a:t>7/26/2021</a:t>
            </a:fld>
            <a:endParaRPr lang="en-US"/>
          </a:p>
        </p:txBody>
      </p:sp>
      <p:sp>
        <p:nvSpPr>
          <p:cNvPr id="4" name="Footer Placeholder 3"/>
          <p:cNvSpPr>
            <a:spLocks noGrp="1"/>
          </p:cNvSpPr>
          <p:nvPr>
            <p:ph type="ftr" sz="quarter" idx="11"/>
          </p:nvPr>
        </p:nvSpPr>
        <p:spPr/>
        <p:txBody>
          <a:bodyPr/>
          <a:lstStyle/>
          <a:p>
            <a:r>
              <a:rPr lang="en-US" dirty="0"/>
              <a:t>College of Engineering, Pune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99892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5966618"/>
            <a:ext cx="2133600" cy="365125"/>
          </a:xfrm>
          <a:prstGeom prst="rect">
            <a:avLst/>
          </a:prstGeom>
        </p:spPr>
        <p:txBody>
          <a:bodyPr/>
          <a:lstStyle/>
          <a:p>
            <a:fld id="{C45329E8-9EB4-4B6B-BB94-5809950391F9}" type="datetime1">
              <a:rPr lang="en-US" smtClean="0"/>
              <a:pPr/>
              <a:t>7/26/2021</a:t>
            </a:fld>
            <a:endParaRPr lang="en-US"/>
          </a:p>
        </p:txBody>
      </p:sp>
      <p:sp>
        <p:nvSpPr>
          <p:cNvPr id="3" name="Footer Placeholder 2"/>
          <p:cNvSpPr>
            <a:spLocks noGrp="1"/>
          </p:cNvSpPr>
          <p:nvPr>
            <p:ph type="ftr" sz="quarter" idx="11"/>
          </p:nvPr>
        </p:nvSpPr>
        <p:spPr/>
        <p:txBody>
          <a:bodyPr/>
          <a:lstStyle/>
          <a:p>
            <a:r>
              <a:rPr lang="en-US" dirty="0"/>
              <a:t>College of Engineering, Pune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27146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57200" y="5966618"/>
            <a:ext cx="2133600" cy="365125"/>
          </a:xfrm>
          <a:prstGeom prst="rect">
            <a:avLst/>
          </a:prstGeom>
        </p:spPr>
        <p:txBody>
          <a:bodyPr/>
          <a:lstStyle/>
          <a:p>
            <a:fld id="{E743B833-5201-4BDC-B240-B8CC4149DE24}" type="datetime1">
              <a:rPr lang="en-US" smtClean="0"/>
              <a:pPr/>
              <a:t>7/26/2021</a:t>
            </a:fld>
            <a:endParaRPr lang="en-US"/>
          </a:p>
        </p:txBody>
      </p:sp>
      <p:sp>
        <p:nvSpPr>
          <p:cNvPr id="6" name="Footer Placeholder 5"/>
          <p:cNvSpPr>
            <a:spLocks noGrp="1"/>
          </p:cNvSpPr>
          <p:nvPr>
            <p:ph type="ftr" sz="quarter" idx="11"/>
          </p:nvPr>
        </p:nvSpPr>
        <p:spPr/>
        <p:txBody>
          <a:bodyPr/>
          <a:lstStyle/>
          <a:p>
            <a:r>
              <a:rPr lang="en-US" dirty="0"/>
              <a:t>College of Engineering, Pune</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97079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57200" y="5966618"/>
            <a:ext cx="2133600" cy="365125"/>
          </a:xfrm>
          <a:prstGeom prst="rect">
            <a:avLst/>
          </a:prstGeom>
        </p:spPr>
        <p:txBody>
          <a:bodyPr/>
          <a:lstStyle/>
          <a:p>
            <a:fld id="{F7AE3FB2-CCB1-4C44-96C6-AE51E4DEAE14}" type="datetime1">
              <a:rPr lang="en-US" smtClean="0"/>
              <a:pPr/>
              <a:t>7/26/2021</a:t>
            </a:fld>
            <a:endParaRPr lang="en-US"/>
          </a:p>
        </p:txBody>
      </p:sp>
      <p:sp>
        <p:nvSpPr>
          <p:cNvPr id="6" name="Footer Placeholder 5"/>
          <p:cNvSpPr>
            <a:spLocks noGrp="1"/>
          </p:cNvSpPr>
          <p:nvPr>
            <p:ph type="ftr" sz="quarter" idx="11"/>
          </p:nvPr>
        </p:nvSpPr>
        <p:spPr/>
        <p:txBody>
          <a:bodyPr/>
          <a:lstStyle/>
          <a:p>
            <a:r>
              <a:rPr lang="en-US" dirty="0"/>
              <a:t>College of Engineering, Pune</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34939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381000" y="937420"/>
            <a:ext cx="8229600" cy="4525963"/>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966618"/>
            <a:ext cx="2133600" cy="365125"/>
          </a:xfrm>
          <a:prstGeom prst="rect">
            <a:avLst/>
          </a:prstGeom>
        </p:spPr>
        <p:txBody>
          <a:bodyPr/>
          <a:lstStyle/>
          <a:p>
            <a:fld id="{DD570CA1-50E7-4E6D-8A83-13593C3055B5}" type="datetime1">
              <a:rPr lang="en-US" smtClean="0"/>
              <a:pPr/>
              <a:t>7/26/2021</a:t>
            </a:fld>
            <a:endParaRPr lang="en-US"/>
          </a:p>
        </p:txBody>
      </p:sp>
      <p:sp>
        <p:nvSpPr>
          <p:cNvPr id="5" name="Footer Placeholder 4"/>
          <p:cNvSpPr>
            <a:spLocks noGrp="1"/>
          </p:cNvSpPr>
          <p:nvPr>
            <p:ph type="ftr" sz="quarter" idx="11"/>
          </p:nvPr>
        </p:nvSpPr>
        <p:spPr/>
        <p:txBody>
          <a:bodyPr/>
          <a:lstStyle/>
          <a:p>
            <a:r>
              <a:rPr lang="en-US" dirty="0"/>
              <a:t>College of Engineering, Pune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5282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966618"/>
            <a:ext cx="2133600" cy="365125"/>
          </a:xfrm>
          <a:prstGeom prst="rect">
            <a:avLst/>
          </a:prstGeom>
        </p:spPr>
        <p:txBody>
          <a:bodyPr/>
          <a:lstStyle/>
          <a:p>
            <a:fld id="{4DC1B1DA-45D5-4127-A12A-D84C5D571711}" type="datetime1">
              <a:rPr lang="en-US" smtClean="0"/>
              <a:pPr/>
              <a:t>7/26/2021</a:t>
            </a:fld>
            <a:endParaRPr lang="en-US"/>
          </a:p>
        </p:txBody>
      </p:sp>
      <p:sp>
        <p:nvSpPr>
          <p:cNvPr id="5" name="Footer Placeholder 4"/>
          <p:cNvSpPr>
            <a:spLocks noGrp="1"/>
          </p:cNvSpPr>
          <p:nvPr>
            <p:ph type="ftr" sz="quarter" idx="11"/>
          </p:nvPr>
        </p:nvSpPr>
        <p:spPr/>
        <p:txBody>
          <a:bodyPr/>
          <a:lstStyle/>
          <a:p>
            <a:r>
              <a:rPr lang="en-US" dirty="0"/>
              <a:t>College of Engineering, Pune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31723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1134BFE-254D-42C4-908F-6B817ECCE8CE}"/>
              </a:ext>
            </a:extLst>
          </p:cNvPr>
          <p:cNvSpPr>
            <a:spLocks noGrp="1"/>
          </p:cNvSpPr>
          <p:nvPr>
            <p:ph type="ftr" sz="quarter" idx="10"/>
          </p:nvPr>
        </p:nvSpPr>
        <p:spPr/>
        <p:txBody>
          <a:bodyPr/>
          <a:lstStyle/>
          <a:p>
            <a:r>
              <a:rPr lang="en-US" dirty="0"/>
              <a:t>College of Engineering, Pune</a:t>
            </a:r>
          </a:p>
        </p:txBody>
      </p:sp>
      <p:sp>
        <p:nvSpPr>
          <p:cNvPr id="4" name="Slide Number Placeholder 3">
            <a:extLst>
              <a:ext uri="{FF2B5EF4-FFF2-40B4-BE49-F238E27FC236}">
                <a16:creationId xmlns:a16="http://schemas.microsoft.com/office/drawing/2014/main" id="{C751E563-884B-479C-B313-21E1721739DA}"/>
              </a:ext>
            </a:extLst>
          </p:cNvPr>
          <p:cNvSpPr>
            <a:spLocks noGrp="1"/>
          </p:cNvSpPr>
          <p:nvPr>
            <p:ph type="sldNum" sz="quarter" idx="11"/>
          </p:nvPr>
        </p:nvSpPr>
        <p:spPr/>
        <p:txBody>
          <a:bodyPr/>
          <a:lstStyle/>
          <a:p>
            <a:fld id="{B6F15528-21DE-4FAA-801E-634DDDAF4B2B}" type="slidenum">
              <a:rPr lang="en-US" smtClean="0"/>
              <a:pPr/>
              <a:t>‹#›</a:t>
            </a:fld>
            <a:endParaRPr lang="en-US"/>
          </a:p>
        </p:txBody>
      </p:sp>
      <p:sp>
        <p:nvSpPr>
          <p:cNvPr id="5" name="Title 4">
            <a:extLst>
              <a:ext uri="{FF2B5EF4-FFF2-40B4-BE49-F238E27FC236}">
                <a16:creationId xmlns:a16="http://schemas.microsoft.com/office/drawing/2014/main" id="{890F37AA-1108-42EE-B202-8184C8EFCD73}"/>
              </a:ext>
            </a:extLst>
          </p:cNvPr>
          <p:cNvSpPr>
            <a:spLocks noGrp="1"/>
          </p:cNvSpPr>
          <p:nvPr>
            <p:ph type="title" hasCustomPrompt="1"/>
          </p:nvPr>
        </p:nvSpPr>
        <p:spPr>
          <a:xfrm>
            <a:off x="628650" y="365125"/>
            <a:ext cx="7886700" cy="320675"/>
          </a:xfrm>
          <a:prstGeom prst="rect">
            <a:avLst/>
          </a:prstGeom>
        </p:spPr>
        <p:txBody>
          <a:bodyPr/>
          <a:lstStyle>
            <a:lvl1pPr>
              <a:defRPr sz="1200"/>
            </a:lvl1pPr>
          </a:lstStyle>
          <a:p>
            <a:r>
              <a:rPr lang="en-IN" dirty="0"/>
              <a:t>REAL TIME IMPLEMENTATION OF LICENSE PLATE RECOGNITION</a:t>
            </a:r>
          </a:p>
        </p:txBody>
      </p:sp>
    </p:spTree>
    <p:extLst>
      <p:ext uri="{BB962C8B-B14F-4D97-AF65-F5344CB8AC3E}">
        <p14:creationId xmlns:p14="http://schemas.microsoft.com/office/powerpoint/2010/main" val="3963488273"/>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CF0C5-C841-4962-BC4E-71BBBDB671EE}"/>
              </a:ext>
            </a:extLst>
          </p:cNvPr>
          <p:cNvSpPr>
            <a:spLocks noGrp="1"/>
          </p:cNvSpPr>
          <p:nvPr>
            <p:ph type="title" hasCustomPrompt="1"/>
          </p:nvPr>
        </p:nvSpPr>
        <p:spPr>
          <a:xfrm>
            <a:off x="685800" y="76200"/>
            <a:ext cx="7886700" cy="320675"/>
          </a:xfrm>
          <a:prstGeom prst="rect">
            <a:avLst/>
          </a:prstGeom>
        </p:spPr>
        <p:txBody>
          <a:bodyPr/>
          <a:lstStyle>
            <a:lvl1pPr>
              <a:defRPr sz="1400"/>
            </a:lvl1pPr>
          </a:lstStyle>
          <a:p>
            <a:r>
              <a:rPr lang="en-IN" dirty="0"/>
              <a:t>REAL TIME IMPLEMENTATION OF LICENSE PLATE RECOGNITION</a:t>
            </a:r>
          </a:p>
        </p:txBody>
      </p:sp>
      <p:sp>
        <p:nvSpPr>
          <p:cNvPr id="3" name="Footer Placeholder 2">
            <a:extLst>
              <a:ext uri="{FF2B5EF4-FFF2-40B4-BE49-F238E27FC236}">
                <a16:creationId xmlns:a16="http://schemas.microsoft.com/office/drawing/2014/main" id="{1B203EF4-E6AF-4208-BE0B-4175E5D343DC}"/>
              </a:ext>
            </a:extLst>
          </p:cNvPr>
          <p:cNvSpPr>
            <a:spLocks noGrp="1"/>
          </p:cNvSpPr>
          <p:nvPr>
            <p:ph type="ftr" sz="quarter" idx="10"/>
          </p:nvPr>
        </p:nvSpPr>
        <p:spPr/>
        <p:txBody>
          <a:bodyPr/>
          <a:lstStyle/>
          <a:p>
            <a:r>
              <a:rPr lang="en-US" dirty="0"/>
              <a:t>College of Engineering, Pune</a:t>
            </a:r>
          </a:p>
        </p:txBody>
      </p:sp>
      <p:sp>
        <p:nvSpPr>
          <p:cNvPr id="4" name="Slide Number Placeholder 3">
            <a:extLst>
              <a:ext uri="{FF2B5EF4-FFF2-40B4-BE49-F238E27FC236}">
                <a16:creationId xmlns:a16="http://schemas.microsoft.com/office/drawing/2014/main" id="{B309D812-BB7E-41E0-B915-DF392748A223}"/>
              </a:ext>
            </a:extLst>
          </p:cNvPr>
          <p:cNvSpPr>
            <a:spLocks noGrp="1"/>
          </p:cNvSpPr>
          <p:nvPr>
            <p:ph type="sldNum" sz="quarter" idx="11"/>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34970925"/>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2209800" y="5964543"/>
            <a:ext cx="4800600" cy="365125"/>
          </a:xfrm>
          <a:prstGeom prst="rect">
            <a:avLst/>
          </a:prstGeom>
        </p:spPr>
        <p:txBody>
          <a:bodyPr vert="horz" lIns="91440" tIns="45720" rIns="91440" bIns="45720" rtlCol="0" anchor="ctr"/>
          <a:lstStyle>
            <a:lvl1pPr algn="ctr">
              <a:defRPr sz="2400" b="1">
                <a:solidFill>
                  <a:srgbClr val="002060"/>
                </a:solidFill>
                <a:latin typeface="Arial Rounded MT Bold" panose="020F0704030504030204" pitchFamily="34" charset="0"/>
              </a:defRPr>
            </a:lvl1pPr>
          </a:lstStyle>
          <a:p>
            <a:r>
              <a:rPr lang="en-US" dirty="0"/>
              <a:t>College of Engineering, Pune</a:t>
            </a:r>
          </a:p>
        </p:txBody>
      </p:sp>
      <p:sp>
        <p:nvSpPr>
          <p:cNvPr id="6" name="Slide Number Placeholder 5"/>
          <p:cNvSpPr>
            <a:spLocks noGrp="1"/>
          </p:cNvSpPr>
          <p:nvPr>
            <p:ph type="sldNum" sz="quarter" idx="4"/>
          </p:nvPr>
        </p:nvSpPr>
        <p:spPr>
          <a:xfrm>
            <a:off x="8458200" y="137960"/>
            <a:ext cx="457200" cy="258121"/>
          </a:xfrm>
          <a:prstGeom prst="rect">
            <a:avLst/>
          </a:prstGeom>
        </p:spPr>
        <p:txBody>
          <a:bodyPr vert="horz" lIns="91440" tIns="45720" rIns="91440" bIns="45720" rtlCol="0" anchor="ctr"/>
          <a:lstStyle>
            <a:lvl1pPr algn="r">
              <a:defRPr sz="1400">
                <a:solidFill>
                  <a:srgbClr val="002060"/>
                </a:solidFill>
              </a:defRPr>
            </a:lvl1pPr>
          </a:lstStyle>
          <a:p>
            <a:fld id="{B6F15528-21DE-4FAA-801E-634DDDAF4B2B}" type="slidenum">
              <a:rPr lang="en-US" smtClean="0"/>
              <a:pPr/>
              <a:t>‹#›</a:t>
            </a:fld>
            <a:endParaRPr lang="en-US"/>
          </a:p>
        </p:txBody>
      </p:sp>
      <p:cxnSp>
        <p:nvCxnSpPr>
          <p:cNvPr id="10" name="Straight Connector 9">
            <a:extLst>
              <a:ext uri="{FF2B5EF4-FFF2-40B4-BE49-F238E27FC236}">
                <a16:creationId xmlns:a16="http://schemas.microsoft.com/office/drawing/2014/main" id="{674720E0-FF7B-4116-85BA-FCB4F49365F2}"/>
              </a:ext>
            </a:extLst>
          </p:cNvPr>
          <p:cNvCxnSpPr/>
          <p:nvPr/>
        </p:nvCxnSpPr>
        <p:spPr>
          <a:xfrm>
            <a:off x="0" y="5463383"/>
            <a:ext cx="9144000" cy="0"/>
          </a:xfrm>
          <a:prstGeom prst="line">
            <a:avLst/>
          </a:prstGeom>
          <a:ln w="82550">
            <a:solidFill>
              <a:srgbClr val="002060"/>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7A2D97B1-92ED-4C42-9D7C-A8503EA662B7}"/>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7543800" y="5575603"/>
            <a:ext cx="1371600" cy="1143001"/>
          </a:xfrm>
          <a:prstGeom prst="rect">
            <a:avLst/>
          </a:prstGeom>
        </p:spPr>
      </p:pic>
      <p:sp>
        <p:nvSpPr>
          <p:cNvPr id="2" name="Title Placeholder 1">
            <a:extLst>
              <a:ext uri="{FF2B5EF4-FFF2-40B4-BE49-F238E27FC236}">
                <a16:creationId xmlns:a16="http://schemas.microsoft.com/office/drawing/2014/main" id="{103244AD-2C87-4FC7-BD4D-63146B086C2E}"/>
              </a:ext>
            </a:extLst>
          </p:cNvPr>
          <p:cNvSpPr>
            <a:spLocks noGrp="1"/>
          </p:cNvSpPr>
          <p:nvPr>
            <p:ph type="title"/>
          </p:nvPr>
        </p:nvSpPr>
        <p:spPr>
          <a:xfrm>
            <a:off x="1676400" y="228600"/>
            <a:ext cx="5867400" cy="685800"/>
          </a:xfrm>
          <a:prstGeom prst="rect">
            <a:avLst/>
          </a:prstGeom>
        </p:spPr>
        <p:txBody>
          <a:bodyPr vert="horz" lIns="91440" tIns="45720" rIns="91440" bIns="45720" rtlCol="0" anchor="ctr">
            <a:noAutofit/>
          </a:bodyPr>
          <a:lstStyle/>
          <a:p>
            <a:r>
              <a:rPr lang="en-IN" dirty="0"/>
              <a:t>REAL-TIME IMPLEMENTATION OF LICENSE PLATE DETECTION</a:t>
            </a:r>
          </a:p>
        </p:txBody>
      </p:sp>
      <p:sp>
        <p:nvSpPr>
          <p:cNvPr id="3" name="Date Placeholder 2">
            <a:extLst>
              <a:ext uri="{FF2B5EF4-FFF2-40B4-BE49-F238E27FC236}">
                <a16:creationId xmlns:a16="http://schemas.microsoft.com/office/drawing/2014/main" id="{4C32201D-D5E6-4BA0-9225-200AF98FD94E}"/>
              </a:ext>
            </a:extLst>
          </p:cNvPr>
          <p:cNvSpPr>
            <a:spLocks noGrp="1"/>
          </p:cNvSpPr>
          <p:nvPr>
            <p:ph type="dt" sz="half" idx="2"/>
          </p:nvPr>
        </p:nvSpPr>
        <p:spPr>
          <a:xfrm>
            <a:off x="457200" y="5964542"/>
            <a:ext cx="1219200" cy="365125"/>
          </a:xfrm>
          <a:prstGeom prst="rect">
            <a:avLst/>
          </a:prstGeom>
        </p:spPr>
        <p:txBody>
          <a:bodyPr vert="horz" lIns="91440" tIns="45720" rIns="91440" bIns="45720" rtlCol="0" anchor="ctr"/>
          <a:lstStyle>
            <a:lvl1pPr algn="ctr">
              <a:defRPr sz="1400">
                <a:solidFill>
                  <a:srgbClr val="002060"/>
                </a:solidFill>
              </a:defRPr>
            </a:lvl1pPr>
          </a:lstStyle>
          <a:p>
            <a:fld id="{2B23DAC6-A9BB-45FD-8C29-9310D52E5979}" type="datetime1">
              <a:rPr lang="en-US" smtClean="0"/>
              <a:pPr/>
              <a:t>7/26/2021</a:t>
            </a:fld>
            <a:endParaRPr lang="en-US"/>
          </a:p>
        </p:txBody>
      </p:sp>
    </p:spTree>
    <p:extLst>
      <p:ext uri="{BB962C8B-B14F-4D97-AF65-F5344CB8AC3E}">
        <p14:creationId xmlns:p14="http://schemas.microsoft.com/office/powerpoint/2010/main" val="217036818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Lst>
  <p:hf hdr="0"/>
  <p:txStyles>
    <p:titleStyle>
      <a:lvl1pPr algn="ctr" defTabSz="914400" rtl="0" eaLnBrk="1" latinLnBrk="0" hangingPunct="1">
        <a:spcBef>
          <a:spcPct val="0"/>
        </a:spcBef>
        <a:buNone/>
        <a:defRPr sz="2800" kern="1200">
          <a:solidFill>
            <a:srgbClr val="002060"/>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chart" Target="../charts/chart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chart" Target="../charts/chart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chart" Target="../charts/chart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chart" Target="../charts/chart2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chart" Target="../charts/chart2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chart" Target="../charts/chart28.xml"/><Relationship Id="rId2" Type="http://schemas.openxmlformats.org/officeDocument/2006/relationships/chart" Target="../charts/chart2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chart" Target="../charts/chart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chart" Target="../charts/chart32.xml"/><Relationship Id="rId2" Type="http://schemas.openxmlformats.org/officeDocument/2006/relationships/chart" Target="../charts/chart3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chart" Target="../charts/chart34.xml"/><Relationship Id="rId2" Type="http://schemas.openxmlformats.org/officeDocument/2006/relationships/chart" Target="../charts/chart3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chart" Target="../charts/chart36.xml"/><Relationship Id="rId2" Type="http://schemas.openxmlformats.org/officeDocument/2006/relationships/chart" Target="../charts/chart3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chart" Target="../charts/chart38.xml"/><Relationship Id="rId2" Type="http://schemas.openxmlformats.org/officeDocument/2006/relationships/chart" Target="../charts/chart3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chart" Target="../charts/chart40.xml"/><Relationship Id="rId2" Type="http://schemas.openxmlformats.org/officeDocument/2006/relationships/chart" Target="../charts/chart3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chart" Target="../charts/chart42.xml"/><Relationship Id="rId2" Type="http://schemas.openxmlformats.org/officeDocument/2006/relationships/chart" Target="../charts/chart4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chart" Target="../charts/chart44.xml"/><Relationship Id="rId2" Type="http://schemas.openxmlformats.org/officeDocument/2006/relationships/chart" Target="../charts/chart4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chart" Target="../charts/chart46.xml"/><Relationship Id="rId2" Type="http://schemas.openxmlformats.org/officeDocument/2006/relationships/chart" Target="../charts/chart4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chart" Target="../charts/chart48.xml"/><Relationship Id="rId2" Type="http://schemas.openxmlformats.org/officeDocument/2006/relationships/chart" Target="../charts/chart4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7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7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 Id="rId5" Type="http://schemas.openxmlformats.org/officeDocument/2006/relationships/image" Target="../media/image30.jpeg"/><Relationship Id="rId4" Type="http://schemas.openxmlformats.org/officeDocument/2006/relationships/image" Target="../media/image29.jpeg"/></Relationships>
</file>

<file path=ppt/slides/_rels/slide8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33.jpeg"/></Relationships>
</file>

<file path=ppt/slides/_rels/slide8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 Id="rId5" Type="http://schemas.openxmlformats.org/officeDocument/2006/relationships/image" Target="../media/image38.jpeg"/><Relationship Id="rId4" Type="http://schemas.openxmlformats.org/officeDocument/2006/relationships/image" Target="../media/image37.jpeg"/></Relationships>
</file>

<file path=ppt/slides/_rels/slide8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2.xml"/><Relationship Id="rId5" Type="http://schemas.openxmlformats.org/officeDocument/2006/relationships/image" Target="../media/image42.jpeg"/><Relationship Id="rId4" Type="http://schemas.openxmlformats.org/officeDocument/2006/relationships/image" Target="../media/image41.jpeg"/></Relationships>
</file>

<file path=ppt/slides/_rels/slide8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2.xml"/><Relationship Id="rId5" Type="http://schemas.openxmlformats.org/officeDocument/2006/relationships/image" Target="../media/image46.jpeg"/><Relationship Id="rId4" Type="http://schemas.openxmlformats.org/officeDocument/2006/relationships/image" Target="../media/image45.jpeg"/></Relationships>
</file>

<file path=ppt/slides/_rels/slide8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2.xml"/><Relationship Id="rId5" Type="http://schemas.openxmlformats.org/officeDocument/2006/relationships/image" Target="../media/image50.jpeg"/><Relationship Id="rId4" Type="http://schemas.openxmlformats.org/officeDocument/2006/relationships/image" Target="../media/image49.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hyperlink" Target="https://machinelearningmastery.com/feature-selection-with-real-and-categorical-data/" TargetMode="Externa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209800" y="5964543"/>
            <a:ext cx="4800600" cy="365125"/>
          </a:xfrm>
        </p:spPr>
        <p:txBody>
          <a:bodyPr/>
          <a:lstStyle/>
          <a:p>
            <a:r>
              <a:rPr lang="en-US" dirty="0"/>
              <a:t>College of Engineering, Pune</a:t>
            </a:r>
          </a:p>
        </p:txBody>
      </p:sp>
      <p:sp>
        <p:nvSpPr>
          <p:cNvPr id="6" name="Date Placeholder 3"/>
          <p:cNvSpPr>
            <a:spLocks noGrp="1"/>
          </p:cNvSpPr>
          <p:nvPr>
            <p:ph type="dt" sz="half" idx="10"/>
          </p:nvPr>
        </p:nvSpPr>
        <p:spPr>
          <a:xfrm>
            <a:off x="152400" y="5943600"/>
            <a:ext cx="2133600" cy="365125"/>
          </a:xfrm>
        </p:spPr>
        <p:txBody>
          <a:bodyPr/>
          <a:lstStyle/>
          <a:p>
            <a:r>
              <a:rPr lang="en-US" dirty="0"/>
              <a:t>05/11/2020</a:t>
            </a:r>
          </a:p>
        </p:txBody>
      </p:sp>
      <p:sp>
        <p:nvSpPr>
          <p:cNvPr id="7" name="Slide Number Placeholder 5"/>
          <p:cNvSpPr>
            <a:spLocks noGrp="1"/>
          </p:cNvSpPr>
          <p:nvPr>
            <p:ph type="sldNum" sz="quarter" idx="12"/>
          </p:nvPr>
        </p:nvSpPr>
        <p:spPr>
          <a:xfrm>
            <a:off x="8458200" y="137960"/>
            <a:ext cx="457200" cy="258121"/>
          </a:xfrm>
        </p:spPr>
        <p:txBody>
          <a:bodyPr/>
          <a:lstStyle/>
          <a:p>
            <a:fld id="{B6F15528-21DE-4FAA-801E-634DDDAF4B2B}" type="slidenum">
              <a:rPr lang="en-US" smtClean="0"/>
              <a:pPr/>
              <a:t>1</a:t>
            </a:fld>
            <a:endParaRPr lang="en-US" dirty="0"/>
          </a:p>
        </p:txBody>
      </p:sp>
      <p:sp>
        <p:nvSpPr>
          <p:cNvPr id="11" name="Content Placeholder 2">
            <a:extLst>
              <a:ext uri="{FF2B5EF4-FFF2-40B4-BE49-F238E27FC236}">
                <a16:creationId xmlns:a16="http://schemas.microsoft.com/office/drawing/2014/main" id="{5CCB411C-8633-47BC-B26E-CE0C79E1537D}"/>
              </a:ext>
            </a:extLst>
          </p:cNvPr>
          <p:cNvSpPr txBox="1">
            <a:spLocks/>
          </p:cNvSpPr>
          <p:nvPr/>
        </p:nvSpPr>
        <p:spPr>
          <a:xfrm>
            <a:off x="418748" y="3124200"/>
            <a:ext cx="3848452" cy="2286000"/>
          </a:xfrm>
          <a:prstGeom prst="rect">
            <a:avLst/>
          </a:prstGeom>
        </p:spPr>
        <p:txBody>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spcBef>
                <a:spcPts val="0"/>
              </a:spcBef>
              <a:buFontTx/>
              <a:buNone/>
              <a:defRPr/>
            </a:pPr>
            <a:r>
              <a:rPr lang="en-US" b="1" kern="0" dirty="0">
                <a:solidFill>
                  <a:sysClr val="windowText" lastClr="000000"/>
                </a:solidFill>
                <a:latin typeface="Calibri"/>
              </a:rPr>
              <a:t>Guided by :</a:t>
            </a:r>
          </a:p>
          <a:p>
            <a:pPr>
              <a:spcBef>
                <a:spcPts val="0"/>
              </a:spcBef>
              <a:buFontTx/>
              <a:buNone/>
              <a:defRPr/>
            </a:pPr>
            <a:r>
              <a:rPr lang="en-US" dirty="0">
                <a:solidFill>
                  <a:sysClr val="windowText" lastClr="000000"/>
                </a:solidFill>
                <a:latin typeface="Calibri"/>
              </a:rPr>
              <a:t>Dr. Mrs. </a:t>
            </a:r>
            <a:r>
              <a:rPr lang="en-US" dirty="0" err="1">
                <a:solidFill>
                  <a:sysClr val="windowText" lastClr="000000"/>
                </a:solidFill>
                <a:latin typeface="Calibri"/>
              </a:rPr>
              <a:t>Priti</a:t>
            </a:r>
            <a:r>
              <a:rPr lang="en-US" dirty="0">
                <a:solidFill>
                  <a:sysClr val="windowText" lastClr="000000"/>
                </a:solidFill>
                <a:latin typeface="Calibri"/>
              </a:rPr>
              <a:t> P. </a:t>
            </a:r>
            <a:r>
              <a:rPr lang="en-US" dirty="0" err="1">
                <a:solidFill>
                  <a:sysClr val="windowText" lastClr="000000"/>
                </a:solidFill>
                <a:latin typeface="Calibri"/>
              </a:rPr>
              <a:t>Rege</a:t>
            </a:r>
            <a:endParaRPr lang="en-US" kern="0" dirty="0">
              <a:solidFill>
                <a:sysClr val="windowText" lastClr="000000"/>
              </a:solidFill>
              <a:latin typeface="Calibri"/>
            </a:endParaRPr>
          </a:p>
          <a:p>
            <a:pPr>
              <a:spcBef>
                <a:spcPts val="0"/>
              </a:spcBef>
              <a:buFontTx/>
              <a:buNone/>
              <a:defRPr/>
            </a:pPr>
            <a:r>
              <a:rPr lang="en-US" sz="2000" kern="0" dirty="0">
                <a:solidFill>
                  <a:sysClr val="windowText" lastClr="000000"/>
                </a:solidFill>
                <a:latin typeface="Calibri"/>
              </a:rPr>
              <a:t>Professor(E&amp;TC Dept.)</a:t>
            </a:r>
          </a:p>
          <a:p>
            <a:pPr>
              <a:spcBef>
                <a:spcPts val="0"/>
              </a:spcBef>
              <a:buFontTx/>
              <a:buNone/>
              <a:defRPr/>
            </a:pPr>
            <a:r>
              <a:rPr lang="en-US" sz="2000" kern="0" dirty="0">
                <a:solidFill>
                  <a:sysClr val="windowText" lastClr="000000"/>
                </a:solidFill>
                <a:latin typeface="Calibri"/>
              </a:rPr>
              <a:t>COEP</a:t>
            </a:r>
            <a:endParaRPr lang="en-IN" sz="2000" kern="0" dirty="0">
              <a:solidFill>
                <a:sysClr val="windowText" lastClr="000000"/>
              </a:solidFill>
              <a:latin typeface="Calibri"/>
            </a:endParaRPr>
          </a:p>
          <a:p>
            <a:pPr>
              <a:spcBef>
                <a:spcPts val="0"/>
              </a:spcBef>
              <a:buFontTx/>
              <a:buNone/>
              <a:defRPr/>
            </a:pPr>
            <a:endParaRPr lang="en-GB" kern="0" dirty="0">
              <a:solidFill>
                <a:sysClr val="windowText" lastClr="000000"/>
              </a:solidFill>
            </a:endParaRPr>
          </a:p>
        </p:txBody>
      </p:sp>
      <p:sp>
        <p:nvSpPr>
          <p:cNvPr id="12" name="TextBox 11">
            <a:extLst>
              <a:ext uri="{FF2B5EF4-FFF2-40B4-BE49-F238E27FC236}">
                <a16:creationId xmlns:a16="http://schemas.microsoft.com/office/drawing/2014/main" id="{903FA14E-E9A5-4629-8749-E6C7D62783B7}"/>
              </a:ext>
            </a:extLst>
          </p:cNvPr>
          <p:cNvSpPr txBox="1"/>
          <p:nvPr/>
        </p:nvSpPr>
        <p:spPr>
          <a:xfrm>
            <a:off x="4648200" y="2693938"/>
            <a:ext cx="4956628" cy="230832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0" i="0" u="sng" strike="noStrike" kern="0" cap="none" spc="0" normalizeH="0" baseline="0" noProof="0" dirty="0">
              <a:ln>
                <a:noFill/>
              </a:ln>
              <a:solidFill>
                <a:sysClr val="windowText" lastClr="000000"/>
              </a:solidFill>
              <a:effectLst/>
              <a:uLnTx/>
              <a:uFillTx/>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sysClr val="windowText" lastClr="000000"/>
                </a:solidFill>
                <a:effectLst/>
                <a:uLnTx/>
                <a:uFillTx/>
                <a:latin typeface="Calibri"/>
              </a:rPr>
              <a:t>Presented  by:</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ysClr val="windowText" lastClr="000000"/>
                </a:solidFill>
                <a:effectLst/>
                <a:uLnTx/>
                <a:uFillTx/>
                <a:latin typeface="Calibri"/>
              </a:rPr>
              <a:t>Girish </a:t>
            </a:r>
            <a:r>
              <a:rPr kumimoji="0" lang="en-US" sz="2400" b="0" i="0" u="none" strike="noStrike" kern="0" cap="none" spc="0" normalizeH="0" baseline="0" noProof="0" dirty="0" err="1">
                <a:ln>
                  <a:noFill/>
                </a:ln>
                <a:solidFill>
                  <a:sysClr val="windowText" lastClr="000000"/>
                </a:solidFill>
                <a:effectLst/>
                <a:uLnTx/>
                <a:uFillTx/>
                <a:latin typeface="Calibri"/>
              </a:rPr>
              <a:t>Lumdeo</a:t>
            </a:r>
            <a:r>
              <a:rPr kumimoji="0" lang="en-US" sz="2400" b="0" i="0" u="none" strike="noStrike" kern="0" cap="none" spc="0" normalizeH="0" baseline="0" noProof="0" dirty="0">
                <a:ln>
                  <a:noFill/>
                </a:ln>
                <a:solidFill>
                  <a:sysClr val="windowText" lastClr="000000"/>
                </a:solidFill>
                <a:effectLst/>
                <a:uLnTx/>
                <a:uFillTx/>
                <a:latin typeface="Calibri"/>
              </a:rPr>
              <a:t> Rane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uLnTx/>
                <a:uFillTx/>
                <a:latin typeface="Calibri"/>
              </a:rPr>
              <a:t>(Signal Processing)</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uLnTx/>
                <a:uFillTx/>
                <a:latin typeface="Calibri"/>
              </a:rPr>
              <a:t>(MIS : 121997014)</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dirty="0">
              <a:ln>
                <a:noFill/>
              </a:ln>
              <a:solidFill>
                <a:sysClr val="windowText" lastClr="000000"/>
              </a:solidFill>
              <a:effectLst/>
              <a:uLnTx/>
              <a:uFillTx/>
            </a:endParaRPr>
          </a:p>
        </p:txBody>
      </p:sp>
      <p:sp>
        <p:nvSpPr>
          <p:cNvPr id="15" name="Title 1">
            <a:extLst>
              <a:ext uri="{FF2B5EF4-FFF2-40B4-BE49-F238E27FC236}">
                <a16:creationId xmlns:a16="http://schemas.microsoft.com/office/drawing/2014/main" id="{3B4D7DBF-E1E7-4B67-B42A-269DDE0303A0}"/>
              </a:ext>
            </a:extLst>
          </p:cNvPr>
          <p:cNvSpPr txBox="1">
            <a:spLocks/>
          </p:cNvSpPr>
          <p:nvPr/>
        </p:nvSpPr>
        <p:spPr>
          <a:xfrm>
            <a:off x="114300" y="952500"/>
            <a:ext cx="8991600" cy="990600"/>
          </a:xfrm>
          <a:prstGeom prst="rect">
            <a:avLst/>
          </a:prstGeom>
          <a:ln>
            <a:noFill/>
          </a:ln>
        </p:spPr>
        <p:txBody>
          <a:bodyPr vert="horz" lIns="91440" tIns="45720" rIns="91440" bIns="45720" rtlCol="0" anchor="ctr">
            <a:noAutofit/>
          </a:bodyPr>
          <a:lstStyle>
            <a:lvl1pPr algn="ctr" defTabSz="914400" rtl="0" eaLnBrk="1" latinLnBrk="0" hangingPunct="1">
              <a:spcBef>
                <a:spcPct val="0"/>
              </a:spcBef>
              <a:buNone/>
              <a:defRPr sz="3200" kern="1200">
                <a:solidFill>
                  <a:srgbClr val="002060"/>
                </a:solidFill>
                <a:latin typeface="+mj-lt"/>
                <a:ea typeface="+mj-ea"/>
                <a:cs typeface="+mj-cs"/>
              </a:defRPr>
            </a:lvl1pPr>
          </a:lstStyle>
          <a:p>
            <a:r>
              <a:rPr lang="en-US" b="1" i="0" u="none" strike="noStrike" baseline="0" dirty="0">
                <a:solidFill>
                  <a:srgbClr val="FF0000"/>
                </a:solidFill>
              </a:rPr>
              <a:t>Birds Classification based on Bird Sound</a:t>
            </a:r>
            <a:r>
              <a:rPr lang="en-IN" b="1" dirty="0">
                <a:solidFill>
                  <a:srgbClr val="FF0000"/>
                </a:solidFill>
              </a:rPr>
              <a:t> </a:t>
            </a:r>
            <a:endParaRPr lang="en-IN" b="1" u="sng" dirty="0">
              <a:solidFill>
                <a:srgbClr val="FF0000"/>
              </a:solidFill>
            </a:endParaRPr>
          </a:p>
        </p:txBody>
      </p:sp>
    </p:spTree>
    <p:extLst>
      <p:ext uri="{BB962C8B-B14F-4D97-AF65-F5344CB8AC3E}">
        <p14:creationId xmlns:p14="http://schemas.microsoft.com/office/powerpoint/2010/main" val="24587727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909EAC-FB0C-441D-AABC-537AFE81F1DF}"/>
              </a:ext>
            </a:extLst>
          </p:cNvPr>
          <p:cNvSpPr>
            <a:spLocks noGrp="1"/>
          </p:cNvSpPr>
          <p:nvPr>
            <p:ph idx="1"/>
          </p:nvPr>
        </p:nvSpPr>
        <p:spPr>
          <a:xfrm>
            <a:off x="428445" y="838200"/>
            <a:ext cx="8229600" cy="4525963"/>
          </a:xfrm>
        </p:spPr>
        <p:txBody>
          <a:bodyPr/>
          <a:lstStyle/>
          <a:p>
            <a:pPr algn="just">
              <a:buFont typeface="Wingdings" panose="05000000000000000000" pitchFamily="2" charset="2"/>
              <a:buChar char="Ø"/>
            </a:pPr>
            <a:r>
              <a:rPr lang="en-US" sz="2000" dirty="0">
                <a:solidFill>
                  <a:schemeClr val="tx2"/>
                </a:solidFill>
                <a:latin typeface="Times New Roman" panose="02020603050405020304" pitchFamily="18" charset="0"/>
                <a:cs typeface="Times New Roman" panose="02020603050405020304" pitchFamily="18" charset="0"/>
              </a:rPr>
              <a:t>Problem Statement</a:t>
            </a:r>
          </a:p>
          <a:p>
            <a:pPr algn="just">
              <a:buFont typeface="Wingdings" panose="05000000000000000000" pitchFamily="2" charset="2"/>
              <a:buChar char="Ø"/>
            </a:pPr>
            <a:r>
              <a:rPr lang="en-US" sz="2000" dirty="0">
                <a:solidFill>
                  <a:schemeClr val="tx2"/>
                </a:solidFill>
                <a:latin typeface="Times New Roman" panose="02020603050405020304" pitchFamily="18" charset="0"/>
                <a:cs typeface="Times New Roman" panose="02020603050405020304" pitchFamily="18" charset="0"/>
              </a:rPr>
              <a:t>Introduction</a:t>
            </a:r>
          </a:p>
          <a:p>
            <a:pPr algn="just">
              <a:buFont typeface="Wingdings" panose="05000000000000000000" pitchFamily="2" charset="2"/>
              <a:buChar char="Ø"/>
            </a:pPr>
            <a:r>
              <a:rPr lang="en-US" sz="2000" dirty="0">
                <a:solidFill>
                  <a:schemeClr val="tx2"/>
                </a:solidFill>
                <a:latin typeface="Times New Roman" panose="02020603050405020304" pitchFamily="18" charset="0"/>
                <a:cs typeface="Times New Roman" panose="02020603050405020304" pitchFamily="18" charset="0"/>
              </a:rPr>
              <a:t>Literature Survey</a:t>
            </a:r>
          </a:p>
          <a:p>
            <a:pPr algn="just">
              <a:buFont typeface="Wingdings" panose="05000000000000000000" pitchFamily="2" charset="2"/>
              <a:buChar char="Ø"/>
            </a:pPr>
            <a:r>
              <a:rPr lang="en-US" sz="2000" dirty="0">
                <a:solidFill>
                  <a:schemeClr val="tx2"/>
                </a:solidFill>
                <a:latin typeface="Times New Roman" panose="02020603050405020304" pitchFamily="18" charset="0"/>
                <a:cs typeface="Times New Roman" panose="02020603050405020304" pitchFamily="18" charset="0"/>
              </a:rPr>
              <a:t>Aim and Objective</a:t>
            </a:r>
          </a:p>
          <a:p>
            <a:pPr algn="just">
              <a:buFont typeface="Wingdings" panose="05000000000000000000" pitchFamily="2" charset="2"/>
              <a:buChar char="Ø"/>
            </a:pPr>
            <a:r>
              <a:rPr lang="en-US" sz="2000" dirty="0">
                <a:solidFill>
                  <a:schemeClr val="tx2"/>
                </a:solidFill>
                <a:latin typeface="Times New Roman" panose="02020603050405020304" pitchFamily="18" charset="0"/>
                <a:cs typeface="Times New Roman" panose="02020603050405020304" pitchFamily="18" charset="0"/>
              </a:rPr>
              <a:t>Dataset</a:t>
            </a:r>
          </a:p>
          <a:p>
            <a:pPr algn="just">
              <a:buFont typeface="Wingdings" panose="05000000000000000000" pitchFamily="2" charset="2"/>
              <a:buChar char="Ø"/>
            </a:pPr>
            <a:r>
              <a:rPr lang="en-US" sz="2000" dirty="0">
                <a:solidFill>
                  <a:schemeClr val="tx2"/>
                </a:solidFill>
                <a:latin typeface="Times New Roman" panose="02020603050405020304" pitchFamily="18" charset="0"/>
                <a:cs typeface="Times New Roman" panose="02020603050405020304" pitchFamily="18" charset="0"/>
              </a:rPr>
              <a:t>Feature Extraction</a:t>
            </a:r>
          </a:p>
          <a:p>
            <a:pPr algn="just">
              <a:buFont typeface="Wingdings" panose="05000000000000000000" pitchFamily="2" charset="2"/>
              <a:buChar char="Ø"/>
            </a:pPr>
            <a:r>
              <a:rPr lang="en-US" sz="2000" dirty="0">
                <a:solidFill>
                  <a:schemeClr val="tx2"/>
                </a:solidFill>
                <a:latin typeface="Times New Roman" panose="02020603050405020304" pitchFamily="18" charset="0"/>
                <a:cs typeface="Times New Roman" panose="02020603050405020304" pitchFamily="18" charset="0"/>
              </a:rPr>
              <a:t>Feature Selection</a:t>
            </a:r>
          </a:p>
          <a:p>
            <a:pPr algn="just">
              <a:buFont typeface="Wingdings" panose="05000000000000000000" pitchFamily="2" charset="2"/>
              <a:buChar char="Ø"/>
            </a:pPr>
            <a:r>
              <a:rPr lang="en-US" sz="2000" dirty="0">
                <a:solidFill>
                  <a:schemeClr val="tx2"/>
                </a:solidFill>
                <a:latin typeface="Times New Roman" panose="02020603050405020304" pitchFamily="18" charset="0"/>
                <a:cs typeface="Times New Roman" panose="02020603050405020304" pitchFamily="18" charset="0"/>
              </a:rPr>
              <a:t>Classification</a:t>
            </a:r>
          </a:p>
          <a:p>
            <a:pPr algn="just">
              <a:buFont typeface="Wingdings" panose="05000000000000000000" pitchFamily="2" charset="2"/>
              <a:buChar char="Ø"/>
            </a:pPr>
            <a:r>
              <a:rPr lang="en-US" sz="2000" dirty="0">
                <a:solidFill>
                  <a:schemeClr val="tx2"/>
                </a:solidFill>
                <a:latin typeface="Times New Roman" panose="02020603050405020304" pitchFamily="18" charset="0"/>
                <a:cs typeface="Times New Roman" panose="02020603050405020304" pitchFamily="18" charset="0"/>
              </a:rPr>
              <a:t>Results</a:t>
            </a:r>
          </a:p>
          <a:p>
            <a:pPr algn="just">
              <a:buFont typeface="Wingdings" panose="05000000000000000000" pitchFamily="2" charset="2"/>
              <a:buChar char="Ø"/>
            </a:pPr>
            <a:r>
              <a:rPr lang="en-US" sz="2000" dirty="0">
                <a:solidFill>
                  <a:schemeClr val="tx2"/>
                </a:solidFill>
                <a:latin typeface="Times New Roman" panose="02020603050405020304" pitchFamily="18" charset="0"/>
                <a:cs typeface="Times New Roman" panose="02020603050405020304" pitchFamily="18" charset="0"/>
              </a:rPr>
              <a:t>Conclusion</a:t>
            </a:r>
          </a:p>
          <a:p>
            <a:pPr algn="just">
              <a:buFont typeface="Wingdings" panose="05000000000000000000" pitchFamily="2" charset="2"/>
              <a:buChar char="Ø"/>
            </a:pPr>
            <a:r>
              <a:rPr lang="en-US" sz="2000" dirty="0">
                <a:solidFill>
                  <a:schemeClr val="tx2"/>
                </a:solidFill>
                <a:latin typeface="Times New Roman" panose="02020603050405020304" pitchFamily="18" charset="0"/>
                <a:cs typeface="Times New Roman" panose="02020603050405020304" pitchFamily="18" charset="0"/>
              </a:rPr>
              <a:t>Reference</a:t>
            </a:r>
            <a:endParaRPr lang="en-IN" sz="2000" dirty="0">
              <a:solidFill>
                <a:schemeClr val="tx2"/>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2A8D7D5-DDA6-4876-B756-BA5CFF699008}"/>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29A6DF81-231E-4E83-9E10-8DB37C2B7ECF}"/>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9630FD00-B2AF-4E65-B384-2DB4DD17450B}"/>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9" name="Title 1">
            <a:extLst>
              <a:ext uri="{FF2B5EF4-FFF2-40B4-BE49-F238E27FC236}">
                <a16:creationId xmlns:a16="http://schemas.microsoft.com/office/drawing/2014/main" id="{D649162B-9A22-4B5F-A99E-BC3E02CA49C6}"/>
              </a:ext>
            </a:extLst>
          </p:cNvPr>
          <p:cNvSpPr>
            <a:spLocks noGrp="1"/>
          </p:cNvSpPr>
          <p:nvPr>
            <p:ph type="title"/>
          </p:nvPr>
        </p:nvSpPr>
        <p:spPr>
          <a:xfrm>
            <a:off x="533400" y="0"/>
            <a:ext cx="7772400" cy="838200"/>
          </a:xfrm>
        </p:spPr>
        <p:txBody>
          <a:bodyPr/>
          <a:lstStyle/>
          <a:p>
            <a:pPr algn="l"/>
            <a:r>
              <a:rPr lang="en-US" sz="3200" b="1" i="0" dirty="0">
                <a:solidFill>
                  <a:srgbClr val="C00000"/>
                </a:solidFill>
                <a:latin typeface="Times New Roman" panose="02020603050405020304" pitchFamily="18" charset="0"/>
                <a:cs typeface="Times New Roman" panose="02020603050405020304" pitchFamily="18" charset="0"/>
              </a:rPr>
              <a:t>CONTENTS:</a:t>
            </a:r>
            <a:endParaRPr lang="en-US" sz="3200" i="0" dirty="0">
              <a:solidFill>
                <a:srgbClr val="C00000"/>
              </a:solidFill>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1298504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1D810-338F-4D26-AC3F-ED1A731C3D8D}"/>
              </a:ext>
            </a:extLst>
          </p:cNvPr>
          <p:cNvSpPr>
            <a:spLocks noGrp="1"/>
          </p:cNvSpPr>
          <p:nvPr>
            <p:ph type="title"/>
          </p:nvPr>
        </p:nvSpPr>
        <p:spPr/>
        <p:txBody>
          <a:bodyPr/>
          <a:lstStyle/>
          <a:p>
            <a:pPr algn="l"/>
            <a:r>
              <a:rPr lang="en-US" dirty="0">
                <a:solidFill>
                  <a:srgbClr val="FF0000"/>
                </a:solidFill>
                <a:latin typeface="Times New Roman" panose="02020603050405020304" pitchFamily="18" charset="0"/>
                <a:cs typeface="Times New Roman" panose="02020603050405020304" pitchFamily="18" charset="0"/>
              </a:rPr>
              <a:t>Problem Statement</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6CC558-F551-45B9-9FCA-EA58F86FF6F9}"/>
              </a:ext>
            </a:extLst>
          </p:cNvPr>
          <p:cNvSpPr>
            <a:spLocks noGrp="1"/>
          </p:cNvSpPr>
          <p:nvPr>
            <p:ph idx="1"/>
          </p:nvPr>
        </p:nvSpPr>
        <p:spPr>
          <a:xfrm>
            <a:off x="457200" y="1621142"/>
            <a:ext cx="8229600" cy="4525963"/>
          </a:xfrm>
        </p:spPr>
        <p:txBody>
          <a:bodyPr/>
          <a:lstStyle/>
          <a:p>
            <a:pPr marL="342900" lvl="0" indent="-342900" algn="just">
              <a:lnSpc>
                <a:spcPct val="127000"/>
              </a:lnSpc>
              <a:buFont typeface="Arial" panose="020B0604020202020204" pitchFamily="34" charset="0"/>
              <a:buChar char="•"/>
              <a:tabLst>
                <a:tab pos="457200" algn="l"/>
              </a:tabLst>
            </a:pPr>
            <a:r>
              <a:rPr lang="en-US" sz="2400" dirty="0">
                <a:effectLst/>
                <a:latin typeface="Times New Roman" panose="02020603050405020304" pitchFamily="18" charset="0"/>
                <a:ea typeface="LM Roman 12"/>
                <a:cs typeface="Times New Roman" panose="02020603050405020304" pitchFamily="18" charset="0"/>
              </a:rPr>
              <a:t>To propose a system that aims to automatically recognize bird species or even individual birds by their sound in field conditions.</a:t>
            </a:r>
            <a:endParaRPr lang="en-IN" sz="2400" dirty="0">
              <a:effectLst/>
              <a:latin typeface="Times New Roman" panose="02020603050405020304" pitchFamily="18" charset="0"/>
              <a:ea typeface="LM Roman 12"/>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3AB03B00-4795-45FB-999F-F244C87035C3}"/>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7B15B0A0-3E68-4028-A534-E21E77C28BBC}"/>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7895DC20-5802-44D4-9A6F-3C4D166AD850}"/>
              </a:ext>
            </a:extLst>
          </p:cNvPr>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2813064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37BF9-6A7D-484A-B880-086BBACB42A8}"/>
              </a:ext>
            </a:extLst>
          </p:cNvPr>
          <p:cNvSpPr>
            <a:spLocks noGrp="1"/>
          </p:cNvSpPr>
          <p:nvPr>
            <p:ph type="title"/>
          </p:nvPr>
        </p:nvSpPr>
        <p:spPr>
          <a:xfrm>
            <a:off x="457200" y="274638"/>
            <a:ext cx="8229600" cy="792162"/>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Introduction</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3A04230-81E5-4C29-985E-403869E2A5F1}"/>
              </a:ext>
            </a:extLst>
          </p:cNvPr>
          <p:cNvSpPr>
            <a:spLocks noGrp="1"/>
          </p:cNvSpPr>
          <p:nvPr>
            <p:ph idx="1"/>
          </p:nvPr>
        </p:nvSpPr>
        <p:spPr/>
        <p:txBody>
          <a:bodyPr/>
          <a:lstStyle/>
          <a:p>
            <a:pPr marL="0" indent="0" algn="just">
              <a:buNone/>
            </a:pPr>
            <a:endParaRPr lang="en-US" sz="2000" b="0" i="0" u="none" strike="noStrike" baseline="0" dirty="0">
              <a:latin typeface="Times New Roman" panose="02020603050405020304" pitchFamily="18" charset="0"/>
              <a:cs typeface="Times New Roman" panose="02020603050405020304" pitchFamily="18" charset="0"/>
            </a:endParaRPr>
          </a:p>
          <a:p>
            <a:pPr algn="just"/>
            <a:r>
              <a:rPr lang="en-US" sz="2000" b="0" i="0" u="none" strike="noStrike" baseline="0" dirty="0">
                <a:latin typeface="Times New Roman" panose="02020603050405020304" pitchFamily="18" charset="0"/>
                <a:cs typeface="Times New Roman" panose="02020603050405020304" pitchFamily="18" charset="0"/>
              </a:rPr>
              <a:t>Birds can be heard even in big cities.</a:t>
            </a:r>
          </a:p>
          <a:p>
            <a:pPr algn="just"/>
            <a:r>
              <a:rPr lang="en-US" sz="2000" dirty="0">
                <a:latin typeface="Times New Roman" panose="02020603050405020304" pitchFamily="18" charset="0"/>
                <a:cs typeface="Times New Roman" panose="02020603050405020304" pitchFamily="18" charset="0"/>
              </a:rPr>
              <a:t>M</a:t>
            </a:r>
            <a:r>
              <a:rPr lang="en-US" sz="2000" b="0" i="0" u="none" strike="noStrike" baseline="0" dirty="0">
                <a:latin typeface="Times New Roman" panose="02020603050405020304" pitchFamily="18" charset="0"/>
                <a:cs typeface="Times New Roman" panose="02020603050405020304" pitchFamily="18" charset="0"/>
              </a:rPr>
              <a:t>ost common species by their sound and experts can recognize hundreds of species </a:t>
            </a:r>
            <a:r>
              <a:rPr lang="en-IN" sz="2000" b="0" i="0" u="none" strike="noStrike" baseline="0" dirty="0">
                <a:latin typeface="Times New Roman" panose="02020603050405020304" pitchFamily="18" charset="0"/>
                <a:cs typeface="Times New Roman" panose="02020603050405020304" pitchFamily="18" charset="0"/>
              </a:rPr>
              <a:t>only by their sound.</a:t>
            </a:r>
            <a:endParaRPr lang="en-US" sz="2000" b="0" i="0" u="none" strike="noStrike" baseline="0" dirty="0">
              <a:latin typeface="Times New Roman" panose="02020603050405020304" pitchFamily="18" charset="0"/>
              <a:cs typeface="Times New Roman" panose="02020603050405020304" pitchFamily="18" charset="0"/>
            </a:endParaRPr>
          </a:p>
          <a:p>
            <a:pPr algn="just"/>
            <a:r>
              <a:rPr lang="en-US" sz="2000" b="0" i="0" u="none" strike="noStrike" baseline="0" dirty="0">
                <a:latin typeface="Times New Roman" panose="02020603050405020304" pitchFamily="18" charset="0"/>
                <a:cs typeface="Times New Roman" panose="02020603050405020304" pitchFamily="18" charset="0"/>
              </a:rPr>
              <a:t>Recognition of bird species by their sounds is a typical pattern recognition problem.</a:t>
            </a:r>
          </a:p>
        </p:txBody>
      </p:sp>
      <p:sp>
        <p:nvSpPr>
          <p:cNvPr id="4" name="Date Placeholder 3">
            <a:extLst>
              <a:ext uri="{FF2B5EF4-FFF2-40B4-BE49-F238E27FC236}">
                <a16:creationId xmlns:a16="http://schemas.microsoft.com/office/drawing/2014/main" id="{33D792F0-6933-4A22-9758-12A4F0B7E3FA}"/>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BBA6DCFF-1F7B-48CF-84F4-EE7015BADB9C}"/>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1D152CEB-0695-49B1-A571-787F1D55506A}"/>
              </a:ext>
            </a:extLst>
          </p:cNvPr>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2519103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5699B29-3C94-4487-A9A6-B1EF65E0F2C3}"/>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EC24FE62-380A-4ACF-86FD-04227606CE3B}"/>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04F9EEB1-675D-4A7D-BC29-AA7B922FF89B}"/>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7" name="TextBox 6">
            <a:extLst>
              <a:ext uri="{FF2B5EF4-FFF2-40B4-BE49-F238E27FC236}">
                <a16:creationId xmlns:a16="http://schemas.microsoft.com/office/drawing/2014/main" id="{F1198E27-F430-45DD-87F5-B1009B1CCFDD}"/>
              </a:ext>
            </a:extLst>
          </p:cNvPr>
          <p:cNvSpPr txBox="1"/>
          <p:nvPr/>
        </p:nvSpPr>
        <p:spPr>
          <a:xfrm>
            <a:off x="304800" y="0"/>
            <a:ext cx="4959220" cy="584775"/>
          </a:xfrm>
          <a:prstGeom prst="rect">
            <a:avLst/>
          </a:prstGeom>
          <a:noFill/>
        </p:spPr>
        <p:txBody>
          <a:bodyPr wrap="square">
            <a:spAutoFit/>
          </a:bodyPr>
          <a:lstStyle/>
          <a:p>
            <a:pPr marL="0" marR="0" lvl="0" indent="0" algn="l" defTabSz="914400" rtl="0" eaLnBrk="0" fontAlgn="base" latinLnBrk="0" hangingPunct="0">
              <a:lnSpc>
                <a:spcPct val="100000"/>
              </a:lnSpc>
              <a:spcBef>
                <a:spcPct val="20000"/>
              </a:spcBef>
              <a:spcAft>
                <a:spcPct val="0"/>
              </a:spcAft>
              <a:buClrTx/>
              <a:buSzPct val="85000"/>
              <a:buFontTx/>
              <a:buNone/>
              <a:tabLst/>
              <a:defRPr/>
            </a:pPr>
            <a:r>
              <a:rPr kumimoji="0" lang="en-US" sz="3200" b="0" i="0" u="none" strike="noStrike" kern="0" cap="none" spc="0" normalizeH="0" baseline="0" noProof="0" dirty="0">
                <a:ln>
                  <a:noFill/>
                </a:ln>
                <a:solidFill>
                  <a:srgbClr val="FF0000"/>
                </a:solidFill>
                <a:effectLst/>
                <a:uLnTx/>
                <a:uFillTx/>
                <a:latin typeface="Times New Roman" pitchFamily="18" charset="0"/>
                <a:ea typeface="+mn-ea"/>
                <a:cs typeface="Times New Roman" pitchFamily="18" charset="0"/>
              </a:rPr>
              <a:t>Literature Survey:</a:t>
            </a:r>
            <a:endParaRPr kumimoji="0" lang="en-GB" sz="2800" b="0" i="0" u="none" strike="noStrike" kern="0" cap="none" spc="0" normalizeH="0" baseline="0" noProof="0" dirty="0">
              <a:ln>
                <a:noFill/>
              </a:ln>
              <a:solidFill>
                <a:srgbClr val="FF0000"/>
              </a:solidFill>
              <a:effectLst/>
              <a:uLnTx/>
              <a:uFillTx/>
              <a:latin typeface="Times New Roman" pitchFamily="18" charset="0"/>
              <a:ea typeface="+mn-ea"/>
              <a:cs typeface="Times New Roman" pitchFamily="18" charset="0"/>
            </a:endParaRPr>
          </a:p>
        </p:txBody>
      </p:sp>
      <p:graphicFrame>
        <p:nvGraphicFramePr>
          <p:cNvPr id="8" name="Table 5">
            <a:extLst>
              <a:ext uri="{FF2B5EF4-FFF2-40B4-BE49-F238E27FC236}">
                <a16:creationId xmlns:a16="http://schemas.microsoft.com/office/drawing/2014/main" id="{460AC810-B978-425E-8671-4CB97D47DFB2}"/>
              </a:ext>
            </a:extLst>
          </p:cNvPr>
          <p:cNvGraphicFramePr>
            <a:graphicFrameLocks noGrp="1"/>
          </p:cNvGraphicFramePr>
          <p:nvPr>
            <p:ph idx="1"/>
            <p:extLst>
              <p:ext uri="{D42A27DB-BD31-4B8C-83A1-F6EECF244321}">
                <p14:modId xmlns:p14="http://schemas.microsoft.com/office/powerpoint/2010/main" val="2609576406"/>
              </p:ext>
            </p:extLst>
          </p:nvPr>
        </p:nvGraphicFramePr>
        <p:xfrm>
          <a:off x="228600" y="584775"/>
          <a:ext cx="8686799" cy="4800602"/>
        </p:xfrm>
        <a:graphic>
          <a:graphicData uri="http://schemas.openxmlformats.org/drawingml/2006/table">
            <a:tbl>
              <a:tblPr firstRow="1" bandRow="1">
                <a:tableStyleId>{5C22544A-7EE6-4342-B048-85BDC9FD1C3A}</a:tableStyleId>
              </a:tblPr>
              <a:tblGrid>
                <a:gridCol w="3124199">
                  <a:extLst>
                    <a:ext uri="{9D8B030D-6E8A-4147-A177-3AD203B41FA5}">
                      <a16:colId xmlns:a16="http://schemas.microsoft.com/office/drawing/2014/main" val="1044876788"/>
                    </a:ext>
                  </a:extLst>
                </a:gridCol>
                <a:gridCol w="5562600">
                  <a:extLst>
                    <a:ext uri="{9D8B030D-6E8A-4147-A177-3AD203B41FA5}">
                      <a16:colId xmlns:a16="http://schemas.microsoft.com/office/drawing/2014/main" val="2500130220"/>
                    </a:ext>
                  </a:extLst>
                </a:gridCol>
              </a:tblGrid>
              <a:tr h="614062">
                <a:tc>
                  <a:txBody>
                    <a:bodyPr/>
                    <a:lstStyle/>
                    <a:p>
                      <a:pPr algn="just"/>
                      <a:r>
                        <a:rPr lang="en-IN" sz="2000" i="0" dirty="0">
                          <a:effectLst/>
                          <a:latin typeface="Times New Roman" panose="02020603050405020304" pitchFamily="18" charset="0"/>
                          <a:ea typeface="Calibri" panose="020F0502020204030204" pitchFamily="34" charset="0"/>
                          <a:cs typeface="Times New Roman" panose="02020603050405020304" pitchFamily="18" charset="0"/>
                        </a:rPr>
                        <a:t>TITLE</a:t>
                      </a:r>
                      <a:endParaRPr lang="en-IN" sz="2000" i="0" dirty="0">
                        <a:latin typeface="Times New Roman" panose="02020603050405020304" pitchFamily="18" charset="0"/>
                        <a:cs typeface="Times New Roman" panose="02020603050405020304" pitchFamily="18" charset="0"/>
                      </a:endParaRPr>
                    </a:p>
                  </a:txBody>
                  <a:tcPr/>
                </a:tc>
                <a:tc>
                  <a:txBody>
                    <a:bodyPr/>
                    <a:lstStyle/>
                    <a:p>
                      <a:pPr algn="just"/>
                      <a:r>
                        <a:rPr lang="en-IN" sz="2000" i="0" dirty="0">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IN" sz="20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83035393"/>
                  </a:ext>
                </a:extLst>
              </a:tr>
              <a:tr h="2193077">
                <a:tc>
                  <a:txBody>
                    <a:bodyPr/>
                    <a:lstStyle/>
                    <a:p>
                      <a:pPr algn="just"/>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Speaker recognition using</a:t>
                      </a:r>
                    </a:p>
                    <a:p>
                      <a:pPr algn="just"/>
                      <a:r>
                        <a:rPr lang="en-US" sz="2000" b="0" i="0" u="none" strike="noStrike" kern="1200" baseline="0" dirty="0" err="1">
                          <a:solidFill>
                            <a:schemeClr val="dk1"/>
                          </a:solidFill>
                          <a:latin typeface="Times New Roman" panose="02020603050405020304" pitchFamily="18" charset="0"/>
                          <a:ea typeface="+mn-ea"/>
                          <a:cs typeface="Times New Roman" panose="02020603050405020304" pitchFamily="18" charset="0"/>
                        </a:rPr>
                        <a:t>mel</a:t>
                      </a:r>
                      <a:r>
                        <a:rPr lang="en-US"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-frequency </a:t>
                      </a:r>
                      <a:r>
                        <a:rPr lang="en-US" sz="2000" b="0" i="0" u="none" strike="noStrike" kern="1200" baseline="0" dirty="0" err="1">
                          <a:solidFill>
                            <a:schemeClr val="dk1"/>
                          </a:solidFill>
                          <a:latin typeface="Times New Roman" panose="02020603050405020304" pitchFamily="18" charset="0"/>
                          <a:ea typeface="+mn-ea"/>
                          <a:cs typeface="Times New Roman" panose="02020603050405020304" pitchFamily="18" charset="0"/>
                        </a:rPr>
                        <a:t>cepstrum</a:t>
                      </a:r>
                      <a:r>
                        <a:rPr lang="en-US"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 coefficients and sum square error</a:t>
                      </a:r>
                      <a:r>
                        <a:rPr lang="en-US" sz="2000" b="0" i="0" kern="1200" dirty="0">
                          <a:solidFill>
                            <a:schemeClr val="lt1"/>
                          </a:solidFill>
                          <a:effectLst/>
                          <a:latin typeface="Times New Roman" panose="02020603050405020304" pitchFamily="18" charset="0"/>
                          <a:ea typeface="+mn-ea"/>
                          <a:cs typeface="Times New Roman" panose="02020603050405020304" pitchFamily="18" charset="0"/>
                        </a:rPr>
                        <a:t> </a:t>
                      </a:r>
                      <a:endParaRPr lang="en-IN" sz="2000" b="0" i="0" dirty="0">
                        <a:latin typeface="Times New Roman" panose="02020603050405020304" pitchFamily="18" charset="0"/>
                        <a:cs typeface="Times New Roman" panose="02020603050405020304" pitchFamily="18" charset="0"/>
                      </a:endParaRPr>
                    </a:p>
                  </a:txBody>
                  <a:tcPr/>
                </a:tc>
                <a:tc>
                  <a:txBody>
                    <a:bodyPr/>
                    <a:lstStyle/>
                    <a:p>
                      <a:pPr algn="just"/>
                      <a:r>
                        <a:rPr lang="en-US"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The use of Mel Frequency Cepstral Coefficients with Vector Quantization for speaker verification. VQ is used to produce a vector of each speech signal.</a:t>
                      </a:r>
                      <a:endParaRPr lang="en-IN" sz="20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58619101"/>
                  </a:ext>
                </a:extLst>
              </a:tr>
              <a:tr h="1993463">
                <a:tc>
                  <a:txBody>
                    <a:bodyPr/>
                    <a:lstStyle/>
                    <a:p>
                      <a:pPr algn="just"/>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Investigation of Different</a:t>
                      </a:r>
                    </a:p>
                    <a:p>
                      <a:pPr algn="just"/>
                      <a:r>
                        <a:rPr lang="en-US"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CNN-Based Models for Improved Bird Sound Classification,</a:t>
                      </a:r>
                      <a:r>
                        <a:rPr lang="en-US" sz="2000" i="0" dirty="0">
                          <a:effectLst/>
                          <a:latin typeface="Times New Roman" panose="02020603050405020304" pitchFamily="18" charset="0"/>
                          <a:cs typeface="Times New Roman" panose="02020603050405020304" pitchFamily="18" charset="0"/>
                        </a:rPr>
                        <a:t> </a:t>
                      </a:r>
                      <a:endParaRPr lang="en-IN" sz="2000" i="0" dirty="0">
                        <a:latin typeface="Times New Roman" panose="02020603050405020304" pitchFamily="18" charset="0"/>
                        <a:cs typeface="Times New Roman" panose="02020603050405020304" pitchFamily="18" charset="0"/>
                      </a:endParaRPr>
                    </a:p>
                  </a:txBody>
                  <a:tcPr/>
                </a:tc>
                <a:tc>
                  <a:txBody>
                    <a:bodyPr/>
                    <a:lstStyle/>
                    <a:p>
                      <a:pPr algn="just"/>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Different types of time-frequency </a:t>
                      </a:r>
                      <a:r>
                        <a:rPr lang="en-US"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representations called Mel, harmonic and percussive spectrogram. CNN fused model gives balanced accuracy of 86.31 %.</a:t>
                      </a:r>
                      <a:endParaRPr lang="en-IN" sz="20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72742823"/>
                  </a:ext>
                </a:extLst>
              </a:tr>
            </a:tbl>
          </a:graphicData>
        </a:graphic>
      </p:graphicFrame>
    </p:spTree>
    <p:extLst>
      <p:ext uri="{BB962C8B-B14F-4D97-AF65-F5344CB8AC3E}">
        <p14:creationId xmlns:p14="http://schemas.microsoft.com/office/powerpoint/2010/main" val="3928333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5699B29-3C94-4487-A9A6-B1EF65E0F2C3}"/>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EC24FE62-380A-4ACF-86FD-04227606CE3B}"/>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04F9EEB1-675D-4A7D-BC29-AA7B922FF89B}"/>
              </a:ext>
            </a:extLst>
          </p:cNvPr>
          <p:cNvSpPr>
            <a:spLocks noGrp="1"/>
          </p:cNvSpPr>
          <p:nvPr>
            <p:ph type="sldNum" sz="quarter" idx="12"/>
          </p:nvPr>
        </p:nvSpPr>
        <p:spPr/>
        <p:txBody>
          <a:bodyPr/>
          <a:lstStyle/>
          <a:p>
            <a:fld id="{B6F15528-21DE-4FAA-801E-634DDDAF4B2B}" type="slidenum">
              <a:rPr lang="en-US" smtClean="0"/>
              <a:pPr/>
              <a:t>6</a:t>
            </a:fld>
            <a:endParaRPr lang="en-US"/>
          </a:p>
        </p:txBody>
      </p:sp>
      <p:graphicFrame>
        <p:nvGraphicFramePr>
          <p:cNvPr id="7" name="Table 5">
            <a:extLst>
              <a:ext uri="{FF2B5EF4-FFF2-40B4-BE49-F238E27FC236}">
                <a16:creationId xmlns:a16="http://schemas.microsoft.com/office/drawing/2014/main" id="{CB897C6C-F5F2-4940-9AE7-54A9A60B6F56}"/>
              </a:ext>
            </a:extLst>
          </p:cNvPr>
          <p:cNvGraphicFramePr>
            <a:graphicFrameLocks noGrp="1"/>
          </p:cNvGraphicFramePr>
          <p:nvPr>
            <p:ph idx="1"/>
            <p:extLst>
              <p:ext uri="{D42A27DB-BD31-4B8C-83A1-F6EECF244321}">
                <p14:modId xmlns:p14="http://schemas.microsoft.com/office/powerpoint/2010/main" val="2703966128"/>
              </p:ext>
            </p:extLst>
          </p:nvPr>
        </p:nvGraphicFramePr>
        <p:xfrm>
          <a:off x="304800" y="131061"/>
          <a:ext cx="8610600" cy="5279139"/>
        </p:xfrm>
        <a:graphic>
          <a:graphicData uri="http://schemas.openxmlformats.org/drawingml/2006/table">
            <a:tbl>
              <a:tblPr firstRow="1" bandRow="1">
                <a:tableStyleId>{5C22544A-7EE6-4342-B048-85BDC9FD1C3A}</a:tableStyleId>
              </a:tblPr>
              <a:tblGrid>
                <a:gridCol w="3352800">
                  <a:extLst>
                    <a:ext uri="{9D8B030D-6E8A-4147-A177-3AD203B41FA5}">
                      <a16:colId xmlns:a16="http://schemas.microsoft.com/office/drawing/2014/main" val="910499052"/>
                    </a:ext>
                  </a:extLst>
                </a:gridCol>
                <a:gridCol w="5257800">
                  <a:extLst>
                    <a:ext uri="{9D8B030D-6E8A-4147-A177-3AD203B41FA5}">
                      <a16:colId xmlns:a16="http://schemas.microsoft.com/office/drawing/2014/main" val="4278149022"/>
                    </a:ext>
                  </a:extLst>
                </a:gridCol>
              </a:tblGrid>
              <a:tr h="551367">
                <a:tc>
                  <a:txBody>
                    <a:bodyPr/>
                    <a:lstStyle/>
                    <a:p>
                      <a:pPr algn="just"/>
                      <a:r>
                        <a:rPr lang="en-IN" sz="2000" i="0" dirty="0">
                          <a:effectLst/>
                          <a:latin typeface="Times New Roman" panose="02020603050405020304" pitchFamily="18" charset="0"/>
                          <a:ea typeface="Calibri" panose="020F0502020204030204" pitchFamily="34" charset="0"/>
                          <a:cs typeface="Times New Roman" panose="02020603050405020304" pitchFamily="18" charset="0"/>
                        </a:rPr>
                        <a:t>TITLE</a:t>
                      </a:r>
                      <a:endParaRPr lang="en-IN" sz="2000" i="0" dirty="0">
                        <a:latin typeface="Times New Roman" panose="02020603050405020304" pitchFamily="18" charset="0"/>
                        <a:cs typeface="Times New Roman" panose="02020603050405020304" pitchFamily="18" charset="0"/>
                      </a:endParaRPr>
                    </a:p>
                  </a:txBody>
                  <a:tcPr/>
                </a:tc>
                <a:tc>
                  <a:txBody>
                    <a:bodyPr/>
                    <a:lstStyle/>
                    <a:p>
                      <a:pPr algn="just"/>
                      <a:r>
                        <a:rPr lang="en-IN" sz="2000" i="0" dirty="0">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IN" sz="20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83035393"/>
                  </a:ext>
                </a:extLst>
              </a:tr>
              <a:tr h="2441772">
                <a:tc>
                  <a:txBody>
                    <a:bodyPr/>
                    <a:lstStyle/>
                    <a:p>
                      <a:pPr algn="just"/>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Bird sound </a:t>
                      </a:r>
                      <a:r>
                        <a:rPr lang="en-US"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recognition using a convolutional neural network</a:t>
                      </a:r>
                      <a:r>
                        <a:rPr lang="en-US" sz="2000" b="0" i="0" kern="1200" dirty="0">
                          <a:solidFill>
                            <a:schemeClr val="lt1"/>
                          </a:solidFill>
                          <a:effectLst/>
                          <a:latin typeface="Times New Roman" panose="02020603050405020304" pitchFamily="18" charset="0"/>
                          <a:ea typeface="+mn-ea"/>
                          <a:cs typeface="Times New Roman" panose="02020603050405020304" pitchFamily="18" charset="0"/>
                        </a:rPr>
                        <a:t> </a:t>
                      </a:r>
                      <a:endParaRPr lang="en-IN" sz="2000" b="0" i="0" dirty="0">
                        <a:latin typeface="Times New Roman" panose="02020603050405020304" pitchFamily="18" charset="0"/>
                        <a:cs typeface="Times New Roman" panose="02020603050405020304" pitchFamily="18" charset="0"/>
                      </a:endParaRPr>
                    </a:p>
                  </a:txBody>
                  <a:tcPr/>
                </a:tc>
                <a:tc>
                  <a:txBody>
                    <a:bodyPr/>
                    <a:lstStyle/>
                    <a:p>
                      <a:pPr algn="just"/>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Developed a methodology </a:t>
                      </a:r>
                      <a:r>
                        <a:rPr lang="en-US"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to classify species using spectrogram. A pre-trained </a:t>
                      </a:r>
                      <a:r>
                        <a:rPr lang="en-US" sz="2000" b="0" i="0" u="none" strike="noStrike" kern="1200" baseline="0" dirty="0" err="1">
                          <a:solidFill>
                            <a:schemeClr val="dk1"/>
                          </a:solidFill>
                          <a:latin typeface="Times New Roman" panose="02020603050405020304" pitchFamily="18" charset="0"/>
                          <a:ea typeface="+mn-ea"/>
                          <a:cs typeface="Times New Roman" panose="02020603050405020304" pitchFamily="18" charset="0"/>
                        </a:rPr>
                        <a:t>MobileNet</a:t>
                      </a:r>
                      <a:r>
                        <a:rPr lang="en-US"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 CNN model was used to differentiate species. STFT of each audio file given to input to CNN model. This experiment shows the color map of the spectrogram gives more advantages </a:t>
                      </a:r>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than a normal spectrogram.</a:t>
                      </a:r>
                      <a:endParaRPr lang="en-IN" sz="20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58619101"/>
                  </a:ext>
                </a:extLst>
              </a:tr>
              <a:tr h="2286000">
                <a:tc>
                  <a:txBody>
                    <a:bodyPr/>
                    <a:lstStyle/>
                    <a:p>
                      <a:pPr algn="just"/>
                      <a:r>
                        <a:rPr lang="en-US" sz="2000" i="0" dirty="0">
                          <a:latin typeface="Times New Roman" panose="02020603050405020304" pitchFamily="18" charset="0"/>
                          <a:cs typeface="Times New Roman" panose="02020603050405020304" pitchFamily="18" charset="0"/>
                        </a:rPr>
                        <a:t>Bird species recognition using unsupervised modeling of individual vocalization elements</a:t>
                      </a:r>
                      <a:r>
                        <a:rPr lang="en-US" sz="2000" b="0" i="0" dirty="0">
                          <a:latin typeface="Times New Roman" panose="02020603050405020304" pitchFamily="18" charset="0"/>
                          <a:cs typeface="Times New Roman" panose="02020603050405020304" pitchFamily="18" charset="0"/>
                        </a:rPr>
                        <a:t>.</a:t>
                      </a:r>
                      <a:r>
                        <a:rPr lang="en-US" sz="2000" i="0" dirty="0">
                          <a:effectLst/>
                          <a:latin typeface="Times New Roman" panose="02020603050405020304" pitchFamily="18" charset="0"/>
                          <a:cs typeface="Times New Roman" panose="02020603050405020304" pitchFamily="18" charset="0"/>
                        </a:rPr>
                        <a:t> </a:t>
                      </a:r>
                      <a:endParaRPr lang="en-IN" sz="2000" i="0" dirty="0">
                        <a:latin typeface="Times New Roman" panose="02020603050405020304" pitchFamily="18" charset="0"/>
                        <a:cs typeface="Times New Roman" panose="02020603050405020304" pitchFamily="18" charset="0"/>
                      </a:endParaRPr>
                    </a:p>
                  </a:txBody>
                  <a:tcPr/>
                </a:tc>
                <a:tc>
                  <a:txBody>
                    <a:bodyPr/>
                    <a:lstStyle/>
                    <a:p>
                      <a:pPr algn="just"/>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Suggested tonal-based features </a:t>
                      </a:r>
                      <a:r>
                        <a:rPr lang="en-US"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to identify tonal bird sounds. The Gaussian mixture model is used to model 95 bird species. Each bird sound contains white noise and environmental noise. The Tonal-based approach provides better performance compared to Mel Frequency Cepstral </a:t>
                      </a:r>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Coefficients.</a:t>
                      </a:r>
                      <a:endParaRPr lang="en-IN" sz="20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72742823"/>
                  </a:ext>
                </a:extLst>
              </a:tr>
            </a:tbl>
          </a:graphicData>
        </a:graphic>
      </p:graphicFrame>
    </p:spTree>
    <p:extLst>
      <p:ext uri="{BB962C8B-B14F-4D97-AF65-F5344CB8AC3E}">
        <p14:creationId xmlns:p14="http://schemas.microsoft.com/office/powerpoint/2010/main" val="4285429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5699B29-3C94-4487-A9A6-B1EF65E0F2C3}"/>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EC24FE62-380A-4ACF-86FD-04227606CE3B}"/>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04F9EEB1-675D-4A7D-BC29-AA7B922FF89B}"/>
              </a:ext>
            </a:extLst>
          </p:cNvPr>
          <p:cNvSpPr>
            <a:spLocks noGrp="1"/>
          </p:cNvSpPr>
          <p:nvPr>
            <p:ph type="sldNum" sz="quarter" idx="12"/>
          </p:nvPr>
        </p:nvSpPr>
        <p:spPr/>
        <p:txBody>
          <a:bodyPr/>
          <a:lstStyle/>
          <a:p>
            <a:fld id="{B6F15528-21DE-4FAA-801E-634DDDAF4B2B}" type="slidenum">
              <a:rPr lang="en-US" smtClean="0"/>
              <a:pPr/>
              <a:t>7</a:t>
            </a:fld>
            <a:endParaRPr lang="en-US"/>
          </a:p>
        </p:txBody>
      </p:sp>
      <p:graphicFrame>
        <p:nvGraphicFramePr>
          <p:cNvPr id="7" name="Table 5">
            <a:extLst>
              <a:ext uri="{FF2B5EF4-FFF2-40B4-BE49-F238E27FC236}">
                <a16:creationId xmlns:a16="http://schemas.microsoft.com/office/drawing/2014/main" id="{E9C56C4F-D5EA-4EF7-851C-AEF68951744D}"/>
              </a:ext>
            </a:extLst>
          </p:cNvPr>
          <p:cNvGraphicFramePr>
            <a:graphicFrameLocks noGrp="1"/>
          </p:cNvGraphicFramePr>
          <p:nvPr>
            <p:ph idx="1"/>
            <p:extLst>
              <p:ext uri="{D42A27DB-BD31-4B8C-83A1-F6EECF244321}">
                <p14:modId xmlns:p14="http://schemas.microsoft.com/office/powerpoint/2010/main" val="3509702742"/>
              </p:ext>
            </p:extLst>
          </p:nvPr>
        </p:nvGraphicFramePr>
        <p:xfrm>
          <a:off x="228600" y="76200"/>
          <a:ext cx="8610600" cy="5279139"/>
        </p:xfrm>
        <a:graphic>
          <a:graphicData uri="http://schemas.openxmlformats.org/drawingml/2006/table">
            <a:tbl>
              <a:tblPr firstRow="1" bandRow="1">
                <a:tableStyleId>{5C22544A-7EE6-4342-B048-85BDC9FD1C3A}</a:tableStyleId>
              </a:tblPr>
              <a:tblGrid>
                <a:gridCol w="3352800">
                  <a:extLst>
                    <a:ext uri="{9D8B030D-6E8A-4147-A177-3AD203B41FA5}">
                      <a16:colId xmlns:a16="http://schemas.microsoft.com/office/drawing/2014/main" val="910499052"/>
                    </a:ext>
                  </a:extLst>
                </a:gridCol>
                <a:gridCol w="5257800">
                  <a:extLst>
                    <a:ext uri="{9D8B030D-6E8A-4147-A177-3AD203B41FA5}">
                      <a16:colId xmlns:a16="http://schemas.microsoft.com/office/drawing/2014/main" val="4278149022"/>
                    </a:ext>
                  </a:extLst>
                </a:gridCol>
              </a:tblGrid>
              <a:tr h="551367">
                <a:tc>
                  <a:txBody>
                    <a:bodyPr/>
                    <a:lstStyle/>
                    <a:p>
                      <a:pPr algn="just"/>
                      <a:r>
                        <a:rPr lang="en-IN" sz="2000" i="0" dirty="0">
                          <a:effectLst/>
                          <a:latin typeface="Times New Roman" panose="02020603050405020304" pitchFamily="18" charset="0"/>
                          <a:ea typeface="Calibri" panose="020F0502020204030204" pitchFamily="34" charset="0"/>
                          <a:cs typeface="Times New Roman" panose="02020603050405020304" pitchFamily="18" charset="0"/>
                        </a:rPr>
                        <a:t>TITLE</a:t>
                      </a:r>
                      <a:endParaRPr lang="en-IN" sz="2000" i="0" dirty="0">
                        <a:latin typeface="Times New Roman" panose="02020603050405020304" pitchFamily="18" charset="0"/>
                        <a:cs typeface="Times New Roman" panose="02020603050405020304" pitchFamily="18" charset="0"/>
                      </a:endParaRPr>
                    </a:p>
                  </a:txBody>
                  <a:tcPr/>
                </a:tc>
                <a:tc>
                  <a:txBody>
                    <a:bodyPr/>
                    <a:lstStyle/>
                    <a:p>
                      <a:pPr algn="just"/>
                      <a:r>
                        <a:rPr lang="en-IN" sz="2000" i="0" dirty="0">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IN" sz="20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83035393"/>
                  </a:ext>
                </a:extLst>
              </a:tr>
              <a:tr h="2441772">
                <a:tc>
                  <a:txBody>
                    <a:bodyPr/>
                    <a:lstStyle/>
                    <a:p>
                      <a:pPr algn="just"/>
                      <a:r>
                        <a:rPr lang="en-US" sz="2000" i="0" kern="1200" dirty="0">
                          <a:solidFill>
                            <a:schemeClr val="dk1"/>
                          </a:solidFill>
                          <a:effectLst/>
                          <a:latin typeface="Times New Roman" panose="02020603050405020304" pitchFamily="18" charset="0"/>
                          <a:ea typeface="+mn-ea"/>
                          <a:cs typeface="Times New Roman" panose="02020603050405020304" pitchFamily="18" charset="0"/>
                        </a:rPr>
                        <a:t>Analysis of LFCC Feature Extraction in Baby Crying Classification using KNN</a:t>
                      </a:r>
                      <a:endParaRPr lang="en-IN" sz="2000" b="0" i="0" dirty="0">
                        <a:latin typeface="Times New Roman" panose="02020603050405020304" pitchFamily="18" charset="0"/>
                        <a:cs typeface="Times New Roman" panose="02020603050405020304" pitchFamily="18" charset="0"/>
                      </a:endParaRPr>
                    </a:p>
                  </a:txBody>
                  <a:tcPr/>
                </a:tc>
                <a:tc>
                  <a:txBody>
                    <a:bodyPr/>
                    <a:lstStyle/>
                    <a:p>
                      <a:pPr algn="just"/>
                      <a:r>
                        <a:rPr lang="en-US"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Designed a new feature extraction technique called Linear Frequency Cepstral Coefficients (LFCC). LFCC uses a Linear Filter bank K-nearest </a:t>
                      </a:r>
                      <a:r>
                        <a:rPr lang="en-US" sz="2000" b="0" i="0" u="none" strike="noStrike" kern="1200" baseline="0" dirty="0" err="1">
                          <a:solidFill>
                            <a:schemeClr val="dk1"/>
                          </a:solidFill>
                          <a:latin typeface="Times New Roman" panose="02020603050405020304" pitchFamily="18" charset="0"/>
                          <a:ea typeface="+mn-ea"/>
                          <a:cs typeface="Times New Roman" panose="02020603050405020304" pitchFamily="18" charset="0"/>
                        </a:rPr>
                        <a:t>neighbour</a:t>
                      </a:r>
                      <a:r>
                        <a:rPr lang="en-US"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 algorithm is implemented to detect baby is </a:t>
                      </a:r>
                      <a:r>
                        <a:rPr lang="en-IN"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crying or not.</a:t>
                      </a:r>
                      <a:endParaRPr lang="en-IN" sz="20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58619101"/>
                  </a:ext>
                </a:extLst>
              </a:tr>
              <a:tr h="2286000">
                <a:tc>
                  <a:txBody>
                    <a:bodyPr/>
                    <a:lstStyle/>
                    <a:p>
                      <a:pPr algn="just"/>
                      <a:r>
                        <a:rPr lang="en-IN" sz="2000" i="0" kern="1200" dirty="0">
                          <a:solidFill>
                            <a:schemeClr val="dk1"/>
                          </a:solidFill>
                          <a:effectLst/>
                          <a:latin typeface="Times New Roman" panose="02020603050405020304" pitchFamily="18" charset="0"/>
                          <a:ea typeface="+mn-ea"/>
                          <a:cs typeface="Times New Roman" panose="02020603050405020304" pitchFamily="18" charset="0"/>
                        </a:rPr>
                        <a:t> </a:t>
                      </a:r>
                      <a:r>
                        <a:rPr lang="en-US" sz="2000" i="0" kern="1200" dirty="0">
                          <a:solidFill>
                            <a:schemeClr val="dk1"/>
                          </a:solidFill>
                          <a:effectLst/>
                          <a:latin typeface="Times New Roman" panose="02020603050405020304" pitchFamily="18" charset="0"/>
                          <a:ea typeface="+mn-ea"/>
                          <a:cs typeface="Times New Roman" panose="02020603050405020304" pitchFamily="18" charset="0"/>
                        </a:rPr>
                        <a:t>Acoustic Classification of Bird Species.</a:t>
                      </a:r>
                      <a:r>
                        <a:rPr lang="en-US" sz="2000" i="0" dirty="0">
                          <a:effectLst/>
                          <a:latin typeface="Times New Roman" panose="02020603050405020304" pitchFamily="18" charset="0"/>
                          <a:cs typeface="Times New Roman" panose="02020603050405020304" pitchFamily="18" charset="0"/>
                        </a:rPr>
                        <a:t> </a:t>
                      </a:r>
                      <a:endParaRPr lang="en-IN" sz="2000" i="0" dirty="0">
                        <a:latin typeface="Times New Roman" panose="02020603050405020304" pitchFamily="18" charset="0"/>
                        <a:cs typeface="Times New Roman" panose="02020603050405020304" pitchFamily="18" charset="0"/>
                      </a:endParaRPr>
                    </a:p>
                  </a:txBody>
                  <a:tcPr/>
                </a:tc>
                <a:tc>
                  <a:txBody>
                    <a:bodyPr/>
                    <a:lstStyle/>
                    <a:p>
                      <a:pPr algn="just"/>
                      <a:r>
                        <a:rPr lang="en-US" sz="2000" i="0" dirty="0">
                          <a:latin typeface="Times New Roman" panose="02020603050405020304" pitchFamily="18" charset="0"/>
                          <a:cs typeface="Times New Roman" panose="02020603050405020304" pitchFamily="18" charset="0"/>
                        </a:rPr>
                        <a:t>This paper has proposed a method </a:t>
                      </a:r>
                      <a:r>
                        <a:rPr lang="en-US" sz="2000" b="0" i="0" u="none" strike="noStrike" kern="1200" baseline="0" dirty="0">
                          <a:solidFill>
                            <a:schemeClr val="dk1"/>
                          </a:solidFill>
                          <a:latin typeface="Times New Roman" panose="02020603050405020304" pitchFamily="18" charset="0"/>
                          <a:ea typeface="+mn-ea"/>
                          <a:cs typeface="Times New Roman" panose="02020603050405020304" pitchFamily="18" charset="0"/>
                        </a:rPr>
                        <a:t>identifying birds by their sounds using Mel Frequency Cepstral Coefficients (MFCC) and Gammatone Frequency Cepstral Coefficients (GFCC) for classification. The feature set is evaluated using the Support Vector Machine and Artificial Neural Network.</a:t>
                      </a:r>
                      <a:endParaRPr lang="en-IN" sz="200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72742823"/>
                  </a:ext>
                </a:extLst>
              </a:tr>
            </a:tbl>
          </a:graphicData>
        </a:graphic>
      </p:graphicFrame>
    </p:spTree>
    <p:extLst>
      <p:ext uri="{BB962C8B-B14F-4D97-AF65-F5344CB8AC3E}">
        <p14:creationId xmlns:p14="http://schemas.microsoft.com/office/powerpoint/2010/main" val="3693227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7853B-6C64-4BD1-BEDA-D828A16C03A6}"/>
              </a:ext>
            </a:extLst>
          </p:cNvPr>
          <p:cNvSpPr>
            <a:spLocks noGrp="1"/>
          </p:cNvSpPr>
          <p:nvPr>
            <p:ph type="title"/>
          </p:nvPr>
        </p:nvSpPr>
        <p:spPr>
          <a:xfrm>
            <a:off x="457200" y="76200"/>
            <a:ext cx="8229600" cy="868362"/>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Aim and Objective</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D601D7F-C09A-4564-845E-D1749726A72B}"/>
              </a:ext>
            </a:extLst>
          </p:cNvPr>
          <p:cNvSpPr>
            <a:spLocks noGrp="1"/>
          </p:cNvSpPr>
          <p:nvPr>
            <p:ph idx="1"/>
          </p:nvPr>
        </p:nvSpPr>
        <p:spPr/>
        <p:txBody>
          <a:bodyPr/>
          <a:lstStyle/>
          <a:p>
            <a:pPr algn="just"/>
            <a:r>
              <a:rPr lang="en-US" sz="2200" b="0" i="0" u="none" strike="noStrike" baseline="0" dirty="0">
                <a:latin typeface="Times New Roman" panose="02020603050405020304" pitchFamily="18" charset="0"/>
                <a:cs typeface="Times New Roman" panose="02020603050405020304" pitchFamily="18" charset="0"/>
              </a:rPr>
              <a:t>To create a dataset of bird sound.</a:t>
            </a:r>
          </a:p>
          <a:p>
            <a:pPr algn="just"/>
            <a:r>
              <a:rPr lang="en-US" sz="2200" b="0" i="0" u="none" strike="noStrike" baseline="0" dirty="0">
                <a:latin typeface="Times New Roman" panose="02020603050405020304" pitchFamily="18" charset="0"/>
                <a:cs typeface="Times New Roman" panose="02020603050405020304" pitchFamily="18" charset="0"/>
              </a:rPr>
              <a:t>To study and Extract features from bird sound.</a:t>
            </a:r>
          </a:p>
          <a:p>
            <a:pPr algn="just"/>
            <a:r>
              <a:rPr lang="en-US" sz="2200" b="0" i="0" u="none" strike="noStrike" baseline="0" dirty="0">
                <a:latin typeface="Times New Roman" panose="02020603050405020304" pitchFamily="18" charset="0"/>
                <a:cs typeface="Times New Roman" panose="02020603050405020304" pitchFamily="18" charset="0"/>
              </a:rPr>
              <a:t>To select optimum feature for bird classification.</a:t>
            </a:r>
          </a:p>
          <a:p>
            <a:pPr algn="just"/>
            <a:r>
              <a:rPr lang="en-US" sz="2200" b="0" i="0" u="none" strike="noStrike" baseline="0" dirty="0">
                <a:latin typeface="Times New Roman" panose="02020603050405020304" pitchFamily="18" charset="0"/>
                <a:cs typeface="Times New Roman" panose="02020603050405020304" pitchFamily="18" charset="0"/>
              </a:rPr>
              <a:t>To perform classification of bird species using different machine learning algorithms.</a:t>
            </a:r>
          </a:p>
          <a:p>
            <a:pPr algn="just"/>
            <a:r>
              <a:rPr lang="en-US" sz="2200" b="0" i="0" u="none" strike="noStrike" baseline="0" dirty="0">
                <a:latin typeface="Times New Roman" panose="02020603050405020304" pitchFamily="18" charset="0"/>
                <a:cs typeface="Times New Roman" panose="02020603050405020304" pitchFamily="18" charset="0"/>
              </a:rPr>
              <a:t>To compare the performance of various classification algorithms.</a:t>
            </a:r>
            <a:endParaRPr lang="en-IN" sz="22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0E6E580-B0F5-4EA9-A6FC-D7076BE82389}"/>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FA59144D-1D95-4E6F-830B-211257E264AA}"/>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736CD41D-0987-4AEF-A1A4-58A7BABE5FA3}"/>
              </a:ext>
            </a:extLst>
          </p:cNvPr>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3673087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9D12BBB-05B0-42FF-A6B5-9D42CB025AA8}"/>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707BDF7E-2095-4415-BF1E-E25BD6B3CF7E}"/>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69D3D690-715C-42ED-AA9E-02D687A4411A}"/>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8" name="TextBox 7">
            <a:extLst>
              <a:ext uri="{FF2B5EF4-FFF2-40B4-BE49-F238E27FC236}">
                <a16:creationId xmlns:a16="http://schemas.microsoft.com/office/drawing/2014/main" id="{9145D6F6-66B3-4DAE-A151-D4F294CE2ACC}"/>
              </a:ext>
            </a:extLst>
          </p:cNvPr>
          <p:cNvSpPr txBox="1"/>
          <p:nvPr/>
        </p:nvSpPr>
        <p:spPr>
          <a:xfrm>
            <a:off x="478766" y="137960"/>
            <a:ext cx="5943600" cy="523220"/>
          </a:xfrm>
          <a:prstGeom prst="rect">
            <a:avLst/>
          </a:prstGeom>
          <a:noFill/>
        </p:spPr>
        <p:txBody>
          <a:bodyPr wrap="square" rtlCol="0">
            <a:spAutoFit/>
          </a:bodyPr>
          <a:lstStyle/>
          <a:p>
            <a:r>
              <a:rPr lang="en-US" sz="2800" dirty="0">
                <a:solidFill>
                  <a:srgbClr val="FF0000"/>
                </a:solidFill>
                <a:latin typeface="Times New Roman" panose="02020603050405020304" pitchFamily="18" charset="0"/>
                <a:cs typeface="Times New Roman" panose="02020603050405020304" pitchFamily="18" charset="0"/>
              </a:rPr>
              <a:t>Dataset</a:t>
            </a:r>
            <a:endParaRPr lang="en-IN" sz="2800" dirty="0">
              <a:solidFill>
                <a:srgbClr val="FF0000"/>
              </a:solidFill>
              <a:latin typeface="Times New Roman" panose="02020603050405020304" pitchFamily="18" charset="0"/>
              <a:cs typeface="Times New Roman" panose="02020603050405020304" pitchFamily="18" charset="0"/>
            </a:endParaRPr>
          </a:p>
        </p:txBody>
      </p:sp>
      <p:graphicFrame>
        <p:nvGraphicFramePr>
          <p:cNvPr id="9" name="Content Placeholder 8">
            <a:extLst>
              <a:ext uri="{FF2B5EF4-FFF2-40B4-BE49-F238E27FC236}">
                <a16:creationId xmlns:a16="http://schemas.microsoft.com/office/drawing/2014/main" id="{3EA98FD6-7EB0-49F8-B847-86E5F833920D}"/>
              </a:ext>
            </a:extLst>
          </p:cNvPr>
          <p:cNvGraphicFramePr>
            <a:graphicFrameLocks noGrp="1"/>
          </p:cNvGraphicFramePr>
          <p:nvPr>
            <p:ph idx="1"/>
            <p:extLst>
              <p:ext uri="{D42A27DB-BD31-4B8C-83A1-F6EECF244321}">
                <p14:modId xmlns:p14="http://schemas.microsoft.com/office/powerpoint/2010/main" val="2496835272"/>
              </p:ext>
            </p:extLst>
          </p:nvPr>
        </p:nvGraphicFramePr>
        <p:xfrm>
          <a:off x="457200" y="685801"/>
          <a:ext cx="8001000" cy="4618476"/>
        </p:xfrm>
        <a:graphic>
          <a:graphicData uri="http://schemas.openxmlformats.org/drawingml/2006/table">
            <a:tbl>
              <a:tblPr firstRow="1" firstCol="1" lastRow="1" lastCol="1" bandRow="1" bandCol="1">
                <a:tableStyleId>{5940675A-B579-460E-94D1-54222C63F5DA}</a:tableStyleId>
              </a:tblPr>
              <a:tblGrid>
                <a:gridCol w="838200">
                  <a:extLst>
                    <a:ext uri="{9D8B030D-6E8A-4147-A177-3AD203B41FA5}">
                      <a16:colId xmlns:a16="http://schemas.microsoft.com/office/drawing/2014/main" val="2672364249"/>
                    </a:ext>
                  </a:extLst>
                </a:gridCol>
                <a:gridCol w="2743200">
                  <a:extLst>
                    <a:ext uri="{9D8B030D-6E8A-4147-A177-3AD203B41FA5}">
                      <a16:colId xmlns:a16="http://schemas.microsoft.com/office/drawing/2014/main" val="1242016113"/>
                    </a:ext>
                  </a:extLst>
                </a:gridCol>
                <a:gridCol w="2590800">
                  <a:extLst>
                    <a:ext uri="{9D8B030D-6E8A-4147-A177-3AD203B41FA5}">
                      <a16:colId xmlns:a16="http://schemas.microsoft.com/office/drawing/2014/main" val="3099233197"/>
                    </a:ext>
                  </a:extLst>
                </a:gridCol>
                <a:gridCol w="1828800">
                  <a:extLst>
                    <a:ext uri="{9D8B030D-6E8A-4147-A177-3AD203B41FA5}">
                      <a16:colId xmlns:a16="http://schemas.microsoft.com/office/drawing/2014/main" val="188586926"/>
                    </a:ext>
                  </a:extLst>
                </a:gridCol>
              </a:tblGrid>
              <a:tr h="525402">
                <a:tc>
                  <a:txBody>
                    <a:bodyPr/>
                    <a:lstStyle/>
                    <a:p>
                      <a:pPr marL="77470" algn="ctr">
                        <a:spcBef>
                          <a:spcPts val="160"/>
                        </a:spcBef>
                      </a:pPr>
                      <a:r>
                        <a:rPr lang="en-US" sz="1800" b="1" dirty="0">
                          <a:effectLst/>
                          <a:latin typeface="Times New Roman" panose="02020603050405020304" pitchFamily="18" charset="0"/>
                          <a:cs typeface="Times New Roman" panose="02020603050405020304" pitchFamily="18" charset="0"/>
                        </a:rPr>
                        <a:t>Sr. No.</a:t>
                      </a:r>
                      <a:endParaRPr lang="en-IN" sz="1800" b="1"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b="1">
                          <a:effectLst/>
                          <a:latin typeface="Times New Roman" panose="02020603050405020304" pitchFamily="18" charset="0"/>
                          <a:cs typeface="Times New Roman" panose="02020603050405020304" pitchFamily="18" charset="0"/>
                        </a:rPr>
                        <a:t>Bird species</a:t>
                      </a:r>
                      <a:endParaRPr lang="en-IN" sz="1800" b="1">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b="1">
                          <a:effectLst/>
                          <a:latin typeface="Times New Roman" panose="02020603050405020304" pitchFamily="18" charset="0"/>
                          <a:cs typeface="Times New Roman" panose="02020603050405020304" pitchFamily="18" charset="0"/>
                        </a:rPr>
                        <a:t>Scientific name</a:t>
                      </a:r>
                      <a:endParaRPr lang="en-IN" sz="1800" b="1">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8105" algn="ctr">
                        <a:spcBef>
                          <a:spcPts val="160"/>
                        </a:spcBef>
                        <a:spcAft>
                          <a:spcPts val="0"/>
                        </a:spcAft>
                      </a:pPr>
                      <a:r>
                        <a:rPr lang="en-US" sz="1800" b="1" dirty="0">
                          <a:effectLst/>
                          <a:latin typeface="Times New Roman" panose="02020603050405020304" pitchFamily="18" charset="0"/>
                          <a:cs typeface="Times New Roman" panose="02020603050405020304" pitchFamily="18" charset="0"/>
                        </a:rPr>
                        <a:t>Number of Files</a:t>
                      </a:r>
                      <a:endParaRPr lang="en-IN" sz="1800" b="1" dirty="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489951959"/>
                  </a:ext>
                </a:extLst>
              </a:tr>
              <a:tr h="332866">
                <a:tc>
                  <a:txBody>
                    <a:bodyPr/>
                    <a:lstStyle/>
                    <a:p>
                      <a:pPr marL="77470" algn="ctr">
                        <a:spcBef>
                          <a:spcPts val="160"/>
                        </a:spcBef>
                      </a:pPr>
                      <a:r>
                        <a:rPr lang="en-US" sz="1800" dirty="0">
                          <a:effectLst/>
                          <a:latin typeface="Times New Roman" panose="02020603050405020304" pitchFamily="18" charset="0"/>
                          <a:cs typeface="Times New Roman" panose="02020603050405020304" pitchFamily="18" charset="0"/>
                        </a:rPr>
                        <a:t>1</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Red-whiskered Bulbul(RB)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Pycnonotus jocosus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8105" algn="ctr">
                        <a:spcBef>
                          <a:spcPts val="160"/>
                        </a:spcBef>
                        <a:spcAft>
                          <a:spcPts val="0"/>
                        </a:spcAft>
                      </a:pPr>
                      <a:r>
                        <a:rPr lang="en-US" sz="1800">
                          <a:effectLst/>
                          <a:latin typeface="Times New Roman" panose="02020603050405020304" pitchFamily="18" charset="0"/>
                          <a:cs typeface="Times New Roman" panose="02020603050405020304" pitchFamily="18" charset="0"/>
                        </a:rPr>
                        <a:t>236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778110765"/>
                  </a:ext>
                </a:extLst>
              </a:tr>
              <a:tr h="332866">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Great Tilt(GT)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Parus major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8105" algn="ctr">
                        <a:spcBef>
                          <a:spcPts val="160"/>
                        </a:spcBef>
                        <a:spcAft>
                          <a:spcPts val="0"/>
                        </a:spcAft>
                      </a:pPr>
                      <a:r>
                        <a:rPr lang="en-US" sz="1800">
                          <a:effectLst/>
                          <a:latin typeface="Times New Roman" panose="02020603050405020304" pitchFamily="18" charset="0"/>
                          <a:cs typeface="Times New Roman" panose="02020603050405020304" pitchFamily="18" charset="0"/>
                        </a:rPr>
                        <a:t>243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498895046"/>
                  </a:ext>
                </a:extLst>
              </a:tr>
              <a:tr h="332866">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Willow Warbler(WW)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Phylloscopus trochilus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8105" algn="ctr">
                        <a:spcBef>
                          <a:spcPts val="160"/>
                        </a:spcBef>
                        <a:spcAft>
                          <a:spcPts val="0"/>
                        </a:spcAft>
                      </a:pPr>
                      <a:r>
                        <a:rPr lang="en-US" sz="1800">
                          <a:effectLst/>
                          <a:latin typeface="Times New Roman" panose="02020603050405020304" pitchFamily="18" charset="0"/>
                          <a:cs typeface="Times New Roman" panose="02020603050405020304" pitchFamily="18" charset="0"/>
                        </a:rPr>
                        <a:t>262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594433458"/>
                  </a:ext>
                </a:extLst>
              </a:tr>
              <a:tr h="525402">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dirty="0">
                          <a:effectLst/>
                          <a:latin typeface="Times New Roman" panose="02020603050405020304" pitchFamily="18" charset="0"/>
                          <a:cs typeface="Times New Roman" panose="02020603050405020304" pitchFamily="18" charset="0"/>
                        </a:rPr>
                        <a:t>European Pied Flycatcher(EF)</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Ficedula hypoleuca</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8105" algn="ctr">
                        <a:spcBef>
                          <a:spcPts val="160"/>
                        </a:spcBef>
                        <a:spcAft>
                          <a:spcPts val="0"/>
                        </a:spcAft>
                      </a:pPr>
                      <a:r>
                        <a:rPr lang="en-US" sz="1800">
                          <a:effectLst/>
                          <a:latin typeface="Times New Roman" panose="02020603050405020304" pitchFamily="18" charset="0"/>
                          <a:cs typeface="Times New Roman" panose="02020603050405020304" pitchFamily="18" charset="0"/>
                        </a:rPr>
                        <a:t>264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876035444"/>
                  </a:ext>
                </a:extLst>
              </a:tr>
              <a:tr h="332866">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Common Blackbird(CB)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Turdus merula</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8105" algn="ctr">
                        <a:spcBef>
                          <a:spcPts val="160"/>
                        </a:spcBef>
                        <a:spcAft>
                          <a:spcPts val="0"/>
                        </a:spcAft>
                      </a:pPr>
                      <a:r>
                        <a:rPr lang="en-US" sz="1800">
                          <a:effectLst/>
                          <a:latin typeface="Times New Roman" panose="02020603050405020304" pitchFamily="18" charset="0"/>
                          <a:cs typeface="Times New Roman" panose="02020603050405020304" pitchFamily="18" charset="0"/>
                        </a:rPr>
                        <a:t>256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727030800"/>
                  </a:ext>
                </a:extLst>
              </a:tr>
              <a:tr h="332866">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Common Redstart(CR)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Phoenicurus phoenicurus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8105" algn="ctr">
                        <a:spcBef>
                          <a:spcPts val="160"/>
                        </a:spcBef>
                        <a:spcAft>
                          <a:spcPts val="0"/>
                        </a:spcAft>
                      </a:pPr>
                      <a:r>
                        <a:rPr lang="en-US" sz="1800">
                          <a:effectLst/>
                          <a:latin typeface="Times New Roman" panose="02020603050405020304" pitchFamily="18" charset="0"/>
                          <a:cs typeface="Times New Roman" panose="02020603050405020304" pitchFamily="18" charset="0"/>
                        </a:rPr>
                        <a:t>188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413128449"/>
                  </a:ext>
                </a:extLst>
              </a:tr>
              <a:tr h="525402">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dirty="0">
                          <a:effectLst/>
                          <a:latin typeface="Times New Roman" panose="02020603050405020304" pitchFamily="18" charset="0"/>
                          <a:cs typeface="Times New Roman" panose="02020603050405020304" pitchFamily="18" charset="0"/>
                        </a:rPr>
                        <a:t>Greenish Warbler(GW)</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phylloscopus torchiloides viridanus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8105" algn="ctr">
                        <a:spcBef>
                          <a:spcPts val="160"/>
                        </a:spcBef>
                        <a:spcAft>
                          <a:spcPts val="0"/>
                        </a:spcAft>
                      </a:pPr>
                      <a:r>
                        <a:rPr lang="en-US" sz="1800">
                          <a:effectLst/>
                          <a:latin typeface="Times New Roman" panose="02020603050405020304" pitchFamily="18" charset="0"/>
                          <a:cs typeface="Times New Roman" panose="02020603050405020304" pitchFamily="18" charset="0"/>
                        </a:rPr>
                        <a:t>207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362872071"/>
                  </a:ext>
                </a:extLst>
              </a:tr>
              <a:tr h="332866">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dirty="0">
                          <a:effectLst/>
                          <a:latin typeface="Times New Roman" panose="02020603050405020304" pitchFamily="18" charset="0"/>
                          <a:cs typeface="Times New Roman" panose="02020603050405020304" pitchFamily="18" charset="0"/>
                        </a:rPr>
                        <a:t>Blue Jay(BJ)</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Cyanocitta cristata</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8105" algn="ctr">
                        <a:spcBef>
                          <a:spcPts val="160"/>
                        </a:spcBef>
                        <a:spcAft>
                          <a:spcPts val="0"/>
                        </a:spcAft>
                      </a:pPr>
                      <a:r>
                        <a:rPr lang="en-US" sz="1800">
                          <a:effectLst/>
                          <a:latin typeface="Times New Roman" panose="02020603050405020304" pitchFamily="18" charset="0"/>
                          <a:cs typeface="Times New Roman" panose="02020603050405020304" pitchFamily="18" charset="0"/>
                        </a:rPr>
                        <a:t>276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861824177"/>
                  </a:ext>
                </a:extLst>
              </a:tr>
              <a:tr h="332866">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Common Snipe(CS)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Gallinago gallinago</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8105" algn="ctr">
                        <a:spcBef>
                          <a:spcPts val="160"/>
                        </a:spcBef>
                        <a:spcAft>
                          <a:spcPts val="0"/>
                        </a:spcAft>
                      </a:pPr>
                      <a:r>
                        <a:rPr lang="en-US" sz="1800">
                          <a:effectLst/>
                          <a:latin typeface="Times New Roman" panose="02020603050405020304" pitchFamily="18" charset="0"/>
                          <a:cs typeface="Times New Roman" panose="02020603050405020304" pitchFamily="18" charset="0"/>
                        </a:rPr>
                        <a:t>244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99335743"/>
                  </a:ext>
                </a:extLst>
              </a:tr>
              <a:tr h="332866">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10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Whistling Duck(WD)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1800">
                          <a:effectLst/>
                          <a:latin typeface="Times New Roman" panose="02020603050405020304" pitchFamily="18" charset="0"/>
                          <a:cs typeface="Times New Roman" panose="02020603050405020304" pitchFamily="18" charset="0"/>
                        </a:rPr>
                        <a:t>Denfrocygna viduta</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8105" algn="ctr">
                        <a:spcBef>
                          <a:spcPts val="160"/>
                        </a:spcBef>
                        <a:spcAft>
                          <a:spcPts val="0"/>
                        </a:spcAft>
                      </a:pPr>
                      <a:r>
                        <a:rPr lang="en-US" sz="1800">
                          <a:effectLst/>
                          <a:latin typeface="Times New Roman" panose="02020603050405020304" pitchFamily="18" charset="0"/>
                          <a:cs typeface="Times New Roman" panose="02020603050405020304" pitchFamily="18" charset="0"/>
                        </a:rPr>
                        <a:t>182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20703550"/>
                  </a:ext>
                </a:extLst>
              </a:tr>
              <a:tr h="332866">
                <a:tc>
                  <a:txBody>
                    <a:bodyPr/>
                    <a:lstStyle/>
                    <a:p>
                      <a:pPr marL="77470" algn="ctr">
                        <a:spcBef>
                          <a:spcPts val="85"/>
                        </a:spcBef>
                        <a:spcAft>
                          <a:spcPts val="0"/>
                        </a:spcAft>
                      </a:pPr>
                      <a:r>
                        <a:rPr lang="en-US"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85"/>
                        </a:spcBef>
                        <a:spcAft>
                          <a:spcPts val="0"/>
                        </a:spcAft>
                      </a:pPr>
                      <a:r>
                        <a:rPr lang="en-US"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85"/>
                        </a:spcBef>
                        <a:spcAft>
                          <a:spcPts val="0"/>
                        </a:spcAft>
                      </a:pPr>
                      <a:r>
                        <a:rPr lang="en-US"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8105" algn="ctr">
                        <a:spcBef>
                          <a:spcPts val="160"/>
                        </a:spcBef>
                        <a:spcAft>
                          <a:spcPts val="0"/>
                        </a:spcAft>
                      </a:pPr>
                      <a:r>
                        <a:rPr lang="en-US" sz="1800" b="1" dirty="0">
                          <a:effectLst/>
                          <a:latin typeface="Times New Roman" panose="02020603050405020304" pitchFamily="18" charset="0"/>
                          <a:cs typeface="Times New Roman" panose="02020603050405020304" pitchFamily="18" charset="0"/>
                        </a:rPr>
                        <a:t>Total 2358</a:t>
                      </a:r>
                      <a:endParaRPr lang="en-IN" sz="1800" b="1" dirty="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555600695"/>
                  </a:ext>
                </a:extLst>
              </a:tr>
            </a:tbl>
          </a:graphicData>
        </a:graphic>
      </p:graphicFrame>
    </p:spTree>
    <p:extLst>
      <p:ext uri="{BB962C8B-B14F-4D97-AF65-F5344CB8AC3E}">
        <p14:creationId xmlns:p14="http://schemas.microsoft.com/office/powerpoint/2010/main" val="3712541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1BDF1-F291-4948-8026-7D1F32BAE997}"/>
              </a:ext>
            </a:extLst>
          </p:cNvPr>
          <p:cNvSpPr>
            <a:spLocks noGrp="1"/>
          </p:cNvSpPr>
          <p:nvPr>
            <p:ph type="title"/>
          </p:nvPr>
        </p:nvSpPr>
        <p:spPr>
          <a:xfrm>
            <a:off x="457200" y="-117494"/>
            <a:ext cx="8229600" cy="636494"/>
          </a:xfrm>
        </p:spPr>
        <p:txBody>
          <a:bodyPr/>
          <a:lstStyle/>
          <a:p>
            <a:pPr algn="l"/>
            <a:br>
              <a:rPr lang="en-US" dirty="0">
                <a:solidFill>
                  <a:srgbClr val="FF0000"/>
                </a:solidFill>
                <a:latin typeface="Times New Roman" panose="02020603050405020304" pitchFamily="18" charset="0"/>
                <a:cs typeface="Times New Roman" panose="02020603050405020304" pitchFamily="18" charset="0"/>
              </a:rPr>
            </a:br>
            <a:r>
              <a:rPr lang="en-US" dirty="0">
                <a:solidFill>
                  <a:srgbClr val="FF0000"/>
                </a:solidFill>
                <a:latin typeface="Times New Roman" panose="02020603050405020304" pitchFamily="18" charset="0"/>
                <a:cs typeface="Times New Roman" panose="02020603050405020304" pitchFamily="18" charset="0"/>
              </a:rPr>
              <a:t>Feature Extraction</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0EE7C41-4764-4565-80A3-791F537CB7D5}"/>
              </a:ext>
            </a:extLst>
          </p:cNvPr>
          <p:cNvSpPr>
            <a:spLocks noGrp="1"/>
          </p:cNvSpPr>
          <p:nvPr>
            <p:ph idx="1"/>
          </p:nvPr>
        </p:nvSpPr>
        <p:spPr>
          <a:xfrm>
            <a:off x="457200" y="762000"/>
            <a:ext cx="8229600" cy="4525963"/>
          </a:xfrm>
        </p:spPr>
        <p:txBody>
          <a:bodyPr/>
          <a:lstStyle/>
          <a:p>
            <a:pPr marL="514350" indent="-514350">
              <a:buAutoNum type="arabicParenR"/>
            </a:pPr>
            <a:endParaRPr lang="en-IN" sz="2400" dirty="0">
              <a:latin typeface="Times New Roman" panose="02020603050405020304" pitchFamily="18" charset="0"/>
              <a:cs typeface="Times New Roman" panose="02020603050405020304" pitchFamily="18" charset="0"/>
            </a:endParaRPr>
          </a:p>
          <a:p>
            <a:pPr marL="514350" indent="-514350">
              <a:buAutoNum type="arabicParenR"/>
            </a:pPr>
            <a:r>
              <a:rPr lang="en-IN" sz="2400" dirty="0">
                <a:latin typeface="Times New Roman" panose="02020603050405020304" pitchFamily="18" charset="0"/>
                <a:cs typeface="Times New Roman" panose="02020603050405020304" pitchFamily="18" charset="0"/>
              </a:rPr>
              <a:t>Mel – Frequency Cepstral Coefficients (MFCC)</a:t>
            </a:r>
          </a:p>
          <a:p>
            <a:pPr marL="514350" indent="-514350">
              <a:buAutoNum type="arabicParenR"/>
            </a:pPr>
            <a:r>
              <a:rPr lang="en-IN" sz="2400" dirty="0">
                <a:latin typeface="Times New Roman" panose="02020603050405020304" pitchFamily="18" charset="0"/>
                <a:cs typeface="Times New Roman" panose="02020603050405020304" pitchFamily="18" charset="0"/>
              </a:rPr>
              <a:t>Linear Frequency Cepstral Coefficient (LFCC)</a:t>
            </a:r>
          </a:p>
          <a:p>
            <a:pPr marL="514350" indent="-514350">
              <a:buAutoNum type="arabicParenR"/>
            </a:pPr>
            <a:r>
              <a:rPr lang="en-IN" sz="2400" dirty="0">
                <a:solidFill>
                  <a:srgbClr val="202124"/>
                </a:solidFill>
                <a:latin typeface="Times New Roman" panose="02020603050405020304" pitchFamily="18" charset="0"/>
                <a:cs typeface="Times New Roman" panose="02020603050405020304" pitchFamily="18" charset="0"/>
              </a:rPr>
              <a:t>G</a:t>
            </a:r>
            <a:r>
              <a:rPr lang="en-IN" sz="2400" b="0" i="0" dirty="0">
                <a:solidFill>
                  <a:srgbClr val="202124"/>
                </a:solidFill>
                <a:effectLst/>
                <a:latin typeface="Times New Roman" panose="02020603050405020304" pitchFamily="18" charset="0"/>
                <a:cs typeface="Times New Roman" panose="02020603050405020304" pitchFamily="18" charset="0"/>
              </a:rPr>
              <a:t>ammatone frequency cepstral coefficient (GFCC)</a:t>
            </a:r>
          </a:p>
          <a:p>
            <a:pPr marL="514350" indent="-514350">
              <a:buAutoNum type="arabicParenR"/>
            </a:pP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9BE70C4-BA7B-42FD-8C50-9F045473B7F9}"/>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108BACA8-3A6E-4DAB-A996-0344303D5C78}"/>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DC605BD2-4A00-4CE8-8663-60024568E2D9}"/>
              </a:ext>
            </a:extLst>
          </p:cNvPr>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1174284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E97F02E-B0E0-4945-B659-64CD36403715}"/>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0F01F97C-332D-4144-A691-2DB553661437}"/>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AFBAEBA6-C366-40D9-B5B7-D3578915DFC7}"/>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11" name="Rectangle 10">
            <a:extLst>
              <a:ext uri="{FF2B5EF4-FFF2-40B4-BE49-F238E27FC236}">
                <a16:creationId xmlns:a16="http://schemas.microsoft.com/office/drawing/2014/main" id="{96EFE9AE-7448-4E3E-B67E-A0F61B01C07F}"/>
              </a:ext>
            </a:extLst>
          </p:cNvPr>
          <p:cNvSpPr/>
          <p:nvPr/>
        </p:nvSpPr>
        <p:spPr>
          <a:xfrm>
            <a:off x="3886200" y="671446"/>
            <a:ext cx="1905000" cy="8047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Framing</a:t>
            </a:r>
            <a:endParaRPr lang="en-IN" sz="2400"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E39DA7E9-33AB-446A-9D67-B4B2460F6BCE}"/>
              </a:ext>
            </a:extLst>
          </p:cNvPr>
          <p:cNvSpPr/>
          <p:nvPr/>
        </p:nvSpPr>
        <p:spPr>
          <a:xfrm>
            <a:off x="972628" y="671446"/>
            <a:ext cx="1905000" cy="8047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Pre-Emphasis</a:t>
            </a:r>
            <a:endParaRPr lang="en-IN" sz="2400"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3E679AA4-E890-48B9-9FD8-6E4B7F4A301C}"/>
              </a:ext>
            </a:extLst>
          </p:cNvPr>
          <p:cNvSpPr/>
          <p:nvPr/>
        </p:nvSpPr>
        <p:spPr>
          <a:xfrm>
            <a:off x="6790424" y="651628"/>
            <a:ext cx="1905000" cy="8047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Windowing</a:t>
            </a:r>
            <a:endParaRPr lang="en-IN" sz="2400"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6460596A-7932-4AC4-B6E8-6254E3607AB9}"/>
              </a:ext>
            </a:extLst>
          </p:cNvPr>
          <p:cNvSpPr/>
          <p:nvPr/>
        </p:nvSpPr>
        <p:spPr>
          <a:xfrm>
            <a:off x="6781800" y="3962400"/>
            <a:ext cx="1905000" cy="8047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Filter Bank</a:t>
            </a:r>
            <a:endParaRPr lang="en-IN" sz="2400" dirty="0">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8B86B901-FA68-40E1-9C1E-CEC68078E499}"/>
              </a:ext>
            </a:extLst>
          </p:cNvPr>
          <p:cNvSpPr/>
          <p:nvPr/>
        </p:nvSpPr>
        <p:spPr>
          <a:xfrm>
            <a:off x="6757358" y="2307014"/>
            <a:ext cx="1905000" cy="8047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FFT</a:t>
            </a:r>
            <a:endParaRPr lang="en-IN" sz="2400" dirty="0">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A599984B-B891-4ADF-9560-69C49453D46A}"/>
              </a:ext>
            </a:extLst>
          </p:cNvPr>
          <p:cNvSpPr/>
          <p:nvPr/>
        </p:nvSpPr>
        <p:spPr>
          <a:xfrm>
            <a:off x="3886200" y="3962400"/>
            <a:ext cx="1905000" cy="8047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Log</a:t>
            </a:r>
            <a:endParaRPr lang="en-IN" sz="2400" dirty="0">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0765EB67-189D-4965-B792-E0966EEA216D}"/>
              </a:ext>
            </a:extLst>
          </p:cNvPr>
          <p:cNvSpPr/>
          <p:nvPr/>
        </p:nvSpPr>
        <p:spPr>
          <a:xfrm>
            <a:off x="914400" y="3962400"/>
            <a:ext cx="1905000" cy="8047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DCT</a:t>
            </a:r>
            <a:endParaRPr lang="en-IN" sz="24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6C2826D2-4BE4-45C1-9808-37C72072FDC5}"/>
              </a:ext>
            </a:extLst>
          </p:cNvPr>
          <p:cNvSpPr txBox="1"/>
          <p:nvPr/>
        </p:nvSpPr>
        <p:spPr>
          <a:xfrm>
            <a:off x="0" y="3440668"/>
            <a:ext cx="1676400" cy="369332"/>
          </a:xfrm>
          <a:prstGeom prst="rect">
            <a:avLst/>
          </a:prstGeom>
          <a:noFill/>
        </p:spPr>
        <p:txBody>
          <a:bodyPr wrap="square" rtlCol="0">
            <a:spAutoFit/>
          </a:bodyPr>
          <a:lstStyle/>
          <a:p>
            <a:r>
              <a:rPr lang="en-US" dirty="0"/>
              <a:t>Coefficients</a:t>
            </a:r>
            <a:endParaRPr lang="en-IN" dirty="0"/>
          </a:p>
        </p:txBody>
      </p:sp>
      <p:sp>
        <p:nvSpPr>
          <p:cNvPr id="21" name="TextBox 20">
            <a:extLst>
              <a:ext uri="{FF2B5EF4-FFF2-40B4-BE49-F238E27FC236}">
                <a16:creationId xmlns:a16="http://schemas.microsoft.com/office/drawing/2014/main" id="{DB3A33F9-FB8C-4DB1-8174-1B56AC426EA0}"/>
              </a:ext>
            </a:extLst>
          </p:cNvPr>
          <p:cNvSpPr txBox="1"/>
          <p:nvPr/>
        </p:nvSpPr>
        <p:spPr>
          <a:xfrm>
            <a:off x="35944" y="1160145"/>
            <a:ext cx="1447800" cy="646331"/>
          </a:xfrm>
          <a:prstGeom prst="rect">
            <a:avLst/>
          </a:prstGeom>
          <a:noFill/>
        </p:spPr>
        <p:txBody>
          <a:bodyPr wrap="square" rtlCol="0">
            <a:spAutoFit/>
          </a:bodyPr>
          <a:lstStyle/>
          <a:p>
            <a:r>
              <a:rPr lang="en-US" dirty="0"/>
              <a:t>Speech Signal</a:t>
            </a:r>
            <a:endParaRPr lang="en-IN" dirty="0"/>
          </a:p>
        </p:txBody>
      </p:sp>
      <p:sp>
        <p:nvSpPr>
          <p:cNvPr id="22" name="TextBox 21">
            <a:extLst>
              <a:ext uri="{FF2B5EF4-FFF2-40B4-BE49-F238E27FC236}">
                <a16:creationId xmlns:a16="http://schemas.microsoft.com/office/drawing/2014/main" id="{77CC6D40-4BBC-412B-9218-2E69DCC175D5}"/>
              </a:ext>
            </a:extLst>
          </p:cNvPr>
          <p:cNvSpPr txBox="1"/>
          <p:nvPr/>
        </p:nvSpPr>
        <p:spPr>
          <a:xfrm>
            <a:off x="533400" y="5029200"/>
            <a:ext cx="678180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Fig. 1:  Block Diagram of Feature Extraction </a:t>
            </a:r>
            <a:r>
              <a:rPr lang="en-US" sz="2400" b="1" dirty="0">
                <a:latin typeface="Times New Roman" panose="02020603050405020304" pitchFamily="18" charset="0"/>
                <a:cs typeface="Times New Roman" panose="02020603050405020304" pitchFamily="18" charset="0"/>
              </a:rPr>
              <a:t> </a:t>
            </a:r>
            <a:endParaRPr lang="en-IN" sz="2400" b="1" dirty="0">
              <a:latin typeface="Times New Roman" panose="02020603050405020304" pitchFamily="18" charset="0"/>
              <a:cs typeface="Times New Roman" panose="02020603050405020304" pitchFamily="18" charset="0"/>
            </a:endParaRPr>
          </a:p>
        </p:txBody>
      </p:sp>
      <p:cxnSp>
        <p:nvCxnSpPr>
          <p:cNvPr id="26" name="Straight Arrow Connector 25">
            <a:extLst>
              <a:ext uri="{FF2B5EF4-FFF2-40B4-BE49-F238E27FC236}">
                <a16:creationId xmlns:a16="http://schemas.microsoft.com/office/drawing/2014/main" id="{66B15ED9-6A60-41C3-BA56-3F036579AE6C}"/>
              </a:ext>
            </a:extLst>
          </p:cNvPr>
          <p:cNvCxnSpPr>
            <a:cxnSpLocks/>
          </p:cNvCxnSpPr>
          <p:nvPr/>
        </p:nvCxnSpPr>
        <p:spPr>
          <a:xfrm>
            <a:off x="2877628" y="1073820"/>
            <a:ext cx="10085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B444A6AA-0328-43C0-A9AF-51CBDA45AFBC}"/>
              </a:ext>
            </a:extLst>
          </p:cNvPr>
          <p:cNvCxnSpPr/>
          <p:nvPr/>
        </p:nvCxnSpPr>
        <p:spPr>
          <a:xfrm>
            <a:off x="5773228" y="1073820"/>
            <a:ext cx="10085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FAF40E59-EB89-4735-9558-FD67EBEC05C6}"/>
              </a:ext>
            </a:extLst>
          </p:cNvPr>
          <p:cNvCxnSpPr>
            <a:cxnSpLocks/>
            <a:endCxn id="17" idx="0"/>
          </p:cNvCxnSpPr>
          <p:nvPr/>
        </p:nvCxnSpPr>
        <p:spPr>
          <a:xfrm>
            <a:off x="7709858" y="1456376"/>
            <a:ext cx="0" cy="8506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6AEFC1B4-3C77-4378-AF41-98AC8157E786}"/>
              </a:ext>
            </a:extLst>
          </p:cNvPr>
          <p:cNvCxnSpPr/>
          <p:nvPr/>
        </p:nvCxnSpPr>
        <p:spPr>
          <a:xfrm>
            <a:off x="-76200" y="1066800"/>
            <a:ext cx="10085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7198F19F-171C-4A21-9FCD-ECBEE27239A1}"/>
              </a:ext>
            </a:extLst>
          </p:cNvPr>
          <p:cNvCxnSpPr>
            <a:cxnSpLocks/>
          </p:cNvCxnSpPr>
          <p:nvPr/>
        </p:nvCxnSpPr>
        <p:spPr>
          <a:xfrm flipH="1">
            <a:off x="35944" y="4364774"/>
            <a:ext cx="87845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F5D5AFED-6F16-4C3A-931C-44150AB98441}"/>
              </a:ext>
            </a:extLst>
          </p:cNvPr>
          <p:cNvCxnSpPr>
            <a:cxnSpLocks/>
            <a:stCxn id="18" idx="1"/>
            <a:endCxn id="19" idx="3"/>
          </p:cNvCxnSpPr>
          <p:nvPr/>
        </p:nvCxnSpPr>
        <p:spPr>
          <a:xfrm flipH="1">
            <a:off x="2819400" y="4364774"/>
            <a:ext cx="10668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9EECB4AC-0D7A-4ABC-9C82-C832CD8BA570}"/>
              </a:ext>
            </a:extLst>
          </p:cNvPr>
          <p:cNvCxnSpPr>
            <a:cxnSpLocks/>
            <a:endCxn id="18" idx="3"/>
          </p:cNvCxnSpPr>
          <p:nvPr/>
        </p:nvCxnSpPr>
        <p:spPr>
          <a:xfrm flipH="1">
            <a:off x="5791200" y="4343400"/>
            <a:ext cx="990600" cy="213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0731CB4D-8B72-4222-8FBA-2EF26693D481}"/>
              </a:ext>
            </a:extLst>
          </p:cNvPr>
          <p:cNvCxnSpPr>
            <a:cxnSpLocks/>
          </p:cNvCxnSpPr>
          <p:nvPr/>
        </p:nvCxnSpPr>
        <p:spPr>
          <a:xfrm>
            <a:off x="7696200" y="3111762"/>
            <a:ext cx="0" cy="8506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551C6B37-A537-4377-912D-EADF7DCF0EE2}"/>
              </a:ext>
            </a:extLst>
          </p:cNvPr>
          <p:cNvSpPr txBox="1"/>
          <p:nvPr/>
        </p:nvSpPr>
        <p:spPr>
          <a:xfrm>
            <a:off x="188344" y="147935"/>
            <a:ext cx="8422256" cy="523220"/>
          </a:xfrm>
          <a:prstGeom prst="rect">
            <a:avLst/>
          </a:prstGeom>
          <a:noFill/>
        </p:spPr>
        <p:txBody>
          <a:bodyPr wrap="square" rtlCol="0">
            <a:spAutoFit/>
          </a:bodyPr>
          <a:lstStyle/>
          <a:p>
            <a:r>
              <a:rPr lang="en-US" sz="2800" dirty="0">
                <a:solidFill>
                  <a:srgbClr val="FF0000"/>
                </a:solidFill>
                <a:latin typeface="Times New Roman" panose="02020603050405020304" pitchFamily="18" charset="0"/>
                <a:cs typeface="Times New Roman" panose="02020603050405020304" pitchFamily="18" charset="0"/>
              </a:rPr>
              <a:t>F</a:t>
            </a:r>
            <a:r>
              <a:rPr lang="en-IN" sz="2800" dirty="0" err="1">
                <a:solidFill>
                  <a:srgbClr val="FF0000"/>
                </a:solidFill>
                <a:latin typeface="Times New Roman" panose="02020603050405020304" pitchFamily="18" charset="0"/>
                <a:cs typeface="Times New Roman" panose="02020603050405020304" pitchFamily="18" charset="0"/>
              </a:rPr>
              <a:t>eature</a:t>
            </a:r>
            <a:r>
              <a:rPr lang="en-IN" sz="2800" dirty="0">
                <a:solidFill>
                  <a:srgbClr val="FF0000"/>
                </a:solidFill>
                <a:latin typeface="Times New Roman" panose="02020603050405020304" pitchFamily="18" charset="0"/>
                <a:cs typeface="Times New Roman" panose="02020603050405020304" pitchFamily="18" charset="0"/>
              </a:rPr>
              <a:t> Extraction Block Diagram</a:t>
            </a:r>
            <a:endParaRPr lang="en-IN" sz="2800" dirty="0">
              <a:solidFill>
                <a:srgbClr val="FF0000"/>
              </a:solidFill>
            </a:endParaRPr>
          </a:p>
        </p:txBody>
      </p:sp>
    </p:spTree>
    <p:extLst>
      <p:ext uri="{BB962C8B-B14F-4D97-AF65-F5344CB8AC3E}">
        <p14:creationId xmlns:p14="http://schemas.microsoft.com/office/powerpoint/2010/main" val="372228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6F231-B366-4791-8FCD-9AE8040358F2}"/>
              </a:ext>
            </a:extLst>
          </p:cNvPr>
          <p:cNvSpPr>
            <a:spLocks noGrp="1"/>
          </p:cNvSpPr>
          <p:nvPr>
            <p:ph type="title"/>
          </p:nvPr>
        </p:nvSpPr>
        <p:spPr>
          <a:xfrm>
            <a:off x="152400" y="-127307"/>
            <a:ext cx="8229600" cy="660707"/>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Mel Filter bank</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5B8DCB3-17F4-4455-BD5D-9B30A8EC67CB}"/>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CBA0B171-5A90-4871-93B6-CA6402D0F9BC}"/>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C115FA32-518F-4566-A579-54DB68CC2E0C}"/>
              </a:ext>
            </a:extLst>
          </p:cNvPr>
          <p:cNvSpPr>
            <a:spLocks noGrp="1"/>
          </p:cNvSpPr>
          <p:nvPr>
            <p:ph type="sldNum" sz="quarter" idx="12"/>
          </p:nvPr>
        </p:nvSpPr>
        <p:spPr/>
        <p:txBody>
          <a:bodyPr/>
          <a:lstStyle/>
          <a:p>
            <a:fld id="{B6F15528-21DE-4FAA-801E-634DDDAF4B2B}" type="slidenum">
              <a:rPr lang="en-US" smtClean="0"/>
              <a:pPr/>
              <a:t>12</a:t>
            </a:fld>
            <a:endParaRPr lang="en-US"/>
          </a:p>
        </p:txBody>
      </p:sp>
      <p:pic>
        <p:nvPicPr>
          <p:cNvPr id="11" name="image3.jpeg">
            <a:extLst>
              <a:ext uri="{FF2B5EF4-FFF2-40B4-BE49-F238E27FC236}">
                <a16:creationId xmlns:a16="http://schemas.microsoft.com/office/drawing/2014/main" id="{18ACF561-BBCB-4228-9739-29F8EEF51EC0}"/>
              </a:ext>
            </a:extLst>
          </p:cNvPr>
          <p:cNvPicPr/>
          <p:nvPr/>
        </p:nvPicPr>
        <p:blipFill rotWithShape="1">
          <a:blip r:embed="rId2" cstate="print"/>
          <a:srcRect b="8951"/>
          <a:stretch/>
        </p:blipFill>
        <p:spPr>
          <a:xfrm>
            <a:off x="1219200" y="381000"/>
            <a:ext cx="6400800" cy="1080191"/>
          </a:xfrm>
          <a:prstGeom prst="rect">
            <a:avLst/>
          </a:prstGeom>
        </p:spPr>
      </p:pic>
      <p:pic>
        <p:nvPicPr>
          <p:cNvPr id="12" name="Picture 11">
            <a:extLst>
              <a:ext uri="{FF2B5EF4-FFF2-40B4-BE49-F238E27FC236}">
                <a16:creationId xmlns:a16="http://schemas.microsoft.com/office/drawing/2014/main" id="{1FD4DFFB-C295-4C6A-BA58-F78730B2CA18}"/>
              </a:ext>
            </a:extLst>
          </p:cNvPr>
          <p:cNvPicPr>
            <a:picLocks noChangeAspect="1"/>
          </p:cNvPicPr>
          <p:nvPr/>
        </p:nvPicPr>
        <p:blipFill rotWithShape="1">
          <a:blip r:embed="rId3"/>
          <a:srcRect t="6341"/>
          <a:stretch/>
        </p:blipFill>
        <p:spPr>
          <a:xfrm>
            <a:off x="1219200" y="1828800"/>
            <a:ext cx="6400800" cy="1363769"/>
          </a:xfrm>
          <a:prstGeom prst="rect">
            <a:avLst/>
          </a:prstGeom>
        </p:spPr>
      </p:pic>
      <p:pic>
        <p:nvPicPr>
          <p:cNvPr id="14" name="Picture 13">
            <a:extLst>
              <a:ext uri="{FF2B5EF4-FFF2-40B4-BE49-F238E27FC236}">
                <a16:creationId xmlns:a16="http://schemas.microsoft.com/office/drawing/2014/main" id="{1E08F03A-B0EB-4A40-91D4-0C6F5FF67BF2}"/>
              </a:ext>
            </a:extLst>
          </p:cNvPr>
          <p:cNvPicPr>
            <a:picLocks noChangeAspect="1"/>
          </p:cNvPicPr>
          <p:nvPr/>
        </p:nvPicPr>
        <p:blipFill>
          <a:blip r:embed="rId4"/>
          <a:stretch>
            <a:fillRect/>
          </a:stretch>
        </p:blipFill>
        <p:spPr>
          <a:xfrm>
            <a:off x="1219200" y="3657600"/>
            <a:ext cx="6400800" cy="1337068"/>
          </a:xfrm>
          <a:prstGeom prst="rect">
            <a:avLst/>
          </a:prstGeom>
        </p:spPr>
      </p:pic>
      <p:sp>
        <p:nvSpPr>
          <p:cNvPr id="15" name="TextBox 14">
            <a:extLst>
              <a:ext uri="{FF2B5EF4-FFF2-40B4-BE49-F238E27FC236}">
                <a16:creationId xmlns:a16="http://schemas.microsoft.com/office/drawing/2014/main" id="{624BA180-5D80-441D-B3EA-C418C2CF8534}"/>
              </a:ext>
            </a:extLst>
          </p:cNvPr>
          <p:cNvSpPr txBox="1"/>
          <p:nvPr/>
        </p:nvSpPr>
        <p:spPr>
          <a:xfrm>
            <a:off x="152400" y="1444941"/>
            <a:ext cx="8658045" cy="400110"/>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Mel Filter Bank</a:t>
            </a:r>
            <a:endParaRPr lang="en-IN" sz="20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09A5F3C-423E-4610-90AD-16A90333F9D0}"/>
              </a:ext>
            </a:extLst>
          </p:cNvPr>
          <p:cNvSpPr txBox="1"/>
          <p:nvPr/>
        </p:nvSpPr>
        <p:spPr>
          <a:xfrm>
            <a:off x="181155" y="3200400"/>
            <a:ext cx="8658045" cy="400110"/>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Linear Filter Bank</a:t>
            </a:r>
            <a:endParaRPr lang="en-IN" sz="2000"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5C2080C2-7366-49CC-B34C-8E0F74633683}"/>
              </a:ext>
            </a:extLst>
          </p:cNvPr>
          <p:cNvSpPr txBox="1"/>
          <p:nvPr/>
        </p:nvSpPr>
        <p:spPr>
          <a:xfrm>
            <a:off x="333555" y="5029200"/>
            <a:ext cx="8658045" cy="400110"/>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Gammatone Filter Bank</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4254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98DED-5C35-4886-B670-4820830EA768}"/>
              </a:ext>
            </a:extLst>
          </p:cNvPr>
          <p:cNvSpPr>
            <a:spLocks noGrp="1"/>
          </p:cNvSpPr>
          <p:nvPr>
            <p:ph type="title"/>
          </p:nvPr>
        </p:nvSpPr>
        <p:spPr>
          <a:xfrm>
            <a:off x="457200" y="274638"/>
            <a:ext cx="8229600" cy="622603"/>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Result of Feature Extraction</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B7C7EC-14F0-47FA-95D4-A83080354BA7}"/>
              </a:ext>
            </a:extLst>
          </p:cNvPr>
          <p:cNvSpPr>
            <a:spLocks noGrp="1"/>
          </p:cNvSpPr>
          <p:nvPr>
            <p:ph idx="1"/>
          </p:nvPr>
        </p:nvSpPr>
        <p:spPr>
          <a:xfrm>
            <a:off x="457200" y="1149714"/>
            <a:ext cx="8229600" cy="4525963"/>
          </a:xfrm>
        </p:spPr>
        <p:txBody>
          <a:bodyPr/>
          <a:lstStyle/>
          <a:p>
            <a:r>
              <a:rPr lang="en-US" sz="2000" dirty="0">
                <a:effectLst/>
                <a:latin typeface="Times New Roman" panose="02020603050405020304" pitchFamily="18" charset="0"/>
                <a:ea typeface="LM Roman 12"/>
                <a:cs typeface="Times New Roman" panose="02020603050405020304" pitchFamily="18" charset="0"/>
              </a:rPr>
              <a:t>This</a:t>
            </a:r>
            <a:r>
              <a:rPr lang="en-US" sz="2000" spc="-4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section</a:t>
            </a:r>
            <a:r>
              <a:rPr lang="en-US" sz="2000" spc="-40"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discusses</a:t>
            </a:r>
            <a:r>
              <a:rPr lang="en-US" sz="2000" spc="-40"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the</a:t>
            </a:r>
            <a:r>
              <a:rPr lang="en-US" sz="2000" spc="-4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result</a:t>
            </a:r>
            <a:r>
              <a:rPr lang="en-US" sz="2000" spc="-40"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of</a:t>
            </a:r>
            <a:r>
              <a:rPr lang="en-US" sz="2000" spc="-4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all</a:t>
            </a:r>
            <a:r>
              <a:rPr lang="en-US" sz="2000" spc="-4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feature</a:t>
            </a:r>
            <a:r>
              <a:rPr lang="en-US" sz="2000" spc="-4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vectors</a:t>
            </a:r>
            <a:r>
              <a:rPr lang="en-US" sz="2000" spc="-40"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of</a:t>
            </a:r>
            <a:r>
              <a:rPr lang="en-US" sz="2000" spc="-4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MFCC,</a:t>
            </a:r>
            <a:r>
              <a:rPr lang="en-US" sz="2000" spc="-40"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LFCC</a:t>
            </a:r>
            <a:r>
              <a:rPr lang="en-US" sz="2000" spc="-4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and</a:t>
            </a:r>
            <a:r>
              <a:rPr lang="en-US" sz="2000" spc="-4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GFCC.</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ea typeface="LM Roman 12"/>
                <a:cs typeface="Times New Roman" panose="02020603050405020304" pitchFamily="18" charset="0"/>
              </a:rPr>
              <a:t>T</a:t>
            </a:r>
            <a:r>
              <a:rPr lang="en-US" sz="2000" dirty="0">
                <a:effectLst/>
                <a:latin typeface="Times New Roman" panose="02020603050405020304" pitchFamily="18" charset="0"/>
                <a:ea typeface="LM Roman 12"/>
                <a:cs typeface="Times New Roman" panose="02020603050405020304" pitchFamily="18" charset="0"/>
              </a:rPr>
              <a:t>he experiment is performed on 13,26 and 39 coefficients.</a:t>
            </a:r>
          </a:p>
          <a:p>
            <a:r>
              <a:rPr lang="en-US" sz="2000" dirty="0">
                <a:latin typeface="Times New Roman" panose="02020603050405020304" pitchFamily="18" charset="0"/>
                <a:ea typeface="LM Roman 12"/>
                <a:cs typeface="Times New Roman" panose="02020603050405020304" pitchFamily="18" charset="0"/>
              </a:rPr>
              <a:t>T</a:t>
            </a:r>
            <a:r>
              <a:rPr lang="en-US" sz="2000" dirty="0">
                <a:effectLst/>
                <a:latin typeface="Times New Roman" panose="02020603050405020304" pitchFamily="18" charset="0"/>
                <a:ea typeface="LM Roman 12"/>
                <a:cs typeface="Times New Roman" panose="02020603050405020304" pitchFamily="18" charset="0"/>
              </a:rPr>
              <a:t>he</a:t>
            </a:r>
            <a:r>
              <a:rPr lang="en-US" sz="2000" spc="-2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best</a:t>
            </a:r>
            <a:r>
              <a:rPr lang="en-US" sz="2000" spc="-1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result</a:t>
            </a:r>
            <a:r>
              <a:rPr lang="en-US" sz="2000" spc="-20"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is</a:t>
            </a:r>
            <a:r>
              <a:rPr lang="en-US" sz="2000" spc="-20"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shown</a:t>
            </a:r>
            <a:r>
              <a:rPr lang="en-US" sz="2000" spc="-1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in</a:t>
            </a:r>
            <a:r>
              <a:rPr lang="en-US" sz="2000" spc="-20" dirty="0">
                <a:effectLst/>
                <a:latin typeface="Times New Roman" panose="02020603050405020304" pitchFamily="18" charset="0"/>
                <a:ea typeface="LM Roman 12"/>
                <a:cs typeface="Times New Roman" panose="02020603050405020304" pitchFamily="18" charset="0"/>
              </a:rPr>
              <a:t> </a:t>
            </a:r>
            <a:r>
              <a:rPr lang="en-US" sz="2000" dirty="0">
                <a:effectLst/>
                <a:highlight>
                  <a:srgbClr val="00FF00"/>
                </a:highlight>
                <a:latin typeface="Times New Roman" panose="02020603050405020304" pitchFamily="18" charset="0"/>
                <a:ea typeface="LM Roman 12"/>
                <a:cs typeface="Times New Roman" panose="02020603050405020304" pitchFamily="18" charset="0"/>
              </a:rPr>
              <a:t>Green</a:t>
            </a:r>
            <a:r>
              <a:rPr lang="en-US" sz="2000" spc="-20" dirty="0">
                <a:effectLst/>
                <a:highlight>
                  <a:srgbClr val="00FF00"/>
                </a:highligh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color</a:t>
            </a:r>
            <a:r>
              <a:rPr lang="en-US" sz="2000" spc="-1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and</a:t>
            </a:r>
            <a:r>
              <a:rPr lang="en-US" sz="2000" spc="-20"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the</a:t>
            </a:r>
            <a:r>
              <a:rPr lang="en-US" sz="2000" spc="-2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worst</a:t>
            </a:r>
            <a:r>
              <a:rPr lang="en-US" sz="2000" spc="-20"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result</a:t>
            </a:r>
            <a:r>
              <a:rPr lang="en-US" sz="2000" spc="-1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shown</a:t>
            </a:r>
            <a:r>
              <a:rPr lang="en-US" sz="2000" spc="-20"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in</a:t>
            </a:r>
            <a:r>
              <a:rPr lang="en-US" sz="2000" spc="-20" dirty="0">
                <a:effectLst/>
                <a:latin typeface="Times New Roman" panose="02020603050405020304" pitchFamily="18" charset="0"/>
                <a:ea typeface="LM Roman 12"/>
                <a:cs typeface="Times New Roman" panose="02020603050405020304" pitchFamily="18" charset="0"/>
              </a:rPr>
              <a:t> </a:t>
            </a:r>
            <a:r>
              <a:rPr lang="en-US" sz="2000" dirty="0">
                <a:effectLst/>
                <a:highlight>
                  <a:srgbClr val="FF0000"/>
                </a:highlight>
                <a:latin typeface="Times New Roman" panose="02020603050405020304" pitchFamily="18" charset="0"/>
                <a:ea typeface="LM Roman 12"/>
                <a:cs typeface="Times New Roman" panose="02020603050405020304" pitchFamily="18" charset="0"/>
              </a:rPr>
              <a:t>Red</a:t>
            </a:r>
            <a:r>
              <a:rPr lang="en-US" sz="2000" spc="-20"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color.</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E2A75FD-3A04-42D8-9091-F2E350F9B64F}"/>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688B2914-45FC-415F-9AA5-0E539135259D}"/>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5355887D-D1E8-4FAC-839D-BDE8CB2040DA}"/>
              </a:ext>
            </a:extLst>
          </p:cNvPr>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740504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20216-C867-4C06-9869-7634A558346F}"/>
              </a:ext>
            </a:extLst>
          </p:cNvPr>
          <p:cNvSpPr>
            <a:spLocks noGrp="1"/>
          </p:cNvSpPr>
          <p:nvPr>
            <p:ph type="title"/>
          </p:nvPr>
        </p:nvSpPr>
        <p:spPr/>
        <p:txBody>
          <a:bodyPr/>
          <a:lstStyle/>
          <a:p>
            <a:pPr algn="l"/>
            <a:r>
              <a:rPr lang="en-US" dirty="0">
                <a:solidFill>
                  <a:srgbClr val="FF0000"/>
                </a:solidFill>
                <a:latin typeface="Times New Roman" panose="02020603050405020304" pitchFamily="18" charset="0"/>
                <a:cs typeface="Times New Roman" panose="02020603050405020304" pitchFamily="18" charset="0"/>
              </a:rPr>
              <a:t>Support Vector Machine</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04F16DB-ECFC-4FA4-9B86-C00B36956681}"/>
              </a:ext>
            </a:extLst>
          </p:cNvPr>
          <p:cNvSpPr>
            <a:spLocks noGrp="1"/>
          </p:cNvSpPr>
          <p:nvPr>
            <p:ph idx="1"/>
          </p:nvPr>
        </p:nvSpPr>
        <p:spPr>
          <a:xfrm>
            <a:off x="457200" y="1341437"/>
            <a:ext cx="8229600" cy="4525963"/>
          </a:xfrm>
        </p:spPr>
        <p:txBody>
          <a:bodyPr/>
          <a:lstStyle/>
          <a:p>
            <a:r>
              <a:rPr lang="en-US" sz="2000" dirty="0">
                <a:effectLst/>
                <a:latin typeface="Times New Roman" panose="02020603050405020304" pitchFamily="18" charset="0"/>
                <a:ea typeface="LM Roman 12"/>
                <a:cs typeface="Times New Roman" panose="02020603050405020304" pitchFamily="18" charset="0"/>
              </a:rPr>
              <a:t>The main goal of the support vector machine is to find a hyperplane between </a:t>
            </a:r>
            <a:r>
              <a:rPr lang="en-US" sz="2000" spc="-25" dirty="0">
                <a:effectLst/>
                <a:latin typeface="Times New Roman" panose="02020603050405020304" pitchFamily="18" charset="0"/>
                <a:ea typeface="LM Roman 12"/>
                <a:cs typeface="Times New Roman" panose="02020603050405020304" pitchFamily="18" charset="0"/>
              </a:rPr>
              <a:t>two </a:t>
            </a:r>
            <a:r>
              <a:rPr lang="en-US" sz="2000" dirty="0">
                <a:effectLst/>
                <a:latin typeface="Times New Roman" panose="02020603050405020304" pitchFamily="18" charset="0"/>
                <a:ea typeface="LM Roman 12"/>
                <a:cs typeface="Times New Roman" panose="02020603050405020304" pitchFamily="18" charset="0"/>
              </a:rPr>
              <a:t>classes.</a:t>
            </a:r>
          </a:p>
          <a:p>
            <a:r>
              <a:rPr lang="en-US" sz="2000" spc="-50" dirty="0">
                <a:effectLst/>
                <a:latin typeface="Times New Roman" panose="02020603050405020304" pitchFamily="18" charset="0"/>
                <a:ea typeface="LM Roman 12"/>
                <a:cs typeface="Times New Roman" panose="02020603050405020304" pitchFamily="18" charset="0"/>
              </a:rPr>
              <a:t>To </a:t>
            </a:r>
            <a:r>
              <a:rPr lang="en-US" sz="2000" dirty="0">
                <a:effectLst/>
                <a:latin typeface="Times New Roman" panose="02020603050405020304" pitchFamily="18" charset="0"/>
                <a:ea typeface="LM Roman 12"/>
                <a:cs typeface="Times New Roman" panose="02020603050405020304" pitchFamily="18" charset="0"/>
              </a:rPr>
              <a:t>separate </a:t>
            </a:r>
            <a:r>
              <a:rPr lang="en-US" sz="2000" spc="-25" dirty="0">
                <a:effectLst/>
                <a:latin typeface="Times New Roman" panose="02020603050405020304" pitchFamily="18" charset="0"/>
                <a:ea typeface="LM Roman 12"/>
                <a:cs typeface="Times New Roman" panose="02020603050405020304" pitchFamily="18" charset="0"/>
              </a:rPr>
              <a:t>two </a:t>
            </a:r>
            <a:r>
              <a:rPr lang="en-US" sz="2000" dirty="0">
                <a:effectLst/>
                <a:latin typeface="Times New Roman" panose="02020603050405020304" pitchFamily="18" charset="0"/>
                <a:ea typeface="LM Roman 12"/>
                <a:cs typeface="Times New Roman" panose="02020603050405020304" pitchFamily="18" charset="0"/>
              </a:rPr>
              <a:t>different classes, the margin between </a:t>
            </a:r>
            <a:r>
              <a:rPr lang="en-US" sz="2000" spc="-25" dirty="0">
                <a:effectLst/>
                <a:latin typeface="Times New Roman" panose="02020603050405020304" pitchFamily="18" charset="0"/>
                <a:ea typeface="LM Roman 12"/>
                <a:cs typeface="Times New Roman" panose="02020603050405020304" pitchFamily="18" charset="0"/>
              </a:rPr>
              <a:t>two </a:t>
            </a:r>
            <a:r>
              <a:rPr lang="en-US" sz="2000" dirty="0">
                <a:effectLst/>
                <a:latin typeface="Times New Roman" panose="02020603050405020304" pitchFamily="18" charset="0"/>
                <a:ea typeface="LM Roman 12"/>
                <a:cs typeface="Times New Roman" panose="02020603050405020304" pitchFamily="18" charset="0"/>
              </a:rPr>
              <a:t>classes is maximum.</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44BA285-043C-4D29-A826-8B3127FFF50E}"/>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CD01AE8B-6FC0-400B-BD1F-793B4FD6B4A8}"/>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B134F9DA-0EBB-4696-92CB-1FD8BA0E82A3}"/>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3906504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6ADA6-5C18-43A4-A962-55F98069CEDE}"/>
              </a:ext>
            </a:extLst>
          </p:cNvPr>
          <p:cNvSpPr>
            <a:spLocks noGrp="1"/>
          </p:cNvSpPr>
          <p:nvPr>
            <p:ph type="title"/>
          </p:nvPr>
        </p:nvSpPr>
        <p:spPr>
          <a:xfrm>
            <a:off x="457200" y="-76200"/>
            <a:ext cx="8229600" cy="622603"/>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Result of MFCC</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A0E0C36-19BA-49C6-8998-57E97F739479}"/>
              </a:ext>
            </a:extLst>
          </p:cNvPr>
          <p:cNvSpPr>
            <a:spLocks noGrp="1"/>
          </p:cNvSpPr>
          <p:nvPr>
            <p:ph type="dt" sz="half" idx="10"/>
          </p:nvPr>
        </p:nvSpPr>
        <p:spPr>
          <a:xfrm>
            <a:off x="457200" y="5964543"/>
            <a:ext cx="2133600" cy="365125"/>
          </a:xfrm>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2986C492-1383-48A2-B568-CF2C5227FD3E}"/>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EF5F9F56-1F2A-49CD-87AD-1BE32AA8766E}"/>
              </a:ext>
            </a:extLst>
          </p:cNvPr>
          <p:cNvSpPr>
            <a:spLocks noGrp="1"/>
          </p:cNvSpPr>
          <p:nvPr>
            <p:ph type="sldNum" sz="quarter" idx="12"/>
          </p:nvPr>
        </p:nvSpPr>
        <p:spPr/>
        <p:txBody>
          <a:bodyPr/>
          <a:lstStyle/>
          <a:p>
            <a:fld id="{B6F15528-21DE-4FAA-801E-634DDDAF4B2B}" type="slidenum">
              <a:rPr lang="en-US" smtClean="0"/>
              <a:pPr/>
              <a:t>15</a:t>
            </a:fld>
            <a:endParaRPr lang="en-US"/>
          </a:p>
        </p:txBody>
      </p:sp>
      <p:graphicFrame>
        <p:nvGraphicFramePr>
          <p:cNvPr id="7" name="Table 6">
            <a:extLst>
              <a:ext uri="{FF2B5EF4-FFF2-40B4-BE49-F238E27FC236}">
                <a16:creationId xmlns:a16="http://schemas.microsoft.com/office/drawing/2014/main" id="{DD3935BE-4DBB-4C0B-8693-D8351806D82E}"/>
              </a:ext>
            </a:extLst>
          </p:cNvPr>
          <p:cNvGraphicFramePr>
            <a:graphicFrameLocks noGrp="1"/>
          </p:cNvGraphicFramePr>
          <p:nvPr>
            <p:extLst>
              <p:ext uri="{D42A27DB-BD31-4B8C-83A1-F6EECF244321}">
                <p14:modId xmlns:p14="http://schemas.microsoft.com/office/powerpoint/2010/main" val="3172839834"/>
              </p:ext>
            </p:extLst>
          </p:nvPr>
        </p:nvGraphicFramePr>
        <p:xfrm>
          <a:off x="638629" y="1058860"/>
          <a:ext cx="7848600" cy="4232886"/>
        </p:xfrm>
        <a:graphic>
          <a:graphicData uri="http://schemas.openxmlformats.org/drawingml/2006/table">
            <a:tbl>
              <a:tblPr firstRow="1" firstCol="1" lastRow="1" lastCol="1" bandRow="1" bandCol="1">
                <a:tableStyleId>{5940675A-B579-460E-94D1-54222C63F5DA}</a:tableStyleId>
              </a:tblPr>
              <a:tblGrid>
                <a:gridCol w="712312">
                  <a:extLst>
                    <a:ext uri="{9D8B030D-6E8A-4147-A177-3AD203B41FA5}">
                      <a16:colId xmlns:a16="http://schemas.microsoft.com/office/drawing/2014/main" val="3028707507"/>
                    </a:ext>
                  </a:extLst>
                </a:gridCol>
                <a:gridCol w="602173">
                  <a:extLst>
                    <a:ext uri="{9D8B030D-6E8A-4147-A177-3AD203B41FA5}">
                      <a16:colId xmlns:a16="http://schemas.microsoft.com/office/drawing/2014/main" val="588310081"/>
                    </a:ext>
                  </a:extLst>
                </a:gridCol>
                <a:gridCol w="713509">
                  <a:extLst>
                    <a:ext uri="{9D8B030D-6E8A-4147-A177-3AD203B41FA5}">
                      <a16:colId xmlns:a16="http://schemas.microsoft.com/office/drawing/2014/main" val="2859125217"/>
                    </a:ext>
                  </a:extLst>
                </a:gridCol>
                <a:gridCol w="713509">
                  <a:extLst>
                    <a:ext uri="{9D8B030D-6E8A-4147-A177-3AD203B41FA5}">
                      <a16:colId xmlns:a16="http://schemas.microsoft.com/office/drawing/2014/main" val="1042534579"/>
                    </a:ext>
                  </a:extLst>
                </a:gridCol>
                <a:gridCol w="587806">
                  <a:extLst>
                    <a:ext uri="{9D8B030D-6E8A-4147-A177-3AD203B41FA5}">
                      <a16:colId xmlns:a16="http://schemas.microsoft.com/office/drawing/2014/main" val="30407953"/>
                    </a:ext>
                  </a:extLst>
                </a:gridCol>
                <a:gridCol w="593793">
                  <a:extLst>
                    <a:ext uri="{9D8B030D-6E8A-4147-A177-3AD203B41FA5}">
                      <a16:colId xmlns:a16="http://schemas.microsoft.com/office/drawing/2014/main" val="2415886577"/>
                    </a:ext>
                  </a:extLst>
                </a:gridCol>
                <a:gridCol w="665622">
                  <a:extLst>
                    <a:ext uri="{9D8B030D-6E8A-4147-A177-3AD203B41FA5}">
                      <a16:colId xmlns:a16="http://schemas.microsoft.com/office/drawing/2014/main" val="1895584521"/>
                    </a:ext>
                  </a:extLst>
                </a:gridCol>
                <a:gridCol w="665622">
                  <a:extLst>
                    <a:ext uri="{9D8B030D-6E8A-4147-A177-3AD203B41FA5}">
                      <a16:colId xmlns:a16="http://schemas.microsoft.com/office/drawing/2014/main" val="3699668893"/>
                    </a:ext>
                  </a:extLst>
                </a:gridCol>
                <a:gridCol w="557878">
                  <a:extLst>
                    <a:ext uri="{9D8B030D-6E8A-4147-A177-3AD203B41FA5}">
                      <a16:colId xmlns:a16="http://schemas.microsoft.com/office/drawing/2014/main" val="1219320484"/>
                    </a:ext>
                  </a:extLst>
                </a:gridCol>
                <a:gridCol w="662032">
                  <a:extLst>
                    <a:ext uri="{9D8B030D-6E8A-4147-A177-3AD203B41FA5}">
                      <a16:colId xmlns:a16="http://schemas.microsoft.com/office/drawing/2014/main" val="2742855052"/>
                    </a:ext>
                  </a:extLst>
                </a:gridCol>
                <a:gridCol w="662032">
                  <a:extLst>
                    <a:ext uri="{9D8B030D-6E8A-4147-A177-3AD203B41FA5}">
                      <a16:colId xmlns:a16="http://schemas.microsoft.com/office/drawing/2014/main" val="1133860457"/>
                    </a:ext>
                  </a:extLst>
                </a:gridCol>
                <a:gridCol w="712312">
                  <a:extLst>
                    <a:ext uri="{9D8B030D-6E8A-4147-A177-3AD203B41FA5}">
                      <a16:colId xmlns:a16="http://schemas.microsoft.com/office/drawing/2014/main" val="1211089512"/>
                    </a:ext>
                  </a:extLst>
                </a:gridCol>
              </a:tblGrid>
              <a:tr h="339721">
                <a:tc rowSpan="2">
                  <a:txBody>
                    <a:bodyPr/>
                    <a:lstStyle/>
                    <a:p>
                      <a:pPr marL="77470">
                        <a:spcBef>
                          <a:spcPts val="85"/>
                        </a:spcBef>
                        <a:spcAft>
                          <a:spcPts val="0"/>
                        </a:spcAft>
                      </a:pPr>
                      <a:r>
                        <a:rPr lang="en-US" sz="1800" dirty="0">
                          <a:effectLst/>
                        </a:rPr>
                        <a:t> </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320040">
                        <a:spcBef>
                          <a:spcPts val="85"/>
                        </a:spcBef>
                      </a:pPr>
                      <a:r>
                        <a:rPr lang="en-US" sz="1800">
                          <a:effectLst/>
                        </a:rPr>
                        <a:t>Number of correctly recognized bird sound in the class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6675">
                        <a:spcBef>
                          <a:spcPts val="795"/>
                        </a:spcBef>
                        <a:spcAft>
                          <a:spcPts val="0"/>
                        </a:spcAft>
                      </a:pPr>
                      <a:r>
                        <a:rPr lang="en-US" sz="1800">
                          <a:effectLst/>
                        </a:rPr>
                        <a:t>RSA</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862381959"/>
                  </a:ext>
                </a:extLst>
              </a:tr>
              <a:tr h="339721">
                <a:tc vMerge="1">
                  <a:txBody>
                    <a:bodyPr/>
                    <a:lstStyle/>
                    <a:p>
                      <a:endParaRPr lang="en-IN"/>
                    </a:p>
                  </a:txBody>
                  <a:tcPr/>
                </a:tc>
                <a:tc>
                  <a:txBody>
                    <a:bodyPr/>
                    <a:lstStyle/>
                    <a:p>
                      <a:pPr marL="77470">
                        <a:spcBef>
                          <a:spcPts val="65"/>
                        </a:spcBef>
                      </a:pPr>
                      <a:r>
                        <a:rPr lang="en-US" sz="1800">
                          <a:effectLst/>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1800">
                          <a:effectLst/>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1800">
                          <a:effectLst/>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1800">
                          <a:effectLst/>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1800" dirty="0">
                          <a:effectLst/>
                        </a:rPr>
                        <a:t>CB</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1800">
                          <a:effectLst/>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1800">
                          <a:effectLst/>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65"/>
                        </a:spcBef>
                        <a:spcAft>
                          <a:spcPts val="0"/>
                        </a:spcAft>
                      </a:pPr>
                      <a:r>
                        <a:rPr lang="en-US" sz="1800">
                          <a:effectLst/>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65"/>
                        </a:spcBef>
                        <a:spcAft>
                          <a:spcPts val="0"/>
                        </a:spcAft>
                      </a:pPr>
                      <a:r>
                        <a:rPr lang="en-US" sz="1800">
                          <a:effectLst/>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65"/>
                        </a:spcBef>
                        <a:spcAft>
                          <a:spcPts val="0"/>
                        </a:spcAft>
                      </a:pPr>
                      <a:r>
                        <a:rPr lang="en-US" sz="1800">
                          <a:effectLst/>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999937928"/>
                  </a:ext>
                </a:extLst>
              </a:tr>
              <a:tr h="259559">
                <a:tc>
                  <a:txBody>
                    <a:bodyPr/>
                    <a:lstStyle/>
                    <a:p>
                      <a:pPr marL="77470">
                        <a:spcBef>
                          <a:spcPts val="85"/>
                        </a:spcBef>
                      </a:pPr>
                      <a:r>
                        <a:rPr lang="en-US" sz="1800">
                          <a:effectLst/>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dirty="0">
                          <a:effectLst/>
                        </a:rPr>
                        <a:t>36</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67937516"/>
                  </a:ext>
                </a:extLst>
              </a:tr>
              <a:tr h="259559">
                <a:tc>
                  <a:txBody>
                    <a:bodyPr/>
                    <a:lstStyle/>
                    <a:p>
                      <a:pPr marL="77470">
                        <a:spcBef>
                          <a:spcPts val="85"/>
                        </a:spcBef>
                      </a:pPr>
                      <a:r>
                        <a:rPr lang="en-US" sz="1800">
                          <a:effectLst/>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45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787972375"/>
                  </a:ext>
                </a:extLst>
              </a:tr>
              <a:tr h="339721">
                <a:tc>
                  <a:txBody>
                    <a:bodyPr/>
                    <a:lstStyle/>
                    <a:p>
                      <a:pPr marL="77470">
                        <a:spcBef>
                          <a:spcPts val="85"/>
                        </a:spcBef>
                      </a:pPr>
                      <a:r>
                        <a:rPr lang="en-US" sz="1800">
                          <a:effectLst/>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dirty="0">
                          <a:effectLst/>
                          <a:highlight>
                            <a:srgbClr val="FF0000"/>
                          </a:highlight>
                        </a:rPr>
                        <a:t>37</a:t>
                      </a:r>
                      <a:endParaRPr lang="en-IN" sz="18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77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908801742"/>
                  </a:ext>
                </a:extLst>
              </a:tr>
              <a:tr h="259559">
                <a:tc>
                  <a:txBody>
                    <a:bodyPr/>
                    <a:lstStyle/>
                    <a:p>
                      <a:pPr marL="77470">
                        <a:spcBef>
                          <a:spcPts val="85"/>
                        </a:spcBef>
                      </a:pPr>
                      <a:r>
                        <a:rPr lang="en-US" sz="1800">
                          <a:effectLst/>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dirty="0">
                          <a:effectLst/>
                        </a:rPr>
                        <a:t>47</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177908709"/>
                  </a:ext>
                </a:extLst>
              </a:tr>
              <a:tr h="259559">
                <a:tc>
                  <a:txBody>
                    <a:bodyPr/>
                    <a:lstStyle/>
                    <a:p>
                      <a:pPr marL="77470">
                        <a:spcBef>
                          <a:spcPts val="85"/>
                        </a:spcBef>
                      </a:pPr>
                      <a:r>
                        <a:rPr lang="en-US" sz="1800">
                          <a:effectLst/>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dirty="0">
                          <a:effectLst/>
                          <a:highlight>
                            <a:srgbClr val="00FF00"/>
                          </a:highlight>
                        </a:rPr>
                        <a:t>43</a:t>
                      </a:r>
                      <a:endParaRPr lang="en-IN" sz="18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1599301"/>
                  </a:ext>
                </a:extLst>
              </a:tr>
              <a:tr h="259559">
                <a:tc>
                  <a:txBody>
                    <a:bodyPr/>
                    <a:lstStyle/>
                    <a:p>
                      <a:pPr marL="77470">
                        <a:spcBef>
                          <a:spcPts val="85"/>
                        </a:spcBef>
                      </a:pPr>
                      <a:r>
                        <a:rPr lang="en-US" sz="1800">
                          <a:effectLst/>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dirty="0">
                          <a:effectLst/>
                        </a:rPr>
                        <a:t>59</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76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969781320"/>
                  </a:ext>
                </a:extLst>
              </a:tr>
              <a:tr h="339721">
                <a:tc>
                  <a:txBody>
                    <a:bodyPr/>
                    <a:lstStyle/>
                    <a:p>
                      <a:pPr marL="77470">
                        <a:spcBef>
                          <a:spcPts val="85"/>
                        </a:spcBef>
                      </a:pPr>
                      <a:r>
                        <a:rPr lang="en-US" sz="1800">
                          <a:effectLst/>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dirty="0">
                          <a:effectLst/>
                        </a:rPr>
                        <a:t>48</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944612551"/>
                  </a:ext>
                </a:extLst>
              </a:tr>
              <a:tr h="259559">
                <a:tc>
                  <a:txBody>
                    <a:bodyPr/>
                    <a:lstStyle/>
                    <a:p>
                      <a:pPr marL="77470">
                        <a:spcBef>
                          <a:spcPts val="85"/>
                        </a:spcBef>
                      </a:pPr>
                      <a:r>
                        <a:rPr lang="en-US" sz="1800">
                          <a:effectLst/>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43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70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075329090"/>
                  </a:ext>
                </a:extLst>
              </a:tr>
              <a:tr h="259559">
                <a:tc>
                  <a:txBody>
                    <a:bodyPr/>
                    <a:lstStyle/>
                    <a:p>
                      <a:pPr marL="77470">
                        <a:spcBef>
                          <a:spcPts val="85"/>
                        </a:spcBef>
                      </a:pPr>
                      <a:r>
                        <a:rPr lang="en-US" sz="1800">
                          <a:effectLst/>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39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95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543361389"/>
                  </a:ext>
                </a:extLst>
              </a:tr>
              <a:tr h="339721">
                <a:tc>
                  <a:txBody>
                    <a:bodyPr/>
                    <a:lstStyle/>
                    <a:p>
                      <a:pPr marL="77470">
                        <a:spcBef>
                          <a:spcPts val="85"/>
                        </a:spcBef>
                      </a:pPr>
                      <a:r>
                        <a:rPr lang="en-US" sz="1800">
                          <a:effectLst/>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dirty="0">
                          <a:effectLst/>
                          <a:latin typeface="Times New Roman" panose="02020603050405020304" pitchFamily="18" charset="0"/>
                          <a:ea typeface="LM Roman 8"/>
                          <a:cs typeface="Times New Roman" panose="02020603050405020304" pitchFamily="18" charset="0"/>
                        </a:rPr>
                        <a:t>0</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36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92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876866610"/>
                  </a:ext>
                </a:extLst>
              </a:tr>
              <a:tr h="339721">
                <a:tc>
                  <a:txBody>
                    <a:bodyPr/>
                    <a:lstStyle/>
                    <a:p>
                      <a:pPr marL="77470">
                        <a:spcBef>
                          <a:spcPts val="85"/>
                        </a:spcBef>
                      </a:pPr>
                      <a:r>
                        <a:rPr lang="en-US" sz="1800">
                          <a:effectLst/>
                        </a:rPr>
                        <a:t>Rel.</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75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96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64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81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98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90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87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83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76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84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1800">
                          <a:effectLst/>
                        </a:rPr>
                        <a:t>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873414627"/>
                  </a:ext>
                </a:extLst>
              </a:tr>
              <a:tr h="130176">
                <a:tc gridSpan="12">
                  <a:txBody>
                    <a:bodyPr/>
                    <a:lstStyle/>
                    <a:p>
                      <a:pPr marL="77470">
                        <a:spcBef>
                          <a:spcPts val="85"/>
                        </a:spcBef>
                      </a:pPr>
                      <a:r>
                        <a:rPr lang="en-US" sz="1800" dirty="0">
                          <a:effectLst/>
                        </a:rPr>
                        <a:t>Overall Accuracy: 82.38%</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617622995"/>
                  </a:ext>
                </a:extLst>
              </a:tr>
            </a:tbl>
          </a:graphicData>
        </a:graphic>
      </p:graphicFrame>
      <p:sp>
        <p:nvSpPr>
          <p:cNvPr id="8" name="TextBox 7">
            <a:extLst>
              <a:ext uri="{FF2B5EF4-FFF2-40B4-BE49-F238E27FC236}">
                <a16:creationId xmlns:a16="http://schemas.microsoft.com/office/drawing/2014/main" id="{96465304-DB1E-4C09-BF2E-DB252F45B614}"/>
              </a:ext>
            </a:extLst>
          </p:cNvPr>
          <p:cNvSpPr txBox="1"/>
          <p:nvPr/>
        </p:nvSpPr>
        <p:spPr>
          <a:xfrm>
            <a:off x="457200" y="546403"/>
            <a:ext cx="8001000" cy="707886"/>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 Table </a:t>
            </a:r>
            <a:r>
              <a:rPr lang="en-US" sz="2000" dirty="0">
                <a:latin typeface="Times New Roman" panose="02020603050405020304" pitchFamily="18" charset="0"/>
                <a:ea typeface="LM Roman 12"/>
                <a:cs typeface="Times New Roman" panose="02020603050405020304" pitchFamily="18" charset="0"/>
              </a:rPr>
              <a:t>1</a:t>
            </a:r>
            <a:r>
              <a:rPr lang="en-US" sz="2000" dirty="0">
                <a:effectLst/>
                <a:latin typeface="Times New Roman" panose="02020603050405020304" pitchFamily="18" charset="0"/>
                <a:ea typeface="LM Roman 12"/>
                <a:cs typeface="Times New Roman" panose="02020603050405020304" pitchFamily="18" charset="0"/>
              </a:rPr>
              <a:t>: Recognition of result with MFCC (13)</a:t>
            </a:r>
            <a:r>
              <a:rPr lang="en-US" sz="2000" spc="-12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features</a:t>
            </a:r>
            <a:endParaRPr lang="en-IN" sz="2000" dirty="0">
              <a:effectLst/>
              <a:latin typeface="Times New Roman" panose="02020603050405020304" pitchFamily="18" charset="0"/>
              <a:ea typeface="LM Roman 12"/>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4251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26A626F-61BD-4404-94D3-3B14E25BBAEF}"/>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08C8728F-3F9A-48FA-97E9-42A86E6A4EE2}"/>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3D98D774-B671-488A-B057-02AEA3E07AC6}"/>
              </a:ext>
            </a:extLst>
          </p:cNvPr>
          <p:cNvSpPr>
            <a:spLocks noGrp="1"/>
          </p:cNvSpPr>
          <p:nvPr>
            <p:ph type="sldNum" sz="quarter" idx="12"/>
          </p:nvPr>
        </p:nvSpPr>
        <p:spPr/>
        <p:txBody>
          <a:bodyPr/>
          <a:lstStyle/>
          <a:p>
            <a:fld id="{B6F15528-21DE-4FAA-801E-634DDDAF4B2B}" type="slidenum">
              <a:rPr lang="en-US" smtClean="0"/>
              <a:pPr/>
              <a:t>16</a:t>
            </a:fld>
            <a:endParaRPr lang="en-US"/>
          </a:p>
        </p:txBody>
      </p:sp>
      <p:graphicFrame>
        <p:nvGraphicFramePr>
          <p:cNvPr id="7" name="Chart 6">
            <a:extLst>
              <a:ext uri="{FF2B5EF4-FFF2-40B4-BE49-F238E27FC236}">
                <a16:creationId xmlns:a16="http://schemas.microsoft.com/office/drawing/2014/main" id="{33A27F95-EA39-410D-9F85-478A7AECA096}"/>
              </a:ext>
            </a:extLst>
          </p:cNvPr>
          <p:cNvGraphicFramePr/>
          <p:nvPr>
            <p:extLst>
              <p:ext uri="{D42A27DB-BD31-4B8C-83A1-F6EECF244321}">
                <p14:modId xmlns:p14="http://schemas.microsoft.com/office/powerpoint/2010/main" val="2241182408"/>
              </p:ext>
            </p:extLst>
          </p:nvPr>
        </p:nvGraphicFramePr>
        <p:xfrm>
          <a:off x="228600" y="1472565"/>
          <a:ext cx="4465955" cy="248983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BD269D7A-9562-441A-865A-7611FE28398F}"/>
              </a:ext>
            </a:extLst>
          </p:cNvPr>
          <p:cNvGraphicFramePr/>
          <p:nvPr>
            <p:extLst>
              <p:ext uri="{D42A27DB-BD31-4B8C-83A1-F6EECF244321}">
                <p14:modId xmlns:p14="http://schemas.microsoft.com/office/powerpoint/2010/main" val="3163982967"/>
              </p:ext>
            </p:extLst>
          </p:nvPr>
        </p:nvGraphicFramePr>
        <p:xfrm>
          <a:off x="4953000" y="1447800"/>
          <a:ext cx="3810000" cy="2362200"/>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EEEF2955-B30B-4BC2-9262-CD4C08E4C182}"/>
              </a:ext>
            </a:extLst>
          </p:cNvPr>
          <p:cNvSpPr txBox="1"/>
          <p:nvPr/>
        </p:nvSpPr>
        <p:spPr>
          <a:xfrm>
            <a:off x="228600" y="4038600"/>
            <a:ext cx="8534400" cy="369332"/>
          </a:xfrm>
          <a:prstGeom prst="rect">
            <a:avLst/>
          </a:prstGeom>
          <a:noFill/>
        </p:spPr>
        <p:txBody>
          <a:bodyPr wrap="square" rtlCol="0">
            <a:spAutoFit/>
          </a:bodyPr>
          <a:lstStyle/>
          <a:p>
            <a:pPr algn="ctr"/>
            <a:r>
              <a:rPr lang="en-US" dirty="0"/>
              <a:t>Fig 2 : Analysis and Accuracy of MFCC (13) Features</a:t>
            </a:r>
            <a:endParaRPr lang="en-IN" dirty="0"/>
          </a:p>
        </p:txBody>
      </p:sp>
    </p:spTree>
    <p:extLst>
      <p:ext uri="{BB962C8B-B14F-4D97-AF65-F5344CB8AC3E}">
        <p14:creationId xmlns:p14="http://schemas.microsoft.com/office/powerpoint/2010/main" val="3573949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6960BC-4082-4295-A686-781894645E5B}"/>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8FABD3B3-16DF-4174-B874-DC9404B1AA55}"/>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27CC80D1-5BCA-4565-8321-8484B4B9F13A}"/>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7" name="TextBox 6">
            <a:extLst>
              <a:ext uri="{FF2B5EF4-FFF2-40B4-BE49-F238E27FC236}">
                <a16:creationId xmlns:a16="http://schemas.microsoft.com/office/drawing/2014/main" id="{0739DB0C-FDCE-4763-9BCD-A7173578B758}"/>
              </a:ext>
            </a:extLst>
          </p:cNvPr>
          <p:cNvSpPr txBox="1"/>
          <p:nvPr/>
        </p:nvSpPr>
        <p:spPr>
          <a:xfrm>
            <a:off x="457200" y="343588"/>
            <a:ext cx="8001000" cy="707886"/>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 Table 2 : Recognition of result with MFCC (26)</a:t>
            </a:r>
            <a:r>
              <a:rPr lang="en-US" sz="2000" spc="-12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features</a:t>
            </a:r>
            <a:endParaRPr lang="en-IN" sz="2000" dirty="0">
              <a:effectLst/>
              <a:latin typeface="Times New Roman" panose="02020603050405020304" pitchFamily="18" charset="0"/>
              <a:ea typeface="LM Roman 12"/>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CF4E0B55-5352-4726-9971-FB7C777AC7EB}"/>
              </a:ext>
            </a:extLst>
          </p:cNvPr>
          <p:cNvGraphicFramePr>
            <a:graphicFrameLocks noGrp="1"/>
          </p:cNvGraphicFramePr>
          <p:nvPr>
            <p:extLst>
              <p:ext uri="{D42A27DB-BD31-4B8C-83A1-F6EECF244321}">
                <p14:modId xmlns:p14="http://schemas.microsoft.com/office/powerpoint/2010/main" val="3489994022"/>
              </p:ext>
            </p:extLst>
          </p:nvPr>
        </p:nvGraphicFramePr>
        <p:xfrm>
          <a:off x="914400" y="914400"/>
          <a:ext cx="7543801" cy="4333396"/>
        </p:xfrm>
        <a:graphic>
          <a:graphicData uri="http://schemas.openxmlformats.org/drawingml/2006/table">
            <a:tbl>
              <a:tblPr firstRow="1" firstCol="1" lastRow="1" lastCol="1" bandRow="1" bandCol="1">
                <a:tableStyleId>{5940675A-B579-460E-94D1-54222C63F5DA}</a:tableStyleId>
              </a:tblPr>
              <a:tblGrid>
                <a:gridCol w="808186">
                  <a:extLst>
                    <a:ext uri="{9D8B030D-6E8A-4147-A177-3AD203B41FA5}">
                      <a16:colId xmlns:a16="http://schemas.microsoft.com/office/drawing/2014/main" val="338023651"/>
                    </a:ext>
                  </a:extLst>
                </a:gridCol>
                <a:gridCol w="550092">
                  <a:extLst>
                    <a:ext uri="{9D8B030D-6E8A-4147-A177-3AD203B41FA5}">
                      <a16:colId xmlns:a16="http://schemas.microsoft.com/office/drawing/2014/main" val="609193181"/>
                    </a:ext>
                  </a:extLst>
                </a:gridCol>
                <a:gridCol w="651798">
                  <a:extLst>
                    <a:ext uri="{9D8B030D-6E8A-4147-A177-3AD203B41FA5}">
                      <a16:colId xmlns:a16="http://schemas.microsoft.com/office/drawing/2014/main" val="1464010685"/>
                    </a:ext>
                  </a:extLst>
                </a:gridCol>
                <a:gridCol w="651798">
                  <a:extLst>
                    <a:ext uri="{9D8B030D-6E8A-4147-A177-3AD203B41FA5}">
                      <a16:colId xmlns:a16="http://schemas.microsoft.com/office/drawing/2014/main" val="3008349774"/>
                    </a:ext>
                  </a:extLst>
                </a:gridCol>
                <a:gridCol w="536969">
                  <a:extLst>
                    <a:ext uri="{9D8B030D-6E8A-4147-A177-3AD203B41FA5}">
                      <a16:colId xmlns:a16="http://schemas.microsoft.com/office/drawing/2014/main" val="4178063163"/>
                    </a:ext>
                  </a:extLst>
                </a:gridCol>
                <a:gridCol w="542436">
                  <a:extLst>
                    <a:ext uri="{9D8B030D-6E8A-4147-A177-3AD203B41FA5}">
                      <a16:colId xmlns:a16="http://schemas.microsoft.com/office/drawing/2014/main" val="3156311125"/>
                    </a:ext>
                  </a:extLst>
                </a:gridCol>
                <a:gridCol w="608054">
                  <a:extLst>
                    <a:ext uri="{9D8B030D-6E8A-4147-A177-3AD203B41FA5}">
                      <a16:colId xmlns:a16="http://schemas.microsoft.com/office/drawing/2014/main" val="265294411"/>
                    </a:ext>
                  </a:extLst>
                </a:gridCol>
                <a:gridCol w="608054">
                  <a:extLst>
                    <a:ext uri="{9D8B030D-6E8A-4147-A177-3AD203B41FA5}">
                      <a16:colId xmlns:a16="http://schemas.microsoft.com/office/drawing/2014/main" val="1157635173"/>
                    </a:ext>
                  </a:extLst>
                </a:gridCol>
                <a:gridCol w="509627">
                  <a:extLst>
                    <a:ext uri="{9D8B030D-6E8A-4147-A177-3AD203B41FA5}">
                      <a16:colId xmlns:a16="http://schemas.microsoft.com/office/drawing/2014/main" val="1594520551"/>
                    </a:ext>
                  </a:extLst>
                </a:gridCol>
                <a:gridCol w="604773">
                  <a:extLst>
                    <a:ext uri="{9D8B030D-6E8A-4147-A177-3AD203B41FA5}">
                      <a16:colId xmlns:a16="http://schemas.microsoft.com/office/drawing/2014/main" val="4088490188"/>
                    </a:ext>
                  </a:extLst>
                </a:gridCol>
                <a:gridCol w="604773">
                  <a:extLst>
                    <a:ext uri="{9D8B030D-6E8A-4147-A177-3AD203B41FA5}">
                      <a16:colId xmlns:a16="http://schemas.microsoft.com/office/drawing/2014/main" val="2159637645"/>
                    </a:ext>
                  </a:extLst>
                </a:gridCol>
                <a:gridCol w="867241">
                  <a:extLst>
                    <a:ext uri="{9D8B030D-6E8A-4147-A177-3AD203B41FA5}">
                      <a16:colId xmlns:a16="http://schemas.microsoft.com/office/drawing/2014/main" val="3640672874"/>
                    </a:ext>
                  </a:extLst>
                </a:gridCol>
              </a:tblGrid>
              <a:tr h="305744">
                <a:tc rowSpan="2">
                  <a:txBody>
                    <a:bodyPr/>
                    <a:lstStyle/>
                    <a:p>
                      <a:pPr marL="77470">
                        <a:spcBef>
                          <a:spcPts val="85"/>
                        </a:spcBef>
                        <a:spcAft>
                          <a:spcPts val="0"/>
                        </a:spcAft>
                      </a:pPr>
                      <a:r>
                        <a:rPr lang="en-US" sz="1800">
                          <a:effectLst/>
                        </a:rPr>
                        <a:t>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320040">
                        <a:spcBef>
                          <a:spcPts val="85"/>
                        </a:spcBef>
                      </a:pPr>
                      <a:r>
                        <a:rPr lang="en-US" sz="1800">
                          <a:effectLst/>
                        </a:rPr>
                        <a:t>Number of correctly recognized bird sound in the class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6675">
                        <a:spcBef>
                          <a:spcPts val="795"/>
                        </a:spcBef>
                        <a:spcAft>
                          <a:spcPts val="0"/>
                        </a:spcAft>
                      </a:pPr>
                      <a:r>
                        <a:rPr lang="en-US" sz="1800">
                          <a:effectLst/>
                        </a:rPr>
                        <a:t>% RSA</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250872657"/>
                  </a:ext>
                </a:extLst>
              </a:tr>
              <a:tr h="305744">
                <a:tc vMerge="1">
                  <a:txBody>
                    <a:bodyPr/>
                    <a:lstStyle/>
                    <a:p>
                      <a:endParaRPr lang="en-IN"/>
                    </a:p>
                  </a:txBody>
                  <a:tcPr/>
                </a:tc>
                <a:tc>
                  <a:txBody>
                    <a:bodyPr/>
                    <a:lstStyle/>
                    <a:p>
                      <a:pPr marL="77470">
                        <a:spcBef>
                          <a:spcPts val="65"/>
                        </a:spcBef>
                      </a:pPr>
                      <a:r>
                        <a:rPr lang="en-US" sz="1800">
                          <a:effectLst/>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00" marR="60325" algn="ctr">
                        <a:spcBef>
                          <a:spcPts val="65"/>
                        </a:spcBef>
                        <a:spcAft>
                          <a:spcPts val="0"/>
                        </a:spcAft>
                      </a:pPr>
                      <a:r>
                        <a:rPr lang="en-US" sz="1800">
                          <a:effectLst/>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1800">
                          <a:effectLst/>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65"/>
                        </a:spcBef>
                        <a:spcAft>
                          <a:spcPts val="0"/>
                        </a:spcAft>
                      </a:pPr>
                      <a:r>
                        <a:rPr lang="en-US" sz="1800">
                          <a:effectLst/>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2230" marR="62865" algn="ctr">
                        <a:spcBef>
                          <a:spcPts val="65"/>
                        </a:spcBef>
                        <a:spcAft>
                          <a:spcPts val="0"/>
                        </a:spcAft>
                      </a:pPr>
                      <a:r>
                        <a:rPr lang="en-US" sz="1800">
                          <a:effectLst/>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65"/>
                        </a:spcBef>
                        <a:spcAft>
                          <a:spcPts val="0"/>
                        </a:spcAft>
                      </a:pPr>
                      <a:r>
                        <a:rPr lang="en-US" sz="1800">
                          <a:effectLst/>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2390">
                        <a:spcBef>
                          <a:spcPts val="65"/>
                        </a:spcBef>
                        <a:spcAft>
                          <a:spcPts val="0"/>
                        </a:spcAft>
                      </a:pPr>
                      <a:r>
                        <a:rPr lang="en-US" sz="1800">
                          <a:effectLst/>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65"/>
                        </a:spcBef>
                        <a:spcAft>
                          <a:spcPts val="0"/>
                        </a:spcAft>
                      </a:pPr>
                      <a:r>
                        <a:rPr lang="en-US" sz="1800">
                          <a:effectLst/>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65"/>
                        </a:spcBef>
                        <a:spcAft>
                          <a:spcPts val="0"/>
                        </a:spcAft>
                      </a:pPr>
                      <a:r>
                        <a:rPr lang="en-US" sz="1800">
                          <a:effectLst/>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65"/>
                        </a:spcBef>
                        <a:spcAft>
                          <a:spcPts val="0"/>
                        </a:spcAft>
                      </a:pPr>
                      <a:r>
                        <a:rPr lang="en-US" sz="1800">
                          <a:effectLst/>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2933188050"/>
                  </a:ext>
                </a:extLst>
              </a:tr>
              <a:tr h="310159">
                <a:tc>
                  <a:txBody>
                    <a:bodyPr/>
                    <a:lstStyle/>
                    <a:p>
                      <a:pPr marL="77470">
                        <a:spcBef>
                          <a:spcPts val="85"/>
                        </a:spcBef>
                      </a:pPr>
                      <a:r>
                        <a:rPr lang="en-US" sz="1800" dirty="0">
                          <a:effectLst/>
                        </a:rPr>
                        <a:t>RB</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57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9969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239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671923447"/>
                  </a:ext>
                </a:extLst>
              </a:tr>
              <a:tr h="310159">
                <a:tc>
                  <a:txBody>
                    <a:bodyPr/>
                    <a:lstStyle/>
                    <a:p>
                      <a:pPr marL="77470">
                        <a:spcBef>
                          <a:spcPts val="85"/>
                        </a:spcBef>
                      </a:pPr>
                      <a:r>
                        <a:rPr lang="en-US" sz="1800">
                          <a:effectLst/>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0795" marR="60325" algn="ctr">
                        <a:spcBef>
                          <a:spcPts val="85"/>
                        </a:spcBef>
                        <a:spcAft>
                          <a:spcPts val="0"/>
                        </a:spcAft>
                      </a:pPr>
                      <a:r>
                        <a:rPr lang="en-US" sz="1800">
                          <a:effectLst/>
                        </a:rPr>
                        <a:t>55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1800">
                          <a:effectLst/>
                        </a:rPr>
                        <a:t>13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99695" algn="ctr">
                        <a:spcBef>
                          <a:spcPts val="85"/>
                        </a:spcBef>
                        <a:spcAft>
                          <a:spcPts val="0"/>
                        </a:spcAft>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2390">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67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245773222"/>
                  </a:ext>
                </a:extLst>
              </a:tr>
              <a:tr h="310159">
                <a:tc>
                  <a:txBody>
                    <a:bodyPr/>
                    <a:lstStyle/>
                    <a:p>
                      <a:pPr marL="77470">
                        <a:spcBef>
                          <a:spcPts val="85"/>
                        </a:spcBef>
                      </a:pPr>
                      <a:r>
                        <a:rPr lang="en-US" sz="1800">
                          <a:effectLst/>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58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9969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239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71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458582123"/>
                  </a:ext>
                </a:extLst>
              </a:tr>
              <a:tr h="310159">
                <a:tc>
                  <a:txBody>
                    <a:bodyPr/>
                    <a:lstStyle/>
                    <a:p>
                      <a:pPr marL="77470">
                        <a:spcBef>
                          <a:spcPts val="85"/>
                        </a:spcBef>
                      </a:pPr>
                      <a:r>
                        <a:rPr lang="en-US" sz="1800">
                          <a:effectLst/>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0795" marR="60325" algn="ctr">
                        <a:spcBef>
                          <a:spcPts val="85"/>
                        </a:spcBef>
                        <a:spcAft>
                          <a:spcPts val="0"/>
                        </a:spcAft>
                      </a:pPr>
                      <a:r>
                        <a:rPr lang="en-US" sz="1800">
                          <a:effectLst/>
                        </a:rPr>
                        <a:t>21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24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1800" dirty="0">
                          <a:effectLst/>
                          <a:highlight>
                            <a:srgbClr val="FF0000"/>
                          </a:highlight>
                        </a:rPr>
                        <a:t>25</a:t>
                      </a:r>
                      <a:endParaRPr lang="en-IN" sz="18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99695" algn="ctr">
                        <a:spcBef>
                          <a:spcPts val="85"/>
                        </a:spcBef>
                        <a:spcAft>
                          <a:spcPts val="0"/>
                        </a:spcAft>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1800">
                          <a:effectLst/>
                        </a:rPr>
                        <a:t>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2390">
                        <a:spcBef>
                          <a:spcPts val="85"/>
                        </a:spcBef>
                      </a:pPr>
                      <a:r>
                        <a:rPr lang="en-US" sz="1800">
                          <a:effectLst/>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37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051859512"/>
                  </a:ext>
                </a:extLst>
              </a:tr>
              <a:tr h="310159">
                <a:tc>
                  <a:txBody>
                    <a:bodyPr/>
                    <a:lstStyle/>
                    <a:p>
                      <a:pPr marL="77470">
                        <a:spcBef>
                          <a:spcPts val="85"/>
                        </a:spcBef>
                      </a:pPr>
                      <a:r>
                        <a:rPr lang="en-US" sz="1800">
                          <a:effectLst/>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7145" marR="62865" algn="ctr">
                        <a:spcBef>
                          <a:spcPts val="85"/>
                        </a:spcBef>
                        <a:spcAft>
                          <a:spcPts val="0"/>
                        </a:spcAft>
                      </a:pPr>
                      <a:r>
                        <a:rPr lang="en-US" sz="1800" dirty="0">
                          <a:effectLst/>
                        </a:rPr>
                        <a:t>67</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239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61678197"/>
                  </a:ext>
                </a:extLst>
              </a:tr>
              <a:tr h="310159">
                <a:tc>
                  <a:txBody>
                    <a:bodyPr/>
                    <a:lstStyle/>
                    <a:p>
                      <a:pPr marL="77470">
                        <a:spcBef>
                          <a:spcPts val="85"/>
                        </a:spcBef>
                      </a:pPr>
                      <a:r>
                        <a:rPr lang="en-US" sz="1800">
                          <a:effectLst/>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9969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09855">
                        <a:spcBef>
                          <a:spcPts val="85"/>
                        </a:spcBef>
                      </a:pPr>
                      <a:r>
                        <a:rPr lang="en-US" sz="1800" dirty="0">
                          <a:effectLst/>
                          <a:highlight>
                            <a:srgbClr val="00FF00"/>
                          </a:highlight>
                        </a:rPr>
                        <a:t>63</a:t>
                      </a:r>
                      <a:endParaRPr lang="en-IN" sz="18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239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573281914"/>
                  </a:ext>
                </a:extLst>
              </a:tr>
              <a:tr h="310159">
                <a:tc>
                  <a:txBody>
                    <a:bodyPr/>
                    <a:lstStyle/>
                    <a:p>
                      <a:pPr marL="77470">
                        <a:spcBef>
                          <a:spcPts val="85"/>
                        </a:spcBef>
                      </a:pPr>
                      <a:r>
                        <a:rPr lang="en-US" sz="1800">
                          <a:effectLst/>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99695" algn="ctr">
                        <a:spcBef>
                          <a:spcPts val="85"/>
                        </a:spcBef>
                        <a:spcAft>
                          <a:spcPts val="0"/>
                        </a:spcAft>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2390">
                        <a:spcBef>
                          <a:spcPts val="85"/>
                        </a:spcBef>
                      </a:pPr>
                      <a:r>
                        <a:rPr lang="en-US" sz="1800">
                          <a:effectLst/>
                        </a:rPr>
                        <a:t>54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024819182"/>
                  </a:ext>
                </a:extLst>
              </a:tr>
              <a:tr h="310159">
                <a:tc>
                  <a:txBody>
                    <a:bodyPr/>
                    <a:lstStyle/>
                    <a:p>
                      <a:pPr marL="77470">
                        <a:spcBef>
                          <a:spcPts val="85"/>
                        </a:spcBef>
                      </a:pPr>
                      <a:r>
                        <a:rPr lang="en-US" sz="1800">
                          <a:effectLst/>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99695" algn="ctr">
                        <a:spcBef>
                          <a:spcPts val="85"/>
                        </a:spcBef>
                        <a:spcAft>
                          <a:spcPts val="0"/>
                        </a:spcAft>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2390">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61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43521478"/>
                  </a:ext>
                </a:extLst>
              </a:tr>
              <a:tr h="310159">
                <a:tc>
                  <a:txBody>
                    <a:bodyPr/>
                    <a:lstStyle/>
                    <a:p>
                      <a:pPr marL="77470">
                        <a:spcBef>
                          <a:spcPts val="85"/>
                        </a:spcBef>
                      </a:pPr>
                      <a:r>
                        <a:rPr lang="en-US" sz="1800">
                          <a:effectLst/>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7145" marR="62865" algn="ctr">
                        <a:spcBef>
                          <a:spcPts val="85"/>
                        </a:spcBef>
                        <a:spcAft>
                          <a:spcPts val="0"/>
                        </a:spcAft>
                      </a:pPr>
                      <a:r>
                        <a:rPr lang="en-US" sz="1800">
                          <a:effectLst/>
                        </a:rPr>
                        <a:t>11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239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48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73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164605112"/>
                  </a:ext>
                </a:extLst>
              </a:tr>
              <a:tr h="310159">
                <a:tc>
                  <a:txBody>
                    <a:bodyPr/>
                    <a:lstStyle/>
                    <a:p>
                      <a:pPr marL="77470">
                        <a:spcBef>
                          <a:spcPts val="85"/>
                        </a:spcBef>
                      </a:pPr>
                      <a:r>
                        <a:rPr lang="en-US" sz="1800">
                          <a:effectLst/>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9969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239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35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76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900217589"/>
                  </a:ext>
                </a:extLst>
              </a:tr>
              <a:tr h="310159">
                <a:tc>
                  <a:txBody>
                    <a:bodyPr/>
                    <a:lstStyle/>
                    <a:p>
                      <a:pPr marL="77470">
                        <a:spcBef>
                          <a:spcPts val="85"/>
                        </a:spcBef>
                      </a:pPr>
                      <a:r>
                        <a:rPr lang="en-US" sz="1800">
                          <a:effectLst/>
                        </a:rPr>
                        <a:t>% Rel.</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86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0795" marR="60325" algn="ctr">
                        <a:spcBef>
                          <a:spcPts val="85"/>
                        </a:spcBef>
                        <a:spcAft>
                          <a:spcPts val="0"/>
                        </a:spcAft>
                      </a:pPr>
                      <a:r>
                        <a:rPr lang="en-US" sz="1800">
                          <a:effectLst/>
                        </a:rPr>
                        <a:t>64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67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1800">
                          <a:effectLst/>
                        </a:rPr>
                        <a:t>54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7145" marR="62865" algn="ctr">
                        <a:spcBef>
                          <a:spcPts val="85"/>
                        </a:spcBef>
                        <a:spcAft>
                          <a:spcPts val="0"/>
                        </a:spcAft>
                      </a:pPr>
                      <a:r>
                        <a:rPr lang="en-US" sz="1800">
                          <a:effectLst/>
                        </a:rPr>
                        <a:t>76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1800">
                          <a:effectLst/>
                        </a:rPr>
                        <a:t>78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2390">
                        <a:spcBef>
                          <a:spcPts val="85"/>
                        </a:spcBef>
                      </a:pPr>
                      <a:r>
                        <a:rPr lang="en-US" sz="1800">
                          <a:effectLst/>
                        </a:rPr>
                        <a:t>76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84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75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76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1800">
                          <a:effectLst/>
                        </a:rPr>
                        <a:t>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196813048"/>
                  </a:ext>
                </a:extLst>
              </a:tr>
              <a:tr h="310159">
                <a:tc gridSpan="12">
                  <a:txBody>
                    <a:bodyPr/>
                    <a:lstStyle/>
                    <a:p>
                      <a:pPr marL="77470">
                        <a:spcBef>
                          <a:spcPts val="85"/>
                        </a:spcBef>
                      </a:pPr>
                      <a:r>
                        <a:rPr lang="en-US" sz="1800" dirty="0">
                          <a:effectLst/>
                        </a:rPr>
                        <a:t>Overall Accuracy: 81.33%</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268018782"/>
                  </a:ext>
                </a:extLst>
              </a:tr>
            </a:tbl>
          </a:graphicData>
        </a:graphic>
      </p:graphicFrame>
    </p:spTree>
    <p:extLst>
      <p:ext uri="{BB962C8B-B14F-4D97-AF65-F5344CB8AC3E}">
        <p14:creationId xmlns:p14="http://schemas.microsoft.com/office/powerpoint/2010/main" val="1617201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7F6C52F-E5DC-4BB4-BB84-49A7A12DDAD9}"/>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DE534CF6-0E5F-4FC9-BDC3-92C4E4B33697}"/>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E48AB44F-778D-4364-B3D3-A1A4E0C88C29}"/>
              </a:ext>
            </a:extLst>
          </p:cNvPr>
          <p:cNvSpPr>
            <a:spLocks noGrp="1"/>
          </p:cNvSpPr>
          <p:nvPr>
            <p:ph type="sldNum" sz="quarter" idx="12"/>
          </p:nvPr>
        </p:nvSpPr>
        <p:spPr/>
        <p:txBody>
          <a:bodyPr/>
          <a:lstStyle/>
          <a:p>
            <a:fld id="{B6F15528-21DE-4FAA-801E-634DDDAF4B2B}" type="slidenum">
              <a:rPr lang="en-US" smtClean="0"/>
              <a:pPr/>
              <a:t>18</a:t>
            </a:fld>
            <a:endParaRPr lang="en-US"/>
          </a:p>
        </p:txBody>
      </p:sp>
      <p:graphicFrame>
        <p:nvGraphicFramePr>
          <p:cNvPr id="8" name="Chart 7">
            <a:extLst>
              <a:ext uri="{FF2B5EF4-FFF2-40B4-BE49-F238E27FC236}">
                <a16:creationId xmlns:a16="http://schemas.microsoft.com/office/drawing/2014/main" id="{C54CFDEA-3AAB-4910-93A4-5ABFB2AAFC34}"/>
              </a:ext>
            </a:extLst>
          </p:cNvPr>
          <p:cNvGraphicFramePr/>
          <p:nvPr>
            <p:extLst>
              <p:ext uri="{D42A27DB-BD31-4B8C-83A1-F6EECF244321}">
                <p14:modId xmlns:p14="http://schemas.microsoft.com/office/powerpoint/2010/main" val="243588247"/>
              </p:ext>
            </p:extLst>
          </p:nvPr>
        </p:nvGraphicFramePr>
        <p:xfrm>
          <a:off x="152400" y="1676400"/>
          <a:ext cx="4522470" cy="27025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97DD0353-53F6-412E-825D-71BE157DB3B5}"/>
              </a:ext>
            </a:extLst>
          </p:cNvPr>
          <p:cNvGraphicFramePr/>
          <p:nvPr>
            <p:extLst>
              <p:ext uri="{D42A27DB-BD31-4B8C-83A1-F6EECF244321}">
                <p14:modId xmlns:p14="http://schemas.microsoft.com/office/powerpoint/2010/main" val="4148760925"/>
              </p:ext>
            </p:extLst>
          </p:nvPr>
        </p:nvGraphicFramePr>
        <p:xfrm>
          <a:off x="4495800" y="16002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AE6A66DD-D212-419F-99DE-3859F1029D65}"/>
              </a:ext>
            </a:extLst>
          </p:cNvPr>
          <p:cNvSpPr txBox="1"/>
          <p:nvPr/>
        </p:nvSpPr>
        <p:spPr>
          <a:xfrm>
            <a:off x="228600" y="4431268"/>
            <a:ext cx="8534400" cy="369332"/>
          </a:xfrm>
          <a:prstGeom prst="rect">
            <a:avLst/>
          </a:prstGeom>
          <a:noFill/>
        </p:spPr>
        <p:txBody>
          <a:bodyPr wrap="square" rtlCol="0">
            <a:spAutoFit/>
          </a:bodyPr>
          <a:lstStyle/>
          <a:p>
            <a:pPr algn="ctr"/>
            <a:r>
              <a:rPr lang="en-US" dirty="0"/>
              <a:t>Fig 3 : Analysis and Accuracy of MFCC (26) Features</a:t>
            </a:r>
            <a:endParaRPr lang="en-IN" dirty="0"/>
          </a:p>
        </p:txBody>
      </p:sp>
    </p:spTree>
    <p:extLst>
      <p:ext uri="{BB962C8B-B14F-4D97-AF65-F5344CB8AC3E}">
        <p14:creationId xmlns:p14="http://schemas.microsoft.com/office/powerpoint/2010/main" val="2248050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12B91E2-2DE0-491F-9460-9EA2533C467E}"/>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9052997A-3764-4509-AE45-A5B92902C498}"/>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5BF7A0D1-9FE2-464E-8363-55900A8D92F3}"/>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7" name="TextBox 6">
            <a:extLst>
              <a:ext uri="{FF2B5EF4-FFF2-40B4-BE49-F238E27FC236}">
                <a16:creationId xmlns:a16="http://schemas.microsoft.com/office/drawing/2014/main" id="{D964C6A0-BD8E-4E30-AE41-8644B4C2C132}"/>
              </a:ext>
            </a:extLst>
          </p:cNvPr>
          <p:cNvSpPr txBox="1"/>
          <p:nvPr/>
        </p:nvSpPr>
        <p:spPr>
          <a:xfrm>
            <a:off x="457200" y="343588"/>
            <a:ext cx="8001000" cy="707886"/>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 Table 3 : Recognition of result with MFCC (39)</a:t>
            </a:r>
            <a:r>
              <a:rPr lang="en-US" sz="2000" spc="-12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features</a:t>
            </a:r>
            <a:endParaRPr lang="en-IN" sz="2000" dirty="0">
              <a:effectLst/>
              <a:latin typeface="Times New Roman" panose="02020603050405020304" pitchFamily="18" charset="0"/>
              <a:ea typeface="LM Roman 12"/>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C6F11A94-0C7B-4B82-9505-AD79385BED89}"/>
              </a:ext>
            </a:extLst>
          </p:cNvPr>
          <p:cNvGraphicFramePr>
            <a:graphicFrameLocks noGrp="1"/>
          </p:cNvGraphicFramePr>
          <p:nvPr>
            <p:extLst>
              <p:ext uri="{D42A27DB-BD31-4B8C-83A1-F6EECF244321}">
                <p14:modId xmlns:p14="http://schemas.microsoft.com/office/powerpoint/2010/main" val="1095597977"/>
              </p:ext>
            </p:extLst>
          </p:nvPr>
        </p:nvGraphicFramePr>
        <p:xfrm>
          <a:off x="1066800" y="1051474"/>
          <a:ext cx="7162800" cy="4196322"/>
        </p:xfrm>
        <a:graphic>
          <a:graphicData uri="http://schemas.openxmlformats.org/drawingml/2006/table">
            <a:tbl>
              <a:tblPr firstRow="1" firstCol="1" lastRow="1" lastCol="1" bandRow="1" bandCol="1">
                <a:tableStyleId>{5940675A-B579-460E-94D1-54222C63F5DA}</a:tableStyleId>
              </a:tblPr>
              <a:tblGrid>
                <a:gridCol w="650071">
                  <a:extLst>
                    <a:ext uri="{9D8B030D-6E8A-4147-A177-3AD203B41FA5}">
                      <a16:colId xmlns:a16="http://schemas.microsoft.com/office/drawing/2014/main" val="3870825928"/>
                    </a:ext>
                  </a:extLst>
                </a:gridCol>
                <a:gridCol w="549556">
                  <a:extLst>
                    <a:ext uri="{9D8B030D-6E8A-4147-A177-3AD203B41FA5}">
                      <a16:colId xmlns:a16="http://schemas.microsoft.com/office/drawing/2014/main" val="412572783"/>
                    </a:ext>
                  </a:extLst>
                </a:gridCol>
                <a:gridCol w="651164">
                  <a:extLst>
                    <a:ext uri="{9D8B030D-6E8A-4147-A177-3AD203B41FA5}">
                      <a16:colId xmlns:a16="http://schemas.microsoft.com/office/drawing/2014/main" val="2685435482"/>
                    </a:ext>
                  </a:extLst>
                </a:gridCol>
                <a:gridCol w="651164">
                  <a:extLst>
                    <a:ext uri="{9D8B030D-6E8A-4147-A177-3AD203B41FA5}">
                      <a16:colId xmlns:a16="http://schemas.microsoft.com/office/drawing/2014/main" val="1189106129"/>
                    </a:ext>
                  </a:extLst>
                </a:gridCol>
                <a:gridCol w="536445">
                  <a:extLst>
                    <a:ext uri="{9D8B030D-6E8A-4147-A177-3AD203B41FA5}">
                      <a16:colId xmlns:a16="http://schemas.microsoft.com/office/drawing/2014/main" val="1004479134"/>
                    </a:ext>
                  </a:extLst>
                </a:gridCol>
                <a:gridCol w="541908">
                  <a:extLst>
                    <a:ext uri="{9D8B030D-6E8A-4147-A177-3AD203B41FA5}">
                      <a16:colId xmlns:a16="http://schemas.microsoft.com/office/drawing/2014/main" val="425548477"/>
                    </a:ext>
                  </a:extLst>
                </a:gridCol>
                <a:gridCol w="607461">
                  <a:extLst>
                    <a:ext uri="{9D8B030D-6E8A-4147-A177-3AD203B41FA5}">
                      <a16:colId xmlns:a16="http://schemas.microsoft.com/office/drawing/2014/main" val="2357752190"/>
                    </a:ext>
                  </a:extLst>
                </a:gridCol>
                <a:gridCol w="607461">
                  <a:extLst>
                    <a:ext uri="{9D8B030D-6E8A-4147-A177-3AD203B41FA5}">
                      <a16:colId xmlns:a16="http://schemas.microsoft.com/office/drawing/2014/main" val="1623727240"/>
                    </a:ext>
                  </a:extLst>
                </a:gridCol>
                <a:gridCol w="509131">
                  <a:extLst>
                    <a:ext uri="{9D8B030D-6E8A-4147-A177-3AD203B41FA5}">
                      <a16:colId xmlns:a16="http://schemas.microsoft.com/office/drawing/2014/main" val="1364462075"/>
                    </a:ext>
                  </a:extLst>
                </a:gridCol>
                <a:gridCol w="604184">
                  <a:extLst>
                    <a:ext uri="{9D8B030D-6E8A-4147-A177-3AD203B41FA5}">
                      <a16:colId xmlns:a16="http://schemas.microsoft.com/office/drawing/2014/main" val="3572509386"/>
                    </a:ext>
                  </a:extLst>
                </a:gridCol>
                <a:gridCol w="604184">
                  <a:extLst>
                    <a:ext uri="{9D8B030D-6E8A-4147-A177-3AD203B41FA5}">
                      <a16:colId xmlns:a16="http://schemas.microsoft.com/office/drawing/2014/main" val="308447366"/>
                    </a:ext>
                  </a:extLst>
                </a:gridCol>
                <a:gridCol w="650071">
                  <a:extLst>
                    <a:ext uri="{9D8B030D-6E8A-4147-A177-3AD203B41FA5}">
                      <a16:colId xmlns:a16="http://schemas.microsoft.com/office/drawing/2014/main" val="3276171405"/>
                    </a:ext>
                  </a:extLst>
                </a:gridCol>
              </a:tblGrid>
              <a:tr h="296073">
                <a:tc rowSpan="2">
                  <a:txBody>
                    <a:bodyPr/>
                    <a:lstStyle/>
                    <a:p>
                      <a:pPr marL="77470">
                        <a:spcBef>
                          <a:spcPts val="85"/>
                        </a:spcBef>
                        <a:spcAft>
                          <a:spcPts val="0"/>
                        </a:spcAft>
                      </a:pPr>
                      <a:r>
                        <a:rPr lang="en-US" sz="1800">
                          <a:effectLst/>
                        </a:rPr>
                        <a:t>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601980">
                        <a:spcBef>
                          <a:spcPts val="85"/>
                        </a:spcBef>
                      </a:pPr>
                      <a:r>
                        <a:rPr lang="en-US" sz="1800">
                          <a:effectLst/>
                        </a:rPr>
                        <a:t>Number of correctly recognized bird sound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6675">
                        <a:spcBef>
                          <a:spcPts val="795"/>
                        </a:spcBef>
                        <a:spcAft>
                          <a:spcPts val="0"/>
                        </a:spcAft>
                      </a:pPr>
                      <a:r>
                        <a:rPr lang="en-US" sz="1800">
                          <a:effectLst/>
                        </a:rPr>
                        <a:t>RSA</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927867128"/>
                  </a:ext>
                </a:extLst>
              </a:tr>
              <a:tr h="296073">
                <a:tc vMerge="1">
                  <a:txBody>
                    <a:bodyPr/>
                    <a:lstStyle/>
                    <a:p>
                      <a:endParaRPr lang="en-IN"/>
                    </a:p>
                  </a:txBody>
                  <a:tcPr/>
                </a:tc>
                <a:tc>
                  <a:txBody>
                    <a:bodyPr/>
                    <a:lstStyle/>
                    <a:p>
                      <a:pPr marL="77470">
                        <a:spcBef>
                          <a:spcPts val="65"/>
                        </a:spcBef>
                      </a:pPr>
                      <a:r>
                        <a:rPr lang="en-US" sz="1800">
                          <a:effectLst/>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00" marR="60325" algn="ctr">
                        <a:spcBef>
                          <a:spcPts val="65"/>
                        </a:spcBef>
                        <a:spcAft>
                          <a:spcPts val="0"/>
                        </a:spcAft>
                      </a:pPr>
                      <a:r>
                        <a:rPr lang="en-US" sz="1800">
                          <a:effectLst/>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1800">
                          <a:effectLst/>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1800">
                          <a:effectLst/>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1800">
                          <a:effectLst/>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1800">
                          <a:effectLst/>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1800">
                          <a:effectLst/>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65"/>
                        </a:spcBef>
                        <a:spcAft>
                          <a:spcPts val="0"/>
                        </a:spcAft>
                      </a:pPr>
                      <a:r>
                        <a:rPr lang="en-US" sz="1800">
                          <a:effectLst/>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65"/>
                        </a:spcBef>
                        <a:spcAft>
                          <a:spcPts val="0"/>
                        </a:spcAft>
                      </a:pPr>
                      <a:r>
                        <a:rPr lang="en-US" sz="1800">
                          <a:effectLst/>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65"/>
                        </a:spcBef>
                        <a:spcAft>
                          <a:spcPts val="0"/>
                        </a:spcAft>
                      </a:pPr>
                      <a:r>
                        <a:rPr lang="en-US" sz="1800">
                          <a:effectLst/>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1747977230"/>
                  </a:ext>
                </a:extLst>
              </a:tr>
              <a:tr h="300348">
                <a:tc>
                  <a:txBody>
                    <a:bodyPr/>
                    <a:lstStyle/>
                    <a:p>
                      <a:pPr marL="635" marR="59690" algn="ctr">
                        <a:spcBef>
                          <a:spcPts val="85"/>
                        </a:spcBef>
                        <a:spcAft>
                          <a:spcPts val="0"/>
                        </a:spcAft>
                      </a:pPr>
                      <a:r>
                        <a:rPr lang="en-US" sz="1800">
                          <a:effectLst/>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dirty="0">
                          <a:effectLst/>
                        </a:rPr>
                        <a:t>48</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225449176"/>
                  </a:ext>
                </a:extLst>
              </a:tr>
              <a:tr h="300348">
                <a:tc>
                  <a:txBody>
                    <a:bodyPr/>
                    <a:lstStyle/>
                    <a:p>
                      <a:pPr marL="7620" marR="59690" algn="ctr">
                        <a:spcBef>
                          <a:spcPts val="85"/>
                        </a:spcBef>
                        <a:spcAft>
                          <a:spcPts val="0"/>
                        </a:spcAft>
                      </a:pPr>
                      <a:r>
                        <a:rPr lang="en-US" sz="1800">
                          <a:effectLst/>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1800">
                          <a:effectLst/>
                        </a:rPr>
                        <a:t>45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66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707762762"/>
                  </a:ext>
                </a:extLst>
              </a:tr>
              <a:tr h="300348">
                <a:tc>
                  <a:txBody>
                    <a:bodyPr/>
                    <a:lstStyle/>
                    <a:p>
                      <a:pPr marL="64135" marR="59690" algn="ctr">
                        <a:spcBef>
                          <a:spcPts val="85"/>
                        </a:spcBef>
                        <a:spcAft>
                          <a:spcPts val="0"/>
                        </a:spcAft>
                      </a:pPr>
                      <a:r>
                        <a:rPr lang="en-US" sz="1800">
                          <a:effectLst/>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53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62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284376181"/>
                  </a:ext>
                </a:extLst>
              </a:tr>
              <a:tr h="300348">
                <a:tc>
                  <a:txBody>
                    <a:bodyPr/>
                    <a:lstStyle/>
                    <a:p>
                      <a:pPr marL="54610" marR="125730" algn="ctr">
                        <a:spcBef>
                          <a:spcPts val="85"/>
                        </a:spcBef>
                        <a:spcAft>
                          <a:spcPts val="0"/>
                        </a:spcAft>
                      </a:pPr>
                      <a:r>
                        <a:rPr lang="en-US" sz="1800">
                          <a:effectLst/>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1800">
                          <a:effectLst/>
                        </a:rPr>
                        <a:t>20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25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dirty="0">
                          <a:effectLst/>
                          <a:highlight>
                            <a:srgbClr val="FF0000"/>
                          </a:highlight>
                        </a:rPr>
                        <a:t>31</a:t>
                      </a:r>
                      <a:endParaRPr lang="en-IN" sz="18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42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944213591"/>
                  </a:ext>
                </a:extLst>
              </a:tr>
              <a:tr h="300348">
                <a:tc>
                  <a:txBody>
                    <a:bodyPr/>
                    <a:lstStyle/>
                    <a:p>
                      <a:pPr marL="64135" marR="124460" algn="ctr">
                        <a:spcBef>
                          <a:spcPts val="85"/>
                        </a:spcBef>
                        <a:spcAft>
                          <a:spcPts val="0"/>
                        </a:spcAft>
                      </a:pPr>
                      <a:r>
                        <a:rPr lang="en-US" sz="1800">
                          <a:effectLst/>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dirty="0">
                          <a:effectLst/>
                          <a:highlight>
                            <a:srgbClr val="00FF00"/>
                          </a:highlight>
                        </a:rPr>
                        <a:t>65</a:t>
                      </a:r>
                      <a:endParaRPr lang="en-IN" sz="18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290850149"/>
                  </a:ext>
                </a:extLst>
              </a:tr>
              <a:tr h="300348">
                <a:tc>
                  <a:txBody>
                    <a:bodyPr/>
                    <a:lstStyle/>
                    <a:p>
                      <a:pPr marL="2540" marR="59690" algn="ctr">
                        <a:spcBef>
                          <a:spcPts val="85"/>
                        </a:spcBef>
                        <a:spcAft>
                          <a:spcPts val="0"/>
                        </a:spcAft>
                      </a:pPr>
                      <a:r>
                        <a:rPr lang="en-US" sz="1800">
                          <a:effectLst/>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dirty="0">
                          <a:effectLst/>
                        </a:rPr>
                        <a:t>37</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72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234846781"/>
                  </a:ext>
                </a:extLst>
              </a:tr>
              <a:tr h="300348">
                <a:tc>
                  <a:txBody>
                    <a:bodyPr/>
                    <a:lstStyle/>
                    <a:p>
                      <a:pPr marL="40005" marR="59690" algn="ctr">
                        <a:spcBef>
                          <a:spcPts val="85"/>
                        </a:spcBef>
                        <a:spcAft>
                          <a:spcPts val="0"/>
                        </a:spcAft>
                      </a:pPr>
                      <a:r>
                        <a:rPr lang="en-US" sz="1800">
                          <a:effectLst/>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61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606538450"/>
                  </a:ext>
                </a:extLst>
              </a:tr>
              <a:tr h="300348">
                <a:tc>
                  <a:txBody>
                    <a:bodyPr/>
                    <a:lstStyle/>
                    <a:p>
                      <a:pPr marL="42545" marR="125730" algn="ctr">
                        <a:spcBef>
                          <a:spcPts val="85"/>
                        </a:spcBef>
                        <a:spcAft>
                          <a:spcPts val="0"/>
                        </a:spcAft>
                      </a:pPr>
                      <a:r>
                        <a:rPr lang="en-US" sz="1800">
                          <a:effectLst/>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dirty="0">
                          <a:effectLst/>
                        </a:rPr>
                        <a:t>0</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78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542087732"/>
                  </a:ext>
                </a:extLst>
              </a:tr>
              <a:tr h="300348">
                <a:tc>
                  <a:txBody>
                    <a:bodyPr/>
                    <a:lstStyle/>
                    <a:p>
                      <a:pPr marL="48895" marR="125730" algn="ctr">
                        <a:spcBef>
                          <a:spcPts val="85"/>
                        </a:spcBef>
                        <a:spcAft>
                          <a:spcPts val="0"/>
                        </a:spcAft>
                      </a:pPr>
                      <a:r>
                        <a:rPr lang="en-US" sz="1800">
                          <a:effectLst/>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11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55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74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340178222"/>
                  </a:ext>
                </a:extLst>
              </a:tr>
              <a:tr h="300348">
                <a:tc>
                  <a:txBody>
                    <a:bodyPr/>
                    <a:lstStyle/>
                    <a:p>
                      <a:pPr marL="38100" marR="59690" algn="ctr">
                        <a:spcBef>
                          <a:spcPts val="85"/>
                        </a:spcBef>
                        <a:spcAft>
                          <a:spcPts val="0"/>
                        </a:spcAft>
                      </a:pPr>
                      <a:r>
                        <a:rPr lang="en-US" sz="1800">
                          <a:effectLst/>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42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369977383"/>
                  </a:ext>
                </a:extLst>
              </a:tr>
              <a:tr h="300348">
                <a:tc>
                  <a:txBody>
                    <a:bodyPr/>
                    <a:lstStyle/>
                    <a:p>
                      <a:pPr marL="31750" marR="59690" algn="ctr">
                        <a:spcBef>
                          <a:spcPts val="85"/>
                        </a:spcBef>
                        <a:spcAft>
                          <a:spcPts val="0"/>
                        </a:spcAft>
                      </a:pPr>
                      <a:r>
                        <a:rPr lang="en-US" sz="1800">
                          <a:effectLst/>
                        </a:rPr>
                        <a:t>Rel.</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77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1800">
                          <a:effectLst/>
                        </a:rPr>
                        <a:t>61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55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49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84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88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87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77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73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89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1800">
                          <a:effectLst/>
                        </a:rPr>
                        <a:t>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072849994"/>
                  </a:ext>
                </a:extLst>
              </a:tr>
              <a:tr h="300348">
                <a:tc gridSpan="12">
                  <a:txBody>
                    <a:bodyPr/>
                    <a:lstStyle/>
                    <a:p>
                      <a:pPr marL="77470">
                        <a:spcBef>
                          <a:spcPts val="85"/>
                        </a:spcBef>
                      </a:pPr>
                      <a:r>
                        <a:rPr lang="en-US" sz="1800" dirty="0">
                          <a:effectLst/>
                        </a:rPr>
                        <a:t>Overall Accuracy: 82.21%</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904467610"/>
                  </a:ext>
                </a:extLst>
              </a:tr>
            </a:tbl>
          </a:graphicData>
        </a:graphic>
      </p:graphicFrame>
    </p:spTree>
    <p:extLst>
      <p:ext uri="{BB962C8B-B14F-4D97-AF65-F5344CB8AC3E}">
        <p14:creationId xmlns:p14="http://schemas.microsoft.com/office/powerpoint/2010/main" val="429935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00F3C14-584A-4C0C-B7B5-BD4E86318797}"/>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F70602FD-71C7-4D86-BCB1-F00AC9EDA638}"/>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AFC05F6A-5AAA-4F71-9BE1-AABA525693FB}"/>
              </a:ext>
            </a:extLst>
          </p:cNvPr>
          <p:cNvSpPr>
            <a:spLocks noGrp="1"/>
          </p:cNvSpPr>
          <p:nvPr>
            <p:ph type="sldNum" sz="quarter" idx="12"/>
          </p:nvPr>
        </p:nvSpPr>
        <p:spPr/>
        <p:txBody>
          <a:bodyPr/>
          <a:lstStyle/>
          <a:p>
            <a:fld id="{B6F15528-21DE-4FAA-801E-634DDDAF4B2B}" type="slidenum">
              <a:rPr lang="en-US" smtClean="0"/>
              <a:pPr/>
              <a:t>20</a:t>
            </a:fld>
            <a:endParaRPr lang="en-US"/>
          </a:p>
        </p:txBody>
      </p:sp>
      <p:graphicFrame>
        <p:nvGraphicFramePr>
          <p:cNvPr id="9" name="Chart 8">
            <a:extLst>
              <a:ext uri="{FF2B5EF4-FFF2-40B4-BE49-F238E27FC236}">
                <a16:creationId xmlns:a16="http://schemas.microsoft.com/office/drawing/2014/main" id="{F88F2149-2E7E-4384-803B-33E0D39FD616}"/>
              </a:ext>
            </a:extLst>
          </p:cNvPr>
          <p:cNvGraphicFramePr/>
          <p:nvPr>
            <p:extLst>
              <p:ext uri="{D42A27DB-BD31-4B8C-83A1-F6EECF244321}">
                <p14:modId xmlns:p14="http://schemas.microsoft.com/office/powerpoint/2010/main" val="690869905"/>
              </p:ext>
            </p:extLst>
          </p:nvPr>
        </p:nvGraphicFramePr>
        <p:xfrm>
          <a:off x="76200" y="1295400"/>
          <a:ext cx="4522470" cy="27025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C51EA841-FB37-4E65-AD9E-8A2EF7BC220D}"/>
              </a:ext>
            </a:extLst>
          </p:cNvPr>
          <p:cNvGraphicFramePr/>
          <p:nvPr>
            <p:extLst>
              <p:ext uri="{D42A27DB-BD31-4B8C-83A1-F6EECF244321}">
                <p14:modId xmlns:p14="http://schemas.microsoft.com/office/powerpoint/2010/main" val="3490808932"/>
              </p:ext>
            </p:extLst>
          </p:nvPr>
        </p:nvGraphicFramePr>
        <p:xfrm>
          <a:off x="4495800" y="12954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DD033B04-8A86-4191-9407-A943BFFBEFE4}"/>
              </a:ext>
            </a:extLst>
          </p:cNvPr>
          <p:cNvSpPr txBox="1"/>
          <p:nvPr/>
        </p:nvSpPr>
        <p:spPr>
          <a:xfrm>
            <a:off x="228600" y="4126468"/>
            <a:ext cx="8534400" cy="369332"/>
          </a:xfrm>
          <a:prstGeom prst="rect">
            <a:avLst/>
          </a:prstGeom>
          <a:noFill/>
        </p:spPr>
        <p:txBody>
          <a:bodyPr wrap="square" rtlCol="0">
            <a:spAutoFit/>
          </a:bodyPr>
          <a:lstStyle/>
          <a:p>
            <a:pPr algn="ctr"/>
            <a:r>
              <a:rPr lang="en-US" dirty="0"/>
              <a:t>Fig 4 : Analysis and Accuracy of MFCC (39) Features</a:t>
            </a:r>
            <a:endParaRPr lang="en-IN" dirty="0"/>
          </a:p>
        </p:txBody>
      </p:sp>
    </p:spTree>
    <p:extLst>
      <p:ext uri="{BB962C8B-B14F-4D97-AF65-F5344CB8AC3E}">
        <p14:creationId xmlns:p14="http://schemas.microsoft.com/office/powerpoint/2010/main" val="12419650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12B91E2-2DE0-491F-9460-9EA2533C467E}"/>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9052997A-3764-4509-AE45-A5B92902C498}"/>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5BF7A0D1-9FE2-464E-8363-55900A8D92F3}"/>
              </a:ext>
            </a:extLst>
          </p:cNvPr>
          <p:cNvSpPr>
            <a:spLocks noGrp="1"/>
          </p:cNvSpPr>
          <p:nvPr>
            <p:ph type="sldNum" sz="quarter" idx="12"/>
          </p:nvPr>
        </p:nvSpPr>
        <p:spPr/>
        <p:txBody>
          <a:bodyPr/>
          <a:lstStyle/>
          <a:p>
            <a:fld id="{B6F15528-21DE-4FAA-801E-634DDDAF4B2B}" type="slidenum">
              <a:rPr lang="en-US" smtClean="0"/>
              <a:pPr/>
              <a:t>21</a:t>
            </a:fld>
            <a:endParaRPr lang="en-US"/>
          </a:p>
        </p:txBody>
      </p:sp>
      <p:sp>
        <p:nvSpPr>
          <p:cNvPr id="7" name="TextBox 6">
            <a:extLst>
              <a:ext uri="{FF2B5EF4-FFF2-40B4-BE49-F238E27FC236}">
                <a16:creationId xmlns:a16="http://schemas.microsoft.com/office/drawing/2014/main" id="{B83C3AC8-D8FF-4D2B-B69C-F0B086BD0F91}"/>
              </a:ext>
            </a:extLst>
          </p:cNvPr>
          <p:cNvSpPr txBox="1"/>
          <p:nvPr/>
        </p:nvSpPr>
        <p:spPr>
          <a:xfrm>
            <a:off x="457200" y="511314"/>
            <a:ext cx="8001000" cy="707886"/>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 Table 4 : Recognition of result with LFCC (13)</a:t>
            </a:r>
            <a:r>
              <a:rPr lang="en-US" sz="2000" spc="-12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features</a:t>
            </a:r>
            <a:endParaRPr lang="en-IN" sz="2000" dirty="0">
              <a:effectLst/>
              <a:latin typeface="Times New Roman" panose="02020603050405020304" pitchFamily="18" charset="0"/>
              <a:ea typeface="LM Roman 12"/>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7A99398D-3433-4BBF-BA5E-C5A48B5BEFF1}"/>
              </a:ext>
            </a:extLst>
          </p:cNvPr>
          <p:cNvSpPr>
            <a:spLocks noGrp="1"/>
          </p:cNvSpPr>
          <p:nvPr>
            <p:ph type="title"/>
          </p:nvPr>
        </p:nvSpPr>
        <p:spPr>
          <a:xfrm>
            <a:off x="457200" y="-76200"/>
            <a:ext cx="8229600" cy="622603"/>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Result of LFCC</a:t>
            </a:r>
            <a:endParaRPr lang="en-IN" dirty="0">
              <a:solidFill>
                <a:srgbClr val="FF0000"/>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DF9E43ED-443D-4FE6-BC4A-1DB78677B9EC}"/>
              </a:ext>
            </a:extLst>
          </p:cNvPr>
          <p:cNvGraphicFramePr>
            <a:graphicFrameLocks noGrp="1"/>
          </p:cNvGraphicFramePr>
          <p:nvPr>
            <p:extLst>
              <p:ext uri="{D42A27DB-BD31-4B8C-83A1-F6EECF244321}">
                <p14:modId xmlns:p14="http://schemas.microsoft.com/office/powerpoint/2010/main" val="4061821366"/>
              </p:ext>
            </p:extLst>
          </p:nvPr>
        </p:nvGraphicFramePr>
        <p:xfrm>
          <a:off x="914401" y="1219199"/>
          <a:ext cx="7315199" cy="4028594"/>
        </p:xfrm>
        <a:graphic>
          <a:graphicData uri="http://schemas.openxmlformats.org/drawingml/2006/table">
            <a:tbl>
              <a:tblPr firstRow="1" firstCol="1" lastRow="1" lastCol="1" bandRow="1" bandCol="1">
                <a:tableStyleId>{5940675A-B579-460E-94D1-54222C63F5DA}</a:tableStyleId>
              </a:tblPr>
              <a:tblGrid>
                <a:gridCol w="746846">
                  <a:extLst>
                    <a:ext uri="{9D8B030D-6E8A-4147-A177-3AD203B41FA5}">
                      <a16:colId xmlns:a16="http://schemas.microsoft.com/office/drawing/2014/main" val="1923892515"/>
                    </a:ext>
                  </a:extLst>
                </a:gridCol>
                <a:gridCol w="542866">
                  <a:extLst>
                    <a:ext uri="{9D8B030D-6E8A-4147-A177-3AD203B41FA5}">
                      <a16:colId xmlns:a16="http://schemas.microsoft.com/office/drawing/2014/main" val="3467001345"/>
                    </a:ext>
                  </a:extLst>
                </a:gridCol>
                <a:gridCol w="643236">
                  <a:extLst>
                    <a:ext uri="{9D8B030D-6E8A-4147-A177-3AD203B41FA5}">
                      <a16:colId xmlns:a16="http://schemas.microsoft.com/office/drawing/2014/main" val="3664581408"/>
                    </a:ext>
                  </a:extLst>
                </a:gridCol>
                <a:gridCol w="643236">
                  <a:extLst>
                    <a:ext uri="{9D8B030D-6E8A-4147-A177-3AD203B41FA5}">
                      <a16:colId xmlns:a16="http://schemas.microsoft.com/office/drawing/2014/main" val="1877533922"/>
                    </a:ext>
                  </a:extLst>
                </a:gridCol>
                <a:gridCol w="529915">
                  <a:extLst>
                    <a:ext uri="{9D8B030D-6E8A-4147-A177-3AD203B41FA5}">
                      <a16:colId xmlns:a16="http://schemas.microsoft.com/office/drawing/2014/main" val="2779738806"/>
                    </a:ext>
                  </a:extLst>
                </a:gridCol>
                <a:gridCol w="535312">
                  <a:extLst>
                    <a:ext uri="{9D8B030D-6E8A-4147-A177-3AD203B41FA5}">
                      <a16:colId xmlns:a16="http://schemas.microsoft.com/office/drawing/2014/main" val="812968251"/>
                    </a:ext>
                  </a:extLst>
                </a:gridCol>
                <a:gridCol w="600067">
                  <a:extLst>
                    <a:ext uri="{9D8B030D-6E8A-4147-A177-3AD203B41FA5}">
                      <a16:colId xmlns:a16="http://schemas.microsoft.com/office/drawing/2014/main" val="2352714522"/>
                    </a:ext>
                  </a:extLst>
                </a:gridCol>
                <a:gridCol w="600067">
                  <a:extLst>
                    <a:ext uri="{9D8B030D-6E8A-4147-A177-3AD203B41FA5}">
                      <a16:colId xmlns:a16="http://schemas.microsoft.com/office/drawing/2014/main" val="2757599377"/>
                    </a:ext>
                  </a:extLst>
                </a:gridCol>
                <a:gridCol w="502934">
                  <a:extLst>
                    <a:ext uri="{9D8B030D-6E8A-4147-A177-3AD203B41FA5}">
                      <a16:colId xmlns:a16="http://schemas.microsoft.com/office/drawing/2014/main" val="2213351444"/>
                    </a:ext>
                  </a:extLst>
                </a:gridCol>
                <a:gridCol w="596828">
                  <a:extLst>
                    <a:ext uri="{9D8B030D-6E8A-4147-A177-3AD203B41FA5}">
                      <a16:colId xmlns:a16="http://schemas.microsoft.com/office/drawing/2014/main" val="2020078036"/>
                    </a:ext>
                  </a:extLst>
                </a:gridCol>
                <a:gridCol w="596828">
                  <a:extLst>
                    <a:ext uri="{9D8B030D-6E8A-4147-A177-3AD203B41FA5}">
                      <a16:colId xmlns:a16="http://schemas.microsoft.com/office/drawing/2014/main" val="1070927675"/>
                    </a:ext>
                  </a:extLst>
                </a:gridCol>
                <a:gridCol w="777064">
                  <a:extLst>
                    <a:ext uri="{9D8B030D-6E8A-4147-A177-3AD203B41FA5}">
                      <a16:colId xmlns:a16="http://schemas.microsoft.com/office/drawing/2014/main" val="2086413530"/>
                    </a:ext>
                  </a:extLst>
                </a:gridCol>
              </a:tblGrid>
              <a:tr h="284239">
                <a:tc rowSpan="2">
                  <a:txBody>
                    <a:bodyPr/>
                    <a:lstStyle/>
                    <a:p>
                      <a:pPr marL="77470">
                        <a:spcBef>
                          <a:spcPts val="85"/>
                        </a:spcBef>
                        <a:spcAft>
                          <a:spcPts val="0"/>
                        </a:spcAft>
                      </a:pPr>
                      <a:r>
                        <a:rPr lang="en-US" sz="1800">
                          <a:effectLst/>
                        </a:rPr>
                        <a:t>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77470">
                        <a:spcBef>
                          <a:spcPts val="85"/>
                        </a:spcBef>
                      </a:pPr>
                      <a:r>
                        <a:rPr lang="en-US" sz="1800">
                          <a:effectLst/>
                        </a:rPr>
                        <a:t>Number of correctly recognized bird sound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6675">
                        <a:spcBef>
                          <a:spcPts val="795"/>
                        </a:spcBef>
                        <a:spcAft>
                          <a:spcPts val="0"/>
                        </a:spcAft>
                      </a:pPr>
                      <a:r>
                        <a:rPr lang="en-US" sz="1800">
                          <a:effectLst/>
                        </a:rPr>
                        <a:t>Acc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544892348"/>
                  </a:ext>
                </a:extLst>
              </a:tr>
              <a:tr h="284239">
                <a:tc vMerge="1">
                  <a:txBody>
                    <a:bodyPr/>
                    <a:lstStyle/>
                    <a:p>
                      <a:endParaRPr lang="en-IN"/>
                    </a:p>
                  </a:txBody>
                  <a:tcPr/>
                </a:tc>
                <a:tc>
                  <a:txBody>
                    <a:bodyPr/>
                    <a:lstStyle/>
                    <a:p>
                      <a:pPr marL="64135" marR="60325" algn="ctr">
                        <a:spcBef>
                          <a:spcPts val="65"/>
                        </a:spcBef>
                        <a:spcAft>
                          <a:spcPts val="0"/>
                        </a:spcAft>
                      </a:pPr>
                      <a:r>
                        <a:rPr lang="en-US" sz="1800">
                          <a:effectLst/>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00" marR="60325" algn="ctr">
                        <a:spcBef>
                          <a:spcPts val="65"/>
                        </a:spcBef>
                        <a:spcAft>
                          <a:spcPts val="0"/>
                        </a:spcAft>
                      </a:pPr>
                      <a:r>
                        <a:rPr lang="en-US" sz="1800">
                          <a:effectLst/>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2865" marR="60960" algn="ctr">
                        <a:spcBef>
                          <a:spcPts val="65"/>
                        </a:spcBef>
                        <a:spcAft>
                          <a:spcPts val="0"/>
                        </a:spcAft>
                      </a:pPr>
                      <a:r>
                        <a:rPr lang="en-US" sz="1800">
                          <a:effectLst/>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2865" marR="62230" algn="ctr">
                        <a:spcBef>
                          <a:spcPts val="65"/>
                        </a:spcBef>
                        <a:spcAft>
                          <a:spcPts val="0"/>
                        </a:spcAft>
                      </a:pPr>
                      <a:r>
                        <a:rPr lang="en-US" sz="1800">
                          <a:effectLst/>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2230" marR="62865" algn="ctr">
                        <a:spcBef>
                          <a:spcPts val="65"/>
                        </a:spcBef>
                        <a:spcAft>
                          <a:spcPts val="0"/>
                        </a:spcAft>
                      </a:pPr>
                      <a:r>
                        <a:rPr lang="en-US" sz="1800">
                          <a:effectLst/>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1595" marR="63500" algn="ctr">
                        <a:spcBef>
                          <a:spcPts val="65"/>
                        </a:spcBef>
                        <a:spcAft>
                          <a:spcPts val="0"/>
                        </a:spcAft>
                      </a:pPr>
                      <a:r>
                        <a:rPr lang="en-US" sz="1800">
                          <a:effectLst/>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0325" marR="64770" algn="ctr">
                        <a:spcBef>
                          <a:spcPts val="65"/>
                        </a:spcBef>
                        <a:spcAft>
                          <a:spcPts val="0"/>
                        </a:spcAft>
                      </a:pPr>
                      <a:r>
                        <a:rPr lang="en-US" sz="1800">
                          <a:effectLst/>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78740" algn="r">
                        <a:spcBef>
                          <a:spcPts val="65"/>
                        </a:spcBef>
                        <a:spcAft>
                          <a:spcPts val="0"/>
                        </a:spcAft>
                      </a:pPr>
                      <a:r>
                        <a:rPr lang="en-US" sz="1800">
                          <a:effectLst/>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65"/>
                        </a:spcBef>
                        <a:spcAft>
                          <a:spcPts val="0"/>
                        </a:spcAft>
                      </a:pPr>
                      <a:r>
                        <a:rPr lang="en-US" sz="1800">
                          <a:effectLst/>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55880" marR="69215" algn="ctr">
                        <a:spcBef>
                          <a:spcPts val="65"/>
                        </a:spcBef>
                        <a:spcAft>
                          <a:spcPts val="0"/>
                        </a:spcAft>
                      </a:pPr>
                      <a:r>
                        <a:rPr lang="en-US" sz="1800">
                          <a:effectLst/>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366152318"/>
                  </a:ext>
                </a:extLst>
              </a:tr>
              <a:tr h="288343">
                <a:tc>
                  <a:txBody>
                    <a:bodyPr/>
                    <a:lstStyle/>
                    <a:p>
                      <a:pPr marL="64135" marR="59690" algn="ctr">
                        <a:spcBef>
                          <a:spcPts val="85"/>
                        </a:spcBef>
                        <a:spcAft>
                          <a:spcPts val="0"/>
                        </a:spcAft>
                      </a:pPr>
                      <a:r>
                        <a:rPr lang="en-US" sz="1800">
                          <a:effectLst/>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4135" marR="60325" algn="ctr">
                        <a:spcBef>
                          <a:spcPts val="85"/>
                        </a:spcBef>
                        <a:spcAft>
                          <a:spcPts val="0"/>
                        </a:spcAft>
                      </a:pPr>
                      <a:r>
                        <a:rPr lang="en-US" sz="1800">
                          <a:effectLst/>
                        </a:rPr>
                        <a:t>50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175"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905" algn="ctr">
                        <a:spcBef>
                          <a:spcPts val="85"/>
                        </a:spcBef>
                      </a:pPr>
                      <a:r>
                        <a:rPr lang="en-US" sz="1800" dirty="0">
                          <a:effectLst/>
                        </a:rPr>
                        <a:t>1</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63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90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444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17475" algn="r">
                        <a:spcBef>
                          <a:spcPts val="85"/>
                        </a:spcBef>
                        <a:spcAft>
                          <a:spcPts val="0"/>
                        </a:spcAft>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176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333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79070" algn="r">
                        <a:spcBef>
                          <a:spcPts val="85"/>
                        </a:spcBef>
                        <a:spcAft>
                          <a:spcPts val="0"/>
                        </a:spcAft>
                      </a:pPr>
                      <a:r>
                        <a:rPr lang="en-US" sz="1800">
                          <a:effectLst/>
                        </a:rPr>
                        <a:t>89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010782264"/>
                  </a:ext>
                </a:extLst>
              </a:tr>
              <a:tr h="288343">
                <a:tc>
                  <a:txBody>
                    <a:bodyPr/>
                    <a:lstStyle/>
                    <a:p>
                      <a:pPr marL="64135" marR="59690" algn="ctr">
                        <a:spcBef>
                          <a:spcPts val="85"/>
                        </a:spcBef>
                        <a:spcAft>
                          <a:spcPts val="0"/>
                        </a:spcAft>
                      </a:pPr>
                      <a:r>
                        <a:rPr lang="en-US" sz="1800">
                          <a:effectLst/>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810" algn="ctr">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00" marR="60325" algn="ctr">
                        <a:spcBef>
                          <a:spcPts val="85"/>
                        </a:spcBef>
                        <a:spcAft>
                          <a:spcPts val="0"/>
                        </a:spcAft>
                      </a:pPr>
                      <a:r>
                        <a:rPr lang="en-US" sz="1800">
                          <a:effectLst/>
                        </a:rPr>
                        <a:t>38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905"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 algn="ctr">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635" algn="ctr">
                        <a:spcBef>
                          <a:spcPts val="85"/>
                        </a:spcBef>
                        <a:spcAft>
                          <a:spcPts val="0"/>
                        </a:spcAft>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90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444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17475" algn="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176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333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79070" algn="r">
                        <a:spcBef>
                          <a:spcPts val="85"/>
                        </a:spcBef>
                        <a:spcAft>
                          <a:spcPts val="0"/>
                        </a:spcAft>
                      </a:pPr>
                      <a:r>
                        <a:rPr lang="en-US" sz="1800">
                          <a:effectLst/>
                        </a:rPr>
                        <a:t>90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71395395"/>
                  </a:ext>
                </a:extLst>
              </a:tr>
              <a:tr h="288343">
                <a:tc>
                  <a:txBody>
                    <a:bodyPr/>
                    <a:lstStyle/>
                    <a:p>
                      <a:pPr marL="64135" marR="59690" algn="ctr">
                        <a:spcBef>
                          <a:spcPts val="85"/>
                        </a:spcBef>
                        <a:spcAft>
                          <a:spcPts val="0"/>
                        </a:spcAft>
                      </a:pPr>
                      <a:r>
                        <a:rPr lang="en-US" sz="1800">
                          <a:effectLst/>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810"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175" algn="ctr">
                        <a:spcBef>
                          <a:spcPts val="85"/>
                        </a:spcBef>
                      </a:pPr>
                      <a:r>
                        <a:rPr lang="en-US" sz="1800" dirty="0">
                          <a:effectLst/>
                        </a:rPr>
                        <a:t>10</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2865" marR="60960" algn="ctr">
                        <a:spcBef>
                          <a:spcPts val="85"/>
                        </a:spcBef>
                        <a:spcAft>
                          <a:spcPts val="0"/>
                        </a:spcAft>
                      </a:pPr>
                      <a:r>
                        <a:rPr lang="en-US" sz="1800" dirty="0">
                          <a:effectLst/>
                          <a:highlight>
                            <a:srgbClr val="FF0000"/>
                          </a:highlight>
                        </a:rPr>
                        <a:t>37</a:t>
                      </a:r>
                      <a:endParaRPr lang="en-IN" sz="18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 algn="ctr">
                        <a:spcBef>
                          <a:spcPts val="85"/>
                        </a:spcBef>
                      </a:pPr>
                      <a:r>
                        <a:rPr lang="en-US" sz="1800" dirty="0">
                          <a:effectLst/>
                        </a:rPr>
                        <a:t>9</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63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905" algn="ctr">
                        <a:spcBef>
                          <a:spcPts val="85"/>
                        </a:spcBef>
                        <a:spcAft>
                          <a:spcPts val="0"/>
                        </a:spcAft>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4445" algn="ctr">
                        <a:spcBef>
                          <a:spcPts val="85"/>
                        </a:spcBef>
                        <a:spcAft>
                          <a:spcPts val="0"/>
                        </a:spcAft>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17475" algn="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176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3335" algn="ctr">
                        <a:spcBef>
                          <a:spcPts val="85"/>
                        </a:spcBef>
                        <a:spcAft>
                          <a:spcPts val="0"/>
                        </a:spcAft>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79070" algn="r">
                        <a:spcBef>
                          <a:spcPts val="85"/>
                        </a:spcBef>
                        <a:spcAft>
                          <a:spcPts val="0"/>
                        </a:spcAft>
                      </a:pPr>
                      <a:r>
                        <a:rPr lang="en-US" sz="1800">
                          <a:effectLst/>
                        </a:rPr>
                        <a:t>71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809059649"/>
                  </a:ext>
                </a:extLst>
              </a:tr>
              <a:tr h="288343">
                <a:tc>
                  <a:txBody>
                    <a:bodyPr/>
                    <a:lstStyle/>
                    <a:p>
                      <a:pPr marL="64135" marR="59690" algn="ctr">
                        <a:spcBef>
                          <a:spcPts val="85"/>
                        </a:spcBef>
                        <a:spcAft>
                          <a:spcPts val="0"/>
                        </a:spcAft>
                      </a:pPr>
                      <a:r>
                        <a:rPr lang="en-US" sz="1800">
                          <a:effectLst/>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810"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175" algn="ctr">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905" algn="ctr">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2865" marR="62230" algn="ctr">
                        <a:spcBef>
                          <a:spcPts val="85"/>
                        </a:spcBef>
                        <a:spcAft>
                          <a:spcPts val="0"/>
                        </a:spcAft>
                      </a:pPr>
                      <a:r>
                        <a:rPr lang="en-US" sz="1800" dirty="0">
                          <a:effectLst/>
                        </a:rPr>
                        <a:t>53</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635" algn="ctr">
                        <a:spcBef>
                          <a:spcPts val="85"/>
                        </a:spcBef>
                        <a:spcAft>
                          <a:spcPts val="0"/>
                        </a:spcAft>
                      </a:pPr>
                      <a:r>
                        <a:rPr lang="en-US" sz="1800" dirty="0">
                          <a:effectLst/>
                        </a:rPr>
                        <a:t>0</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905" algn="ctr">
                        <a:spcBef>
                          <a:spcPts val="85"/>
                        </a:spcBef>
                        <a:spcAft>
                          <a:spcPts val="0"/>
                        </a:spcAft>
                      </a:pPr>
                      <a:r>
                        <a:rPr lang="en-US" sz="1800" dirty="0">
                          <a:effectLst/>
                        </a:rPr>
                        <a:t>0</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444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17475" algn="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176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333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79070" algn="r">
                        <a:spcBef>
                          <a:spcPts val="85"/>
                        </a:spcBef>
                        <a:spcAft>
                          <a:spcPts val="0"/>
                        </a:spcAft>
                      </a:pPr>
                      <a:r>
                        <a:rPr lang="en-US" sz="1800">
                          <a:effectLst/>
                        </a:rPr>
                        <a:t>95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866686385"/>
                  </a:ext>
                </a:extLst>
              </a:tr>
              <a:tr h="288343">
                <a:tc>
                  <a:txBody>
                    <a:bodyPr/>
                    <a:lstStyle/>
                    <a:p>
                      <a:pPr marL="64135" marR="59690" algn="ctr">
                        <a:spcBef>
                          <a:spcPts val="85"/>
                        </a:spcBef>
                        <a:spcAft>
                          <a:spcPts val="0"/>
                        </a:spcAft>
                      </a:pPr>
                      <a:r>
                        <a:rPr lang="en-US" sz="1800">
                          <a:effectLst/>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810"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175"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905" algn="ctr">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 algn="ctr">
                        <a:spcBef>
                          <a:spcPts val="85"/>
                        </a:spcBef>
                      </a:pPr>
                      <a:r>
                        <a:rPr lang="en-US" sz="1800">
                          <a:effectLst/>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2230" marR="62865" algn="ctr">
                        <a:spcBef>
                          <a:spcPts val="85"/>
                        </a:spcBef>
                        <a:spcAft>
                          <a:spcPts val="0"/>
                        </a:spcAft>
                      </a:pPr>
                      <a:r>
                        <a:rPr lang="en-US" sz="1800" dirty="0">
                          <a:effectLst/>
                          <a:highlight>
                            <a:srgbClr val="00FF00"/>
                          </a:highlight>
                        </a:rPr>
                        <a:t>42</a:t>
                      </a:r>
                      <a:endParaRPr lang="en-IN" sz="18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905" algn="ctr">
                        <a:spcBef>
                          <a:spcPts val="85"/>
                        </a:spcBef>
                        <a:spcAft>
                          <a:spcPts val="0"/>
                        </a:spcAft>
                      </a:pPr>
                      <a:r>
                        <a:rPr lang="en-US" sz="1800" dirty="0">
                          <a:effectLst/>
                        </a:rPr>
                        <a:t>0</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4445" algn="ctr">
                        <a:spcBef>
                          <a:spcPts val="85"/>
                        </a:spcBef>
                        <a:spcAft>
                          <a:spcPts val="0"/>
                        </a:spcAft>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17475" algn="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176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333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79070" algn="r">
                        <a:spcBef>
                          <a:spcPts val="85"/>
                        </a:spcBef>
                        <a:spcAft>
                          <a:spcPts val="0"/>
                        </a:spcAft>
                      </a:pPr>
                      <a:r>
                        <a:rPr lang="en-US" sz="1800">
                          <a:effectLst/>
                        </a:rPr>
                        <a:t>86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375526495"/>
                  </a:ext>
                </a:extLst>
              </a:tr>
              <a:tr h="288343">
                <a:tc>
                  <a:txBody>
                    <a:bodyPr/>
                    <a:lstStyle/>
                    <a:p>
                      <a:pPr marL="64135" marR="59690" algn="ctr">
                        <a:spcBef>
                          <a:spcPts val="85"/>
                        </a:spcBef>
                        <a:spcAft>
                          <a:spcPts val="0"/>
                        </a:spcAft>
                      </a:pPr>
                      <a:r>
                        <a:rPr lang="en-US" sz="1800">
                          <a:effectLst/>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810"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175"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905" algn="ctr">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 algn="ctr">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63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1595" marR="63500" algn="ctr">
                        <a:spcBef>
                          <a:spcPts val="85"/>
                        </a:spcBef>
                        <a:spcAft>
                          <a:spcPts val="0"/>
                        </a:spcAft>
                      </a:pPr>
                      <a:r>
                        <a:rPr lang="en-US" sz="1800" dirty="0">
                          <a:effectLst/>
                          <a:latin typeface="Times New Roman" panose="02020603050405020304" pitchFamily="18" charset="0"/>
                          <a:ea typeface="LM Roman 8"/>
                          <a:cs typeface="Times New Roman" panose="02020603050405020304" pitchFamily="18" charset="0"/>
                        </a:rPr>
                        <a:t>55</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444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17475" algn="r">
                        <a:spcBef>
                          <a:spcPts val="85"/>
                        </a:spcBef>
                        <a:spcAft>
                          <a:spcPts val="0"/>
                        </a:spcAft>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176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333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79070" algn="r">
                        <a:spcBef>
                          <a:spcPts val="85"/>
                        </a:spcBef>
                        <a:spcAft>
                          <a:spcPts val="0"/>
                        </a:spcAft>
                      </a:pPr>
                      <a:r>
                        <a:rPr lang="en-US" sz="1800">
                          <a:effectLst/>
                        </a:rPr>
                        <a:t>77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141157278"/>
                  </a:ext>
                </a:extLst>
              </a:tr>
              <a:tr h="288343">
                <a:tc>
                  <a:txBody>
                    <a:bodyPr/>
                    <a:lstStyle/>
                    <a:p>
                      <a:pPr marL="64135" marR="59690" algn="ctr">
                        <a:spcBef>
                          <a:spcPts val="85"/>
                        </a:spcBef>
                        <a:spcAft>
                          <a:spcPts val="0"/>
                        </a:spcAft>
                      </a:pPr>
                      <a:r>
                        <a:rPr lang="en-US" sz="1800">
                          <a:effectLst/>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810"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175"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905" algn="ctr">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63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905" algn="ctr">
                        <a:spcBef>
                          <a:spcPts val="85"/>
                        </a:spcBef>
                        <a:spcAft>
                          <a:spcPts val="0"/>
                        </a:spcAft>
                      </a:pPr>
                      <a:r>
                        <a:rPr lang="en-US" sz="1800" dirty="0">
                          <a:effectLst/>
                        </a:rPr>
                        <a:t>0</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0325" marR="64770" algn="ctr">
                        <a:spcBef>
                          <a:spcPts val="85"/>
                        </a:spcBef>
                        <a:spcAft>
                          <a:spcPts val="0"/>
                        </a:spcAft>
                      </a:pPr>
                      <a:r>
                        <a:rPr lang="en-US" sz="1800">
                          <a:effectLst/>
                        </a:rPr>
                        <a:t>57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17475" algn="r">
                        <a:spcBef>
                          <a:spcPts val="85"/>
                        </a:spcBef>
                        <a:spcAft>
                          <a:spcPts val="0"/>
                        </a:spcAft>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176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333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79070" algn="r">
                        <a:spcBef>
                          <a:spcPts val="85"/>
                        </a:spcBef>
                        <a:spcAft>
                          <a:spcPts val="0"/>
                        </a:spcAft>
                      </a:pPr>
                      <a:r>
                        <a:rPr lang="en-US" sz="1800">
                          <a:effectLst/>
                        </a:rPr>
                        <a:t>93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590586090"/>
                  </a:ext>
                </a:extLst>
              </a:tr>
              <a:tr h="288343">
                <a:tc>
                  <a:txBody>
                    <a:bodyPr/>
                    <a:lstStyle/>
                    <a:p>
                      <a:pPr marL="64135" marR="59690" algn="ctr">
                        <a:spcBef>
                          <a:spcPts val="85"/>
                        </a:spcBef>
                        <a:spcAft>
                          <a:spcPts val="0"/>
                        </a:spcAft>
                      </a:pPr>
                      <a:r>
                        <a:rPr lang="en-US" sz="1800">
                          <a:effectLst/>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810" algn="ctr">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175"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905"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63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90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4445" algn="ctr">
                        <a:spcBef>
                          <a:spcPts val="85"/>
                        </a:spcBef>
                        <a:spcAft>
                          <a:spcPts val="0"/>
                        </a:spcAft>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90805" algn="r">
                        <a:spcBef>
                          <a:spcPts val="85"/>
                        </a:spcBef>
                        <a:spcAft>
                          <a:spcPts val="0"/>
                        </a:spcAft>
                      </a:pPr>
                      <a:r>
                        <a:rPr lang="en-US" sz="1800">
                          <a:effectLst/>
                        </a:rPr>
                        <a:t>39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1760">
                        <a:spcBef>
                          <a:spcPts val="85"/>
                        </a:spcBef>
                      </a:pPr>
                      <a:r>
                        <a:rPr lang="en-US" sz="1800" dirty="0">
                          <a:effectLst/>
                        </a:rPr>
                        <a:t>10</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3335" algn="ctr">
                        <a:spcBef>
                          <a:spcPts val="85"/>
                        </a:spcBef>
                        <a:spcAft>
                          <a:spcPts val="0"/>
                        </a:spcAft>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79070" algn="r">
                        <a:spcBef>
                          <a:spcPts val="85"/>
                        </a:spcBef>
                        <a:spcAft>
                          <a:spcPts val="0"/>
                        </a:spcAft>
                      </a:pPr>
                      <a:r>
                        <a:rPr lang="en-US" sz="1800">
                          <a:effectLst/>
                        </a:rPr>
                        <a:t>80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99566918"/>
                  </a:ext>
                </a:extLst>
              </a:tr>
              <a:tr h="288343">
                <a:tc>
                  <a:txBody>
                    <a:bodyPr/>
                    <a:lstStyle/>
                    <a:p>
                      <a:pPr marL="64135" marR="59690" algn="ctr">
                        <a:spcBef>
                          <a:spcPts val="85"/>
                        </a:spcBef>
                        <a:spcAft>
                          <a:spcPts val="0"/>
                        </a:spcAft>
                      </a:pPr>
                      <a:r>
                        <a:rPr lang="en-US" sz="1800">
                          <a:effectLst/>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810" algn="ctr">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175"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905"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63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90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444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17475" algn="r">
                        <a:spcBef>
                          <a:spcPts val="85"/>
                        </a:spcBef>
                        <a:spcAft>
                          <a:spcPts val="0"/>
                        </a:spcAft>
                      </a:pPr>
                      <a:r>
                        <a:rPr lang="en-US" sz="1800">
                          <a:effectLst/>
                        </a:rPr>
                        <a:t>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85090">
                        <a:spcBef>
                          <a:spcPts val="85"/>
                        </a:spcBef>
                      </a:pPr>
                      <a:r>
                        <a:rPr lang="en-US" sz="1800" dirty="0">
                          <a:effectLst/>
                          <a:latin typeface="Times New Roman" panose="02020603050405020304" pitchFamily="18" charset="0"/>
                          <a:ea typeface="LM Roman 8"/>
                          <a:cs typeface="Times New Roman" panose="02020603050405020304" pitchFamily="18" charset="0"/>
                        </a:rPr>
                        <a:t>60</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333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79070" algn="r">
                        <a:spcBef>
                          <a:spcPts val="85"/>
                        </a:spcBef>
                        <a:spcAft>
                          <a:spcPts val="0"/>
                        </a:spcAft>
                      </a:pPr>
                      <a:r>
                        <a:rPr lang="en-US" sz="1800">
                          <a:effectLst/>
                        </a:rPr>
                        <a:t>74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499934267"/>
                  </a:ext>
                </a:extLst>
              </a:tr>
              <a:tr h="288343">
                <a:tc>
                  <a:txBody>
                    <a:bodyPr/>
                    <a:lstStyle/>
                    <a:p>
                      <a:pPr marL="64135" marR="59690" algn="ctr">
                        <a:spcBef>
                          <a:spcPts val="85"/>
                        </a:spcBef>
                        <a:spcAft>
                          <a:spcPts val="0"/>
                        </a:spcAft>
                      </a:pPr>
                      <a:r>
                        <a:rPr lang="en-US" sz="1800">
                          <a:effectLst/>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810"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175"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905"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 algn="ctr">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635" algn="ctr">
                        <a:spcBef>
                          <a:spcPts val="85"/>
                        </a:spcBef>
                        <a:spcAft>
                          <a:spcPts val="0"/>
                        </a:spcAft>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90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4445"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17475" algn="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176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55880" marR="69215" algn="ctr">
                        <a:spcBef>
                          <a:spcPts val="85"/>
                        </a:spcBef>
                        <a:spcAft>
                          <a:spcPts val="0"/>
                        </a:spcAft>
                      </a:pPr>
                      <a:r>
                        <a:rPr lang="en-US" sz="1800">
                          <a:effectLst/>
                        </a:rPr>
                        <a:t>34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79070" algn="r">
                        <a:spcBef>
                          <a:spcPts val="85"/>
                        </a:spcBef>
                        <a:spcAft>
                          <a:spcPts val="0"/>
                        </a:spcAft>
                      </a:pPr>
                      <a:r>
                        <a:rPr lang="en-US" sz="1800">
                          <a:effectLst/>
                        </a:rPr>
                        <a:t>97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562804357"/>
                  </a:ext>
                </a:extLst>
              </a:tr>
              <a:tr h="288343">
                <a:tc>
                  <a:txBody>
                    <a:bodyPr/>
                    <a:lstStyle/>
                    <a:p>
                      <a:pPr marL="64135" marR="59690" algn="ctr">
                        <a:spcBef>
                          <a:spcPts val="85"/>
                        </a:spcBef>
                        <a:spcAft>
                          <a:spcPts val="0"/>
                        </a:spcAft>
                      </a:pPr>
                      <a:r>
                        <a:rPr lang="en-US" sz="1800">
                          <a:effectLst/>
                        </a:rPr>
                        <a:t>% Rel</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4135" marR="60325" algn="ctr">
                        <a:spcBef>
                          <a:spcPts val="85"/>
                        </a:spcBef>
                        <a:spcAft>
                          <a:spcPts val="0"/>
                        </a:spcAft>
                      </a:pPr>
                      <a:r>
                        <a:rPr lang="en-US" sz="1800">
                          <a:effectLst/>
                        </a:rPr>
                        <a:t>88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00" marR="60325" algn="ctr">
                        <a:spcBef>
                          <a:spcPts val="85"/>
                        </a:spcBef>
                        <a:spcAft>
                          <a:spcPts val="0"/>
                        </a:spcAft>
                      </a:pPr>
                      <a:r>
                        <a:rPr lang="en-US" sz="1800">
                          <a:effectLst/>
                        </a:rPr>
                        <a:t>95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2865" marR="60960" algn="ctr">
                        <a:spcBef>
                          <a:spcPts val="85"/>
                        </a:spcBef>
                        <a:spcAft>
                          <a:spcPts val="0"/>
                        </a:spcAft>
                      </a:pPr>
                      <a:r>
                        <a:rPr lang="en-US" sz="1800">
                          <a:effectLst/>
                        </a:rPr>
                        <a:t>80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2865" marR="62230" algn="ctr">
                        <a:spcBef>
                          <a:spcPts val="85"/>
                        </a:spcBef>
                        <a:spcAft>
                          <a:spcPts val="0"/>
                        </a:spcAft>
                      </a:pPr>
                      <a:r>
                        <a:rPr lang="en-US" sz="1800">
                          <a:effectLst/>
                        </a:rPr>
                        <a:t>76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2230" marR="62865" algn="ctr">
                        <a:spcBef>
                          <a:spcPts val="85"/>
                        </a:spcBef>
                        <a:spcAft>
                          <a:spcPts val="0"/>
                        </a:spcAft>
                      </a:pPr>
                      <a:r>
                        <a:rPr lang="en-US" sz="1800">
                          <a:effectLst/>
                        </a:rPr>
                        <a:t>93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1595" marR="63500" algn="ctr">
                        <a:spcBef>
                          <a:spcPts val="85"/>
                        </a:spcBef>
                        <a:spcAft>
                          <a:spcPts val="0"/>
                        </a:spcAft>
                      </a:pPr>
                      <a:r>
                        <a:rPr lang="en-US" sz="1800">
                          <a:effectLst/>
                        </a:rPr>
                        <a:t>96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0325" marR="64770" algn="ctr">
                        <a:spcBef>
                          <a:spcPts val="85"/>
                        </a:spcBef>
                        <a:spcAft>
                          <a:spcPts val="0"/>
                        </a:spcAft>
                      </a:pPr>
                      <a:r>
                        <a:rPr lang="en-US" sz="1800">
                          <a:effectLst/>
                        </a:rPr>
                        <a:t>89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90805" algn="r">
                        <a:spcBef>
                          <a:spcPts val="85"/>
                        </a:spcBef>
                        <a:spcAft>
                          <a:spcPts val="0"/>
                        </a:spcAft>
                      </a:pPr>
                      <a:r>
                        <a:rPr lang="en-US" sz="1800">
                          <a:effectLst/>
                        </a:rPr>
                        <a:t>75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85090">
                        <a:spcBef>
                          <a:spcPts val="85"/>
                        </a:spcBef>
                      </a:pPr>
                      <a:r>
                        <a:rPr lang="en-US" sz="1800">
                          <a:effectLst/>
                        </a:rPr>
                        <a:t>89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55880" marR="69215" algn="ctr">
                        <a:spcBef>
                          <a:spcPts val="85"/>
                        </a:spcBef>
                        <a:spcAft>
                          <a:spcPts val="0"/>
                        </a:spcAft>
                      </a:pPr>
                      <a:r>
                        <a:rPr lang="en-US" sz="1800">
                          <a:effectLst/>
                        </a:rPr>
                        <a:t>85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1800">
                          <a:effectLst/>
                        </a:rPr>
                        <a:t>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733121204"/>
                  </a:ext>
                </a:extLst>
              </a:tr>
              <a:tr h="288343">
                <a:tc gridSpan="12">
                  <a:txBody>
                    <a:bodyPr/>
                    <a:lstStyle/>
                    <a:p>
                      <a:pPr marL="77470">
                        <a:spcBef>
                          <a:spcPts val="85"/>
                        </a:spcBef>
                      </a:pPr>
                      <a:r>
                        <a:rPr lang="en-US" sz="1800" dirty="0">
                          <a:effectLst/>
                        </a:rPr>
                        <a:t>Overall Accuracy: 85.53 %</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164226031"/>
                  </a:ext>
                </a:extLst>
              </a:tr>
            </a:tbl>
          </a:graphicData>
        </a:graphic>
      </p:graphicFrame>
    </p:spTree>
    <p:extLst>
      <p:ext uri="{BB962C8B-B14F-4D97-AF65-F5344CB8AC3E}">
        <p14:creationId xmlns:p14="http://schemas.microsoft.com/office/powerpoint/2010/main" val="28779722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230FABD-C450-4AD5-9D79-5A224FDB811C}"/>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7E613CF1-A8AE-4E5A-8871-2B578F09AF42}"/>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A50AC971-D90C-49EF-9FAA-685784A8969D}"/>
              </a:ext>
            </a:extLst>
          </p:cNvPr>
          <p:cNvSpPr>
            <a:spLocks noGrp="1"/>
          </p:cNvSpPr>
          <p:nvPr>
            <p:ph type="sldNum" sz="quarter" idx="12"/>
          </p:nvPr>
        </p:nvSpPr>
        <p:spPr/>
        <p:txBody>
          <a:bodyPr/>
          <a:lstStyle/>
          <a:p>
            <a:fld id="{B6F15528-21DE-4FAA-801E-634DDDAF4B2B}" type="slidenum">
              <a:rPr lang="en-US" smtClean="0"/>
              <a:pPr/>
              <a:t>22</a:t>
            </a:fld>
            <a:endParaRPr lang="en-US"/>
          </a:p>
        </p:txBody>
      </p:sp>
      <p:graphicFrame>
        <p:nvGraphicFramePr>
          <p:cNvPr id="9" name="Chart 8">
            <a:extLst>
              <a:ext uri="{FF2B5EF4-FFF2-40B4-BE49-F238E27FC236}">
                <a16:creationId xmlns:a16="http://schemas.microsoft.com/office/drawing/2014/main" id="{198CB507-97CE-4A82-913B-4A1DBE43AB76}"/>
              </a:ext>
            </a:extLst>
          </p:cNvPr>
          <p:cNvGraphicFramePr/>
          <p:nvPr>
            <p:extLst>
              <p:ext uri="{D42A27DB-BD31-4B8C-83A1-F6EECF244321}">
                <p14:modId xmlns:p14="http://schemas.microsoft.com/office/powerpoint/2010/main" val="3987165346"/>
              </p:ext>
            </p:extLst>
          </p:nvPr>
        </p:nvGraphicFramePr>
        <p:xfrm>
          <a:off x="0" y="1512593"/>
          <a:ext cx="4602480" cy="28517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A35690AC-74AC-436F-B8DA-280BA1266721}"/>
              </a:ext>
            </a:extLst>
          </p:cNvPr>
          <p:cNvGraphicFramePr/>
          <p:nvPr>
            <p:extLst>
              <p:ext uri="{D42A27DB-BD31-4B8C-83A1-F6EECF244321}">
                <p14:modId xmlns:p14="http://schemas.microsoft.com/office/powerpoint/2010/main" val="1397124235"/>
              </p:ext>
            </p:extLst>
          </p:nvPr>
        </p:nvGraphicFramePr>
        <p:xfrm>
          <a:off x="4495800" y="1514668"/>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62861280-634C-4387-8401-71A389757DA2}"/>
              </a:ext>
            </a:extLst>
          </p:cNvPr>
          <p:cNvSpPr txBox="1"/>
          <p:nvPr/>
        </p:nvSpPr>
        <p:spPr>
          <a:xfrm>
            <a:off x="228600" y="4431268"/>
            <a:ext cx="8534400" cy="369332"/>
          </a:xfrm>
          <a:prstGeom prst="rect">
            <a:avLst/>
          </a:prstGeom>
          <a:noFill/>
        </p:spPr>
        <p:txBody>
          <a:bodyPr wrap="square" rtlCol="0">
            <a:spAutoFit/>
          </a:bodyPr>
          <a:lstStyle/>
          <a:p>
            <a:pPr algn="ctr"/>
            <a:r>
              <a:rPr lang="en-US" dirty="0"/>
              <a:t>Fig 5 : Analysis and Accuracy of LFCC (13) Features</a:t>
            </a:r>
            <a:endParaRPr lang="en-IN" dirty="0"/>
          </a:p>
        </p:txBody>
      </p:sp>
    </p:spTree>
    <p:extLst>
      <p:ext uri="{BB962C8B-B14F-4D97-AF65-F5344CB8AC3E}">
        <p14:creationId xmlns:p14="http://schemas.microsoft.com/office/powerpoint/2010/main" val="76223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12B91E2-2DE0-491F-9460-9EA2533C467E}"/>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9052997A-3764-4509-AE45-A5B92902C498}"/>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5BF7A0D1-9FE2-464E-8363-55900A8D92F3}"/>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7" name="TextBox 6">
            <a:extLst>
              <a:ext uri="{FF2B5EF4-FFF2-40B4-BE49-F238E27FC236}">
                <a16:creationId xmlns:a16="http://schemas.microsoft.com/office/drawing/2014/main" id="{9EC57ABB-2D50-4442-99A7-5637A34F6B1A}"/>
              </a:ext>
            </a:extLst>
          </p:cNvPr>
          <p:cNvSpPr txBox="1"/>
          <p:nvPr/>
        </p:nvSpPr>
        <p:spPr>
          <a:xfrm>
            <a:off x="457200" y="343588"/>
            <a:ext cx="8001000" cy="707886"/>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 Table 5 : Recognition of result with LFCC (26)</a:t>
            </a:r>
            <a:r>
              <a:rPr lang="en-US" sz="2000" spc="-12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features</a:t>
            </a:r>
            <a:endParaRPr lang="en-IN" sz="2000" dirty="0">
              <a:effectLst/>
              <a:latin typeface="Times New Roman" panose="02020603050405020304" pitchFamily="18" charset="0"/>
              <a:ea typeface="LM Roman 12"/>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9DA2E9B1-5543-4CF5-A972-B75639BC6BA0}"/>
              </a:ext>
            </a:extLst>
          </p:cNvPr>
          <p:cNvGraphicFramePr>
            <a:graphicFrameLocks noGrp="1"/>
          </p:cNvGraphicFramePr>
          <p:nvPr>
            <p:extLst>
              <p:ext uri="{D42A27DB-BD31-4B8C-83A1-F6EECF244321}">
                <p14:modId xmlns:p14="http://schemas.microsoft.com/office/powerpoint/2010/main" val="246130745"/>
              </p:ext>
            </p:extLst>
          </p:nvPr>
        </p:nvGraphicFramePr>
        <p:xfrm>
          <a:off x="1066800" y="1051474"/>
          <a:ext cx="7391400" cy="4196322"/>
        </p:xfrm>
        <a:graphic>
          <a:graphicData uri="http://schemas.openxmlformats.org/drawingml/2006/table">
            <a:tbl>
              <a:tblPr firstRow="1" firstCol="1" lastRow="1" lastCol="1" bandRow="1" bandCol="1">
                <a:tableStyleId>{5940675A-B579-460E-94D1-54222C63F5DA}</a:tableStyleId>
              </a:tblPr>
              <a:tblGrid>
                <a:gridCol w="670818">
                  <a:extLst>
                    <a:ext uri="{9D8B030D-6E8A-4147-A177-3AD203B41FA5}">
                      <a16:colId xmlns:a16="http://schemas.microsoft.com/office/drawing/2014/main" val="2165000396"/>
                    </a:ext>
                  </a:extLst>
                </a:gridCol>
                <a:gridCol w="567095">
                  <a:extLst>
                    <a:ext uri="{9D8B030D-6E8A-4147-A177-3AD203B41FA5}">
                      <a16:colId xmlns:a16="http://schemas.microsoft.com/office/drawing/2014/main" val="2691884676"/>
                    </a:ext>
                  </a:extLst>
                </a:gridCol>
                <a:gridCol w="671946">
                  <a:extLst>
                    <a:ext uri="{9D8B030D-6E8A-4147-A177-3AD203B41FA5}">
                      <a16:colId xmlns:a16="http://schemas.microsoft.com/office/drawing/2014/main" val="1146794986"/>
                    </a:ext>
                  </a:extLst>
                </a:gridCol>
                <a:gridCol w="671946">
                  <a:extLst>
                    <a:ext uri="{9D8B030D-6E8A-4147-A177-3AD203B41FA5}">
                      <a16:colId xmlns:a16="http://schemas.microsoft.com/office/drawing/2014/main" val="3472141548"/>
                    </a:ext>
                  </a:extLst>
                </a:gridCol>
                <a:gridCol w="553566">
                  <a:extLst>
                    <a:ext uri="{9D8B030D-6E8A-4147-A177-3AD203B41FA5}">
                      <a16:colId xmlns:a16="http://schemas.microsoft.com/office/drawing/2014/main" val="4017566954"/>
                    </a:ext>
                  </a:extLst>
                </a:gridCol>
                <a:gridCol w="559203">
                  <a:extLst>
                    <a:ext uri="{9D8B030D-6E8A-4147-A177-3AD203B41FA5}">
                      <a16:colId xmlns:a16="http://schemas.microsoft.com/office/drawing/2014/main" val="3963117830"/>
                    </a:ext>
                  </a:extLst>
                </a:gridCol>
                <a:gridCol w="626848">
                  <a:extLst>
                    <a:ext uri="{9D8B030D-6E8A-4147-A177-3AD203B41FA5}">
                      <a16:colId xmlns:a16="http://schemas.microsoft.com/office/drawing/2014/main" val="3661326400"/>
                    </a:ext>
                  </a:extLst>
                </a:gridCol>
                <a:gridCol w="626848">
                  <a:extLst>
                    <a:ext uri="{9D8B030D-6E8A-4147-A177-3AD203B41FA5}">
                      <a16:colId xmlns:a16="http://schemas.microsoft.com/office/drawing/2014/main" val="1439524981"/>
                    </a:ext>
                  </a:extLst>
                </a:gridCol>
                <a:gridCol w="525380">
                  <a:extLst>
                    <a:ext uri="{9D8B030D-6E8A-4147-A177-3AD203B41FA5}">
                      <a16:colId xmlns:a16="http://schemas.microsoft.com/office/drawing/2014/main" val="4227056775"/>
                    </a:ext>
                  </a:extLst>
                </a:gridCol>
                <a:gridCol w="623466">
                  <a:extLst>
                    <a:ext uri="{9D8B030D-6E8A-4147-A177-3AD203B41FA5}">
                      <a16:colId xmlns:a16="http://schemas.microsoft.com/office/drawing/2014/main" val="3042477571"/>
                    </a:ext>
                  </a:extLst>
                </a:gridCol>
                <a:gridCol w="623466">
                  <a:extLst>
                    <a:ext uri="{9D8B030D-6E8A-4147-A177-3AD203B41FA5}">
                      <a16:colId xmlns:a16="http://schemas.microsoft.com/office/drawing/2014/main" val="3723128440"/>
                    </a:ext>
                  </a:extLst>
                </a:gridCol>
                <a:gridCol w="670818">
                  <a:extLst>
                    <a:ext uri="{9D8B030D-6E8A-4147-A177-3AD203B41FA5}">
                      <a16:colId xmlns:a16="http://schemas.microsoft.com/office/drawing/2014/main" val="1419112641"/>
                    </a:ext>
                  </a:extLst>
                </a:gridCol>
              </a:tblGrid>
              <a:tr h="296073">
                <a:tc rowSpan="2">
                  <a:txBody>
                    <a:bodyPr/>
                    <a:lstStyle/>
                    <a:p>
                      <a:pPr marL="77470">
                        <a:spcBef>
                          <a:spcPts val="85"/>
                        </a:spcBef>
                        <a:spcAft>
                          <a:spcPts val="0"/>
                        </a:spcAft>
                      </a:pPr>
                      <a:r>
                        <a:rPr lang="en-US"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320040">
                        <a:spcBef>
                          <a:spcPts val="85"/>
                        </a:spcBef>
                      </a:pPr>
                      <a:r>
                        <a:rPr lang="en-US" sz="1800">
                          <a:effectLst/>
                          <a:latin typeface="Times New Roman" panose="02020603050405020304" pitchFamily="18" charset="0"/>
                          <a:cs typeface="Times New Roman" panose="02020603050405020304" pitchFamily="18" charset="0"/>
                        </a:rPr>
                        <a:t>Number of correctly recognized bird sound in the class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6675">
                        <a:spcBef>
                          <a:spcPts val="795"/>
                        </a:spcBef>
                        <a:spcAft>
                          <a:spcPts val="0"/>
                        </a:spcAft>
                      </a:pPr>
                      <a:r>
                        <a:rPr lang="en-US" sz="1800">
                          <a:effectLst/>
                          <a:latin typeface="Times New Roman" panose="02020603050405020304" pitchFamily="18" charset="0"/>
                          <a:cs typeface="Times New Roman" panose="02020603050405020304" pitchFamily="18" charset="0"/>
                        </a:rPr>
                        <a:t>RSA</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685067899"/>
                  </a:ext>
                </a:extLst>
              </a:tr>
              <a:tr h="296073">
                <a:tc vMerge="1">
                  <a:txBody>
                    <a:bodyPr/>
                    <a:lstStyle/>
                    <a:p>
                      <a:endParaRPr lang="en-IN"/>
                    </a:p>
                  </a:txBody>
                  <a:tcPr/>
                </a:tc>
                <a:tc>
                  <a:txBody>
                    <a:bodyPr/>
                    <a:lstStyle/>
                    <a:p>
                      <a:pPr marL="77470">
                        <a:spcBef>
                          <a:spcPts val="65"/>
                        </a:spcBef>
                      </a:pPr>
                      <a:r>
                        <a:rPr lang="en-US" sz="1800">
                          <a:effectLst/>
                          <a:latin typeface="Times New Roman" panose="02020603050405020304" pitchFamily="18" charset="0"/>
                          <a:cs typeface="Times New Roman" panose="02020603050405020304" pitchFamily="18" charset="0"/>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1800">
                          <a:effectLst/>
                          <a:latin typeface="Times New Roman" panose="02020603050405020304" pitchFamily="18" charset="0"/>
                          <a:cs typeface="Times New Roman" panose="02020603050405020304" pitchFamily="18" charset="0"/>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1800">
                          <a:effectLst/>
                          <a:latin typeface="Times New Roman" panose="02020603050405020304" pitchFamily="18" charset="0"/>
                          <a:cs typeface="Times New Roman" panose="02020603050405020304" pitchFamily="18" charset="0"/>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1800">
                          <a:effectLst/>
                          <a:latin typeface="Times New Roman" panose="02020603050405020304" pitchFamily="18" charset="0"/>
                          <a:cs typeface="Times New Roman" panose="02020603050405020304" pitchFamily="18" charset="0"/>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1800">
                          <a:effectLst/>
                          <a:latin typeface="Times New Roman" panose="02020603050405020304" pitchFamily="18" charset="0"/>
                          <a:cs typeface="Times New Roman" panose="02020603050405020304" pitchFamily="18" charset="0"/>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1800">
                          <a:effectLst/>
                          <a:latin typeface="Times New Roman" panose="02020603050405020304" pitchFamily="18" charset="0"/>
                          <a:cs typeface="Times New Roman" panose="02020603050405020304" pitchFamily="18" charset="0"/>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1800">
                          <a:effectLst/>
                          <a:latin typeface="Times New Roman" panose="02020603050405020304" pitchFamily="18" charset="0"/>
                          <a:cs typeface="Times New Roman" panose="02020603050405020304" pitchFamily="18" charset="0"/>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65"/>
                        </a:spcBef>
                        <a:spcAft>
                          <a:spcPts val="0"/>
                        </a:spcAft>
                      </a:pPr>
                      <a:r>
                        <a:rPr lang="en-US" sz="1800">
                          <a:effectLst/>
                          <a:latin typeface="Times New Roman" panose="02020603050405020304" pitchFamily="18" charset="0"/>
                          <a:cs typeface="Times New Roman" panose="02020603050405020304" pitchFamily="18" charset="0"/>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65"/>
                        </a:spcBef>
                        <a:spcAft>
                          <a:spcPts val="0"/>
                        </a:spcAft>
                      </a:pPr>
                      <a:r>
                        <a:rPr lang="en-US" sz="1800">
                          <a:effectLst/>
                          <a:latin typeface="Times New Roman" panose="02020603050405020304" pitchFamily="18" charset="0"/>
                          <a:cs typeface="Times New Roman" panose="02020603050405020304" pitchFamily="18" charset="0"/>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65"/>
                        </a:spcBef>
                        <a:spcAft>
                          <a:spcPts val="0"/>
                        </a:spcAft>
                      </a:pPr>
                      <a:r>
                        <a:rPr lang="en-US" sz="1800">
                          <a:effectLst/>
                          <a:latin typeface="Times New Roman" panose="02020603050405020304" pitchFamily="18" charset="0"/>
                          <a:cs typeface="Times New Roman" panose="02020603050405020304" pitchFamily="18" charset="0"/>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1111244745"/>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44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dirty="0">
                          <a:effectLst/>
                          <a:latin typeface="Times New Roman" panose="02020603050405020304" pitchFamily="18" charset="0"/>
                          <a:cs typeface="Times New Roman" panose="02020603050405020304" pitchFamily="18" charset="0"/>
                        </a:rPr>
                        <a:t>9</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69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026667810"/>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52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73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246364962"/>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53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56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953308896"/>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13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25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dirty="0">
                          <a:effectLst/>
                          <a:highlight>
                            <a:srgbClr val="FF0000"/>
                          </a:highlight>
                          <a:latin typeface="Times New Roman" panose="02020603050405020304" pitchFamily="18" charset="0"/>
                          <a:cs typeface="Times New Roman" panose="02020603050405020304" pitchFamily="18" charset="0"/>
                        </a:rPr>
                        <a:t>36</a:t>
                      </a:r>
                      <a:endParaRPr lang="en-IN" sz="18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50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072513300"/>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59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79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117915792"/>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dirty="0">
                          <a:effectLst/>
                          <a:highlight>
                            <a:srgbClr val="00FF00"/>
                          </a:highlight>
                          <a:latin typeface="Times New Roman" panose="02020603050405020304" pitchFamily="18" charset="0"/>
                          <a:cs typeface="Times New Roman" panose="02020603050405020304" pitchFamily="18" charset="0"/>
                        </a:rPr>
                        <a:t>48</a:t>
                      </a:r>
                      <a:endParaRPr lang="en-IN" sz="18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81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741216358"/>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49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83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062248249"/>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56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71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576443410"/>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72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82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167455413"/>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35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75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964136805"/>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Rel.</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69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69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47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64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82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89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80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76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77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78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746139062"/>
                  </a:ext>
                </a:extLst>
              </a:tr>
              <a:tr h="300348">
                <a:tc gridSpan="12">
                  <a:txBody>
                    <a:bodyPr/>
                    <a:lstStyle/>
                    <a:p>
                      <a:pPr marL="77470">
                        <a:spcBef>
                          <a:spcPts val="85"/>
                        </a:spcBef>
                      </a:pPr>
                      <a:r>
                        <a:rPr lang="en-US" sz="1800" dirty="0">
                          <a:effectLst/>
                          <a:latin typeface="Times New Roman" panose="02020603050405020304" pitchFamily="18" charset="0"/>
                          <a:cs typeface="Times New Roman" panose="02020603050405020304" pitchFamily="18" charset="0"/>
                        </a:rPr>
                        <a:t>Overall Accuracy: 85.49%</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497271883"/>
                  </a:ext>
                </a:extLst>
              </a:tr>
            </a:tbl>
          </a:graphicData>
        </a:graphic>
      </p:graphicFrame>
    </p:spTree>
    <p:extLst>
      <p:ext uri="{BB962C8B-B14F-4D97-AF65-F5344CB8AC3E}">
        <p14:creationId xmlns:p14="http://schemas.microsoft.com/office/powerpoint/2010/main" val="9341882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A0713F1-6169-4B7F-8691-53D265C53279}"/>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FB90138B-2E0B-40FB-85E3-E6622CC2D33C}"/>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8B6C6BAE-A6A6-4C59-8348-E9E7053B8E62}"/>
              </a:ext>
            </a:extLst>
          </p:cNvPr>
          <p:cNvSpPr>
            <a:spLocks noGrp="1"/>
          </p:cNvSpPr>
          <p:nvPr>
            <p:ph type="sldNum" sz="quarter" idx="12"/>
          </p:nvPr>
        </p:nvSpPr>
        <p:spPr/>
        <p:txBody>
          <a:bodyPr/>
          <a:lstStyle/>
          <a:p>
            <a:fld id="{B6F15528-21DE-4FAA-801E-634DDDAF4B2B}" type="slidenum">
              <a:rPr lang="en-US" smtClean="0"/>
              <a:pPr/>
              <a:t>24</a:t>
            </a:fld>
            <a:endParaRPr lang="en-US"/>
          </a:p>
        </p:txBody>
      </p:sp>
      <p:graphicFrame>
        <p:nvGraphicFramePr>
          <p:cNvPr id="9" name="Chart 8">
            <a:extLst>
              <a:ext uri="{FF2B5EF4-FFF2-40B4-BE49-F238E27FC236}">
                <a16:creationId xmlns:a16="http://schemas.microsoft.com/office/drawing/2014/main" id="{618D3BBF-C20B-4CEC-834C-5EBCD72F8CB7}"/>
              </a:ext>
            </a:extLst>
          </p:cNvPr>
          <p:cNvGraphicFramePr/>
          <p:nvPr>
            <p:extLst>
              <p:ext uri="{D42A27DB-BD31-4B8C-83A1-F6EECF244321}">
                <p14:modId xmlns:p14="http://schemas.microsoft.com/office/powerpoint/2010/main" val="3456257689"/>
              </p:ext>
            </p:extLst>
          </p:nvPr>
        </p:nvGraphicFramePr>
        <p:xfrm>
          <a:off x="0" y="1447800"/>
          <a:ext cx="4602480" cy="28594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E4E25596-C54C-4E76-8354-987E16E5FC30}"/>
              </a:ext>
            </a:extLst>
          </p:cNvPr>
          <p:cNvGraphicFramePr/>
          <p:nvPr>
            <p:extLst>
              <p:ext uri="{D42A27DB-BD31-4B8C-83A1-F6EECF244321}">
                <p14:modId xmlns:p14="http://schemas.microsoft.com/office/powerpoint/2010/main" val="2245123505"/>
              </p:ext>
            </p:extLst>
          </p:nvPr>
        </p:nvGraphicFramePr>
        <p:xfrm>
          <a:off x="4572000" y="1445725"/>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8C609027-2794-46ED-8632-B41EC525E95C}"/>
              </a:ext>
            </a:extLst>
          </p:cNvPr>
          <p:cNvSpPr txBox="1"/>
          <p:nvPr/>
        </p:nvSpPr>
        <p:spPr>
          <a:xfrm>
            <a:off x="228600" y="4278868"/>
            <a:ext cx="8534400" cy="369332"/>
          </a:xfrm>
          <a:prstGeom prst="rect">
            <a:avLst/>
          </a:prstGeom>
          <a:noFill/>
        </p:spPr>
        <p:txBody>
          <a:bodyPr wrap="square" rtlCol="0">
            <a:spAutoFit/>
          </a:bodyPr>
          <a:lstStyle/>
          <a:p>
            <a:pPr algn="ctr"/>
            <a:r>
              <a:rPr lang="en-US" dirty="0"/>
              <a:t>Fig 6 : Analysis and Accuracy of LFCC (26) Features</a:t>
            </a:r>
            <a:endParaRPr lang="en-IN" dirty="0"/>
          </a:p>
        </p:txBody>
      </p:sp>
    </p:spTree>
    <p:extLst>
      <p:ext uri="{BB962C8B-B14F-4D97-AF65-F5344CB8AC3E}">
        <p14:creationId xmlns:p14="http://schemas.microsoft.com/office/powerpoint/2010/main" val="1263648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12B91E2-2DE0-491F-9460-9EA2533C467E}"/>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9052997A-3764-4509-AE45-A5B92902C498}"/>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5BF7A0D1-9FE2-464E-8363-55900A8D92F3}"/>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7" name="TextBox 6">
            <a:extLst>
              <a:ext uri="{FF2B5EF4-FFF2-40B4-BE49-F238E27FC236}">
                <a16:creationId xmlns:a16="http://schemas.microsoft.com/office/drawing/2014/main" id="{D4EE52DD-C312-42BE-8116-80730021F926}"/>
              </a:ext>
            </a:extLst>
          </p:cNvPr>
          <p:cNvSpPr txBox="1"/>
          <p:nvPr/>
        </p:nvSpPr>
        <p:spPr>
          <a:xfrm>
            <a:off x="457200" y="343588"/>
            <a:ext cx="8001000" cy="707886"/>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 Table 6: Recognition of result with LFCC (39)</a:t>
            </a:r>
            <a:r>
              <a:rPr lang="en-US" sz="2000" spc="-12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features</a:t>
            </a:r>
            <a:endParaRPr lang="en-IN" sz="2000" dirty="0">
              <a:effectLst/>
              <a:latin typeface="Times New Roman" panose="02020603050405020304" pitchFamily="18" charset="0"/>
              <a:ea typeface="LM Roman 12"/>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5563CC79-B856-4AD1-A40A-44F4C1C188BB}"/>
              </a:ext>
            </a:extLst>
          </p:cNvPr>
          <p:cNvGraphicFramePr>
            <a:graphicFrameLocks noGrp="1"/>
          </p:cNvGraphicFramePr>
          <p:nvPr>
            <p:extLst>
              <p:ext uri="{D42A27DB-BD31-4B8C-83A1-F6EECF244321}">
                <p14:modId xmlns:p14="http://schemas.microsoft.com/office/powerpoint/2010/main" val="257762011"/>
              </p:ext>
            </p:extLst>
          </p:nvPr>
        </p:nvGraphicFramePr>
        <p:xfrm>
          <a:off x="1143000" y="1051474"/>
          <a:ext cx="7162800" cy="4196322"/>
        </p:xfrm>
        <a:graphic>
          <a:graphicData uri="http://schemas.openxmlformats.org/drawingml/2006/table">
            <a:tbl>
              <a:tblPr firstRow="1" firstCol="1" lastRow="1" lastCol="1" bandRow="1" bandCol="1">
                <a:tableStyleId>{5940675A-B579-460E-94D1-54222C63F5DA}</a:tableStyleId>
              </a:tblPr>
              <a:tblGrid>
                <a:gridCol w="650072">
                  <a:extLst>
                    <a:ext uri="{9D8B030D-6E8A-4147-A177-3AD203B41FA5}">
                      <a16:colId xmlns:a16="http://schemas.microsoft.com/office/drawing/2014/main" val="345784336"/>
                    </a:ext>
                  </a:extLst>
                </a:gridCol>
                <a:gridCol w="549556">
                  <a:extLst>
                    <a:ext uri="{9D8B030D-6E8A-4147-A177-3AD203B41FA5}">
                      <a16:colId xmlns:a16="http://schemas.microsoft.com/office/drawing/2014/main" val="2557942816"/>
                    </a:ext>
                  </a:extLst>
                </a:gridCol>
                <a:gridCol w="651163">
                  <a:extLst>
                    <a:ext uri="{9D8B030D-6E8A-4147-A177-3AD203B41FA5}">
                      <a16:colId xmlns:a16="http://schemas.microsoft.com/office/drawing/2014/main" val="1543849015"/>
                    </a:ext>
                  </a:extLst>
                </a:gridCol>
                <a:gridCol w="651163">
                  <a:extLst>
                    <a:ext uri="{9D8B030D-6E8A-4147-A177-3AD203B41FA5}">
                      <a16:colId xmlns:a16="http://schemas.microsoft.com/office/drawing/2014/main" val="687928208"/>
                    </a:ext>
                  </a:extLst>
                </a:gridCol>
                <a:gridCol w="536445">
                  <a:extLst>
                    <a:ext uri="{9D8B030D-6E8A-4147-A177-3AD203B41FA5}">
                      <a16:colId xmlns:a16="http://schemas.microsoft.com/office/drawing/2014/main" val="2452888579"/>
                    </a:ext>
                  </a:extLst>
                </a:gridCol>
                <a:gridCol w="541908">
                  <a:extLst>
                    <a:ext uri="{9D8B030D-6E8A-4147-A177-3AD203B41FA5}">
                      <a16:colId xmlns:a16="http://schemas.microsoft.com/office/drawing/2014/main" val="2738576885"/>
                    </a:ext>
                  </a:extLst>
                </a:gridCol>
                <a:gridCol w="607462">
                  <a:extLst>
                    <a:ext uri="{9D8B030D-6E8A-4147-A177-3AD203B41FA5}">
                      <a16:colId xmlns:a16="http://schemas.microsoft.com/office/drawing/2014/main" val="124557396"/>
                    </a:ext>
                  </a:extLst>
                </a:gridCol>
                <a:gridCol w="607462">
                  <a:extLst>
                    <a:ext uri="{9D8B030D-6E8A-4147-A177-3AD203B41FA5}">
                      <a16:colId xmlns:a16="http://schemas.microsoft.com/office/drawing/2014/main" val="3161932278"/>
                    </a:ext>
                  </a:extLst>
                </a:gridCol>
                <a:gridCol w="509131">
                  <a:extLst>
                    <a:ext uri="{9D8B030D-6E8A-4147-A177-3AD203B41FA5}">
                      <a16:colId xmlns:a16="http://schemas.microsoft.com/office/drawing/2014/main" val="1940409354"/>
                    </a:ext>
                  </a:extLst>
                </a:gridCol>
                <a:gridCol w="604183">
                  <a:extLst>
                    <a:ext uri="{9D8B030D-6E8A-4147-A177-3AD203B41FA5}">
                      <a16:colId xmlns:a16="http://schemas.microsoft.com/office/drawing/2014/main" val="3330058290"/>
                    </a:ext>
                  </a:extLst>
                </a:gridCol>
                <a:gridCol w="604183">
                  <a:extLst>
                    <a:ext uri="{9D8B030D-6E8A-4147-A177-3AD203B41FA5}">
                      <a16:colId xmlns:a16="http://schemas.microsoft.com/office/drawing/2014/main" val="1287454517"/>
                    </a:ext>
                  </a:extLst>
                </a:gridCol>
                <a:gridCol w="650072">
                  <a:extLst>
                    <a:ext uri="{9D8B030D-6E8A-4147-A177-3AD203B41FA5}">
                      <a16:colId xmlns:a16="http://schemas.microsoft.com/office/drawing/2014/main" val="2890212276"/>
                    </a:ext>
                  </a:extLst>
                </a:gridCol>
              </a:tblGrid>
              <a:tr h="296073">
                <a:tc rowSpan="2">
                  <a:txBody>
                    <a:bodyPr/>
                    <a:lstStyle/>
                    <a:p>
                      <a:pPr marL="77470">
                        <a:spcBef>
                          <a:spcPts val="85"/>
                        </a:spcBef>
                        <a:spcAft>
                          <a:spcPts val="0"/>
                        </a:spcAft>
                      </a:pPr>
                      <a:r>
                        <a:rPr lang="en-US" sz="1800">
                          <a:effectLst/>
                        </a:rPr>
                        <a:t>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320040">
                        <a:spcBef>
                          <a:spcPts val="85"/>
                        </a:spcBef>
                      </a:pPr>
                      <a:r>
                        <a:rPr lang="en-US" sz="1800">
                          <a:effectLst/>
                        </a:rPr>
                        <a:t>Number of correctly recognized bird sound in the class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6675">
                        <a:spcBef>
                          <a:spcPts val="795"/>
                        </a:spcBef>
                        <a:spcAft>
                          <a:spcPts val="0"/>
                        </a:spcAft>
                      </a:pPr>
                      <a:r>
                        <a:rPr lang="en-US" sz="1800">
                          <a:effectLst/>
                        </a:rPr>
                        <a:t>RSA</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86607964"/>
                  </a:ext>
                </a:extLst>
              </a:tr>
              <a:tr h="296073">
                <a:tc vMerge="1">
                  <a:txBody>
                    <a:bodyPr/>
                    <a:lstStyle/>
                    <a:p>
                      <a:endParaRPr lang="en-IN"/>
                    </a:p>
                  </a:txBody>
                  <a:tcPr/>
                </a:tc>
                <a:tc>
                  <a:txBody>
                    <a:bodyPr/>
                    <a:lstStyle/>
                    <a:p>
                      <a:pPr marL="77470">
                        <a:spcBef>
                          <a:spcPts val="65"/>
                        </a:spcBef>
                      </a:pPr>
                      <a:r>
                        <a:rPr lang="en-US" sz="1800">
                          <a:effectLst/>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1800">
                          <a:effectLst/>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1800">
                          <a:effectLst/>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1800">
                          <a:effectLst/>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1800">
                          <a:effectLst/>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1800">
                          <a:effectLst/>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1800">
                          <a:effectLst/>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65"/>
                        </a:spcBef>
                        <a:spcAft>
                          <a:spcPts val="0"/>
                        </a:spcAft>
                      </a:pPr>
                      <a:r>
                        <a:rPr lang="en-US" sz="1800">
                          <a:effectLst/>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65"/>
                        </a:spcBef>
                        <a:spcAft>
                          <a:spcPts val="0"/>
                        </a:spcAft>
                      </a:pPr>
                      <a:r>
                        <a:rPr lang="en-US" sz="1800">
                          <a:effectLst/>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65"/>
                        </a:spcBef>
                        <a:spcAft>
                          <a:spcPts val="0"/>
                        </a:spcAft>
                      </a:pPr>
                      <a:r>
                        <a:rPr lang="en-US" sz="1800">
                          <a:effectLst/>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23995078"/>
                  </a:ext>
                </a:extLst>
              </a:tr>
              <a:tr h="300348">
                <a:tc>
                  <a:txBody>
                    <a:bodyPr/>
                    <a:lstStyle/>
                    <a:p>
                      <a:pPr marL="77470">
                        <a:spcBef>
                          <a:spcPts val="85"/>
                        </a:spcBef>
                      </a:pPr>
                      <a:r>
                        <a:rPr lang="en-US" sz="1800">
                          <a:effectLst/>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49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73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633111327"/>
                  </a:ext>
                </a:extLst>
              </a:tr>
              <a:tr h="300348">
                <a:tc>
                  <a:txBody>
                    <a:bodyPr/>
                    <a:lstStyle/>
                    <a:p>
                      <a:pPr marL="77470">
                        <a:spcBef>
                          <a:spcPts val="85"/>
                        </a:spcBef>
                      </a:pPr>
                      <a:r>
                        <a:rPr lang="en-US" sz="1800">
                          <a:effectLst/>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56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75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816682651"/>
                  </a:ext>
                </a:extLst>
              </a:tr>
              <a:tr h="300348">
                <a:tc>
                  <a:txBody>
                    <a:bodyPr/>
                    <a:lstStyle/>
                    <a:p>
                      <a:pPr marL="77470">
                        <a:spcBef>
                          <a:spcPts val="85"/>
                        </a:spcBef>
                      </a:pPr>
                      <a:r>
                        <a:rPr lang="en-US" sz="1800">
                          <a:effectLst/>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dirty="0">
                          <a:effectLst/>
                        </a:rPr>
                        <a:t>46</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13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56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969352022"/>
                  </a:ext>
                </a:extLst>
              </a:tr>
              <a:tr h="300348">
                <a:tc>
                  <a:txBody>
                    <a:bodyPr/>
                    <a:lstStyle/>
                    <a:p>
                      <a:pPr marL="77470">
                        <a:spcBef>
                          <a:spcPts val="85"/>
                        </a:spcBef>
                      </a:pPr>
                      <a:r>
                        <a:rPr lang="en-US" sz="1800">
                          <a:effectLst/>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10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14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dirty="0">
                          <a:effectLst/>
                          <a:highlight>
                            <a:srgbClr val="FF0000"/>
                          </a:highlight>
                        </a:rPr>
                        <a:t>39</a:t>
                      </a:r>
                      <a:endParaRPr lang="en-IN" sz="18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12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50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357805399"/>
                  </a:ext>
                </a:extLst>
              </a:tr>
              <a:tr h="300348">
                <a:tc>
                  <a:txBody>
                    <a:bodyPr/>
                    <a:lstStyle/>
                    <a:p>
                      <a:pPr marL="77470">
                        <a:spcBef>
                          <a:spcPts val="85"/>
                        </a:spcBef>
                      </a:pPr>
                      <a:r>
                        <a:rPr lang="en-US" sz="1800">
                          <a:effectLst/>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51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71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250724293"/>
                  </a:ext>
                </a:extLst>
              </a:tr>
              <a:tr h="300348">
                <a:tc>
                  <a:txBody>
                    <a:bodyPr/>
                    <a:lstStyle/>
                    <a:p>
                      <a:pPr marL="77470">
                        <a:spcBef>
                          <a:spcPts val="85"/>
                        </a:spcBef>
                      </a:pPr>
                      <a:r>
                        <a:rPr lang="en-US" sz="1800">
                          <a:effectLst/>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10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dirty="0">
                          <a:effectLst/>
                          <a:highlight>
                            <a:srgbClr val="00FF00"/>
                          </a:highlight>
                        </a:rPr>
                        <a:t>35</a:t>
                      </a:r>
                      <a:endParaRPr lang="en-IN" sz="18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688454486"/>
                  </a:ext>
                </a:extLst>
              </a:tr>
              <a:tr h="300348">
                <a:tc>
                  <a:txBody>
                    <a:bodyPr/>
                    <a:lstStyle/>
                    <a:p>
                      <a:pPr marL="77470">
                        <a:spcBef>
                          <a:spcPts val="85"/>
                        </a:spcBef>
                      </a:pPr>
                      <a:r>
                        <a:rPr lang="en-US" sz="1800">
                          <a:effectLst/>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49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569539282"/>
                  </a:ext>
                </a:extLst>
              </a:tr>
              <a:tr h="300348">
                <a:tc>
                  <a:txBody>
                    <a:bodyPr/>
                    <a:lstStyle/>
                    <a:p>
                      <a:pPr marL="77470">
                        <a:spcBef>
                          <a:spcPts val="85"/>
                        </a:spcBef>
                      </a:pPr>
                      <a:r>
                        <a:rPr lang="en-US" sz="1800">
                          <a:effectLst/>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68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79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659645622"/>
                  </a:ext>
                </a:extLst>
              </a:tr>
              <a:tr h="300348">
                <a:tc>
                  <a:txBody>
                    <a:bodyPr/>
                    <a:lstStyle/>
                    <a:p>
                      <a:pPr marL="77470">
                        <a:spcBef>
                          <a:spcPts val="85"/>
                        </a:spcBef>
                      </a:pPr>
                      <a:r>
                        <a:rPr lang="en-US" sz="1800">
                          <a:effectLst/>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64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12404660"/>
                  </a:ext>
                </a:extLst>
              </a:tr>
              <a:tr h="300348">
                <a:tc>
                  <a:txBody>
                    <a:bodyPr/>
                    <a:lstStyle/>
                    <a:p>
                      <a:pPr marL="77470">
                        <a:spcBef>
                          <a:spcPts val="85"/>
                        </a:spcBef>
                      </a:pPr>
                      <a:r>
                        <a:rPr lang="en-US" sz="1800">
                          <a:effectLst/>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42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72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35511394"/>
                  </a:ext>
                </a:extLst>
              </a:tr>
              <a:tr h="300348">
                <a:tc>
                  <a:txBody>
                    <a:bodyPr/>
                    <a:lstStyle/>
                    <a:p>
                      <a:pPr marL="77470">
                        <a:spcBef>
                          <a:spcPts val="85"/>
                        </a:spcBef>
                      </a:pPr>
                      <a:r>
                        <a:rPr lang="en-US" sz="1800">
                          <a:effectLst/>
                        </a:rPr>
                        <a:t>Rel.</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72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73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55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53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77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88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88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78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71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70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1800">
                          <a:effectLst/>
                        </a:rPr>
                        <a:t>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00678789"/>
                  </a:ext>
                </a:extLst>
              </a:tr>
              <a:tr h="300348">
                <a:tc gridSpan="12">
                  <a:txBody>
                    <a:bodyPr/>
                    <a:lstStyle/>
                    <a:p>
                      <a:pPr marL="77470">
                        <a:spcBef>
                          <a:spcPts val="85"/>
                        </a:spcBef>
                      </a:pPr>
                      <a:r>
                        <a:rPr lang="en-US" sz="1800" dirty="0">
                          <a:effectLst/>
                        </a:rPr>
                        <a:t>Overall Accuracy: 85.88%</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221403913"/>
                  </a:ext>
                </a:extLst>
              </a:tr>
            </a:tbl>
          </a:graphicData>
        </a:graphic>
      </p:graphicFrame>
    </p:spTree>
    <p:extLst>
      <p:ext uri="{BB962C8B-B14F-4D97-AF65-F5344CB8AC3E}">
        <p14:creationId xmlns:p14="http://schemas.microsoft.com/office/powerpoint/2010/main" val="1509590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58AEAF5-8171-4313-B7CD-D68F2DE28CDC}"/>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E1B2C195-163E-4431-B07D-E3F811B20027}"/>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98FB8DD6-7664-4C5B-A6DA-5775A7F5E377}"/>
              </a:ext>
            </a:extLst>
          </p:cNvPr>
          <p:cNvSpPr>
            <a:spLocks noGrp="1"/>
          </p:cNvSpPr>
          <p:nvPr>
            <p:ph type="sldNum" sz="quarter" idx="12"/>
          </p:nvPr>
        </p:nvSpPr>
        <p:spPr/>
        <p:txBody>
          <a:bodyPr/>
          <a:lstStyle/>
          <a:p>
            <a:fld id="{B6F15528-21DE-4FAA-801E-634DDDAF4B2B}" type="slidenum">
              <a:rPr lang="en-US" smtClean="0"/>
              <a:pPr/>
              <a:t>26</a:t>
            </a:fld>
            <a:endParaRPr lang="en-US"/>
          </a:p>
        </p:txBody>
      </p:sp>
      <p:graphicFrame>
        <p:nvGraphicFramePr>
          <p:cNvPr id="9" name="Chart 8">
            <a:extLst>
              <a:ext uri="{FF2B5EF4-FFF2-40B4-BE49-F238E27FC236}">
                <a16:creationId xmlns:a16="http://schemas.microsoft.com/office/drawing/2014/main" id="{1807427F-326B-40B5-8BBE-041EB1DAA843}"/>
              </a:ext>
            </a:extLst>
          </p:cNvPr>
          <p:cNvGraphicFramePr/>
          <p:nvPr>
            <p:extLst>
              <p:ext uri="{D42A27DB-BD31-4B8C-83A1-F6EECF244321}">
                <p14:modId xmlns:p14="http://schemas.microsoft.com/office/powerpoint/2010/main" val="47214951"/>
              </p:ext>
            </p:extLst>
          </p:nvPr>
        </p:nvGraphicFramePr>
        <p:xfrm>
          <a:off x="0" y="1371600"/>
          <a:ext cx="4602480" cy="28517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0B819F59-E6EA-436D-8B96-3EA733C915AA}"/>
              </a:ext>
            </a:extLst>
          </p:cNvPr>
          <p:cNvGraphicFramePr/>
          <p:nvPr>
            <p:extLst>
              <p:ext uri="{D42A27DB-BD31-4B8C-83A1-F6EECF244321}">
                <p14:modId xmlns:p14="http://schemas.microsoft.com/office/powerpoint/2010/main" val="2504306937"/>
              </p:ext>
            </p:extLst>
          </p:nvPr>
        </p:nvGraphicFramePr>
        <p:xfrm>
          <a:off x="4495800" y="13716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BF02FA51-1B20-4138-A451-5C0338D398A3}"/>
              </a:ext>
            </a:extLst>
          </p:cNvPr>
          <p:cNvSpPr txBox="1"/>
          <p:nvPr/>
        </p:nvSpPr>
        <p:spPr>
          <a:xfrm>
            <a:off x="228600" y="4202668"/>
            <a:ext cx="8534400" cy="369332"/>
          </a:xfrm>
          <a:prstGeom prst="rect">
            <a:avLst/>
          </a:prstGeom>
          <a:noFill/>
        </p:spPr>
        <p:txBody>
          <a:bodyPr wrap="square" rtlCol="0">
            <a:spAutoFit/>
          </a:bodyPr>
          <a:lstStyle/>
          <a:p>
            <a:pPr algn="ctr"/>
            <a:r>
              <a:rPr lang="en-US" dirty="0"/>
              <a:t>Fig 7 : Analysis and Accuracy of LFCC (39) Features</a:t>
            </a:r>
            <a:endParaRPr lang="en-IN" dirty="0"/>
          </a:p>
        </p:txBody>
      </p:sp>
    </p:spTree>
    <p:extLst>
      <p:ext uri="{BB962C8B-B14F-4D97-AF65-F5344CB8AC3E}">
        <p14:creationId xmlns:p14="http://schemas.microsoft.com/office/powerpoint/2010/main" val="29389135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12B91E2-2DE0-491F-9460-9EA2533C467E}"/>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9052997A-3764-4509-AE45-A5B92902C498}"/>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5BF7A0D1-9FE2-464E-8363-55900A8D92F3}"/>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7" name="TextBox 6">
            <a:extLst>
              <a:ext uri="{FF2B5EF4-FFF2-40B4-BE49-F238E27FC236}">
                <a16:creationId xmlns:a16="http://schemas.microsoft.com/office/drawing/2014/main" id="{B8A6FD52-3476-489A-9F8D-D5C023238997}"/>
              </a:ext>
            </a:extLst>
          </p:cNvPr>
          <p:cNvSpPr txBox="1"/>
          <p:nvPr/>
        </p:nvSpPr>
        <p:spPr>
          <a:xfrm>
            <a:off x="457200" y="577281"/>
            <a:ext cx="8001000" cy="707886"/>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 Table 7: Recognition of result with GFCC (13)</a:t>
            </a:r>
            <a:r>
              <a:rPr lang="en-US" sz="2000" spc="-12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features</a:t>
            </a:r>
            <a:endParaRPr lang="en-IN" sz="2000" dirty="0">
              <a:effectLst/>
              <a:latin typeface="Times New Roman" panose="02020603050405020304" pitchFamily="18" charset="0"/>
              <a:ea typeface="LM Roman 12"/>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BB09F8A8-E473-42F5-B1C6-BE068051EF83}"/>
              </a:ext>
            </a:extLst>
          </p:cNvPr>
          <p:cNvSpPr>
            <a:spLocks noGrp="1"/>
          </p:cNvSpPr>
          <p:nvPr>
            <p:ph type="title"/>
          </p:nvPr>
        </p:nvSpPr>
        <p:spPr>
          <a:xfrm>
            <a:off x="457200" y="-76200"/>
            <a:ext cx="8229600" cy="622603"/>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Result of GFCC</a:t>
            </a:r>
            <a:endParaRPr lang="en-IN" dirty="0">
              <a:solidFill>
                <a:srgbClr val="FF0000"/>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0EEDCFB8-6514-4D9C-A31E-C7951DBE165E}"/>
              </a:ext>
            </a:extLst>
          </p:cNvPr>
          <p:cNvGraphicFramePr>
            <a:graphicFrameLocks noGrp="1"/>
          </p:cNvGraphicFramePr>
          <p:nvPr>
            <p:extLst>
              <p:ext uri="{D42A27DB-BD31-4B8C-83A1-F6EECF244321}">
                <p14:modId xmlns:p14="http://schemas.microsoft.com/office/powerpoint/2010/main" val="1041166282"/>
              </p:ext>
            </p:extLst>
          </p:nvPr>
        </p:nvGraphicFramePr>
        <p:xfrm>
          <a:off x="1066800" y="1066800"/>
          <a:ext cx="7162800" cy="4180996"/>
        </p:xfrm>
        <a:graphic>
          <a:graphicData uri="http://schemas.openxmlformats.org/drawingml/2006/table">
            <a:tbl>
              <a:tblPr firstRow="1" firstCol="1" lastRow="1" lastCol="1" bandRow="1" bandCol="1">
                <a:tableStyleId>{5940675A-B579-460E-94D1-54222C63F5DA}</a:tableStyleId>
              </a:tblPr>
              <a:tblGrid>
                <a:gridCol w="650071">
                  <a:extLst>
                    <a:ext uri="{9D8B030D-6E8A-4147-A177-3AD203B41FA5}">
                      <a16:colId xmlns:a16="http://schemas.microsoft.com/office/drawing/2014/main" val="495497823"/>
                    </a:ext>
                  </a:extLst>
                </a:gridCol>
                <a:gridCol w="549556">
                  <a:extLst>
                    <a:ext uri="{9D8B030D-6E8A-4147-A177-3AD203B41FA5}">
                      <a16:colId xmlns:a16="http://schemas.microsoft.com/office/drawing/2014/main" val="2180048613"/>
                    </a:ext>
                  </a:extLst>
                </a:gridCol>
                <a:gridCol w="651164">
                  <a:extLst>
                    <a:ext uri="{9D8B030D-6E8A-4147-A177-3AD203B41FA5}">
                      <a16:colId xmlns:a16="http://schemas.microsoft.com/office/drawing/2014/main" val="928083131"/>
                    </a:ext>
                  </a:extLst>
                </a:gridCol>
                <a:gridCol w="651164">
                  <a:extLst>
                    <a:ext uri="{9D8B030D-6E8A-4147-A177-3AD203B41FA5}">
                      <a16:colId xmlns:a16="http://schemas.microsoft.com/office/drawing/2014/main" val="3929029631"/>
                    </a:ext>
                  </a:extLst>
                </a:gridCol>
                <a:gridCol w="536445">
                  <a:extLst>
                    <a:ext uri="{9D8B030D-6E8A-4147-A177-3AD203B41FA5}">
                      <a16:colId xmlns:a16="http://schemas.microsoft.com/office/drawing/2014/main" val="1614588832"/>
                    </a:ext>
                  </a:extLst>
                </a:gridCol>
                <a:gridCol w="541908">
                  <a:extLst>
                    <a:ext uri="{9D8B030D-6E8A-4147-A177-3AD203B41FA5}">
                      <a16:colId xmlns:a16="http://schemas.microsoft.com/office/drawing/2014/main" val="3248708421"/>
                    </a:ext>
                  </a:extLst>
                </a:gridCol>
                <a:gridCol w="607461">
                  <a:extLst>
                    <a:ext uri="{9D8B030D-6E8A-4147-A177-3AD203B41FA5}">
                      <a16:colId xmlns:a16="http://schemas.microsoft.com/office/drawing/2014/main" val="3662088923"/>
                    </a:ext>
                  </a:extLst>
                </a:gridCol>
                <a:gridCol w="607461">
                  <a:extLst>
                    <a:ext uri="{9D8B030D-6E8A-4147-A177-3AD203B41FA5}">
                      <a16:colId xmlns:a16="http://schemas.microsoft.com/office/drawing/2014/main" val="116962755"/>
                    </a:ext>
                  </a:extLst>
                </a:gridCol>
                <a:gridCol w="509131">
                  <a:extLst>
                    <a:ext uri="{9D8B030D-6E8A-4147-A177-3AD203B41FA5}">
                      <a16:colId xmlns:a16="http://schemas.microsoft.com/office/drawing/2014/main" val="696262054"/>
                    </a:ext>
                  </a:extLst>
                </a:gridCol>
                <a:gridCol w="604184">
                  <a:extLst>
                    <a:ext uri="{9D8B030D-6E8A-4147-A177-3AD203B41FA5}">
                      <a16:colId xmlns:a16="http://schemas.microsoft.com/office/drawing/2014/main" val="332737391"/>
                    </a:ext>
                  </a:extLst>
                </a:gridCol>
                <a:gridCol w="604184">
                  <a:extLst>
                    <a:ext uri="{9D8B030D-6E8A-4147-A177-3AD203B41FA5}">
                      <a16:colId xmlns:a16="http://schemas.microsoft.com/office/drawing/2014/main" val="1843359623"/>
                    </a:ext>
                  </a:extLst>
                </a:gridCol>
                <a:gridCol w="650071">
                  <a:extLst>
                    <a:ext uri="{9D8B030D-6E8A-4147-A177-3AD203B41FA5}">
                      <a16:colId xmlns:a16="http://schemas.microsoft.com/office/drawing/2014/main" val="743747544"/>
                    </a:ext>
                  </a:extLst>
                </a:gridCol>
              </a:tblGrid>
              <a:tr h="294992">
                <a:tc rowSpan="2">
                  <a:txBody>
                    <a:bodyPr/>
                    <a:lstStyle/>
                    <a:p>
                      <a:pPr marL="77470">
                        <a:spcBef>
                          <a:spcPts val="85"/>
                        </a:spcBef>
                        <a:spcAft>
                          <a:spcPts val="0"/>
                        </a:spcAft>
                      </a:pPr>
                      <a:r>
                        <a:rPr lang="en-US"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601980">
                        <a:spcBef>
                          <a:spcPts val="85"/>
                        </a:spcBef>
                      </a:pPr>
                      <a:r>
                        <a:rPr lang="en-US" sz="1800">
                          <a:effectLst/>
                          <a:latin typeface="Times New Roman" panose="02020603050405020304" pitchFamily="18" charset="0"/>
                          <a:cs typeface="Times New Roman" panose="02020603050405020304" pitchFamily="18" charset="0"/>
                        </a:rPr>
                        <a:t>Number of correctly recognized bird sound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6675">
                        <a:spcBef>
                          <a:spcPts val="795"/>
                        </a:spcBef>
                        <a:spcAft>
                          <a:spcPts val="0"/>
                        </a:spcAft>
                      </a:pPr>
                      <a:r>
                        <a:rPr lang="en-US" sz="1800">
                          <a:effectLst/>
                          <a:latin typeface="Times New Roman" panose="02020603050405020304" pitchFamily="18" charset="0"/>
                          <a:cs typeface="Times New Roman" panose="02020603050405020304" pitchFamily="18" charset="0"/>
                        </a:rPr>
                        <a:t>RSA</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431120917"/>
                  </a:ext>
                </a:extLst>
              </a:tr>
              <a:tr h="294992">
                <a:tc vMerge="1">
                  <a:txBody>
                    <a:bodyPr/>
                    <a:lstStyle/>
                    <a:p>
                      <a:endParaRPr lang="en-IN"/>
                    </a:p>
                  </a:txBody>
                  <a:tcPr/>
                </a:tc>
                <a:tc>
                  <a:txBody>
                    <a:bodyPr/>
                    <a:lstStyle/>
                    <a:p>
                      <a:pPr marL="77470">
                        <a:spcBef>
                          <a:spcPts val="65"/>
                        </a:spcBef>
                      </a:pPr>
                      <a:r>
                        <a:rPr lang="en-US" sz="1800">
                          <a:effectLst/>
                          <a:latin typeface="Times New Roman" panose="02020603050405020304" pitchFamily="18" charset="0"/>
                          <a:cs typeface="Times New Roman" panose="02020603050405020304" pitchFamily="18" charset="0"/>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00" marR="60325" algn="ctr">
                        <a:spcBef>
                          <a:spcPts val="65"/>
                        </a:spcBef>
                        <a:spcAft>
                          <a:spcPts val="0"/>
                        </a:spcAft>
                      </a:pPr>
                      <a:r>
                        <a:rPr lang="en-US" sz="1800">
                          <a:effectLst/>
                          <a:latin typeface="Times New Roman" panose="02020603050405020304" pitchFamily="18" charset="0"/>
                          <a:cs typeface="Times New Roman" panose="02020603050405020304" pitchFamily="18" charset="0"/>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1800">
                          <a:effectLst/>
                          <a:latin typeface="Times New Roman" panose="02020603050405020304" pitchFamily="18" charset="0"/>
                          <a:cs typeface="Times New Roman" panose="02020603050405020304" pitchFamily="18" charset="0"/>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1800">
                          <a:effectLst/>
                          <a:latin typeface="Times New Roman" panose="02020603050405020304" pitchFamily="18" charset="0"/>
                          <a:cs typeface="Times New Roman" panose="02020603050405020304" pitchFamily="18" charset="0"/>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1800">
                          <a:effectLst/>
                          <a:latin typeface="Times New Roman" panose="02020603050405020304" pitchFamily="18" charset="0"/>
                          <a:cs typeface="Times New Roman" panose="02020603050405020304" pitchFamily="18" charset="0"/>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1800">
                          <a:effectLst/>
                          <a:latin typeface="Times New Roman" panose="02020603050405020304" pitchFamily="18" charset="0"/>
                          <a:cs typeface="Times New Roman" panose="02020603050405020304" pitchFamily="18" charset="0"/>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1800">
                          <a:effectLst/>
                          <a:latin typeface="Times New Roman" panose="02020603050405020304" pitchFamily="18" charset="0"/>
                          <a:cs typeface="Times New Roman" panose="02020603050405020304" pitchFamily="18" charset="0"/>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65"/>
                        </a:spcBef>
                        <a:spcAft>
                          <a:spcPts val="0"/>
                        </a:spcAft>
                      </a:pPr>
                      <a:r>
                        <a:rPr lang="en-US" sz="1800">
                          <a:effectLst/>
                          <a:latin typeface="Times New Roman" panose="02020603050405020304" pitchFamily="18" charset="0"/>
                          <a:cs typeface="Times New Roman" panose="02020603050405020304" pitchFamily="18" charset="0"/>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65"/>
                        </a:spcBef>
                        <a:spcAft>
                          <a:spcPts val="0"/>
                        </a:spcAft>
                      </a:pPr>
                      <a:r>
                        <a:rPr lang="en-US" sz="1800">
                          <a:effectLst/>
                          <a:latin typeface="Times New Roman" panose="02020603050405020304" pitchFamily="18" charset="0"/>
                          <a:cs typeface="Times New Roman" panose="02020603050405020304" pitchFamily="18" charset="0"/>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65"/>
                        </a:spcBef>
                        <a:spcAft>
                          <a:spcPts val="0"/>
                        </a:spcAft>
                      </a:pPr>
                      <a:r>
                        <a:rPr lang="en-US" sz="1800">
                          <a:effectLst/>
                          <a:latin typeface="Times New Roman" panose="02020603050405020304" pitchFamily="18" charset="0"/>
                          <a:cs typeface="Times New Roman" panose="02020603050405020304" pitchFamily="18" charset="0"/>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1907770311"/>
                  </a:ext>
                </a:extLst>
              </a:tr>
              <a:tr h="299251">
                <a:tc>
                  <a:txBody>
                    <a:bodyPr/>
                    <a:lstStyle/>
                    <a:p>
                      <a:pPr marL="635" marR="59690" algn="ctr">
                        <a:spcBef>
                          <a:spcPts val="85"/>
                        </a:spcBef>
                        <a:spcAft>
                          <a:spcPts val="0"/>
                        </a:spcAft>
                      </a:pPr>
                      <a:r>
                        <a:rPr lang="en-US" sz="1800">
                          <a:effectLst/>
                          <a:latin typeface="Times New Roman" panose="02020603050405020304" pitchFamily="18" charset="0"/>
                          <a:cs typeface="Times New Roman" panose="02020603050405020304" pitchFamily="18" charset="0"/>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56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dirty="0">
                          <a:effectLst/>
                          <a:latin typeface="Times New Roman" panose="02020603050405020304" pitchFamily="18" charset="0"/>
                          <a:cs typeface="Times New Roman" panose="02020603050405020304" pitchFamily="18" charset="0"/>
                        </a:rPr>
                        <a:t>4</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74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784518621"/>
                  </a:ext>
                </a:extLst>
              </a:tr>
              <a:tr h="299251">
                <a:tc>
                  <a:txBody>
                    <a:bodyPr/>
                    <a:lstStyle/>
                    <a:p>
                      <a:pPr marL="7620" marR="59690" algn="ctr">
                        <a:spcBef>
                          <a:spcPts val="85"/>
                        </a:spcBef>
                        <a:spcAft>
                          <a:spcPts val="0"/>
                        </a:spcAft>
                      </a:pPr>
                      <a:r>
                        <a:rPr lang="en-US" sz="1800">
                          <a:effectLst/>
                          <a:latin typeface="Times New Roman" panose="02020603050405020304" pitchFamily="18" charset="0"/>
                          <a:cs typeface="Times New Roman" panose="02020603050405020304" pitchFamily="18" charset="0"/>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1800">
                          <a:effectLst/>
                          <a:latin typeface="Times New Roman" panose="02020603050405020304" pitchFamily="18" charset="0"/>
                          <a:cs typeface="Times New Roman" panose="02020603050405020304" pitchFamily="18" charset="0"/>
                        </a:rPr>
                        <a:t>46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11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64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999546987"/>
                  </a:ext>
                </a:extLst>
              </a:tr>
              <a:tr h="299251">
                <a:tc>
                  <a:txBody>
                    <a:bodyPr/>
                    <a:lstStyle/>
                    <a:p>
                      <a:pPr marL="64135" marR="59690" algn="ctr">
                        <a:spcBef>
                          <a:spcPts val="85"/>
                        </a:spcBef>
                        <a:spcAft>
                          <a:spcPts val="0"/>
                        </a:spcAft>
                      </a:pPr>
                      <a:r>
                        <a:rPr lang="en-US" sz="1800">
                          <a:effectLst/>
                          <a:latin typeface="Times New Roman" panose="02020603050405020304" pitchFamily="18" charset="0"/>
                          <a:cs typeface="Times New Roman" panose="02020603050405020304" pitchFamily="18" charset="0"/>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17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dirty="0">
                          <a:effectLst/>
                          <a:highlight>
                            <a:srgbClr val="FF0000"/>
                          </a:highlight>
                          <a:latin typeface="Times New Roman" panose="02020603050405020304" pitchFamily="18" charset="0"/>
                          <a:cs typeface="Times New Roman" panose="02020603050405020304" pitchFamily="18" charset="0"/>
                        </a:rPr>
                        <a:t>39</a:t>
                      </a:r>
                      <a:endParaRPr lang="en-IN" sz="18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46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992365605"/>
                  </a:ext>
                </a:extLst>
              </a:tr>
              <a:tr h="299251">
                <a:tc>
                  <a:txBody>
                    <a:bodyPr/>
                    <a:lstStyle/>
                    <a:p>
                      <a:pPr marL="54610" marR="125730" algn="ctr">
                        <a:spcBef>
                          <a:spcPts val="85"/>
                        </a:spcBef>
                        <a:spcAft>
                          <a:spcPts val="0"/>
                        </a:spcAft>
                      </a:pPr>
                      <a:r>
                        <a:rPr lang="en-US" sz="1800">
                          <a:effectLst/>
                          <a:latin typeface="Times New Roman" panose="02020603050405020304" pitchFamily="18" charset="0"/>
                          <a:cs typeface="Times New Roman" panose="02020603050405020304" pitchFamily="18" charset="0"/>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1800">
                          <a:effectLst/>
                          <a:latin typeface="Times New Roman" panose="02020603050405020304" pitchFamily="18" charset="0"/>
                          <a:cs typeface="Times New Roman" panose="02020603050405020304" pitchFamily="18" charset="0"/>
                        </a:rPr>
                        <a:t>13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27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34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52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004019142"/>
                  </a:ext>
                </a:extLst>
              </a:tr>
              <a:tr h="299251">
                <a:tc>
                  <a:txBody>
                    <a:bodyPr/>
                    <a:lstStyle/>
                    <a:p>
                      <a:pPr marL="64135" marR="124460" algn="ctr">
                        <a:spcBef>
                          <a:spcPts val="85"/>
                        </a:spcBef>
                        <a:spcAft>
                          <a:spcPts val="0"/>
                        </a:spcAft>
                      </a:pPr>
                      <a:r>
                        <a:rPr lang="en-US" sz="1800">
                          <a:effectLst/>
                          <a:latin typeface="Times New Roman" panose="02020603050405020304" pitchFamily="18" charset="0"/>
                          <a:cs typeface="Times New Roman" panose="02020603050405020304" pitchFamily="18" charset="0"/>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dirty="0">
                          <a:effectLst/>
                          <a:highlight>
                            <a:srgbClr val="00FF00"/>
                          </a:highlight>
                          <a:latin typeface="Times New Roman" panose="02020603050405020304" pitchFamily="18" charset="0"/>
                          <a:cs typeface="Times New Roman" panose="02020603050405020304" pitchFamily="18" charset="0"/>
                        </a:rPr>
                        <a:t>64</a:t>
                      </a:r>
                      <a:endParaRPr lang="en-IN" sz="18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dirty="0">
                          <a:effectLst/>
                          <a:latin typeface="Times New Roman" panose="02020603050405020304" pitchFamily="18" charset="0"/>
                          <a:cs typeface="Times New Roman" panose="02020603050405020304" pitchFamily="18" charset="0"/>
                        </a:rPr>
                        <a:t>0</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77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502992172"/>
                  </a:ext>
                </a:extLst>
              </a:tr>
              <a:tr h="299251">
                <a:tc>
                  <a:txBody>
                    <a:bodyPr/>
                    <a:lstStyle/>
                    <a:p>
                      <a:pPr marL="2540" marR="59690" algn="ctr">
                        <a:spcBef>
                          <a:spcPts val="85"/>
                        </a:spcBef>
                        <a:spcAft>
                          <a:spcPts val="0"/>
                        </a:spcAft>
                      </a:pPr>
                      <a:r>
                        <a:rPr lang="en-US" sz="1800">
                          <a:effectLst/>
                          <a:latin typeface="Times New Roman" panose="02020603050405020304" pitchFamily="18" charset="0"/>
                          <a:cs typeface="Times New Roman" panose="02020603050405020304" pitchFamily="18" charset="0"/>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34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71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67990823"/>
                  </a:ext>
                </a:extLst>
              </a:tr>
              <a:tr h="299251">
                <a:tc>
                  <a:txBody>
                    <a:bodyPr/>
                    <a:lstStyle/>
                    <a:p>
                      <a:pPr marL="40005" marR="59690" algn="ctr">
                        <a:spcBef>
                          <a:spcPts val="85"/>
                        </a:spcBef>
                        <a:spcAft>
                          <a:spcPts val="0"/>
                        </a:spcAft>
                      </a:pPr>
                      <a:r>
                        <a:rPr lang="en-US" sz="1800">
                          <a:effectLst/>
                          <a:latin typeface="Times New Roman" panose="02020603050405020304" pitchFamily="18" charset="0"/>
                          <a:cs typeface="Times New Roman" panose="02020603050405020304" pitchFamily="18" charset="0"/>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54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81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236471727"/>
                  </a:ext>
                </a:extLst>
              </a:tr>
              <a:tr h="299251">
                <a:tc>
                  <a:txBody>
                    <a:bodyPr/>
                    <a:lstStyle/>
                    <a:p>
                      <a:pPr marL="42545" marR="125730" algn="ctr">
                        <a:spcBef>
                          <a:spcPts val="85"/>
                        </a:spcBef>
                        <a:spcAft>
                          <a:spcPts val="0"/>
                        </a:spcAft>
                      </a:pPr>
                      <a:r>
                        <a:rPr lang="en-US" sz="1800">
                          <a:effectLst/>
                          <a:latin typeface="Times New Roman" panose="02020603050405020304" pitchFamily="18" charset="0"/>
                          <a:cs typeface="Times New Roman" panose="02020603050405020304" pitchFamily="18" charset="0"/>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77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81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185096004"/>
                  </a:ext>
                </a:extLst>
              </a:tr>
              <a:tr h="299251">
                <a:tc>
                  <a:txBody>
                    <a:bodyPr/>
                    <a:lstStyle/>
                    <a:p>
                      <a:pPr marL="48895" marR="125730" algn="ctr">
                        <a:spcBef>
                          <a:spcPts val="85"/>
                        </a:spcBef>
                        <a:spcAft>
                          <a:spcPts val="0"/>
                        </a:spcAft>
                      </a:pPr>
                      <a:r>
                        <a:rPr lang="en-US" sz="1800">
                          <a:effectLst/>
                          <a:latin typeface="Times New Roman" panose="02020603050405020304" pitchFamily="18" charset="0"/>
                          <a:cs typeface="Times New Roman" panose="02020603050405020304" pitchFamily="18" charset="0"/>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58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78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721858915"/>
                  </a:ext>
                </a:extLst>
              </a:tr>
              <a:tr h="299251">
                <a:tc>
                  <a:txBody>
                    <a:bodyPr/>
                    <a:lstStyle/>
                    <a:p>
                      <a:pPr marL="38100" marR="59690" algn="ctr">
                        <a:spcBef>
                          <a:spcPts val="85"/>
                        </a:spcBef>
                        <a:spcAft>
                          <a:spcPts val="0"/>
                        </a:spcAft>
                      </a:pPr>
                      <a:r>
                        <a:rPr lang="en-US" sz="1800">
                          <a:effectLst/>
                          <a:latin typeface="Times New Roman" panose="02020603050405020304" pitchFamily="18" charset="0"/>
                          <a:cs typeface="Times New Roman" panose="02020603050405020304" pitchFamily="18" charset="0"/>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10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28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64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674486958"/>
                  </a:ext>
                </a:extLst>
              </a:tr>
              <a:tr h="299251">
                <a:tc>
                  <a:txBody>
                    <a:bodyPr/>
                    <a:lstStyle/>
                    <a:p>
                      <a:pPr marL="31750" marR="59690" algn="ctr">
                        <a:spcBef>
                          <a:spcPts val="85"/>
                        </a:spcBef>
                        <a:spcAft>
                          <a:spcPts val="0"/>
                        </a:spcAft>
                      </a:pPr>
                      <a:r>
                        <a:rPr lang="en-US" sz="1800">
                          <a:effectLst/>
                          <a:latin typeface="Times New Roman" panose="02020603050405020304" pitchFamily="18" charset="0"/>
                          <a:cs typeface="Times New Roman" panose="02020603050405020304" pitchFamily="18" charset="0"/>
                        </a:rPr>
                        <a:t>Rel.</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67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1800">
                          <a:effectLst/>
                          <a:latin typeface="Times New Roman" panose="02020603050405020304" pitchFamily="18" charset="0"/>
                          <a:cs typeface="Times New Roman" panose="02020603050405020304" pitchFamily="18" charset="0"/>
                        </a:rPr>
                        <a:t>65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40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69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74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74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74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76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83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90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79396954"/>
                  </a:ext>
                </a:extLst>
              </a:tr>
              <a:tr h="299251">
                <a:tc gridSpan="12">
                  <a:txBody>
                    <a:bodyPr/>
                    <a:lstStyle/>
                    <a:p>
                      <a:pPr marL="77470">
                        <a:spcBef>
                          <a:spcPts val="85"/>
                        </a:spcBef>
                      </a:pPr>
                      <a:r>
                        <a:rPr lang="en-US" sz="1800" dirty="0">
                          <a:effectLst/>
                          <a:latin typeface="Times New Roman" panose="02020603050405020304" pitchFamily="18" charset="0"/>
                          <a:cs typeface="Times New Roman" panose="02020603050405020304" pitchFamily="18" charset="0"/>
                        </a:rPr>
                        <a:t>Overall Accuracy: 87.64%</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66713447"/>
                  </a:ext>
                </a:extLst>
              </a:tr>
            </a:tbl>
          </a:graphicData>
        </a:graphic>
      </p:graphicFrame>
    </p:spTree>
    <p:extLst>
      <p:ext uri="{BB962C8B-B14F-4D97-AF65-F5344CB8AC3E}">
        <p14:creationId xmlns:p14="http://schemas.microsoft.com/office/powerpoint/2010/main" val="426923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E8A49AC-EA86-4801-A280-E6EB58FA5F2B}"/>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5C65B838-3E02-46C5-8BE7-F64A3A29739F}"/>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6C01F528-2671-47ED-B09D-4F7F423AA8DD}"/>
              </a:ext>
            </a:extLst>
          </p:cNvPr>
          <p:cNvSpPr>
            <a:spLocks noGrp="1"/>
          </p:cNvSpPr>
          <p:nvPr>
            <p:ph type="sldNum" sz="quarter" idx="12"/>
          </p:nvPr>
        </p:nvSpPr>
        <p:spPr/>
        <p:txBody>
          <a:bodyPr/>
          <a:lstStyle/>
          <a:p>
            <a:fld id="{B6F15528-21DE-4FAA-801E-634DDDAF4B2B}" type="slidenum">
              <a:rPr lang="en-US" smtClean="0"/>
              <a:pPr/>
              <a:t>28</a:t>
            </a:fld>
            <a:endParaRPr lang="en-US"/>
          </a:p>
        </p:txBody>
      </p:sp>
      <p:graphicFrame>
        <p:nvGraphicFramePr>
          <p:cNvPr id="9" name="Chart 8">
            <a:extLst>
              <a:ext uri="{FF2B5EF4-FFF2-40B4-BE49-F238E27FC236}">
                <a16:creationId xmlns:a16="http://schemas.microsoft.com/office/drawing/2014/main" id="{A06D005A-1DD9-4F39-80EC-AC6E02D97097}"/>
              </a:ext>
            </a:extLst>
          </p:cNvPr>
          <p:cNvGraphicFramePr/>
          <p:nvPr>
            <p:extLst>
              <p:ext uri="{D42A27DB-BD31-4B8C-83A1-F6EECF244321}">
                <p14:modId xmlns:p14="http://schemas.microsoft.com/office/powerpoint/2010/main" val="408042590"/>
              </p:ext>
            </p:extLst>
          </p:nvPr>
        </p:nvGraphicFramePr>
        <p:xfrm>
          <a:off x="0" y="1219200"/>
          <a:ext cx="4606925" cy="28594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FBCCC140-8429-4234-A2C0-B1DC21ABF4E7}"/>
              </a:ext>
            </a:extLst>
          </p:cNvPr>
          <p:cNvGraphicFramePr/>
          <p:nvPr>
            <p:extLst>
              <p:ext uri="{D42A27DB-BD31-4B8C-83A1-F6EECF244321}">
                <p14:modId xmlns:p14="http://schemas.microsoft.com/office/powerpoint/2010/main" val="1780236803"/>
              </p:ext>
            </p:extLst>
          </p:nvPr>
        </p:nvGraphicFramePr>
        <p:xfrm>
          <a:off x="4495800" y="1217125"/>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D7AE66C5-8475-4D54-90BA-C818B2FA410D}"/>
              </a:ext>
            </a:extLst>
          </p:cNvPr>
          <p:cNvSpPr txBox="1"/>
          <p:nvPr/>
        </p:nvSpPr>
        <p:spPr>
          <a:xfrm>
            <a:off x="228600" y="4114800"/>
            <a:ext cx="8534400" cy="369332"/>
          </a:xfrm>
          <a:prstGeom prst="rect">
            <a:avLst/>
          </a:prstGeom>
          <a:noFill/>
        </p:spPr>
        <p:txBody>
          <a:bodyPr wrap="square" rtlCol="0">
            <a:spAutoFit/>
          </a:bodyPr>
          <a:lstStyle/>
          <a:p>
            <a:pPr algn="ctr"/>
            <a:r>
              <a:rPr lang="en-US" dirty="0"/>
              <a:t>Fig 8 : Analysis and Accuracy of GFCC (13) Features</a:t>
            </a:r>
            <a:endParaRPr lang="en-IN" dirty="0"/>
          </a:p>
        </p:txBody>
      </p:sp>
    </p:spTree>
    <p:extLst>
      <p:ext uri="{BB962C8B-B14F-4D97-AF65-F5344CB8AC3E}">
        <p14:creationId xmlns:p14="http://schemas.microsoft.com/office/powerpoint/2010/main" val="10875171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12B91E2-2DE0-491F-9460-9EA2533C467E}"/>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9052997A-3764-4509-AE45-A5B92902C498}"/>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5BF7A0D1-9FE2-464E-8363-55900A8D92F3}"/>
              </a:ext>
            </a:extLst>
          </p:cNvPr>
          <p:cNvSpPr>
            <a:spLocks noGrp="1"/>
          </p:cNvSpPr>
          <p:nvPr>
            <p:ph type="sldNum" sz="quarter" idx="12"/>
          </p:nvPr>
        </p:nvSpPr>
        <p:spPr/>
        <p:txBody>
          <a:bodyPr/>
          <a:lstStyle/>
          <a:p>
            <a:fld id="{B6F15528-21DE-4FAA-801E-634DDDAF4B2B}" type="slidenum">
              <a:rPr lang="en-US" smtClean="0"/>
              <a:pPr/>
              <a:t>29</a:t>
            </a:fld>
            <a:endParaRPr lang="en-US"/>
          </a:p>
        </p:txBody>
      </p:sp>
      <p:sp>
        <p:nvSpPr>
          <p:cNvPr id="7" name="TextBox 6">
            <a:extLst>
              <a:ext uri="{FF2B5EF4-FFF2-40B4-BE49-F238E27FC236}">
                <a16:creationId xmlns:a16="http://schemas.microsoft.com/office/drawing/2014/main" id="{9EC57ABB-2D50-4442-99A7-5637A34F6B1A}"/>
              </a:ext>
            </a:extLst>
          </p:cNvPr>
          <p:cNvSpPr txBox="1"/>
          <p:nvPr/>
        </p:nvSpPr>
        <p:spPr>
          <a:xfrm>
            <a:off x="457200" y="343588"/>
            <a:ext cx="8001000" cy="707886"/>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 Table 8: Recognition of result with GFCC (26)</a:t>
            </a:r>
            <a:r>
              <a:rPr lang="en-US" sz="2000" spc="-12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features</a:t>
            </a:r>
            <a:endParaRPr lang="en-IN" sz="2000" dirty="0">
              <a:effectLst/>
              <a:latin typeface="Times New Roman" panose="02020603050405020304" pitchFamily="18" charset="0"/>
              <a:ea typeface="LM Roman 12"/>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0C27225-8637-4A0D-B5AC-D143D9776897}"/>
              </a:ext>
            </a:extLst>
          </p:cNvPr>
          <p:cNvGraphicFramePr>
            <a:graphicFrameLocks noGrp="1"/>
          </p:cNvGraphicFramePr>
          <p:nvPr>
            <p:extLst>
              <p:ext uri="{D42A27DB-BD31-4B8C-83A1-F6EECF244321}">
                <p14:modId xmlns:p14="http://schemas.microsoft.com/office/powerpoint/2010/main" val="524516621"/>
              </p:ext>
            </p:extLst>
          </p:nvPr>
        </p:nvGraphicFramePr>
        <p:xfrm>
          <a:off x="1143000" y="1051474"/>
          <a:ext cx="6934200" cy="4196322"/>
        </p:xfrm>
        <a:graphic>
          <a:graphicData uri="http://schemas.openxmlformats.org/drawingml/2006/table">
            <a:tbl>
              <a:tblPr firstRow="1" firstCol="1" lastRow="1" lastCol="1" bandRow="1" bandCol="1">
                <a:tableStyleId>{5940675A-B579-460E-94D1-54222C63F5DA}</a:tableStyleId>
              </a:tblPr>
              <a:tblGrid>
                <a:gridCol w="629325">
                  <a:extLst>
                    <a:ext uri="{9D8B030D-6E8A-4147-A177-3AD203B41FA5}">
                      <a16:colId xmlns:a16="http://schemas.microsoft.com/office/drawing/2014/main" val="2256542669"/>
                    </a:ext>
                  </a:extLst>
                </a:gridCol>
                <a:gridCol w="532017">
                  <a:extLst>
                    <a:ext uri="{9D8B030D-6E8A-4147-A177-3AD203B41FA5}">
                      <a16:colId xmlns:a16="http://schemas.microsoft.com/office/drawing/2014/main" val="636062830"/>
                    </a:ext>
                  </a:extLst>
                </a:gridCol>
                <a:gridCol w="630382">
                  <a:extLst>
                    <a:ext uri="{9D8B030D-6E8A-4147-A177-3AD203B41FA5}">
                      <a16:colId xmlns:a16="http://schemas.microsoft.com/office/drawing/2014/main" val="202426423"/>
                    </a:ext>
                  </a:extLst>
                </a:gridCol>
                <a:gridCol w="630382">
                  <a:extLst>
                    <a:ext uri="{9D8B030D-6E8A-4147-A177-3AD203B41FA5}">
                      <a16:colId xmlns:a16="http://schemas.microsoft.com/office/drawing/2014/main" val="2318052803"/>
                    </a:ext>
                  </a:extLst>
                </a:gridCol>
                <a:gridCol w="519324">
                  <a:extLst>
                    <a:ext uri="{9D8B030D-6E8A-4147-A177-3AD203B41FA5}">
                      <a16:colId xmlns:a16="http://schemas.microsoft.com/office/drawing/2014/main" val="820610764"/>
                    </a:ext>
                  </a:extLst>
                </a:gridCol>
                <a:gridCol w="524613">
                  <a:extLst>
                    <a:ext uri="{9D8B030D-6E8A-4147-A177-3AD203B41FA5}">
                      <a16:colId xmlns:a16="http://schemas.microsoft.com/office/drawing/2014/main" val="3183921730"/>
                    </a:ext>
                  </a:extLst>
                </a:gridCol>
                <a:gridCol w="588074">
                  <a:extLst>
                    <a:ext uri="{9D8B030D-6E8A-4147-A177-3AD203B41FA5}">
                      <a16:colId xmlns:a16="http://schemas.microsoft.com/office/drawing/2014/main" val="1940438615"/>
                    </a:ext>
                  </a:extLst>
                </a:gridCol>
                <a:gridCol w="588074">
                  <a:extLst>
                    <a:ext uri="{9D8B030D-6E8A-4147-A177-3AD203B41FA5}">
                      <a16:colId xmlns:a16="http://schemas.microsoft.com/office/drawing/2014/main" val="253261711"/>
                    </a:ext>
                  </a:extLst>
                </a:gridCol>
                <a:gridCol w="492882">
                  <a:extLst>
                    <a:ext uri="{9D8B030D-6E8A-4147-A177-3AD203B41FA5}">
                      <a16:colId xmlns:a16="http://schemas.microsoft.com/office/drawing/2014/main" val="3908824428"/>
                    </a:ext>
                  </a:extLst>
                </a:gridCol>
                <a:gridCol w="584901">
                  <a:extLst>
                    <a:ext uri="{9D8B030D-6E8A-4147-A177-3AD203B41FA5}">
                      <a16:colId xmlns:a16="http://schemas.microsoft.com/office/drawing/2014/main" val="3810389193"/>
                    </a:ext>
                  </a:extLst>
                </a:gridCol>
                <a:gridCol w="584901">
                  <a:extLst>
                    <a:ext uri="{9D8B030D-6E8A-4147-A177-3AD203B41FA5}">
                      <a16:colId xmlns:a16="http://schemas.microsoft.com/office/drawing/2014/main" val="3059459525"/>
                    </a:ext>
                  </a:extLst>
                </a:gridCol>
                <a:gridCol w="629325">
                  <a:extLst>
                    <a:ext uri="{9D8B030D-6E8A-4147-A177-3AD203B41FA5}">
                      <a16:colId xmlns:a16="http://schemas.microsoft.com/office/drawing/2014/main" val="1587852664"/>
                    </a:ext>
                  </a:extLst>
                </a:gridCol>
              </a:tblGrid>
              <a:tr h="296073">
                <a:tc rowSpan="2">
                  <a:txBody>
                    <a:bodyPr/>
                    <a:lstStyle/>
                    <a:p>
                      <a:pPr marL="77470">
                        <a:spcBef>
                          <a:spcPts val="85"/>
                        </a:spcBef>
                        <a:spcAft>
                          <a:spcPts val="0"/>
                        </a:spcAft>
                      </a:pPr>
                      <a:r>
                        <a:rPr lang="en-US" sz="1800">
                          <a:effectLst/>
                        </a:rPr>
                        <a:t>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601980">
                        <a:spcBef>
                          <a:spcPts val="85"/>
                        </a:spcBef>
                      </a:pPr>
                      <a:r>
                        <a:rPr lang="en-US" sz="1800">
                          <a:effectLst/>
                        </a:rPr>
                        <a:t>Number of correctly recognized bird sound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6675">
                        <a:spcBef>
                          <a:spcPts val="795"/>
                        </a:spcBef>
                        <a:spcAft>
                          <a:spcPts val="0"/>
                        </a:spcAft>
                      </a:pPr>
                      <a:r>
                        <a:rPr lang="en-US" sz="1800">
                          <a:effectLst/>
                        </a:rPr>
                        <a:t>RSA</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281753459"/>
                  </a:ext>
                </a:extLst>
              </a:tr>
              <a:tr h="296073">
                <a:tc vMerge="1">
                  <a:txBody>
                    <a:bodyPr/>
                    <a:lstStyle/>
                    <a:p>
                      <a:endParaRPr lang="en-IN"/>
                    </a:p>
                  </a:txBody>
                  <a:tcPr/>
                </a:tc>
                <a:tc>
                  <a:txBody>
                    <a:bodyPr/>
                    <a:lstStyle/>
                    <a:p>
                      <a:pPr marL="77470">
                        <a:spcBef>
                          <a:spcPts val="65"/>
                        </a:spcBef>
                      </a:pPr>
                      <a:r>
                        <a:rPr lang="en-US" sz="1800">
                          <a:effectLst/>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00" marR="60325" algn="ctr">
                        <a:spcBef>
                          <a:spcPts val="65"/>
                        </a:spcBef>
                        <a:spcAft>
                          <a:spcPts val="0"/>
                        </a:spcAft>
                      </a:pPr>
                      <a:r>
                        <a:rPr lang="en-US" sz="1800">
                          <a:effectLst/>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1800">
                          <a:effectLst/>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1800">
                          <a:effectLst/>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1800">
                          <a:effectLst/>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1800">
                          <a:effectLst/>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1800">
                          <a:effectLst/>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65"/>
                        </a:spcBef>
                        <a:spcAft>
                          <a:spcPts val="0"/>
                        </a:spcAft>
                      </a:pPr>
                      <a:r>
                        <a:rPr lang="en-US" sz="1800">
                          <a:effectLst/>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65"/>
                        </a:spcBef>
                        <a:spcAft>
                          <a:spcPts val="0"/>
                        </a:spcAft>
                      </a:pPr>
                      <a:r>
                        <a:rPr lang="en-US" sz="1800">
                          <a:effectLst/>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65"/>
                        </a:spcBef>
                        <a:spcAft>
                          <a:spcPts val="0"/>
                        </a:spcAft>
                      </a:pPr>
                      <a:r>
                        <a:rPr lang="en-US" sz="1800">
                          <a:effectLst/>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2436569725"/>
                  </a:ext>
                </a:extLst>
              </a:tr>
              <a:tr h="300348">
                <a:tc>
                  <a:txBody>
                    <a:bodyPr/>
                    <a:lstStyle/>
                    <a:p>
                      <a:pPr marL="635" marR="59690" algn="ctr">
                        <a:spcBef>
                          <a:spcPts val="85"/>
                        </a:spcBef>
                        <a:spcAft>
                          <a:spcPts val="0"/>
                        </a:spcAft>
                      </a:pPr>
                      <a:r>
                        <a:rPr lang="en-US" sz="1800">
                          <a:effectLst/>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58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75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975136083"/>
                  </a:ext>
                </a:extLst>
              </a:tr>
              <a:tr h="300348">
                <a:tc>
                  <a:txBody>
                    <a:bodyPr/>
                    <a:lstStyle/>
                    <a:p>
                      <a:pPr marL="7620" marR="59690" algn="ctr">
                        <a:spcBef>
                          <a:spcPts val="85"/>
                        </a:spcBef>
                        <a:spcAft>
                          <a:spcPts val="0"/>
                        </a:spcAft>
                      </a:pPr>
                      <a:r>
                        <a:rPr lang="en-US" sz="1800">
                          <a:effectLst/>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1800">
                          <a:effectLst/>
                        </a:rPr>
                        <a:t>40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10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11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65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681094545"/>
                  </a:ext>
                </a:extLst>
              </a:tr>
              <a:tr h="300348">
                <a:tc>
                  <a:txBody>
                    <a:bodyPr/>
                    <a:lstStyle/>
                    <a:p>
                      <a:pPr marL="64135" marR="59690" algn="ctr">
                        <a:spcBef>
                          <a:spcPts val="85"/>
                        </a:spcBef>
                        <a:spcAft>
                          <a:spcPts val="0"/>
                        </a:spcAft>
                      </a:pPr>
                      <a:r>
                        <a:rPr lang="en-US" sz="1800">
                          <a:effectLst/>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10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dirty="0">
                          <a:effectLst/>
                          <a:highlight>
                            <a:srgbClr val="FF0000"/>
                          </a:highlight>
                        </a:rPr>
                        <a:t>51</a:t>
                      </a:r>
                      <a:endParaRPr lang="en-IN" sz="18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57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001688968"/>
                  </a:ext>
                </a:extLst>
              </a:tr>
              <a:tr h="300348">
                <a:tc>
                  <a:txBody>
                    <a:bodyPr/>
                    <a:lstStyle/>
                    <a:p>
                      <a:pPr marL="54610" marR="125730" algn="ctr">
                        <a:spcBef>
                          <a:spcPts val="85"/>
                        </a:spcBef>
                        <a:spcAft>
                          <a:spcPts val="0"/>
                        </a:spcAft>
                      </a:pPr>
                      <a:r>
                        <a:rPr lang="en-US" sz="1800">
                          <a:effectLst/>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32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46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59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984304316"/>
                  </a:ext>
                </a:extLst>
              </a:tr>
              <a:tr h="300348">
                <a:tc>
                  <a:txBody>
                    <a:bodyPr/>
                    <a:lstStyle/>
                    <a:p>
                      <a:pPr marL="64135" marR="124460" algn="ctr">
                        <a:spcBef>
                          <a:spcPts val="85"/>
                        </a:spcBef>
                        <a:spcAft>
                          <a:spcPts val="0"/>
                        </a:spcAft>
                      </a:pPr>
                      <a:r>
                        <a:rPr lang="en-US" sz="1800">
                          <a:effectLst/>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dirty="0">
                          <a:effectLst/>
                        </a:rPr>
                        <a:t>0</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dirty="0">
                          <a:effectLst/>
                          <a:highlight>
                            <a:srgbClr val="00FF00"/>
                          </a:highlight>
                        </a:rPr>
                        <a:t>66</a:t>
                      </a:r>
                      <a:endParaRPr lang="en-IN" sz="18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454620074"/>
                  </a:ext>
                </a:extLst>
              </a:tr>
              <a:tr h="300348">
                <a:tc>
                  <a:txBody>
                    <a:bodyPr/>
                    <a:lstStyle/>
                    <a:p>
                      <a:pPr marL="2540" marR="59690" algn="ctr">
                        <a:spcBef>
                          <a:spcPts val="85"/>
                        </a:spcBef>
                        <a:spcAft>
                          <a:spcPts val="0"/>
                        </a:spcAft>
                      </a:pPr>
                      <a:r>
                        <a:rPr lang="en-US" sz="1800">
                          <a:effectLst/>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36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72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040885043"/>
                  </a:ext>
                </a:extLst>
              </a:tr>
              <a:tr h="300348">
                <a:tc>
                  <a:txBody>
                    <a:bodyPr/>
                    <a:lstStyle/>
                    <a:p>
                      <a:pPr marL="40005" marR="59690" algn="ctr">
                        <a:spcBef>
                          <a:spcPts val="85"/>
                        </a:spcBef>
                        <a:spcAft>
                          <a:spcPts val="0"/>
                        </a:spcAft>
                      </a:pPr>
                      <a:r>
                        <a:rPr lang="en-US" sz="1800">
                          <a:effectLst/>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47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81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111549547"/>
                  </a:ext>
                </a:extLst>
              </a:tr>
              <a:tr h="300348">
                <a:tc>
                  <a:txBody>
                    <a:bodyPr/>
                    <a:lstStyle/>
                    <a:p>
                      <a:pPr marL="42545" marR="125730" algn="ctr">
                        <a:spcBef>
                          <a:spcPts val="85"/>
                        </a:spcBef>
                        <a:spcAft>
                          <a:spcPts val="0"/>
                        </a:spcAft>
                      </a:pPr>
                      <a:r>
                        <a:rPr lang="en-US" sz="1800">
                          <a:effectLst/>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61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70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119552459"/>
                  </a:ext>
                </a:extLst>
              </a:tr>
              <a:tr h="300348">
                <a:tc>
                  <a:txBody>
                    <a:bodyPr/>
                    <a:lstStyle/>
                    <a:p>
                      <a:pPr marL="48895" marR="125730" algn="ctr">
                        <a:spcBef>
                          <a:spcPts val="85"/>
                        </a:spcBef>
                        <a:spcAft>
                          <a:spcPts val="0"/>
                        </a:spcAft>
                      </a:pPr>
                      <a:r>
                        <a:rPr lang="en-US" sz="1800">
                          <a:effectLst/>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59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79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298790342"/>
                  </a:ext>
                </a:extLst>
              </a:tr>
              <a:tr h="300348">
                <a:tc>
                  <a:txBody>
                    <a:bodyPr/>
                    <a:lstStyle/>
                    <a:p>
                      <a:pPr marL="38100" marR="59690" algn="ctr">
                        <a:spcBef>
                          <a:spcPts val="85"/>
                        </a:spcBef>
                        <a:spcAft>
                          <a:spcPts val="0"/>
                        </a:spcAft>
                      </a:pPr>
                      <a:r>
                        <a:rPr lang="en-US" sz="1800">
                          <a:effectLst/>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33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rPr>
                        <a:t>69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317683104"/>
                  </a:ext>
                </a:extLst>
              </a:tr>
              <a:tr h="300348">
                <a:tc>
                  <a:txBody>
                    <a:bodyPr/>
                    <a:lstStyle/>
                    <a:p>
                      <a:pPr marL="31750" marR="59690" algn="ctr">
                        <a:spcBef>
                          <a:spcPts val="85"/>
                        </a:spcBef>
                        <a:spcAft>
                          <a:spcPts val="0"/>
                        </a:spcAft>
                      </a:pPr>
                      <a:r>
                        <a:rPr lang="en-US" sz="1800">
                          <a:effectLst/>
                        </a:rPr>
                        <a:t>Rel.</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rPr>
                        <a:t>72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1800">
                          <a:effectLst/>
                        </a:rPr>
                        <a:t>74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rPr>
                        <a:t>51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rPr>
                        <a:t>72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rPr>
                        <a:t>80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rPr>
                        <a:t>86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rPr>
                        <a:t>70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rPr>
                        <a:t>61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rPr>
                        <a:t>78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rPr>
                        <a:t>79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1800">
                          <a:effectLst/>
                        </a:rPr>
                        <a:t>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145319366"/>
                  </a:ext>
                </a:extLst>
              </a:tr>
              <a:tr h="300348">
                <a:tc gridSpan="12">
                  <a:txBody>
                    <a:bodyPr/>
                    <a:lstStyle/>
                    <a:p>
                      <a:pPr marL="77470">
                        <a:spcBef>
                          <a:spcPts val="85"/>
                        </a:spcBef>
                      </a:pPr>
                      <a:r>
                        <a:rPr lang="en-US" sz="1800" dirty="0">
                          <a:effectLst/>
                        </a:rPr>
                        <a:t>Overall Accuracy: 87.44%</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522132953"/>
                  </a:ext>
                </a:extLst>
              </a:tr>
            </a:tbl>
          </a:graphicData>
        </a:graphic>
      </p:graphicFrame>
    </p:spTree>
    <p:extLst>
      <p:ext uri="{BB962C8B-B14F-4D97-AF65-F5344CB8AC3E}">
        <p14:creationId xmlns:p14="http://schemas.microsoft.com/office/powerpoint/2010/main" val="923626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61AC408-1D0F-48DD-B497-E3EF930326F7}"/>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92221B95-0E4A-4364-A382-3375E84D3440}"/>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6B73CBE6-1685-482F-AB4A-4BDE0C3B8D2D}"/>
              </a:ext>
            </a:extLst>
          </p:cNvPr>
          <p:cNvSpPr>
            <a:spLocks noGrp="1"/>
          </p:cNvSpPr>
          <p:nvPr>
            <p:ph type="sldNum" sz="quarter" idx="12"/>
          </p:nvPr>
        </p:nvSpPr>
        <p:spPr/>
        <p:txBody>
          <a:bodyPr/>
          <a:lstStyle/>
          <a:p>
            <a:fld id="{B6F15528-21DE-4FAA-801E-634DDDAF4B2B}" type="slidenum">
              <a:rPr lang="en-US" smtClean="0"/>
              <a:pPr/>
              <a:t>30</a:t>
            </a:fld>
            <a:endParaRPr lang="en-US"/>
          </a:p>
        </p:txBody>
      </p:sp>
      <p:graphicFrame>
        <p:nvGraphicFramePr>
          <p:cNvPr id="9" name="Chart 8">
            <a:extLst>
              <a:ext uri="{FF2B5EF4-FFF2-40B4-BE49-F238E27FC236}">
                <a16:creationId xmlns:a16="http://schemas.microsoft.com/office/drawing/2014/main" id="{2E013351-083D-4119-8DC7-498F65FBB2CA}"/>
              </a:ext>
            </a:extLst>
          </p:cNvPr>
          <p:cNvGraphicFramePr/>
          <p:nvPr>
            <p:extLst>
              <p:ext uri="{D42A27DB-BD31-4B8C-83A1-F6EECF244321}">
                <p14:modId xmlns:p14="http://schemas.microsoft.com/office/powerpoint/2010/main" val="345284287"/>
              </p:ext>
            </p:extLst>
          </p:nvPr>
        </p:nvGraphicFramePr>
        <p:xfrm>
          <a:off x="0" y="1371600"/>
          <a:ext cx="4606925" cy="28517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D84A1720-8977-4C36-8EF6-12D9BC4C8B89}"/>
              </a:ext>
            </a:extLst>
          </p:cNvPr>
          <p:cNvGraphicFramePr/>
          <p:nvPr>
            <p:extLst>
              <p:ext uri="{D42A27DB-BD31-4B8C-83A1-F6EECF244321}">
                <p14:modId xmlns:p14="http://schemas.microsoft.com/office/powerpoint/2010/main" val="894355790"/>
              </p:ext>
            </p:extLst>
          </p:nvPr>
        </p:nvGraphicFramePr>
        <p:xfrm>
          <a:off x="4572000" y="13716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14BF972F-682B-4AB8-A76F-55BC511D7149}"/>
              </a:ext>
            </a:extLst>
          </p:cNvPr>
          <p:cNvSpPr txBox="1"/>
          <p:nvPr/>
        </p:nvSpPr>
        <p:spPr>
          <a:xfrm>
            <a:off x="228600" y="4355068"/>
            <a:ext cx="8534400" cy="369332"/>
          </a:xfrm>
          <a:prstGeom prst="rect">
            <a:avLst/>
          </a:prstGeom>
          <a:noFill/>
        </p:spPr>
        <p:txBody>
          <a:bodyPr wrap="square" rtlCol="0">
            <a:spAutoFit/>
          </a:bodyPr>
          <a:lstStyle/>
          <a:p>
            <a:pPr algn="ctr"/>
            <a:r>
              <a:rPr lang="en-US" dirty="0"/>
              <a:t>Fig 9 : Analysis and Accuracy of GFCC (26) Features</a:t>
            </a:r>
            <a:endParaRPr lang="en-IN" dirty="0"/>
          </a:p>
        </p:txBody>
      </p:sp>
    </p:spTree>
    <p:extLst>
      <p:ext uri="{BB962C8B-B14F-4D97-AF65-F5344CB8AC3E}">
        <p14:creationId xmlns:p14="http://schemas.microsoft.com/office/powerpoint/2010/main" val="2740044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12B91E2-2DE0-491F-9460-9EA2533C467E}"/>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9052997A-3764-4509-AE45-A5B92902C498}"/>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5BF7A0D1-9FE2-464E-8363-55900A8D92F3}"/>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7" name="TextBox 6">
            <a:extLst>
              <a:ext uri="{FF2B5EF4-FFF2-40B4-BE49-F238E27FC236}">
                <a16:creationId xmlns:a16="http://schemas.microsoft.com/office/drawing/2014/main" id="{D4EE52DD-C312-42BE-8116-80730021F926}"/>
              </a:ext>
            </a:extLst>
          </p:cNvPr>
          <p:cNvSpPr txBox="1"/>
          <p:nvPr/>
        </p:nvSpPr>
        <p:spPr>
          <a:xfrm>
            <a:off x="457200" y="343588"/>
            <a:ext cx="8001000" cy="707886"/>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 Table 9: Recognition of result with GFCC (39)</a:t>
            </a:r>
            <a:r>
              <a:rPr lang="en-US" sz="2000" spc="-12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features</a:t>
            </a:r>
            <a:endParaRPr lang="en-IN" sz="2000" dirty="0">
              <a:effectLst/>
              <a:latin typeface="Times New Roman" panose="02020603050405020304" pitchFamily="18" charset="0"/>
              <a:ea typeface="LM Roman 12"/>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5366A728-8C0A-4C09-829A-9FD948FB4EA6}"/>
              </a:ext>
            </a:extLst>
          </p:cNvPr>
          <p:cNvGraphicFramePr>
            <a:graphicFrameLocks noGrp="1"/>
          </p:cNvGraphicFramePr>
          <p:nvPr>
            <p:extLst>
              <p:ext uri="{D42A27DB-BD31-4B8C-83A1-F6EECF244321}">
                <p14:modId xmlns:p14="http://schemas.microsoft.com/office/powerpoint/2010/main" val="206175072"/>
              </p:ext>
            </p:extLst>
          </p:nvPr>
        </p:nvGraphicFramePr>
        <p:xfrm>
          <a:off x="990600" y="1051474"/>
          <a:ext cx="7239001" cy="4196322"/>
        </p:xfrm>
        <a:graphic>
          <a:graphicData uri="http://schemas.openxmlformats.org/drawingml/2006/table">
            <a:tbl>
              <a:tblPr firstRow="1" firstCol="1" lastRow="1" lastCol="1" bandRow="1" bandCol="1">
                <a:tableStyleId>{5940675A-B579-460E-94D1-54222C63F5DA}</a:tableStyleId>
              </a:tblPr>
              <a:tblGrid>
                <a:gridCol w="656987">
                  <a:extLst>
                    <a:ext uri="{9D8B030D-6E8A-4147-A177-3AD203B41FA5}">
                      <a16:colId xmlns:a16="http://schemas.microsoft.com/office/drawing/2014/main" val="4184290289"/>
                    </a:ext>
                  </a:extLst>
                </a:gridCol>
                <a:gridCol w="555402">
                  <a:extLst>
                    <a:ext uri="{9D8B030D-6E8A-4147-A177-3AD203B41FA5}">
                      <a16:colId xmlns:a16="http://schemas.microsoft.com/office/drawing/2014/main" val="123615610"/>
                    </a:ext>
                  </a:extLst>
                </a:gridCol>
                <a:gridCol w="658091">
                  <a:extLst>
                    <a:ext uri="{9D8B030D-6E8A-4147-A177-3AD203B41FA5}">
                      <a16:colId xmlns:a16="http://schemas.microsoft.com/office/drawing/2014/main" val="399350332"/>
                    </a:ext>
                  </a:extLst>
                </a:gridCol>
                <a:gridCol w="658091">
                  <a:extLst>
                    <a:ext uri="{9D8B030D-6E8A-4147-A177-3AD203B41FA5}">
                      <a16:colId xmlns:a16="http://schemas.microsoft.com/office/drawing/2014/main" val="3994107483"/>
                    </a:ext>
                  </a:extLst>
                </a:gridCol>
                <a:gridCol w="542153">
                  <a:extLst>
                    <a:ext uri="{9D8B030D-6E8A-4147-A177-3AD203B41FA5}">
                      <a16:colId xmlns:a16="http://schemas.microsoft.com/office/drawing/2014/main" val="3548229375"/>
                    </a:ext>
                  </a:extLst>
                </a:gridCol>
                <a:gridCol w="547673">
                  <a:extLst>
                    <a:ext uri="{9D8B030D-6E8A-4147-A177-3AD203B41FA5}">
                      <a16:colId xmlns:a16="http://schemas.microsoft.com/office/drawing/2014/main" val="2337352444"/>
                    </a:ext>
                  </a:extLst>
                </a:gridCol>
                <a:gridCol w="613924">
                  <a:extLst>
                    <a:ext uri="{9D8B030D-6E8A-4147-A177-3AD203B41FA5}">
                      <a16:colId xmlns:a16="http://schemas.microsoft.com/office/drawing/2014/main" val="3827713913"/>
                    </a:ext>
                  </a:extLst>
                </a:gridCol>
                <a:gridCol w="613924">
                  <a:extLst>
                    <a:ext uri="{9D8B030D-6E8A-4147-A177-3AD203B41FA5}">
                      <a16:colId xmlns:a16="http://schemas.microsoft.com/office/drawing/2014/main" val="1789268881"/>
                    </a:ext>
                  </a:extLst>
                </a:gridCol>
                <a:gridCol w="514547">
                  <a:extLst>
                    <a:ext uri="{9D8B030D-6E8A-4147-A177-3AD203B41FA5}">
                      <a16:colId xmlns:a16="http://schemas.microsoft.com/office/drawing/2014/main" val="1694062476"/>
                    </a:ext>
                  </a:extLst>
                </a:gridCol>
                <a:gridCol w="610611">
                  <a:extLst>
                    <a:ext uri="{9D8B030D-6E8A-4147-A177-3AD203B41FA5}">
                      <a16:colId xmlns:a16="http://schemas.microsoft.com/office/drawing/2014/main" val="3995252786"/>
                    </a:ext>
                  </a:extLst>
                </a:gridCol>
                <a:gridCol w="610611">
                  <a:extLst>
                    <a:ext uri="{9D8B030D-6E8A-4147-A177-3AD203B41FA5}">
                      <a16:colId xmlns:a16="http://schemas.microsoft.com/office/drawing/2014/main" val="2900455898"/>
                    </a:ext>
                  </a:extLst>
                </a:gridCol>
                <a:gridCol w="656987">
                  <a:extLst>
                    <a:ext uri="{9D8B030D-6E8A-4147-A177-3AD203B41FA5}">
                      <a16:colId xmlns:a16="http://schemas.microsoft.com/office/drawing/2014/main" val="2877786571"/>
                    </a:ext>
                  </a:extLst>
                </a:gridCol>
              </a:tblGrid>
              <a:tr h="296073">
                <a:tc rowSpan="2">
                  <a:txBody>
                    <a:bodyPr/>
                    <a:lstStyle/>
                    <a:p>
                      <a:pPr marL="77470">
                        <a:spcBef>
                          <a:spcPts val="85"/>
                        </a:spcBef>
                        <a:spcAft>
                          <a:spcPts val="0"/>
                        </a:spcAft>
                      </a:pPr>
                      <a:r>
                        <a:rPr lang="en-US"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601980">
                        <a:spcBef>
                          <a:spcPts val="85"/>
                        </a:spcBef>
                      </a:pPr>
                      <a:r>
                        <a:rPr lang="en-US" sz="1800">
                          <a:effectLst/>
                          <a:latin typeface="Times New Roman" panose="02020603050405020304" pitchFamily="18" charset="0"/>
                          <a:cs typeface="Times New Roman" panose="02020603050405020304" pitchFamily="18" charset="0"/>
                        </a:rPr>
                        <a:t>Number of correctly recognized bird sound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6675">
                        <a:spcBef>
                          <a:spcPts val="795"/>
                        </a:spcBef>
                        <a:spcAft>
                          <a:spcPts val="0"/>
                        </a:spcAft>
                      </a:pPr>
                      <a:r>
                        <a:rPr lang="en-US" sz="1800">
                          <a:effectLst/>
                          <a:latin typeface="Times New Roman" panose="02020603050405020304" pitchFamily="18" charset="0"/>
                          <a:cs typeface="Times New Roman" panose="02020603050405020304" pitchFamily="18" charset="0"/>
                        </a:rPr>
                        <a:t>RSA</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626160262"/>
                  </a:ext>
                </a:extLst>
              </a:tr>
              <a:tr h="296073">
                <a:tc vMerge="1">
                  <a:txBody>
                    <a:bodyPr/>
                    <a:lstStyle/>
                    <a:p>
                      <a:endParaRPr lang="en-IN"/>
                    </a:p>
                  </a:txBody>
                  <a:tcPr/>
                </a:tc>
                <a:tc>
                  <a:txBody>
                    <a:bodyPr/>
                    <a:lstStyle/>
                    <a:p>
                      <a:pPr marL="77470">
                        <a:spcBef>
                          <a:spcPts val="65"/>
                        </a:spcBef>
                      </a:pPr>
                      <a:r>
                        <a:rPr lang="en-US" sz="1800">
                          <a:effectLst/>
                          <a:latin typeface="Times New Roman" panose="02020603050405020304" pitchFamily="18" charset="0"/>
                          <a:cs typeface="Times New Roman" panose="02020603050405020304" pitchFamily="18" charset="0"/>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1800">
                          <a:effectLst/>
                          <a:latin typeface="Times New Roman" panose="02020603050405020304" pitchFamily="18" charset="0"/>
                          <a:cs typeface="Times New Roman" panose="02020603050405020304" pitchFamily="18" charset="0"/>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1800">
                          <a:effectLst/>
                          <a:latin typeface="Times New Roman" panose="02020603050405020304" pitchFamily="18" charset="0"/>
                          <a:cs typeface="Times New Roman" panose="02020603050405020304" pitchFamily="18" charset="0"/>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1800">
                          <a:effectLst/>
                          <a:latin typeface="Times New Roman" panose="02020603050405020304" pitchFamily="18" charset="0"/>
                          <a:cs typeface="Times New Roman" panose="02020603050405020304" pitchFamily="18" charset="0"/>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1800">
                          <a:effectLst/>
                          <a:latin typeface="Times New Roman" panose="02020603050405020304" pitchFamily="18" charset="0"/>
                          <a:cs typeface="Times New Roman" panose="02020603050405020304" pitchFamily="18" charset="0"/>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1800">
                          <a:effectLst/>
                          <a:latin typeface="Times New Roman" panose="02020603050405020304" pitchFamily="18" charset="0"/>
                          <a:cs typeface="Times New Roman" panose="02020603050405020304" pitchFamily="18" charset="0"/>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1800">
                          <a:effectLst/>
                          <a:latin typeface="Times New Roman" panose="02020603050405020304" pitchFamily="18" charset="0"/>
                          <a:cs typeface="Times New Roman" panose="02020603050405020304" pitchFamily="18" charset="0"/>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65"/>
                        </a:spcBef>
                        <a:spcAft>
                          <a:spcPts val="0"/>
                        </a:spcAft>
                      </a:pPr>
                      <a:r>
                        <a:rPr lang="en-US" sz="1800">
                          <a:effectLst/>
                          <a:latin typeface="Times New Roman" panose="02020603050405020304" pitchFamily="18" charset="0"/>
                          <a:cs typeface="Times New Roman" panose="02020603050405020304" pitchFamily="18" charset="0"/>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65"/>
                        </a:spcBef>
                        <a:spcAft>
                          <a:spcPts val="0"/>
                        </a:spcAft>
                      </a:pPr>
                      <a:r>
                        <a:rPr lang="en-US" sz="1800">
                          <a:effectLst/>
                          <a:latin typeface="Times New Roman" panose="02020603050405020304" pitchFamily="18" charset="0"/>
                          <a:cs typeface="Times New Roman" panose="02020603050405020304" pitchFamily="18" charset="0"/>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65"/>
                        </a:spcBef>
                        <a:spcAft>
                          <a:spcPts val="0"/>
                        </a:spcAft>
                      </a:pPr>
                      <a:r>
                        <a:rPr lang="en-US" sz="1800">
                          <a:effectLst/>
                          <a:latin typeface="Times New Roman" panose="02020603050405020304" pitchFamily="18" charset="0"/>
                          <a:cs typeface="Times New Roman" panose="02020603050405020304" pitchFamily="18" charset="0"/>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2938407146"/>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46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75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545309926"/>
                  </a:ext>
                </a:extLst>
              </a:tr>
              <a:tr h="300348">
                <a:tc>
                  <a:txBody>
                    <a:bodyPr/>
                    <a:lstStyle/>
                    <a:p>
                      <a:pPr marL="77470">
                        <a:spcBef>
                          <a:spcPts val="85"/>
                        </a:spcBef>
                      </a:pPr>
                      <a:r>
                        <a:rPr lang="en-US" sz="1800" dirty="0">
                          <a:effectLst/>
                          <a:latin typeface="Times New Roman" panose="02020603050405020304" pitchFamily="18" charset="0"/>
                          <a:cs typeface="Times New Roman" panose="02020603050405020304" pitchFamily="18" charset="0"/>
                        </a:rPr>
                        <a:t>GT</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dirty="0">
                          <a:effectLst/>
                          <a:latin typeface="Times New Roman" panose="02020603050405020304" pitchFamily="18" charset="0"/>
                          <a:cs typeface="Times New Roman" panose="02020603050405020304" pitchFamily="18" charset="0"/>
                        </a:rPr>
                        <a:t>41</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14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65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732048935"/>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13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2395">
                        <a:spcBef>
                          <a:spcPts val="85"/>
                        </a:spcBef>
                      </a:pPr>
                      <a:r>
                        <a:rPr lang="en-US" sz="1800" dirty="0">
                          <a:effectLst/>
                          <a:highlight>
                            <a:srgbClr val="FF0000"/>
                          </a:highlight>
                          <a:latin typeface="Times New Roman" panose="02020603050405020304" pitchFamily="18" charset="0"/>
                          <a:cs typeface="Times New Roman" panose="02020603050405020304" pitchFamily="18" charset="0"/>
                        </a:rPr>
                        <a:t>50</a:t>
                      </a:r>
                      <a:endParaRPr lang="en-IN" sz="18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53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590723533"/>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22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48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62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001552013"/>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1125">
                        <a:spcBef>
                          <a:spcPts val="85"/>
                        </a:spcBef>
                      </a:pPr>
                      <a:r>
                        <a:rPr lang="en-US" sz="1800" dirty="0">
                          <a:effectLst/>
                          <a:highlight>
                            <a:srgbClr val="00FF00"/>
                          </a:highlight>
                          <a:latin typeface="Times New Roman" panose="02020603050405020304" pitchFamily="18" charset="0"/>
                          <a:cs typeface="Times New Roman" panose="02020603050405020304" pitchFamily="18" charset="0"/>
                        </a:rPr>
                        <a:t>62</a:t>
                      </a:r>
                      <a:endParaRPr lang="en-IN" sz="18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82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354513605"/>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10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37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72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3186964"/>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64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86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002439523"/>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76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78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223593503"/>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dirty="0">
                          <a:effectLst/>
                          <a:latin typeface="Times New Roman" panose="02020603050405020304" pitchFamily="18" charset="0"/>
                          <a:cs typeface="Times New Roman" panose="02020603050405020304" pitchFamily="18" charset="0"/>
                        </a:rPr>
                        <a:t>5</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54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79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548419732"/>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10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31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67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932071111"/>
                  </a:ext>
                </a:extLst>
              </a:tr>
              <a:tr h="300348">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Rel.</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69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75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46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68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78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79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80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74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87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86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799428550"/>
                  </a:ext>
                </a:extLst>
              </a:tr>
              <a:tr h="300348">
                <a:tc gridSpan="12">
                  <a:txBody>
                    <a:bodyPr/>
                    <a:lstStyle/>
                    <a:p>
                      <a:pPr marL="77470">
                        <a:spcBef>
                          <a:spcPts val="85"/>
                        </a:spcBef>
                      </a:pPr>
                      <a:r>
                        <a:rPr lang="en-US" sz="1800" dirty="0">
                          <a:effectLst/>
                          <a:latin typeface="Times New Roman" panose="02020603050405020304" pitchFamily="18" charset="0"/>
                          <a:cs typeface="Times New Roman" panose="02020603050405020304" pitchFamily="18" charset="0"/>
                        </a:rPr>
                        <a:t>Overall Accuracy: 85.88%</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36217134"/>
                  </a:ext>
                </a:extLst>
              </a:tr>
            </a:tbl>
          </a:graphicData>
        </a:graphic>
      </p:graphicFrame>
    </p:spTree>
    <p:extLst>
      <p:ext uri="{BB962C8B-B14F-4D97-AF65-F5344CB8AC3E}">
        <p14:creationId xmlns:p14="http://schemas.microsoft.com/office/powerpoint/2010/main" val="38183231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39EB014-CFD9-4CB4-A16D-AB06C9CAAC36}"/>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FA4F8340-E95F-4CBB-AC0C-E63A73144167}"/>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A987D4ED-51B4-43BA-98A5-8ADDC117B59F}"/>
              </a:ext>
            </a:extLst>
          </p:cNvPr>
          <p:cNvSpPr>
            <a:spLocks noGrp="1"/>
          </p:cNvSpPr>
          <p:nvPr>
            <p:ph type="sldNum" sz="quarter" idx="12"/>
          </p:nvPr>
        </p:nvSpPr>
        <p:spPr/>
        <p:txBody>
          <a:bodyPr/>
          <a:lstStyle/>
          <a:p>
            <a:fld id="{B6F15528-21DE-4FAA-801E-634DDDAF4B2B}" type="slidenum">
              <a:rPr lang="en-US" smtClean="0"/>
              <a:pPr/>
              <a:t>32</a:t>
            </a:fld>
            <a:endParaRPr lang="en-US"/>
          </a:p>
        </p:txBody>
      </p:sp>
      <p:graphicFrame>
        <p:nvGraphicFramePr>
          <p:cNvPr id="9" name="Chart 8">
            <a:extLst>
              <a:ext uri="{FF2B5EF4-FFF2-40B4-BE49-F238E27FC236}">
                <a16:creationId xmlns:a16="http://schemas.microsoft.com/office/drawing/2014/main" id="{AD024969-A9F1-4E75-A23E-A47A3FB62009}"/>
              </a:ext>
            </a:extLst>
          </p:cNvPr>
          <p:cNvGraphicFramePr/>
          <p:nvPr>
            <p:extLst>
              <p:ext uri="{D42A27DB-BD31-4B8C-83A1-F6EECF244321}">
                <p14:modId xmlns:p14="http://schemas.microsoft.com/office/powerpoint/2010/main" val="3155462812"/>
              </p:ext>
            </p:extLst>
          </p:nvPr>
        </p:nvGraphicFramePr>
        <p:xfrm>
          <a:off x="0" y="1371600"/>
          <a:ext cx="4602480" cy="28594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113B1FE9-DAD5-4A44-B8B6-6CE330590F12}"/>
              </a:ext>
            </a:extLst>
          </p:cNvPr>
          <p:cNvGraphicFramePr/>
          <p:nvPr>
            <p:extLst>
              <p:ext uri="{D42A27DB-BD31-4B8C-83A1-F6EECF244321}">
                <p14:modId xmlns:p14="http://schemas.microsoft.com/office/powerpoint/2010/main" val="2102154944"/>
              </p:ext>
            </p:extLst>
          </p:nvPr>
        </p:nvGraphicFramePr>
        <p:xfrm>
          <a:off x="4572000" y="1369525"/>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AEDA4265-DDCE-4A6E-A40A-EEB4F4BB02A8}"/>
              </a:ext>
            </a:extLst>
          </p:cNvPr>
          <p:cNvSpPr txBox="1"/>
          <p:nvPr/>
        </p:nvSpPr>
        <p:spPr>
          <a:xfrm>
            <a:off x="228600" y="4278868"/>
            <a:ext cx="8534400" cy="369332"/>
          </a:xfrm>
          <a:prstGeom prst="rect">
            <a:avLst/>
          </a:prstGeom>
          <a:noFill/>
        </p:spPr>
        <p:txBody>
          <a:bodyPr wrap="square" rtlCol="0">
            <a:spAutoFit/>
          </a:bodyPr>
          <a:lstStyle/>
          <a:p>
            <a:pPr algn="ctr"/>
            <a:r>
              <a:rPr lang="en-US" dirty="0"/>
              <a:t>Fig 10: Analysis and Accuracy of GFCC (39) Features</a:t>
            </a:r>
            <a:endParaRPr lang="en-IN" dirty="0"/>
          </a:p>
        </p:txBody>
      </p:sp>
    </p:spTree>
    <p:extLst>
      <p:ext uri="{BB962C8B-B14F-4D97-AF65-F5344CB8AC3E}">
        <p14:creationId xmlns:p14="http://schemas.microsoft.com/office/powerpoint/2010/main" val="6373102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F9B076D-6291-4500-AF44-6ADD5873D17A}"/>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625FCDEE-FEA7-4FC7-8554-91FF23A9AF60}"/>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3674E45F-D05A-422C-AD1E-FE056D3876BB}"/>
              </a:ext>
            </a:extLst>
          </p:cNvPr>
          <p:cNvSpPr>
            <a:spLocks noGrp="1"/>
          </p:cNvSpPr>
          <p:nvPr>
            <p:ph type="sldNum" sz="quarter" idx="12"/>
          </p:nvPr>
        </p:nvSpPr>
        <p:spPr/>
        <p:txBody>
          <a:bodyPr/>
          <a:lstStyle/>
          <a:p>
            <a:fld id="{B6F15528-21DE-4FAA-801E-634DDDAF4B2B}" type="slidenum">
              <a:rPr lang="en-US" smtClean="0"/>
              <a:pPr/>
              <a:t>33</a:t>
            </a:fld>
            <a:endParaRPr lang="en-US"/>
          </a:p>
        </p:txBody>
      </p:sp>
      <p:graphicFrame>
        <p:nvGraphicFramePr>
          <p:cNvPr id="7" name="Table 6">
            <a:extLst>
              <a:ext uri="{FF2B5EF4-FFF2-40B4-BE49-F238E27FC236}">
                <a16:creationId xmlns:a16="http://schemas.microsoft.com/office/drawing/2014/main" id="{D9B65664-70BF-4BA7-864A-70E8ECD48A90}"/>
              </a:ext>
            </a:extLst>
          </p:cNvPr>
          <p:cNvGraphicFramePr>
            <a:graphicFrameLocks noGrp="1"/>
          </p:cNvGraphicFramePr>
          <p:nvPr>
            <p:extLst>
              <p:ext uri="{D42A27DB-BD31-4B8C-83A1-F6EECF244321}">
                <p14:modId xmlns:p14="http://schemas.microsoft.com/office/powerpoint/2010/main" val="31389867"/>
              </p:ext>
            </p:extLst>
          </p:nvPr>
        </p:nvGraphicFramePr>
        <p:xfrm>
          <a:off x="1219200" y="1371600"/>
          <a:ext cx="5791199" cy="1828800"/>
        </p:xfrm>
        <a:graphic>
          <a:graphicData uri="http://schemas.openxmlformats.org/drawingml/2006/table">
            <a:tbl>
              <a:tblPr firstRow="1" firstCol="1" lastRow="1" lastCol="1" bandRow="1" bandCol="1">
                <a:tableStyleId>{5940675A-B579-460E-94D1-54222C63F5DA}</a:tableStyleId>
              </a:tblPr>
              <a:tblGrid>
                <a:gridCol w="982773">
                  <a:extLst>
                    <a:ext uri="{9D8B030D-6E8A-4147-A177-3AD203B41FA5}">
                      <a16:colId xmlns:a16="http://schemas.microsoft.com/office/drawing/2014/main" val="3848129778"/>
                    </a:ext>
                  </a:extLst>
                </a:gridCol>
                <a:gridCol w="1886227">
                  <a:extLst>
                    <a:ext uri="{9D8B030D-6E8A-4147-A177-3AD203B41FA5}">
                      <a16:colId xmlns:a16="http://schemas.microsoft.com/office/drawing/2014/main" val="2492374717"/>
                    </a:ext>
                  </a:extLst>
                </a:gridCol>
                <a:gridCol w="1018562">
                  <a:extLst>
                    <a:ext uri="{9D8B030D-6E8A-4147-A177-3AD203B41FA5}">
                      <a16:colId xmlns:a16="http://schemas.microsoft.com/office/drawing/2014/main" val="3749669667"/>
                    </a:ext>
                  </a:extLst>
                </a:gridCol>
                <a:gridCol w="927636">
                  <a:extLst>
                    <a:ext uri="{9D8B030D-6E8A-4147-A177-3AD203B41FA5}">
                      <a16:colId xmlns:a16="http://schemas.microsoft.com/office/drawing/2014/main" val="2902183209"/>
                    </a:ext>
                  </a:extLst>
                </a:gridCol>
                <a:gridCol w="976001">
                  <a:extLst>
                    <a:ext uri="{9D8B030D-6E8A-4147-A177-3AD203B41FA5}">
                      <a16:colId xmlns:a16="http://schemas.microsoft.com/office/drawing/2014/main" val="2986225098"/>
                    </a:ext>
                  </a:extLst>
                </a:gridCol>
              </a:tblGrid>
              <a:tr h="457200">
                <a:tc>
                  <a:txBody>
                    <a:bodyPr/>
                    <a:lstStyle/>
                    <a:p>
                      <a:pPr marL="77470">
                        <a:spcBef>
                          <a:spcPts val="145"/>
                        </a:spcBef>
                      </a:pPr>
                      <a:r>
                        <a:rPr lang="en-US" sz="1800" b="1" dirty="0">
                          <a:effectLst/>
                          <a:latin typeface="Times New Roman" panose="02020603050405020304" pitchFamily="18" charset="0"/>
                          <a:cs typeface="Times New Roman" panose="02020603050405020304" pitchFamily="18" charset="0"/>
                        </a:rPr>
                        <a:t>Sr No.</a:t>
                      </a:r>
                      <a:endParaRPr lang="en-IN" sz="1800" b="1"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145"/>
                        </a:spcBef>
                      </a:pPr>
                      <a:r>
                        <a:rPr lang="en-US" sz="1800" b="1">
                          <a:effectLst/>
                          <a:latin typeface="Times New Roman" panose="02020603050405020304" pitchFamily="18" charset="0"/>
                          <a:cs typeface="Times New Roman" panose="02020603050405020304" pitchFamily="18" charset="0"/>
                        </a:rPr>
                        <a:t>Feature vector</a:t>
                      </a:r>
                      <a:endParaRPr lang="en-IN" sz="1800" b="1">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145"/>
                        </a:spcBef>
                        <a:spcAft>
                          <a:spcPts val="0"/>
                        </a:spcAft>
                      </a:pPr>
                      <a:r>
                        <a:rPr lang="en-US" sz="1800" b="1">
                          <a:effectLst/>
                          <a:latin typeface="Times New Roman" panose="02020603050405020304" pitchFamily="18" charset="0"/>
                          <a:cs typeface="Times New Roman" panose="02020603050405020304" pitchFamily="18" charset="0"/>
                        </a:rPr>
                        <a:t>MFCC</a:t>
                      </a:r>
                      <a:endParaRPr lang="en-IN" sz="1800" b="1">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145"/>
                        </a:spcBef>
                        <a:spcAft>
                          <a:spcPts val="0"/>
                        </a:spcAft>
                      </a:pPr>
                      <a:r>
                        <a:rPr lang="en-US" sz="1800" b="1">
                          <a:effectLst/>
                          <a:latin typeface="Times New Roman" panose="02020603050405020304" pitchFamily="18" charset="0"/>
                          <a:cs typeface="Times New Roman" panose="02020603050405020304" pitchFamily="18" charset="0"/>
                        </a:rPr>
                        <a:t>LFCC</a:t>
                      </a:r>
                      <a:endParaRPr lang="en-IN" sz="1800" b="1">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145"/>
                        </a:spcBef>
                        <a:spcAft>
                          <a:spcPts val="0"/>
                        </a:spcAft>
                      </a:pPr>
                      <a:r>
                        <a:rPr lang="en-US" sz="1800" b="1" dirty="0">
                          <a:effectLst/>
                          <a:latin typeface="Times New Roman" panose="02020603050405020304" pitchFamily="18" charset="0"/>
                          <a:cs typeface="Times New Roman" panose="02020603050405020304" pitchFamily="18" charset="0"/>
                        </a:rPr>
                        <a:t>GFCC</a:t>
                      </a:r>
                      <a:endParaRPr lang="en-IN" sz="1800" b="1" dirty="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595457986"/>
                  </a:ext>
                </a:extLst>
              </a:tr>
              <a:tr h="457200">
                <a:tc>
                  <a:txBody>
                    <a:bodyPr/>
                    <a:lstStyle/>
                    <a:p>
                      <a:pPr marL="77470">
                        <a:spcBef>
                          <a:spcPts val="160"/>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160"/>
                        </a:spcBef>
                      </a:pPr>
                      <a:r>
                        <a:rPr lang="en-US" sz="1800">
                          <a:effectLst/>
                          <a:latin typeface="Times New Roman" panose="02020603050405020304" pitchFamily="18" charset="0"/>
                          <a:cs typeface="Times New Roman" panose="02020603050405020304" pitchFamily="18" charset="0"/>
                        </a:rPr>
                        <a:t>13 coefficients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160"/>
                        </a:spcBef>
                        <a:spcAft>
                          <a:spcPts val="0"/>
                        </a:spcAft>
                      </a:pPr>
                      <a:r>
                        <a:rPr lang="en-US" sz="1800">
                          <a:effectLst/>
                          <a:latin typeface="Times New Roman" panose="02020603050405020304" pitchFamily="18" charset="0"/>
                          <a:cs typeface="Times New Roman" panose="02020603050405020304" pitchFamily="18" charset="0"/>
                        </a:rPr>
                        <a:t>82.38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160"/>
                        </a:spcBef>
                        <a:spcAft>
                          <a:spcPts val="0"/>
                        </a:spcAft>
                      </a:pPr>
                      <a:r>
                        <a:rPr lang="en-US" sz="1800">
                          <a:effectLst/>
                          <a:latin typeface="Times New Roman" panose="02020603050405020304" pitchFamily="18" charset="0"/>
                          <a:cs typeface="Times New Roman" panose="02020603050405020304" pitchFamily="18" charset="0"/>
                        </a:rPr>
                        <a:t>85.53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160"/>
                        </a:spcBef>
                        <a:spcAft>
                          <a:spcPts val="0"/>
                        </a:spcAft>
                      </a:pPr>
                      <a:r>
                        <a:rPr lang="en-US" sz="1800">
                          <a:effectLst/>
                          <a:latin typeface="Times New Roman" panose="02020603050405020304" pitchFamily="18" charset="0"/>
                          <a:cs typeface="Times New Roman" panose="02020603050405020304" pitchFamily="18" charset="0"/>
                        </a:rPr>
                        <a:t>87.64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841159984"/>
                  </a:ext>
                </a:extLst>
              </a:tr>
              <a:tr h="457200">
                <a:tc>
                  <a:txBody>
                    <a:bodyPr/>
                    <a:lstStyle/>
                    <a:p>
                      <a:pPr marL="77470">
                        <a:spcBef>
                          <a:spcPts val="160"/>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160"/>
                        </a:spcBef>
                      </a:pPr>
                      <a:r>
                        <a:rPr lang="en-US" sz="1800">
                          <a:effectLst/>
                          <a:latin typeface="Times New Roman" panose="02020603050405020304" pitchFamily="18" charset="0"/>
                          <a:cs typeface="Times New Roman" panose="02020603050405020304" pitchFamily="18" charset="0"/>
                        </a:rPr>
                        <a:t>26 coefficients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160"/>
                        </a:spcBef>
                        <a:spcAft>
                          <a:spcPts val="0"/>
                        </a:spcAft>
                      </a:pPr>
                      <a:r>
                        <a:rPr lang="en-US" sz="1800">
                          <a:effectLst/>
                          <a:latin typeface="Times New Roman" panose="02020603050405020304" pitchFamily="18" charset="0"/>
                          <a:cs typeface="Times New Roman" panose="02020603050405020304" pitchFamily="18" charset="0"/>
                        </a:rPr>
                        <a:t>81.33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160"/>
                        </a:spcBef>
                        <a:spcAft>
                          <a:spcPts val="0"/>
                        </a:spcAft>
                      </a:pPr>
                      <a:r>
                        <a:rPr lang="en-US" sz="1800">
                          <a:effectLst/>
                          <a:latin typeface="Times New Roman" panose="02020603050405020304" pitchFamily="18" charset="0"/>
                          <a:cs typeface="Times New Roman" panose="02020603050405020304" pitchFamily="18" charset="0"/>
                        </a:rPr>
                        <a:t>85.49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160"/>
                        </a:spcBef>
                        <a:spcAft>
                          <a:spcPts val="0"/>
                        </a:spcAft>
                      </a:pPr>
                      <a:r>
                        <a:rPr lang="en-US" sz="1800">
                          <a:effectLst/>
                          <a:latin typeface="Times New Roman" panose="02020603050405020304" pitchFamily="18" charset="0"/>
                          <a:cs typeface="Times New Roman" panose="02020603050405020304" pitchFamily="18" charset="0"/>
                        </a:rPr>
                        <a:t>87.44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034060957"/>
                  </a:ext>
                </a:extLst>
              </a:tr>
              <a:tr h="457200">
                <a:tc>
                  <a:txBody>
                    <a:bodyPr/>
                    <a:lstStyle/>
                    <a:p>
                      <a:pPr marL="77470">
                        <a:spcBef>
                          <a:spcPts val="160"/>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160"/>
                        </a:spcBef>
                      </a:pPr>
                      <a:r>
                        <a:rPr lang="en-US" sz="1800">
                          <a:effectLst/>
                          <a:latin typeface="Times New Roman" panose="02020603050405020304" pitchFamily="18" charset="0"/>
                          <a:cs typeface="Times New Roman" panose="02020603050405020304" pitchFamily="18" charset="0"/>
                        </a:rPr>
                        <a:t>39 coefficients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160"/>
                        </a:spcBef>
                        <a:spcAft>
                          <a:spcPts val="0"/>
                        </a:spcAft>
                      </a:pPr>
                      <a:r>
                        <a:rPr lang="en-US" sz="1800">
                          <a:effectLst/>
                          <a:latin typeface="Times New Roman" panose="02020603050405020304" pitchFamily="18" charset="0"/>
                          <a:cs typeface="Times New Roman" panose="02020603050405020304" pitchFamily="18" charset="0"/>
                        </a:rPr>
                        <a:t>82.21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160"/>
                        </a:spcBef>
                        <a:spcAft>
                          <a:spcPts val="0"/>
                        </a:spcAft>
                      </a:pPr>
                      <a:r>
                        <a:rPr lang="en-US" sz="1800">
                          <a:effectLst/>
                          <a:latin typeface="Times New Roman" panose="02020603050405020304" pitchFamily="18" charset="0"/>
                          <a:cs typeface="Times New Roman" panose="02020603050405020304" pitchFamily="18" charset="0"/>
                        </a:rPr>
                        <a:t>85.88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160"/>
                        </a:spcBef>
                        <a:spcAft>
                          <a:spcPts val="0"/>
                        </a:spcAft>
                      </a:pPr>
                      <a:r>
                        <a:rPr lang="en-US" sz="1800" dirty="0">
                          <a:effectLst/>
                          <a:latin typeface="Times New Roman" panose="02020603050405020304" pitchFamily="18" charset="0"/>
                          <a:cs typeface="Times New Roman" panose="02020603050405020304" pitchFamily="18" charset="0"/>
                        </a:rPr>
                        <a:t>85.88</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311029641"/>
                  </a:ext>
                </a:extLst>
              </a:tr>
            </a:tbl>
          </a:graphicData>
        </a:graphic>
      </p:graphicFrame>
      <p:sp>
        <p:nvSpPr>
          <p:cNvPr id="8" name="TextBox 7">
            <a:extLst>
              <a:ext uri="{FF2B5EF4-FFF2-40B4-BE49-F238E27FC236}">
                <a16:creationId xmlns:a16="http://schemas.microsoft.com/office/drawing/2014/main" id="{A0CC9D7E-47CF-4624-9F09-5D9FFB2A41F2}"/>
              </a:ext>
            </a:extLst>
          </p:cNvPr>
          <p:cNvSpPr txBox="1"/>
          <p:nvPr/>
        </p:nvSpPr>
        <p:spPr>
          <a:xfrm>
            <a:off x="1219200" y="685800"/>
            <a:ext cx="7086600"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Table 10: Overall Accuracy of Feature Extraction</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81812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0027E-FA79-4015-ADAD-3F1177DBAB4D}"/>
              </a:ext>
            </a:extLst>
          </p:cNvPr>
          <p:cNvSpPr>
            <a:spLocks noGrp="1"/>
          </p:cNvSpPr>
          <p:nvPr>
            <p:ph type="title"/>
          </p:nvPr>
        </p:nvSpPr>
        <p:spPr/>
        <p:txBody>
          <a:bodyPr/>
          <a:lstStyle/>
          <a:p>
            <a:pPr algn="l"/>
            <a:r>
              <a:rPr lang="en-US" dirty="0">
                <a:solidFill>
                  <a:srgbClr val="FF0000"/>
                </a:solidFill>
              </a:rPr>
              <a:t>Feature Selection</a:t>
            </a:r>
            <a:endParaRPr lang="en-IN" dirty="0">
              <a:solidFill>
                <a:srgbClr val="FF0000"/>
              </a:solidFill>
            </a:endParaRPr>
          </a:p>
        </p:txBody>
      </p:sp>
      <p:sp>
        <p:nvSpPr>
          <p:cNvPr id="3" name="Content Placeholder 2">
            <a:extLst>
              <a:ext uri="{FF2B5EF4-FFF2-40B4-BE49-F238E27FC236}">
                <a16:creationId xmlns:a16="http://schemas.microsoft.com/office/drawing/2014/main" id="{61F3D0E2-06DC-4CD0-8913-3BE699E77343}"/>
              </a:ext>
            </a:extLst>
          </p:cNvPr>
          <p:cNvSpPr>
            <a:spLocks noGrp="1"/>
          </p:cNvSpPr>
          <p:nvPr>
            <p:ph idx="1"/>
          </p:nvPr>
        </p:nvSpPr>
        <p:spPr/>
        <p:txBody>
          <a:bodyPr/>
          <a:lstStyle/>
          <a:p>
            <a:endParaRPr lang="en-US" dirty="0"/>
          </a:p>
          <a:p>
            <a:pPr algn="just"/>
            <a:r>
              <a:rPr lang="en-US" sz="2000" spc="-15" dirty="0">
                <a:effectLst/>
                <a:latin typeface="Times New Roman" panose="02020603050405020304" pitchFamily="18" charset="0"/>
                <a:ea typeface="LM Roman 12"/>
                <a:cs typeface="Times New Roman" panose="02020603050405020304" pitchFamily="18" charset="0"/>
              </a:rPr>
              <a:t>Feature </a:t>
            </a:r>
            <a:r>
              <a:rPr lang="en-US" sz="2000" dirty="0">
                <a:effectLst/>
                <a:latin typeface="Times New Roman" panose="02020603050405020304" pitchFamily="18" charset="0"/>
                <a:ea typeface="LM Roman 12"/>
                <a:cs typeface="Times New Roman" panose="02020603050405020304" pitchFamily="18" charset="0"/>
              </a:rPr>
              <a:t>selection selects only the </a:t>
            </a:r>
            <a:r>
              <a:rPr lang="en-US" sz="2000" spc="-20" dirty="0">
                <a:effectLst/>
                <a:latin typeface="Times New Roman" panose="02020603050405020304" pitchFamily="18" charset="0"/>
                <a:ea typeface="LM Roman 12"/>
                <a:cs typeface="Times New Roman" panose="02020603050405020304" pitchFamily="18" charset="0"/>
              </a:rPr>
              <a:t>relevant </a:t>
            </a:r>
            <a:r>
              <a:rPr lang="en-US" sz="2000" dirty="0">
                <a:effectLst/>
                <a:latin typeface="Times New Roman" panose="02020603050405020304" pitchFamily="18" charset="0"/>
                <a:ea typeface="LM Roman 12"/>
                <a:cs typeface="Times New Roman" panose="02020603050405020304" pitchFamily="18" charset="0"/>
              </a:rPr>
              <a:t>features and discards all </a:t>
            </a:r>
            <a:r>
              <a:rPr lang="en-US" sz="2000" spc="-15" dirty="0">
                <a:effectLst/>
                <a:latin typeface="Times New Roman" panose="02020603050405020304" pitchFamily="18" charset="0"/>
                <a:ea typeface="LM Roman 12"/>
                <a:cs typeface="Times New Roman" panose="02020603050405020304" pitchFamily="18" charset="0"/>
              </a:rPr>
              <a:t>irrelevant </a:t>
            </a:r>
            <a:r>
              <a:rPr lang="en-US" sz="2000" dirty="0">
                <a:effectLst/>
                <a:latin typeface="Times New Roman" panose="02020603050405020304" pitchFamily="18" charset="0"/>
                <a:ea typeface="LM Roman 12"/>
                <a:cs typeface="Times New Roman" panose="02020603050405020304" pitchFamily="18" charset="0"/>
              </a:rPr>
              <a:t>and noisy feature.</a:t>
            </a:r>
          </a:p>
          <a:p>
            <a:pPr algn="just"/>
            <a:r>
              <a:rPr lang="en-US" sz="2000" dirty="0">
                <a:latin typeface="Times New Roman" panose="02020603050405020304" pitchFamily="18" charset="0"/>
                <a:ea typeface="LM Roman 12"/>
                <a:cs typeface="Times New Roman" panose="02020603050405020304" pitchFamily="18" charset="0"/>
              </a:rPr>
              <a:t>I</a:t>
            </a:r>
            <a:r>
              <a:rPr lang="en-US" sz="2000" dirty="0">
                <a:effectLst/>
                <a:latin typeface="Times New Roman" panose="02020603050405020304" pitchFamily="18" charset="0"/>
                <a:ea typeface="LM Roman 12"/>
                <a:cs typeface="Times New Roman" panose="02020603050405020304" pitchFamily="18" charset="0"/>
              </a:rPr>
              <a:t>mproves the efficiency and accuracy of the model</a:t>
            </a:r>
            <a:endParaRPr lang="en-US" sz="2000" dirty="0">
              <a:latin typeface="Times New Roman" panose="02020603050405020304" pitchFamily="18" charset="0"/>
              <a:ea typeface="LM Roman 12"/>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1CF5E586-0611-4A63-B05A-13F9676EA3FD}"/>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686D562F-0213-40E1-B497-73C46DF05E6E}"/>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ACBA3C02-A7A7-4ECE-93E9-51DFE294F97F}"/>
              </a:ext>
            </a:extLst>
          </p:cNvPr>
          <p:cNvSpPr>
            <a:spLocks noGrp="1"/>
          </p:cNvSpPr>
          <p:nvPr>
            <p:ph type="sldNum" sz="quarter" idx="12"/>
          </p:nvPr>
        </p:nvSpPr>
        <p:spPr/>
        <p:txBody>
          <a:bodyPr/>
          <a:lstStyle/>
          <a:p>
            <a:fld id="{B6F15528-21DE-4FAA-801E-634DDDAF4B2B}" type="slidenum">
              <a:rPr lang="en-US" smtClean="0"/>
              <a:pPr/>
              <a:t>34</a:t>
            </a:fld>
            <a:endParaRPr lang="en-US"/>
          </a:p>
        </p:txBody>
      </p:sp>
      <p:pic>
        <p:nvPicPr>
          <p:cNvPr id="8" name="image6.png">
            <a:extLst>
              <a:ext uri="{FF2B5EF4-FFF2-40B4-BE49-F238E27FC236}">
                <a16:creationId xmlns:a16="http://schemas.microsoft.com/office/drawing/2014/main" id="{6C5F6B9D-44E1-451A-A5D5-4B8C6C58ED79}"/>
              </a:ext>
            </a:extLst>
          </p:cNvPr>
          <p:cNvPicPr/>
          <p:nvPr/>
        </p:nvPicPr>
        <p:blipFill>
          <a:blip r:embed="rId2" cstate="print"/>
          <a:stretch>
            <a:fillRect/>
          </a:stretch>
        </p:blipFill>
        <p:spPr>
          <a:xfrm>
            <a:off x="1371600" y="2594507"/>
            <a:ext cx="6400800" cy="2430228"/>
          </a:xfrm>
          <a:prstGeom prst="rect">
            <a:avLst/>
          </a:prstGeom>
        </p:spPr>
      </p:pic>
      <p:sp>
        <p:nvSpPr>
          <p:cNvPr id="10" name="TextBox 9">
            <a:extLst>
              <a:ext uri="{FF2B5EF4-FFF2-40B4-BE49-F238E27FC236}">
                <a16:creationId xmlns:a16="http://schemas.microsoft.com/office/drawing/2014/main" id="{EF2BD1E7-7EFD-4EE6-9055-E557F0CCC279}"/>
              </a:ext>
            </a:extLst>
          </p:cNvPr>
          <p:cNvSpPr txBox="1"/>
          <p:nvPr/>
        </p:nvSpPr>
        <p:spPr>
          <a:xfrm>
            <a:off x="1295400" y="5024735"/>
            <a:ext cx="716280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Fig 11: </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Block</a:t>
            </a:r>
            <a:r>
              <a:rPr lang="en-US" sz="22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Diagram</a:t>
            </a:r>
            <a:r>
              <a:rPr lang="en-US" sz="2200" spc="1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200" spc="1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Feature</a:t>
            </a:r>
            <a:r>
              <a:rPr lang="en-US" sz="2200" spc="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selection</a:t>
            </a:r>
            <a:r>
              <a:rPr lang="en-US" sz="2200" spc="19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200" dirty="0">
                <a:effectLst/>
                <a:latin typeface="Times New Roman" panose="02020603050405020304" pitchFamily="18" charset="0"/>
                <a:ea typeface="Times New Roman" panose="02020603050405020304" pitchFamily="18" charset="0"/>
                <a:cs typeface="Times New Roman" panose="02020603050405020304" pitchFamily="18" charset="0"/>
              </a:rPr>
              <a:t>methods</a:t>
            </a:r>
            <a:r>
              <a:rPr lang="en-US" sz="2200" dirty="0">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62002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9D6C6-07CD-4608-8283-1E22BF2FB18A}"/>
              </a:ext>
            </a:extLst>
          </p:cNvPr>
          <p:cNvSpPr>
            <a:spLocks noGrp="1"/>
          </p:cNvSpPr>
          <p:nvPr>
            <p:ph type="title"/>
          </p:nvPr>
        </p:nvSpPr>
        <p:spPr>
          <a:xfrm>
            <a:off x="381000" y="-152400"/>
            <a:ext cx="8229600" cy="1143000"/>
          </a:xfrm>
        </p:spPr>
        <p:txBody>
          <a:bodyPr/>
          <a:lstStyle/>
          <a:p>
            <a:pPr algn="l"/>
            <a:r>
              <a:rPr lang="en-US" dirty="0">
                <a:solidFill>
                  <a:srgbClr val="FF0000"/>
                </a:solidFill>
                <a:effectLst/>
                <a:latin typeface="Times New Roman" panose="02020603050405020304" pitchFamily="18" charset="0"/>
                <a:ea typeface="Times New Roman" panose="02020603050405020304" pitchFamily="18" charset="0"/>
              </a:rPr>
              <a:t>Recursive Feature Elimination (RFE) </a:t>
            </a:r>
            <a:endParaRPr lang="en-IN" dirty="0">
              <a:solidFill>
                <a:srgbClr val="FF0000"/>
              </a:solidFill>
            </a:endParaRPr>
          </a:p>
        </p:txBody>
      </p:sp>
      <p:sp>
        <p:nvSpPr>
          <p:cNvPr id="3" name="Content Placeholder 2">
            <a:extLst>
              <a:ext uri="{FF2B5EF4-FFF2-40B4-BE49-F238E27FC236}">
                <a16:creationId xmlns:a16="http://schemas.microsoft.com/office/drawing/2014/main" id="{8170575B-9B9A-4EDE-8C25-9CDFE978368C}"/>
              </a:ext>
            </a:extLst>
          </p:cNvPr>
          <p:cNvSpPr>
            <a:spLocks noGrp="1"/>
          </p:cNvSpPr>
          <p:nvPr>
            <p:ph idx="1"/>
          </p:nvPr>
        </p:nvSpPr>
        <p:spPr>
          <a:xfrm>
            <a:off x="451449" y="1166018"/>
            <a:ext cx="8229600" cy="4525963"/>
          </a:xfrm>
        </p:spPr>
        <p:txBody>
          <a:bodyPr/>
          <a:lstStyle/>
          <a:p>
            <a:pPr algn="just"/>
            <a:r>
              <a:rPr lang="en-US" sz="2000" b="0" i="0" u="none" strike="noStrike" baseline="0" dirty="0">
                <a:latin typeface="Times New Roman" panose="02020603050405020304" pitchFamily="18" charset="0"/>
                <a:cs typeface="Times New Roman" panose="02020603050405020304" pitchFamily="18" charset="0"/>
              </a:rPr>
              <a:t>RFE generally removes the least important features and retains the remaining feature.</a:t>
            </a:r>
          </a:p>
          <a:p>
            <a:pPr algn="just"/>
            <a:r>
              <a:rPr lang="en-IN" sz="2000" b="0" i="0" u="none" strike="noStrike" baseline="0" dirty="0">
                <a:latin typeface="Times New Roman" panose="02020603050405020304" pitchFamily="18" charset="0"/>
                <a:cs typeface="Times New Roman" panose="02020603050405020304" pitchFamily="18" charset="0"/>
              </a:rPr>
              <a:t>The most commonly </a:t>
            </a:r>
            <a:r>
              <a:rPr lang="en-US" sz="2000" b="0" i="0" u="none" strike="noStrike" baseline="0" dirty="0">
                <a:latin typeface="Times New Roman" panose="02020603050405020304" pitchFamily="18" charset="0"/>
                <a:cs typeface="Times New Roman" panose="02020603050405020304" pitchFamily="18" charset="0"/>
              </a:rPr>
              <a:t>used technique under wrapper method are Forward selection, Backward elimination, </a:t>
            </a:r>
            <a:r>
              <a:rPr lang="en-IN" sz="2000" b="0" i="0" u="none" strike="noStrike" baseline="0" dirty="0">
                <a:latin typeface="Times New Roman" panose="02020603050405020304" pitchFamily="18" charset="0"/>
                <a:cs typeface="Times New Roman" panose="02020603050405020304" pitchFamily="18" charset="0"/>
              </a:rPr>
              <a:t>Bi-directional elimination.</a:t>
            </a:r>
          </a:p>
          <a:p>
            <a:pPr algn="l"/>
            <a:r>
              <a:rPr lang="en-US" sz="2000" b="0" i="0" u="none" strike="noStrike" baseline="0" dirty="0">
                <a:latin typeface="Times New Roman" panose="02020603050405020304" pitchFamily="18" charset="0"/>
                <a:cs typeface="Times New Roman" panose="02020603050405020304" pitchFamily="18" charset="0"/>
              </a:rPr>
              <a:t>Recursive Feature Elimination (RFE) algorithm select </a:t>
            </a:r>
            <a:r>
              <a:rPr lang="en-IN" sz="2000" b="0" i="0" u="none" strike="noStrike" baseline="0" dirty="0">
                <a:latin typeface="Times New Roman" panose="02020603050405020304" pitchFamily="18" charset="0"/>
                <a:cs typeface="Times New Roman" panose="02020603050405020304" pitchFamily="18" charset="0"/>
              </a:rPr>
              <a:t>features recursively.</a:t>
            </a:r>
          </a:p>
        </p:txBody>
      </p:sp>
      <p:sp>
        <p:nvSpPr>
          <p:cNvPr id="4" name="Date Placeholder 3">
            <a:extLst>
              <a:ext uri="{FF2B5EF4-FFF2-40B4-BE49-F238E27FC236}">
                <a16:creationId xmlns:a16="http://schemas.microsoft.com/office/drawing/2014/main" id="{CAABA2F0-843F-483C-A28B-BABA23850F52}"/>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A7DD6432-F0AB-49B1-9913-BA0711154764}"/>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1C3C9483-FC2C-4B1F-8867-D34A68BF868A}"/>
              </a:ext>
            </a:extLst>
          </p:cNvPr>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2800283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26ABABA-3567-4384-99D0-4FCC250CA30E}"/>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463611B8-79C5-4977-B5B3-40AB7E5163DE}"/>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65DB374D-1E0A-4056-BBD8-B880466A88CC}"/>
              </a:ext>
            </a:extLst>
          </p:cNvPr>
          <p:cNvSpPr>
            <a:spLocks noGrp="1"/>
          </p:cNvSpPr>
          <p:nvPr>
            <p:ph type="sldNum" sz="quarter" idx="12"/>
          </p:nvPr>
        </p:nvSpPr>
        <p:spPr/>
        <p:txBody>
          <a:bodyPr/>
          <a:lstStyle/>
          <a:p>
            <a:fld id="{B6F15528-21DE-4FAA-801E-634DDDAF4B2B}" type="slidenum">
              <a:rPr lang="en-US" smtClean="0"/>
              <a:pPr/>
              <a:t>36</a:t>
            </a:fld>
            <a:endParaRPr lang="en-US"/>
          </a:p>
        </p:txBody>
      </p:sp>
      <p:graphicFrame>
        <p:nvGraphicFramePr>
          <p:cNvPr id="9" name="Table 8">
            <a:extLst>
              <a:ext uri="{FF2B5EF4-FFF2-40B4-BE49-F238E27FC236}">
                <a16:creationId xmlns:a16="http://schemas.microsoft.com/office/drawing/2014/main" id="{51045AFD-7FAD-4F13-AD88-25DA97F6A225}"/>
              </a:ext>
            </a:extLst>
          </p:cNvPr>
          <p:cNvGraphicFramePr>
            <a:graphicFrameLocks noGrp="1"/>
          </p:cNvGraphicFramePr>
          <p:nvPr>
            <p:extLst>
              <p:ext uri="{D42A27DB-BD31-4B8C-83A1-F6EECF244321}">
                <p14:modId xmlns:p14="http://schemas.microsoft.com/office/powerpoint/2010/main" val="1268487826"/>
              </p:ext>
            </p:extLst>
          </p:nvPr>
        </p:nvGraphicFramePr>
        <p:xfrm>
          <a:off x="457200" y="914400"/>
          <a:ext cx="4813935" cy="4106545"/>
        </p:xfrm>
        <a:graphic>
          <a:graphicData uri="http://schemas.openxmlformats.org/drawingml/2006/table">
            <a:tbl>
              <a:tblPr firstRow="1" firstCol="1" lastRow="1" lastCol="1" bandRow="1" bandCol="1">
                <a:tableStyleId>{5940675A-B579-460E-94D1-54222C63F5DA}</a:tableStyleId>
              </a:tblPr>
              <a:tblGrid>
                <a:gridCol w="884655">
                  <a:extLst>
                    <a:ext uri="{9D8B030D-6E8A-4147-A177-3AD203B41FA5}">
                      <a16:colId xmlns:a16="http://schemas.microsoft.com/office/drawing/2014/main" val="1837221871"/>
                    </a:ext>
                  </a:extLst>
                </a:gridCol>
                <a:gridCol w="719990">
                  <a:extLst>
                    <a:ext uri="{9D8B030D-6E8A-4147-A177-3AD203B41FA5}">
                      <a16:colId xmlns:a16="http://schemas.microsoft.com/office/drawing/2014/main" val="1179302341"/>
                    </a:ext>
                  </a:extLst>
                </a:gridCol>
                <a:gridCol w="884655">
                  <a:extLst>
                    <a:ext uri="{9D8B030D-6E8A-4147-A177-3AD203B41FA5}">
                      <a16:colId xmlns:a16="http://schemas.microsoft.com/office/drawing/2014/main" val="788959536"/>
                    </a:ext>
                  </a:extLst>
                </a:gridCol>
                <a:gridCol w="719990">
                  <a:extLst>
                    <a:ext uri="{9D8B030D-6E8A-4147-A177-3AD203B41FA5}">
                      <a16:colId xmlns:a16="http://schemas.microsoft.com/office/drawing/2014/main" val="922415848"/>
                    </a:ext>
                  </a:extLst>
                </a:gridCol>
                <a:gridCol w="884655">
                  <a:extLst>
                    <a:ext uri="{9D8B030D-6E8A-4147-A177-3AD203B41FA5}">
                      <a16:colId xmlns:a16="http://schemas.microsoft.com/office/drawing/2014/main" val="765588703"/>
                    </a:ext>
                  </a:extLst>
                </a:gridCol>
                <a:gridCol w="719990">
                  <a:extLst>
                    <a:ext uri="{9D8B030D-6E8A-4147-A177-3AD203B41FA5}">
                      <a16:colId xmlns:a16="http://schemas.microsoft.com/office/drawing/2014/main" val="1550301902"/>
                    </a:ext>
                  </a:extLst>
                </a:gridCol>
              </a:tblGrid>
              <a:tr h="548640">
                <a:tc>
                  <a:txBody>
                    <a:bodyPr/>
                    <a:lstStyle/>
                    <a:p>
                      <a:pPr marL="77470">
                        <a:spcBef>
                          <a:spcPts val="160"/>
                        </a:spcBef>
                      </a:pPr>
                      <a:r>
                        <a:rPr lang="en-US" sz="1300" b="1" dirty="0">
                          <a:effectLst/>
                          <a:latin typeface="Times New Roman" panose="02020603050405020304" pitchFamily="18" charset="0"/>
                          <a:cs typeface="Times New Roman" panose="02020603050405020304" pitchFamily="18" charset="0"/>
                        </a:rPr>
                        <a:t>Coefficient</a:t>
                      </a:r>
                      <a:endParaRPr lang="en-IN" sz="1300" b="1" dirty="0">
                        <a:effectLst/>
                        <a:latin typeface="Times New Roman" panose="02020603050405020304" pitchFamily="18" charset="0"/>
                        <a:cs typeface="Times New Roman" panose="02020603050405020304" pitchFamily="18" charset="0"/>
                      </a:endParaRPr>
                    </a:p>
                    <a:p>
                      <a:pPr marL="77470">
                        <a:spcBef>
                          <a:spcPts val="475"/>
                        </a:spcBef>
                      </a:pPr>
                      <a:r>
                        <a:rPr lang="en-US" sz="1300" b="1" dirty="0">
                          <a:effectLst/>
                          <a:latin typeface="Times New Roman" panose="02020603050405020304" pitchFamily="18" charset="0"/>
                          <a:cs typeface="Times New Roman" panose="02020603050405020304" pitchFamily="18" charset="0"/>
                        </a:rPr>
                        <a:t>Number</a:t>
                      </a:r>
                      <a:endParaRPr lang="en-IN" sz="1300" b="1"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160"/>
                        </a:spcBef>
                      </a:pPr>
                      <a:r>
                        <a:rPr lang="en-US" sz="1300" b="1">
                          <a:effectLst/>
                          <a:latin typeface="Times New Roman" panose="02020603050405020304" pitchFamily="18" charset="0"/>
                          <a:cs typeface="Times New Roman" panose="02020603050405020304" pitchFamily="18" charset="0"/>
                        </a:rPr>
                        <a:t>Selected</a:t>
                      </a:r>
                      <a:endParaRPr lang="en-IN" sz="1300" b="1">
                        <a:effectLst/>
                        <a:latin typeface="Times New Roman" panose="02020603050405020304" pitchFamily="18" charset="0"/>
                        <a:cs typeface="Times New Roman" panose="02020603050405020304" pitchFamily="18" charset="0"/>
                      </a:endParaRPr>
                    </a:p>
                    <a:p>
                      <a:pPr marL="77470">
                        <a:spcBef>
                          <a:spcPts val="475"/>
                        </a:spcBef>
                      </a:pPr>
                      <a:r>
                        <a:rPr lang="en-US" sz="1300" b="1" spc="-15">
                          <a:effectLst/>
                          <a:latin typeface="Times New Roman" panose="02020603050405020304" pitchFamily="18" charset="0"/>
                          <a:cs typeface="Times New Roman" panose="02020603050405020304" pitchFamily="18" charset="0"/>
                        </a:rPr>
                        <a:t>Feature</a:t>
                      </a:r>
                      <a:endParaRPr lang="en-IN" sz="1300" b="1">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160"/>
                        </a:spcBef>
                        <a:spcAft>
                          <a:spcPts val="0"/>
                        </a:spcAft>
                      </a:pPr>
                      <a:r>
                        <a:rPr lang="en-US" sz="1300" b="1">
                          <a:effectLst/>
                          <a:latin typeface="Times New Roman" panose="02020603050405020304" pitchFamily="18" charset="0"/>
                          <a:cs typeface="Times New Roman" panose="02020603050405020304" pitchFamily="18" charset="0"/>
                        </a:rPr>
                        <a:t>Coefficient</a:t>
                      </a:r>
                      <a:endParaRPr lang="en-IN" sz="1300" b="1">
                        <a:effectLst/>
                        <a:latin typeface="Times New Roman" panose="02020603050405020304" pitchFamily="18" charset="0"/>
                        <a:cs typeface="Times New Roman" panose="02020603050405020304" pitchFamily="18" charset="0"/>
                      </a:endParaRPr>
                    </a:p>
                    <a:p>
                      <a:pPr marL="76835">
                        <a:spcBef>
                          <a:spcPts val="475"/>
                        </a:spcBef>
                        <a:spcAft>
                          <a:spcPts val="0"/>
                        </a:spcAft>
                      </a:pPr>
                      <a:r>
                        <a:rPr lang="en-US" sz="1300" b="1">
                          <a:effectLst/>
                          <a:latin typeface="Times New Roman" panose="02020603050405020304" pitchFamily="18" charset="0"/>
                          <a:cs typeface="Times New Roman" panose="02020603050405020304" pitchFamily="18" charset="0"/>
                        </a:rPr>
                        <a:t>Number</a:t>
                      </a:r>
                      <a:endParaRPr lang="en-IN" sz="1300" b="1">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160"/>
                        </a:spcBef>
                        <a:spcAft>
                          <a:spcPts val="0"/>
                        </a:spcAft>
                      </a:pPr>
                      <a:r>
                        <a:rPr lang="en-US" sz="1300" b="1">
                          <a:effectLst/>
                          <a:latin typeface="Times New Roman" panose="02020603050405020304" pitchFamily="18" charset="0"/>
                          <a:cs typeface="Times New Roman" panose="02020603050405020304" pitchFamily="18" charset="0"/>
                        </a:rPr>
                        <a:t>Selected</a:t>
                      </a:r>
                      <a:endParaRPr lang="en-IN" sz="1300" b="1">
                        <a:effectLst/>
                        <a:latin typeface="Times New Roman" panose="02020603050405020304" pitchFamily="18" charset="0"/>
                        <a:cs typeface="Times New Roman" panose="02020603050405020304" pitchFamily="18" charset="0"/>
                      </a:endParaRPr>
                    </a:p>
                    <a:p>
                      <a:pPr marL="76835">
                        <a:spcBef>
                          <a:spcPts val="475"/>
                        </a:spcBef>
                        <a:spcAft>
                          <a:spcPts val="0"/>
                        </a:spcAft>
                      </a:pPr>
                      <a:r>
                        <a:rPr lang="en-US" sz="1300" b="1" spc="-15">
                          <a:effectLst/>
                          <a:latin typeface="Times New Roman" panose="02020603050405020304" pitchFamily="18" charset="0"/>
                          <a:cs typeface="Times New Roman" panose="02020603050405020304" pitchFamily="18" charset="0"/>
                        </a:rPr>
                        <a:t>Feature</a:t>
                      </a:r>
                      <a:endParaRPr lang="en-IN" sz="1300" b="1">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160"/>
                        </a:spcBef>
                        <a:spcAft>
                          <a:spcPts val="0"/>
                        </a:spcAft>
                      </a:pPr>
                      <a:r>
                        <a:rPr lang="en-US" sz="1300" b="1">
                          <a:effectLst/>
                          <a:latin typeface="Times New Roman" panose="02020603050405020304" pitchFamily="18" charset="0"/>
                          <a:cs typeface="Times New Roman" panose="02020603050405020304" pitchFamily="18" charset="0"/>
                        </a:rPr>
                        <a:t>Coefficient</a:t>
                      </a:r>
                      <a:endParaRPr lang="en-IN" sz="1300" b="1">
                        <a:effectLst/>
                        <a:latin typeface="Times New Roman" panose="02020603050405020304" pitchFamily="18" charset="0"/>
                        <a:cs typeface="Times New Roman" panose="02020603050405020304" pitchFamily="18" charset="0"/>
                      </a:endParaRPr>
                    </a:p>
                    <a:p>
                      <a:pPr marL="76200">
                        <a:spcBef>
                          <a:spcPts val="475"/>
                        </a:spcBef>
                        <a:spcAft>
                          <a:spcPts val="0"/>
                        </a:spcAft>
                      </a:pPr>
                      <a:r>
                        <a:rPr lang="en-US" sz="1300" b="1">
                          <a:effectLst/>
                          <a:latin typeface="Times New Roman" panose="02020603050405020304" pitchFamily="18" charset="0"/>
                          <a:cs typeface="Times New Roman" panose="02020603050405020304" pitchFamily="18" charset="0"/>
                        </a:rPr>
                        <a:t>Number</a:t>
                      </a:r>
                      <a:endParaRPr lang="en-IN" sz="1300" b="1">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160"/>
                        </a:spcBef>
                        <a:spcAft>
                          <a:spcPts val="0"/>
                        </a:spcAft>
                      </a:pPr>
                      <a:r>
                        <a:rPr lang="en-US" sz="1300" b="1" dirty="0">
                          <a:effectLst/>
                          <a:latin typeface="Times New Roman" panose="02020603050405020304" pitchFamily="18" charset="0"/>
                          <a:cs typeface="Times New Roman" panose="02020603050405020304" pitchFamily="18" charset="0"/>
                        </a:rPr>
                        <a:t>Selected</a:t>
                      </a:r>
                      <a:endParaRPr lang="en-IN" sz="1300" b="1" dirty="0">
                        <a:effectLst/>
                        <a:latin typeface="Times New Roman" panose="02020603050405020304" pitchFamily="18" charset="0"/>
                        <a:cs typeface="Times New Roman" panose="02020603050405020304" pitchFamily="18" charset="0"/>
                      </a:endParaRPr>
                    </a:p>
                    <a:p>
                      <a:pPr marL="76200">
                        <a:spcBef>
                          <a:spcPts val="475"/>
                        </a:spcBef>
                        <a:spcAft>
                          <a:spcPts val="0"/>
                        </a:spcAft>
                      </a:pPr>
                      <a:r>
                        <a:rPr lang="en-US" sz="1300" b="1" spc="-15" dirty="0">
                          <a:effectLst/>
                          <a:latin typeface="Times New Roman" panose="02020603050405020304" pitchFamily="18" charset="0"/>
                          <a:cs typeface="Times New Roman" panose="02020603050405020304" pitchFamily="18" charset="0"/>
                        </a:rPr>
                        <a:t>Feature</a:t>
                      </a:r>
                      <a:endParaRPr lang="en-IN" sz="1300" b="1" dirty="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091252749"/>
                  </a:ext>
                </a:extLst>
              </a:tr>
              <a:tr h="273685">
                <a:tc>
                  <a:txBody>
                    <a:bodyPr/>
                    <a:lstStyle/>
                    <a:p>
                      <a:pPr marL="77470">
                        <a:spcBef>
                          <a:spcPts val="160"/>
                        </a:spcBef>
                      </a:pPr>
                      <a:r>
                        <a:rPr lang="en-US" sz="1200">
                          <a:effectLst/>
                        </a:rPr>
                        <a:t>1</a:t>
                      </a:r>
                      <a:endParaRPr lang="en-IN" sz="1100">
                        <a:effectLst/>
                        <a:latin typeface="LM Roman 8"/>
                        <a:ea typeface="LM Roman 8"/>
                        <a:cs typeface="LM Roman 8"/>
                      </a:endParaRPr>
                    </a:p>
                  </a:txBody>
                  <a:tcPr marL="0" marR="0" marT="0" marB="0"/>
                </a:tc>
                <a:tc>
                  <a:txBody>
                    <a:bodyPr/>
                    <a:lstStyle/>
                    <a:p>
                      <a:pPr marL="77470">
                        <a:spcBef>
                          <a:spcPts val="160"/>
                        </a:spcBef>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835">
                        <a:spcBef>
                          <a:spcPts val="160"/>
                        </a:spcBef>
                        <a:spcAft>
                          <a:spcPts val="0"/>
                        </a:spcAft>
                      </a:pPr>
                      <a:r>
                        <a:rPr lang="en-US" sz="1200">
                          <a:effectLst/>
                        </a:rPr>
                        <a:t>14</a:t>
                      </a:r>
                      <a:endParaRPr lang="en-IN" sz="1100">
                        <a:effectLst/>
                        <a:latin typeface="LM Roman 8"/>
                        <a:ea typeface="LM Roman 8"/>
                        <a:cs typeface="LM Roman 8"/>
                      </a:endParaRPr>
                    </a:p>
                  </a:txBody>
                  <a:tcPr marL="0" marR="0" marT="0" marB="0"/>
                </a:tc>
                <a:tc>
                  <a:txBody>
                    <a:bodyPr/>
                    <a:lstStyle/>
                    <a:p>
                      <a:pPr marL="76835">
                        <a:spcBef>
                          <a:spcPts val="160"/>
                        </a:spcBef>
                        <a:spcAft>
                          <a:spcPts val="0"/>
                        </a:spcAft>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200">
                        <a:spcBef>
                          <a:spcPts val="160"/>
                        </a:spcBef>
                        <a:spcAft>
                          <a:spcPts val="0"/>
                        </a:spcAft>
                      </a:pPr>
                      <a:r>
                        <a:rPr lang="en-US" sz="1200">
                          <a:effectLst/>
                        </a:rPr>
                        <a:t>27</a:t>
                      </a:r>
                      <a:endParaRPr lang="en-IN" sz="1100">
                        <a:effectLst/>
                        <a:latin typeface="LM Roman 8"/>
                        <a:ea typeface="LM Roman 8"/>
                        <a:cs typeface="LM Roman 8"/>
                      </a:endParaRPr>
                    </a:p>
                  </a:txBody>
                  <a:tcPr marL="0" marR="0" marT="0" marB="0"/>
                </a:tc>
                <a:tc>
                  <a:txBody>
                    <a:bodyPr/>
                    <a:lstStyle/>
                    <a:p>
                      <a:pPr marL="76200">
                        <a:spcBef>
                          <a:spcPts val="160"/>
                        </a:spcBef>
                        <a:spcAft>
                          <a:spcPts val="0"/>
                        </a:spcAft>
                      </a:pPr>
                      <a:r>
                        <a:rPr lang="en-US" sz="1200" dirty="0">
                          <a:effectLst/>
                          <a:highlight>
                            <a:srgbClr val="FF0000"/>
                          </a:highlight>
                        </a:rPr>
                        <a:t>False</a:t>
                      </a:r>
                      <a:endParaRPr lang="en-IN" sz="1100" dirty="0">
                        <a:effectLst/>
                        <a:highlight>
                          <a:srgbClr val="FF0000"/>
                        </a:highlight>
                        <a:latin typeface="LM Roman 8"/>
                        <a:ea typeface="LM Roman 8"/>
                        <a:cs typeface="LM Roman 8"/>
                      </a:endParaRPr>
                    </a:p>
                  </a:txBody>
                  <a:tcPr marL="0" marR="0" marT="0" marB="0"/>
                </a:tc>
                <a:extLst>
                  <a:ext uri="{0D108BD9-81ED-4DB2-BD59-A6C34878D82A}">
                    <a16:rowId xmlns:a16="http://schemas.microsoft.com/office/drawing/2014/main" val="4140098446"/>
                  </a:ext>
                </a:extLst>
              </a:tr>
              <a:tr h="273685">
                <a:tc>
                  <a:txBody>
                    <a:bodyPr/>
                    <a:lstStyle/>
                    <a:p>
                      <a:pPr marL="77470">
                        <a:spcBef>
                          <a:spcPts val="160"/>
                        </a:spcBef>
                      </a:pPr>
                      <a:r>
                        <a:rPr lang="en-US" sz="1200">
                          <a:effectLst/>
                        </a:rPr>
                        <a:t>2</a:t>
                      </a:r>
                      <a:endParaRPr lang="en-IN" sz="1100">
                        <a:effectLst/>
                        <a:latin typeface="LM Roman 8"/>
                        <a:ea typeface="LM Roman 8"/>
                        <a:cs typeface="LM Roman 8"/>
                      </a:endParaRPr>
                    </a:p>
                  </a:txBody>
                  <a:tcPr marL="0" marR="0" marT="0" marB="0"/>
                </a:tc>
                <a:tc>
                  <a:txBody>
                    <a:bodyPr/>
                    <a:lstStyle/>
                    <a:p>
                      <a:pPr marL="77470">
                        <a:spcBef>
                          <a:spcPts val="160"/>
                        </a:spcBef>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835">
                        <a:spcBef>
                          <a:spcPts val="160"/>
                        </a:spcBef>
                        <a:spcAft>
                          <a:spcPts val="0"/>
                        </a:spcAft>
                      </a:pPr>
                      <a:r>
                        <a:rPr lang="en-US" sz="1200">
                          <a:effectLst/>
                        </a:rPr>
                        <a:t>15</a:t>
                      </a:r>
                      <a:endParaRPr lang="en-IN" sz="1100">
                        <a:effectLst/>
                        <a:latin typeface="LM Roman 8"/>
                        <a:ea typeface="LM Roman 8"/>
                        <a:cs typeface="LM Roman 8"/>
                      </a:endParaRPr>
                    </a:p>
                  </a:txBody>
                  <a:tcPr marL="0" marR="0" marT="0" marB="0"/>
                </a:tc>
                <a:tc>
                  <a:txBody>
                    <a:bodyPr/>
                    <a:lstStyle/>
                    <a:p>
                      <a:pPr marL="76835">
                        <a:spcBef>
                          <a:spcPts val="160"/>
                        </a:spcBef>
                        <a:spcAft>
                          <a:spcPts val="0"/>
                        </a:spcAft>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200">
                        <a:spcBef>
                          <a:spcPts val="160"/>
                        </a:spcBef>
                        <a:spcAft>
                          <a:spcPts val="0"/>
                        </a:spcAft>
                      </a:pPr>
                      <a:r>
                        <a:rPr lang="en-US" sz="1200">
                          <a:effectLst/>
                        </a:rPr>
                        <a:t>28</a:t>
                      </a:r>
                      <a:endParaRPr lang="en-IN" sz="1100">
                        <a:effectLst/>
                        <a:latin typeface="LM Roman 8"/>
                        <a:ea typeface="LM Roman 8"/>
                        <a:cs typeface="LM Roman 8"/>
                      </a:endParaRPr>
                    </a:p>
                  </a:txBody>
                  <a:tcPr marL="0" marR="0" marT="0" marB="0"/>
                </a:tc>
                <a:tc>
                  <a:txBody>
                    <a:bodyPr/>
                    <a:lstStyle/>
                    <a:p>
                      <a:pPr marL="76200">
                        <a:spcBef>
                          <a:spcPts val="160"/>
                        </a:spcBef>
                        <a:spcAft>
                          <a:spcPts val="0"/>
                        </a:spcAft>
                      </a:pPr>
                      <a:r>
                        <a:rPr lang="en-US" sz="1200" dirty="0">
                          <a:effectLst/>
                          <a:highlight>
                            <a:srgbClr val="FF0000"/>
                          </a:highlight>
                        </a:rPr>
                        <a:t>False</a:t>
                      </a:r>
                      <a:endParaRPr lang="en-IN" sz="1100" dirty="0">
                        <a:effectLst/>
                        <a:highlight>
                          <a:srgbClr val="FF0000"/>
                        </a:highlight>
                        <a:latin typeface="LM Roman 8"/>
                        <a:ea typeface="LM Roman 8"/>
                        <a:cs typeface="LM Roman 8"/>
                      </a:endParaRPr>
                    </a:p>
                  </a:txBody>
                  <a:tcPr marL="0" marR="0" marT="0" marB="0"/>
                </a:tc>
                <a:extLst>
                  <a:ext uri="{0D108BD9-81ED-4DB2-BD59-A6C34878D82A}">
                    <a16:rowId xmlns:a16="http://schemas.microsoft.com/office/drawing/2014/main" val="2208601788"/>
                  </a:ext>
                </a:extLst>
              </a:tr>
              <a:tr h="273685">
                <a:tc>
                  <a:txBody>
                    <a:bodyPr/>
                    <a:lstStyle/>
                    <a:p>
                      <a:pPr marL="77470">
                        <a:spcBef>
                          <a:spcPts val="160"/>
                        </a:spcBef>
                      </a:pPr>
                      <a:r>
                        <a:rPr lang="en-US" sz="1200">
                          <a:effectLst/>
                        </a:rPr>
                        <a:t>3</a:t>
                      </a:r>
                      <a:endParaRPr lang="en-IN" sz="1100">
                        <a:effectLst/>
                        <a:latin typeface="LM Roman 8"/>
                        <a:ea typeface="LM Roman 8"/>
                        <a:cs typeface="LM Roman 8"/>
                      </a:endParaRPr>
                    </a:p>
                  </a:txBody>
                  <a:tcPr marL="0" marR="0" marT="0" marB="0"/>
                </a:tc>
                <a:tc>
                  <a:txBody>
                    <a:bodyPr/>
                    <a:lstStyle/>
                    <a:p>
                      <a:pPr marL="77470">
                        <a:spcBef>
                          <a:spcPts val="160"/>
                        </a:spcBef>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835">
                        <a:spcBef>
                          <a:spcPts val="160"/>
                        </a:spcBef>
                        <a:spcAft>
                          <a:spcPts val="0"/>
                        </a:spcAft>
                      </a:pPr>
                      <a:r>
                        <a:rPr lang="en-US" sz="1200">
                          <a:effectLst/>
                        </a:rPr>
                        <a:t>16</a:t>
                      </a:r>
                      <a:endParaRPr lang="en-IN" sz="1100">
                        <a:effectLst/>
                        <a:latin typeface="LM Roman 8"/>
                        <a:ea typeface="LM Roman 8"/>
                        <a:cs typeface="LM Roman 8"/>
                      </a:endParaRPr>
                    </a:p>
                  </a:txBody>
                  <a:tcPr marL="0" marR="0" marT="0" marB="0"/>
                </a:tc>
                <a:tc>
                  <a:txBody>
                    <a:bodyPr/>
                    <a:lstStyle/>
                    <a:p>
                      <a:pPr marL="76835">
                        <a:spcBef>
                          <a:spcPts val="160"/>
                        </a:spcBef>
                        <a:spcAft>
                          <a:spcPts val="0"/>
                        </a:spcAft>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200">
                        <a:spcBef>
                          <a:spcPts val="160"/>
                        </a:spcBef>
                        <a:spcAft>
                          <a:spcPts val="0"/>
                        </a:spcAft>
                      </a:pPr>
                      <a:r>
                        <a:rPr lang="en-US" sz="1200">
                          <a:effectLst/>
                        </a:rPr>
                        <a:t>29</a:t>
                      </a:r>
                      <a:endParaRPr lang="en-IN" sz="1100">
                        <a:effectLst/>
                        <a:latin typeface="LM Roman 8"/>
                        <a:ea typeface="LM Roman 8"/>
                        <a:cs typeface="LM Roman 8"/>
                      </a:endParaRPr>
                    </a:p>
                  </a:txBody>
                  <a:tcPr marL="0" marR="0" marT="0" marB="0"/>
                </a:tc>
                <a:tc>
                  <a:txBody>
                    <a:bodyPr/>
                    <a:lstStyle/>
                    <a:p>
                      <a:pPr marL="76200">
                        <a:spcBef>
                          <a:spcPts val="160"/>
                        </a:spcBef>
                        <a:spcAft>
                          <a:spcPts val="0"/>
                        </a:spcAft>
                      </a:pPr>
                      <a:r>
                        <a:rPr lang="en-US" sz="1200" dirty="0">
                          <a:effectLst/>
                          <a:highlight>
                            <a:srgbClr val="FF0000"/>
                          </a:highlight>
                        </a:rPr>
                        <a:t>False</a:t>
                      </a:r>
                      <a:endParaRPr lang="en-IN" sz="1100" dirty="0">
                        <a:effectLst/>
                        <a:highlight>
                          <a:srgbClr val="FF0000"/>
                        </a:highlight>
                        <a:latin typeface="LM Roman 8"/>
                        <a:ea typeface="LM Roman 8"/>
                        <a:cs typeface="LM Roman 8"/>
                      </a:endParaRPr>
                    </a:p>
                  </a:txBody>
                  <a:tcPr marL="0" marR="0" marT="0" marB="0"/>
                </a:tc>
                <a:extLst>
                  <a:ext uri="{0D108BD9-81ED-4DB2-BD59-A6C34878D82A}">
                    <a16:rowId xmlns:a16="http://schemas.microsoft.com/office/drawing/2014/main" val="2403229029"/>
                  </a:ext>
                </a:extLst>
              </a:tr>
              <a:tr h="273685">
                <a:tc>
                  <a:txBody>
                    <a:bodyPr/>
                    <a:lstStyle/>
                    <a:p>
                      <a:pPr marL="77470">
                        <a:spcBef>
                          <a:spcPts val="160"/>
                        </a:spcBef>
                      </a:pPr>
                      <a:r>
                        <a:rPr lang="en-US" sz="1200">
                          <a:effectLst/>
                        </a:rPr>
                        <a:t>4</a:t>
                      </a:r>
                      <a:endParaRPr lang="en-IN" sz="1100">
                        <a:effectLst/>
                        <a:latin typeface="LM Roman 8"/>
                        <a:ea typeface="LM Roman 8"/>
                        <a:cs typeface="LM Roman 8"/>
                      </a:endParaRPr>
                    </a:p>
                  </a:txBody>
                  <a:tcPr marL="0" marR="0" marT="0" marB="0"/>
                </a:tc>
                <a:tc>
                  <a:txBody>
                    <a:bodyPr/>
                    <a:lstStyle/>
                    <a:p>
                      <a:pPr marL="77470">
                        <a:spcBef>
                          <a:spcPts val="160"/>
                        </a:spcBef>
                      </a:pPr>
                      <a:r>
                        <a:rPr lang="en-US" sz="1200" dirty="0">
                          <a:effectLst/>
                          <a:highlight>
                            <a:srgbClr val="FF0000"/>
                          </a:highlight>
                        </a:rPr>
                        <a:t>False</a:t>
                      </a:r>
                      <a:endParaRPr lang="en-IN" sz="1100" dirty="0">
                        <a:effectLst/>
                        <a:highlight>
                          <a:srgbClr val="FF0000"/>
                        </a:highlight>
                        <a:latin typeface="LM Roman 8"/>
                        <a:ea typeface="LM Roman 8"/>
                        <a:cs typeface="LM Roman 8"/>
                      </a:endParaRPr>
                    </a:p>
                  </a:txBody>
                  <a:tcPr marL="0" marR="0" marT="0" marB="0"/>
                </a:tc>
                <a:tc>
                  <a:txBody>
                    <a:bodyPr/>
                    <a:lstStyle/>
                    <a:p>
                      <a:pPr marL="76835">
                        <a:spcBef>
                          <a:spcPts val="160"/>
                        </a:spcBef>
                        <a:spcAft>
                          <a:spcPts val="0"/>
                        </a:spcAft>
                      </a:pPr>
                      <a:r>
                        <a:rPr lang="en-US" sz="1200">
                          <a:effectLst/>
                        </a:rPr>
                        <a:t>17</a:t>
                      </a:r>
                      <a:endParaRPr lang="en-IN" sz="1100">
                        <a:effectLst/>
                        <a:latin typeface="LM Roman 8"/>
                        <a:ea typeface="LM Roman 8"/>
                        <a:cs typeface="LM Roman 8"/>
                      </a:endParaRPr>
                    </a:p>
                  </a:txBody>
                  <a:tcPr marL="0" marR="0" marT="0" marB="0"/>
                </a:tc>
                <a:tc>
                  <a:txBody>
                    <a:bodyPr/>
                    <a:lstStyle/>
                    <a:p>
                      <a:pPr marL="76835">
                        <a:spcBef>
                          <a:spcPts val="160"/>
                        </a:spcBef>
                        <a:spcAft>
                          <a:spcPts val="0"/>
                        </a:spcAft>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200">
                        <a:spcBef>
                          <a:spcPts val="160"/>
                        </a:spcBef>
                        <a:spcAft>
                          <a:spcPts val="0"/>
                        </a:spcAft>
                      </a:pPr>
                      <a:r>
                        <a:rPr lang="en-US" sz="1200">
                          <a:effectLst/>
                        </a:rPr>
                        <a:t>30</a:t>
                      </a:r>
                      <a:endParaRPr lang="en-IN" sz="1100">
                        <a:effectLst/>
                        <a:latin typeface="LM Roman 8"/>
                        <a:ea typeface="LM Roman 8"/>
                        <a:cs typeface="LM Roman 8"/>
                      </a:endParaRPr>
                    </a:p>
                  </a:txBody>
                  <a:tcPr marL="0" marR="0" marT="0" marB="0"/>
                </a:tc>
                <a:tc>
                  <a:txBody>
                    <a:bodyPr/>
                    <a:lstStyle/>
                    <a:p>
                      <a:pPr marL="76200">
                        <a:spcBef>
                          <a:spcPts val="160"/>
                        </a:spcBef>
                        <a:spcAft>
                          <a:spcPts val="0"/>
                        </a:spcAft>
                      </a:pPr>
                      <a:r>
                        <a:rPr lang="en-US" sz="1200" dirty="0">
                          <a:effectLst/>
                          <a:highlight>
                            <a:srgbClr val="FF0000"/>
                          </a:highlight>
                        </a:rPr>
                        <a:t>False</a:t>
                      </a:r>
                      <a:endParaRPr lang="en-IN" sz="1100" dirty="0">
                        <a:effectLst/>
                        <a:highlight>
                          <a:srgbClr val="FF0000"/>
                        </a:highlight>
                        <a:latin typeface="LM Roman 8"/>
                        <a:ea typeface="LM Roman 8"/>
                        <a:cs typeface="LM Roman 8"/>
                      </a:endParaRPr>
                    </a:p>
                  </a:txBody>
                  <a:tcPr marL="0" marR="0" marT="0" marB="0"/>
                </a:tc>
                <a:extLst>
                  <a:ext uri="{0D108BD9-81ED-4DB2-BD59-A6C34878D82A}">
                    <a16:rowId xmlns:a16="http://schemas.microsoft.com/office/drawing/2014/main" val="620520587"/>
                  </a:ext>
                </a:extLst>
              </a:tr>
              <a:tr h="273685">
                <a:tc>
                  <a:txBody>
                    <a:bodyPr/>
                    <a:lstStyle/>
                    <a:p>
                      <a:pPr marL="77470">
                        <a:spcBef>
                          <a:spcPts val="160"/>
                        </a:spcBef>
                      </a:pPr>
                      <a:r>
                        <a:rPr lang="en-US" sz="1200">
                          <a:effectLst/>
                        </a:rPr>
                        <a:t>5</a:t>
                      </a:r>
                      <a:endParaRPr lang="en-IN" sz="1100">
                        <a:effectLst/>
                        <a:latin typeface="LM Roman 8"/>
                        <a:ea typeface="LM Roman 8"/>
                        <a:cs typeface="LM Roman 8"/>
                      </a:endParaRPr>
                    </a:p>
                  </a:txBody>
                  <a:tcPr marL="0" marR="0" marT="0" marB="0"/>
                </a:tc>
                <a:tc>
                  <a:txBody>
                    <a:bodyPr/>
                    <a:lstStyle/>
                    <a:p>
                      <a:pPr marL="77470">
                        <a:spcBef>
                          <a:spcPts val="160"/>
                        </a:spcBef>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835">
                        <a:spcBef>
                          <a:spcPts val="160"/>
                        </a:spcBef>
                        <a:spcAft>
                          <a:spcPts val="0"/>
                        </a:spcAft>
                      </a:pPr>
                      <a:r>
                        <a:rPr lang="en-US" sz="1200" dirty="0">
                          <a:effectLst/>
                        </a:rPr>
                        <a:t>18</a:t>
                      </a:r>
                      <a:endParaRPr lang="en-IN" sz="1100" dirty="0">
                        <a:effectLst/>
                        <a:latin typeface="LM Roman 8"/>
                        <a:ea typeface="LM Roman 8"/>
                        <a:cs typeface="LM Roman 8"/>
                      </a:endParaRPr>
                    </a:p>
                  </a:txBody>
                  <a:tcPr marL="0" marR="0" marT="0" marB="0"/>
                </a:tc>
                <a:tc>
                  <a:txBody>
                    <a:bodyPr/>
                    <a:lstStyle/>
                    <a:p>
                      <a:pPr marL="76835">
                        <a:spcBef>
                          <a:spcPts val="160"/>
                        </a:spcBef>
                        <a:spcAft>
                          <a:spcPts val="0"/>
                        </a:spcAft>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200">
                        <a:spcBef>
                          <a:spcPts val="160"/>
                        </a:spcBef>
                        <a:spcAft>
                          <a:spcPts val="0"/>
                        </a:spcAft>
                      </a:pPr>
                      <a:r>
                        <a:rPr lang="en-US" sz="1200">
                          <a:effectLst/>
                        </a:rPr>
                        <a:t>31</a:t>
                      </a:r>
                      <a:endParaRPr lang="en-IN" sz="1100">
                        <a:effectLst/>
                        <a:latin typeface="LM Roman 8"/>
                        <a:ea typeface="LM Roman 8"/>
                        <a:cs typeface="LM Roman 8"/>
                      </a:endParaRPr>
                    </a:p>
                  </a:txBody>
                  <a:tcPr marL="0" marR="0" marT="0" marB="0"/>
                </a:tc>
                <a:tc>
                  <a:txBody>
                    <a:bodyPr/>
                    <a:lstStyle/>
                    <a:p>
                      <a:pPr marL="76200">
                        <a:spcBef>
                          <a:spcPts val="160"/>
                        </a:spcBef>
                        <a:spcAft>
                          <a:spcPts val="0"/>
                        </a:spcAft>
                      </a:pPr>
                      <a:r>
                        <a:rPr lang="en-US" sz="1200" dirty="0">
                          <a:effectLst/>
                          <a:highlight>
                            <a:srgbClr val="FF0000"/>
                          </a:highlight>
                        </a:rPr>
                        <a:t>False</a:t>
                      </a:r>
                      <a:endParaRPr lang="en-IN" sz="1100" dirty="0">
                        <a:effectLst/>
                        <a:highlight>
                          <a:srgbClr val="FF0000"/>
                        </a:highlight>
                        <a:latin typeface="LM Roman 8"/>
                        <a:ea typeface="LM Roman 8"/>
                        <a:cs typeface="LM Roman 8"/>
                      </a:endParaRPr>
                    </a:p>
                  </a:txBody>
                  <a:tcPr marL="0" marR="0" marT="0" marB="0"/>
                </a:tc>
                <a:extLst>
                  <a:ext uri="{0D108BD9-81ED-4DB2-BD59-A6C34878D82A}">
                    <a16:rowId xmlns:a16="http://schemas.microsoft.com/office/drawing/2014/main" val="983703049"/>
                  </a:ext>
                </a:extLst>
              </a:tr>
              <a:tr h="273685">
                <a:tc>
                  <a:txBody>
                    <a:bodyPr/>
                    <a:lstStyle/>
                    <a:p>
                      <a:pPr marL="77470">
                        <a:spcBef>
                          <a:spcPts val="160"/>
                        </a:spcBef>
                      </a:pPr>
                      <a:r>
                        <a:rPr lang="en-US" sz="1200">
                          <a:effectLst/>
                        </a:rPr>
                        <a:t>6</a:t>
                      </a:r>
                      <a:endParaRPr lang="en-IN" sz="1100">
                        <a:effectLst/>
                        <a:latin typeface="LM Roman 8"/>
                        <a:ea typeface="LM Roman 8"/>
                        <a:cs typeface="LM Roman 8"/>
                      </a:endParaRPr>
                    </a:p>
                  </a:txBody>
                  <a:tcPr marL="0" marR="0" marT="0" marB="0"/>
                </a:tc>
                <a:tc>
                  <a:txBody>
                    <a:bodyPr/>
                    <a:lstStyle/>
                    <a:p>
                      <a:pPr marL="77470">
                        <a:spcBef>
                          <a:spcPts val="160"/>
                        </a:spcBef>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835">
                        <a:spcBef>
                          <a:spcPts val="160"/>
                        </a:spcBef>
                        <a:spcAft>
                          <a:spcPts val="0"/>
                        </a:spcAft>
                      </a:pPr>
                      <a:r>
                        <a:rPr lang="en-US" sz="1200">
                          <a:effectLst/>
                        </a:rPr>
                        <a:t>19</a:t>
                      </a:r>
                      <a:endParaRPr lang="en-IN" sz="1100">
                        <a:effectLst/>
                        <a:latin typeface="LM Roman 8"/>
                        <a:ea typeface="LM Roman 8"/>
                        <a:cs typeface="LM Roman 8"/>
                      </a:endParaRPr>
                    </a:p>
                  </a:txBody>
                  <a:tcPr marL="0" marR="0" marT="0" marB="0"/>
                </a:tc>
                <a:tc>
                  <a:txBody>
                    <a:bodyPr/>
                    <a:lstStyle/>
                    <a:p>
                      <a:pPr marL="76835">
                        <a:spcBef>
                          <a:spcPts val="160"/>
                        </a:spcBef>
                        <a:spcAft>
                          <a:spcPts val="0"/>
                        </a:spcAft>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200">
                        <a:spcBef>
                          <a:spcPts val="160"/>
                        </a:spcBef>
                        <a:spcAft>
                          <a:spcPts val="0"/>
                        </a:spcAft>
                      </a:pPr>
                      <a:r>
                        <a:rPr lang="en-US" sz="1200">
                          <a:effectLst/>
                        </a:rPr>
                        <a:t>32</a:t>
                      </a:r>
                      <a:endParaRPr lang="en-IN" sz="1100">
                        <a:effectLst/>
                        <a:latin typeface="LM Roman 8"/>
                        <a:ea typeface="LM Roman 8"/>
                        <a:cs typeface="LM Roman 8"/>
                      </a:endParaRPr>
                    </a:p>
                  </a:txBody>
                  <a:tcPr marL="0" marR="0" marT="0" marB="0"/>
                </a:tc>
                <a:tc>
                  <a:txBody>
                    <a:bodyPr/>
                    <a:lstStyle/>
                    <a:p>
                      <a:pPr marL="76200">
                        <a:spcBef>
                          <a:spcPts val="160"/>
                        </a:spcBef>
                        <a:spcAft>
                          <a:spcPts val="0"/>
                        </a:spcAft>
                      </a:pPr>
                      <a:r>
                        <a:rPr lang="en-US" sz="1200" dirty="0">
                          <a:effectLst/>
                          <a:highlight>
                            <a:srgbClr val="FF0000"/>
                          </a:highlight>
                        </a:rPr>
                        <a:t>False</a:t>
                      </a:r>
                      <a:endParaRPr lang="en-IN" sz="1100" dirty="0">
                        <a:effectLst/>
                        <a:highlight>
                          <a:srgbClr val="FF0000"/>
                        </a:highlight>
                        <a:latin typeface="LM Roman 8"/>
                        <a:ea typeface="LM Roman 8"/>
                        <a:cs typeface="LM Roman 8"/>
                      </a:endParaRPr>
                    </a:p>
                  </a:txBody>
                  <a:tcPr marL="0" marR="0" marT="0" marB="0"/>
                </a:tc>
                <a:extLst>
                  <a:ext uri="{0D108BD9-81ED-4DB2-BD59-A6C34878D82A}">
                    <a16:rowId xmlns:a16="http://schemas.microsoft.com/office/drawing/2014/main" val="423421435"/>
                  </a:ext>
                </a:extLst>
              </a:tr>
              <a:tr h="273685">
                <a:tc>
                  <a:txBody>
                    <a:bodyPr/>
                    <a:lstStyle/>
                    <a:p>
                      <a:pPr marL="77470">
                        <a:spcBef>
                          <a:spcPts val="160"/>
                        </a:spcBef>
                      </a:pPr>
                      <a:r>
                        <a:rPr lang="en-US" sz="1200">
                          <a:effectLst/>
                        </a:rPr>
                        <a:t>7</a:t>
                      </a:r>
                      <a:endParaRPr lang="en-IN" sz="1100">
                        <a:effectLst/>
                        <a:latin typeface="LM Roman 8"/>
                        <a:ea typeface="LM Roman 8"/>
                        <a:cs typeface="LM Roman 8"/>
                      </a:endParaRPr>
                    </a:p>
                  </a:txBody>
                  <a:tcPr marL="0" marR="0" marT="0" marB="0"/>
                </a:tc>
                <a:tc>
                  <a:txBody>
                    <a:bodyPr/>
                    <a:lstStyle/>
                    <a:p>
                      <a:pPr marL="77470">
                        <a:spcBef>
                          <a:spcPts val="160"/>
                        </a:spcBef>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835">
                        <a:spcBef>
                          <a:spcPts val="160"/>
                        </a:spcBef>
                        <a:spcAft>
                          <a:spcPts val="0"/>
                        </a:spcAft>
                      </a:pPr>
                      <a:r>
                        <a:rPr lang="en-US" sz="1200">
                          <a:effectLst/>
                        </a:rPr>
                        <a:t>20</a:t>
                      </a:r>
                      <a:endParaRPr lang="en-IN" sz="1100">
                        <a:effectLst/>
                        <a:latin typeface="LM Roman 8"/>
                        <a:ea typeface="LM Roman 8"/>
                        <a:cs typeface="LM Roman 8"/>
                      </a:endParaRPr>
                    </a:p>
                  </a:txBody>
                  <a:tcPr marL="0" marR="0" marT="0" marB="0"/>
                </a:tc>
                <a:tc>
                  <a:txBody>
                    <a:bodyPr/>
                    <a:lstStyle/>
                    <a:p>
                      <a:pPr marL="76835">
                        <a:spcBef>
                          <a:spcPts val="160"/>
                        </a:spcBef>
                        <a:spcAft>
                          <a:spcPts val="0"/>
                        </a:spcAft>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200">
                        <a:spcBef>
                          <a:spcPts val="160"/>
                        </a:spcBef>
                        <a:spcAft>
                          <a:spcPts val="0"/>
                        </a:spcAft>
                      </a:pPr>
                      <a:r>
                        <a:rPr lang="en-US" sz="1200">
                          <a:effectLst/>
                        </a:rPr>
                        <a:t>33</a:t>
                      </a:r>
                      <a:endParaRPr lang="en-IN" sz="1100">
                        <a:effectLst/>
                        <a:latin typeface="LM Roman 8"/>
                        <a:ea typeface="LM Roman 8"/>
                        <a:cs typeface="LM Roman 8"/>
                      </a:endParaRPr>
                    </a:p>
                  </a:txBody>
                  <a:tcPr marL="0" marR="0" marT="0" marB="0"/>
                </a:tc>
                <a:tc>
                  <a:txBody>
                    <a:bodyPr/>
                    <a:lstStyle/>
                    <a:p>
                      <a:pPr marL="76200">
                        <a:spcBef>
                          <a:spcPts val="160"/>
                        </a:spcBef>
                        <a:spcAft>
                          <a:spcPts val="0"/>
                        </a:spcAft>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extLst>
                  <a:ext uri="{0D108BD9-81ED-4DB2-BD59-A6C34878D82A}">
                    <a16:rowId xmlns:a16="http://schemas.microsoft.com/office/drawing/2014/main" val="367747657"/>
                  </a:ext>
                </a:extLst>
              </a:tr>
              <a:tr h="273685">
                <a:tc>
                  <a:txBody>
                    <a:bodyPr/>
                    <a:lstStyle/>
                    <a:p>
                      <a:pPr marL="77470">
                        <a:spcBef>
                          <a:spcPts val="160"/>
                        </a:spcBef>
                      </a:pPr>
                      <a:r>
                        <a:rPr lang="en-US" sz="1200">
                          <a:effectLst/>
                        </a:rPr>
                        <a:t>8</a:t>
                      </a:r>
                      <a:endParaRPr lang="en-IN" sz="1100">
                        <a:effectLst/>
                        <a:latin typeface="LM Roman 8"/>
                        <a:ea typeface="LM Roman 8"/>
                        <a:cs typeface="LM Roman 8"/>
                      </a:endParaRPr>
                    </a:p>
                  </a:txBody>
                  <a:tcPr marL="0" marR="0" marT="0" marB="0"/>
                </a:tc>
                <a:tc>
                  <a:txBody>
                    <a:bodyPr/>
                    <a:lstStyle/>
                    <a:p>
                      <a:pPr marL="77470">
                        <a:spcBef>
                          <a:spcPts val="160"/>
                        </a:spcBef>
                      </a:pPr>
                      <a:r>
                        <a:rPr lang="en-US" sz="1200" dirty="0">
                          <a:effectLst/>
                          <a:highlight>
                            <a:srgbClr val="FF0000"/>
                          </a:highlight>
                        </a:rPr>
                        <a:t>False</a:t>
                      </a:r>
                      <a:endParaRPr lang="en-IN" sz="1100" dirty="0">
                        <a:effectLst/>
                        <a:highlight>
                          <a:srgbClr val="FF0000"/>
                        </a:highlight>
                        <a:latin typeface="LM Roman 8"/>
                        <a:ea typeface="LM Roman 8"/>
                        <a:cs typeface="LM Roman 8"/>
                      </a:endParaRPr>
                    </a:p>
                  </a:txBody>
                  <a:tcPr marL="0" marR="0" marT="0" marB="0"/>
                </a:tc>
                <a:tc>
                  <a:txBody>
                    <a:bodyPr/>
                    <a:lstStyle/>
                    <a:p>
                      <a:pPr marL="76835">
                        <a:spcBef>
                          <a:spcPts val="160"/>
                        </a:spcBef>
                        <a:spcAft>
                          <a:spcPts val="0"/>
                        </a:spcAft>
                      </a:pPr>
                      <a:r>
                        <a:rPr lang="en-US" sz="1200">
                          <a:effectLst/>
                        </a:rPr>
                        <a:t>21</a:t>
                      </a:r>
                      <a:endParaRPr lang="en-IN" sz="1100">
                        <a:effectLst/>
                        <a:latin typeface="LM Roman 8"/>
                        <a:ea typeface="LM Roman 8"/>
                        <a:cs typeface="LM Roman 8"/>
                      </a:endParaRPr>
                    </a:p>
                  </a:txBody>
                  <a:tcPr marL="0" marR="0" marT="0" marB="0"/>
                </a:tc>
                <a:tc>
                  <a:txBody>
                    <a:bodyPr/>
                    <a:lstStyle/>
                    <a:p>
                      <a:pPr marL="76835">
                        <a:spcBef>
                          <a:spcPts val="160"/>
                        </a:spcBef>
                        <a:spcAft>
                          <a:spcPts val="0"/>
                        </a:spcAft>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200">
                        <a:spcBef>
                          <a:spcPts val="160"/>
                        </a:spcBef>
                        <a:spcAft>
                          <a:spcPts val="0"/>
                        </a:spcAft>
                      </a:pPr>
                      <a:r>
                        <a:rPr lang="en-US" sz="1200">
                          <a:effectLst/>
                        </a:rPr>
                        <a:t>34</a:t>
                      </a:r>
                      <a:endParaRPr lang="en-IN" sz="1100">
                        <a:effectLst/>
                        <a:latin typeface="LM Roman 8"/>
                        <a:ea typeface="LM Roman 8"/>
                        <a:cs typeface="LM Roman 8"/>
                      </a:endParaRPr>
                    </a:p>
                  </a:txBody>
                  <a:tcPr marL="0" marR="0" marT="0" marB="0"/>
                </a:tc>
                <a:tc>
                  <a:txBody>
                    <a:bodyPr/>
                    <a:lstStyle/>
                    <a:p>
                      <a:pPr marL="76200">
                        <a:spcBef>
                          <a:spcPts val="160"/>
                        </a:spcBef>
                        <a:spcAft>
                          <a:spcPts val="0"/>
                        </a:spcAft>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extLst>
                  <a:ext uri="{0D108BD9-81ED-4DB2-BD59-A6C34878D82A}">
                    <a16:rowId xmlns:a16="http://schemas.microsoft.com/office/drawing/2014/main" val="459238326"/>
                  </a:ext>
                </a:extLst>
              </a:tr>
              <a:tr h="273685">
                <a:tc>
                  <a:txBody>
                    <a:bodyPr/>
                    <a:lstStyle/>
                    <a:p>
                      <a:pPr marL="77470">
                        <a:spcBef>
                          <a:spcPts val="160"/>
                        </a:spcBef>
                      </a:pPr>
                      <a:r>
                        <a:rPr lang="en-US" sz="1200">
                          <a:effectLst/>
                        </a:rPr>
                        <a:t>9</a:t>
                      </a:r>
                      <a:endParaRPr lang="en-IN" sz="1100">
                        <a:effectLst/>
                        <a:latin typeface="LM Roman 8"/>
                        <a:ea typeface="LM Roman 8"/>
                        <a:cs typeface="LM Roman 8"/>
                      </a:endParaRPr>
                    </a:p>
                  </a:txBody>
                  <a:tcPr marL="0" marR="0" marT="0" marB="0"/>
                </a:tc>
                <a:tc>
                  <a:txBody>
                    <a:bodyPr/>
                    <a:lstStyle/>
                    <a:p>
                      <a:pPr marL="77470">
                        <a:spcBef>
                          <a:spcPts val="160"/>
                        </a:spcBef>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835">
                        <a:spcBef>
                          <a:spcPts val="160"/>
                        </a:spcBef>
                        <a:spcAft>
                          <a:spcPts val="0"/>
                        </a:spcAft>
                      </a:pPr>
                      <a:r>
                        <a:rPr lang="en-US" sz="1200">
                          <a:effectLst/>
                        </a:rPr>
                        <a:t>22</a:t>
                      </a:r>
                      <a:endParaRPr lang="en-IN" sz="1100">
                        <a:effectLst/>
                        <a:latin typeface="LM Roman 8"/>
                        <a:ea typeface="LM Roman 8"/>
                        <a:cs typeface="LM Roman 8"/>
                      </a:endParaRPr>
                    </a:p>
                  </a:txBody>
                  <a:tcPr marL="0" marR="0" marT="0" marB="0"/>
                </a:tc>
                <a:tc>
                  <a:txBody>
                    <a:bodyPr/>
                    <a:lstStyle/>
                    <a:p>
                      <a:pPr marL="76835">
                        <a:spcBef>
                          <a:spcPts val="160"/>
                        </a:spcBef>
                        <a:spcAft>
                          <a:spcPts val="0"/>
                        </a:spcAft>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200">
                        <a:spcBef>
                          <a:spcPts val="160"/>
                        </a:spcBef>
                        <a:spcAft>
                          <a:spcPts val="0"/>
                        </a:spcAft>
                      </a:pPr>
                      <a:r>
                        <a:rPr lang="en-US" sz="1200">
                          <a:effectLst/>
                        </a:rPr>
                        <a:t>35</a:t>
                      </a:r>
                      <a:endParaRPr lang="en-IN" sz="1100">
                        <a:effectLst/>
                        <a:latin typeface="LM Roman 8"/>
                        <a:ea typeface="LM Roman 8"/>
                        <a:cs typeface="LM Roman 8"/>
                      </a:endParaRPr>
                    </a:p>
                  </a:txBody>
                  <a:tcPr marL="0" marR="0" marT="0" marB="0"/>
                </a:tc>
                <a:tc>
                  <a:txBody>
                    <a:bodyPr/>
                    <a:lstStyle/>
                    <a:p>
                      <a:pPr marL="76200">
                        <a:spcBef>
                          <a:spcPts val="160"/>
                        </a:spcBef>
                        <a:spcAft>
                          <a:spcPts val="0"/>
                        </a:spcAft>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extLst>
                  <a:ext uri="{0D108BD9-81ED-4DB2-BD59-A6C34878D82A}">
                    <a16:rowId xmlns:a16="http://schemas.microsoft.com/office/drawing/2014/main" val="2157247154"/>
                  </a:ext>
                </a:extLst>
              </a:tr>
              <a:tr h="273685">
                <a:tc>
                  <a:txBody>
                    <a:bodyPr/>
                    <a:lstStyle/>
                    <a:p>
                      <a:pPr marL="77470">
                        <a:spcBef>
                          <a:spcPts val="160"/>
                        </a:spcBef>
                      </a:pPr>
                      <a:r>
                        <a:rPr lang="en-US" sz="1200">
                          <a:effectLst/>
                        </a:rPr>
                        <a:t>10</a:t>
                      </a:r>
                      <a:endParaRPr lang="en-IN" sz="1100">
                        <a:effectLst/>
                        <a:latin typeface="LM Roman 8"/>
                        <a:ea typeface="LM Roman 8"/>
                        <a:cs typeface="LM Roman 8"/>
                      </a:endParaRPr>
                    </a:p>
                  </a:txBody>
                  <a:tcPr marL="0" marR="0" marT="0" marB="0"/>
                </a:tc>
                <a:tc>
                  <a:txBody>
                    <a:bodyPr/>
                    <a:lstStyle/>
                    <a:p>
                      <a:pPr marL="77470">
                        <a:spcBef>
                          <a:spcPts val="160"/>
                        </a:spcBef>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835">
                        <a:spcBef>
                          <a:spcPts val="160"/>
                        </a:spcBef>
                        <a:spcAft>
                          <a:spcPts val="0"/>
                        </a:spcAft>
                      </a:pPr>
                      <a:r>
                        <a:rPr lang="en-US" sz="1200">
                          <a:effectLst/>
                        </a:rPr>
                        <a:t>23</a:t>
                      </a:r>
                      <a:endParaRPr lang="en-IN" sz="1100">
                        <a:effectLst/>
                        <a:latin typeface="LM Roman 8"/>
                        <a:ea typeface="LM Roman 8"/>
                        <a:cs typeface="LM Roman 8"/>
                      </a:endParaRPr>
                    </a:p>
                  </a:txBody>
                  <a:tcPr marL="0" marR="0" marT="0" marB="0"/>
                </a:tc>
                <a:tc>
                  <a:txBody>
                    <a:bodyPr/>
                    <a:lstStyle/>
                    <a:p>
                      <a:pPr marL="76835">
                        <a:spcBef>
                          <a:spcPts val="160"/>
                        </a:spcBef>
                        <a:spcAft>
                          <a:spcPts val="0"/>
                        </a:spcAft>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200">
                        <a:spcBef>
                          <a:spcPts val="160"/>
                        </a:spcBef>
                        <a:spcAft>
                          <a:spcPts val="0"/>
                        </a:spcAft>
                      </a:pPr>
                      <a:r>
                        <a:rPr lang="en-US" sz="1200">
                          <a:effectLst/>
                        </a:rPr>
                        <a:t>36</a:t>
                      </a:r>
                      <a:endParaRPr lang="en-IN" sz="1100">
                        <a:effectLst/>
                        <a:latin typeface="LM Roman 8"/>
                        <a:ea typeface="LM Roman 8"/>
                        <a:cs typeface="LM Roman 8"/>
                      </a:endParaRPr>
                    </a:p>
                  </a:txBody>
                  <a:tcPr marL="0" marR="0" marT="0" marB="0"/>
                </a:tc>
                <a:tc>
                  <a:txBody>
                    <a:bodyPr/>
                    <a:lstStyle/>
                    <a:p>
                      <a:pPr marL="76200">
                        <a:spcBef>
                          <a:spcPts val="160"/>
                        </a:spcBef>
                        <a:spcAft>
                          <a:spcPts val="0"/>
                        </a:spcAft>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extLst>
                  <a:ext uri="{0D108BD9-81ED-4DB2-BD59-A6C34878D82A}">
                    <a16:rowId xmlns:a16="http://schemas.microsoft.com/office/drawing/2014/main" val="552474576"/>
                  </a:ext>
                </a:extLst>
              </a:tr>
              <a:tr h="273685">
                <a:tc>
                  <a:txBody>
                    <a:bodyPr/>
                    <a:lstStyle/>
                    <a:p>
                      <a:pPr marL="77470">
                        <a:spcBef>
                          <a:spcPts val="160"/>
                        </a:spcBef>
                      </a:pPr>
                      <a:r>
                        <a:rPr lang="en-US" sz="1200">
                          <a:effectLst/>
                        </a:rPr>
                        <a:t>11</a:t>
                      </a:r>
                      <a:endParaRPr lang="en-IN" sz="1100">
                        <a:effectLst/>
                        <a:latin typeface="LM Roman 8"/>
                        <a:ea typeface="LM Roman 8"/>
                        <a:cs typeface="LM Roman 8"/>
                      </a:endParaRPr>
                    </a:p>
                  </a:txBody>
                  <a:tcPr marL="0" marR="0" marT="0" marB="0"/>
                </a:tc>
                <a:tc>
                  <a:txBody>
                    <a:bodyPr/>
                    <a:lstStyle/>
                    <a:p>
                      <a:pPr marL="77470">
                        <a:spcBef>
                          <a:spcPts val="160"/>
                        </a:spcBef>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835">
                        <a:spcBef>
                          <a:spcPts val="160"/>
                        </a:spcBef>
                        <a:spcAft>
                          <a:spcPts val="0"/>
                        </a:spcAft>
                      </a:pPr>
                      <a:r>
                        <a:rPr lang="en-US" sz="1200">
                          <a:effectLst/>
                        </a:rPr>
                        <a:t>24</a:t>
                      </a:r>
                      <a:endParaRPr lang="en-IN" sz="1100">
                        <a:effectLst/>
                        <a:latin typeface="LM Roman 8"/>
                        <a:ea typeface="LM Roman 8"/>
                        <a:cs typeface="LM Roman 8"/>
                      </a:endParaRPr>
                    </a:p>
                  </a:txBody>
                  <a:tcPr marL="0" marR="0" marT="0" marB="0"/>
                </a:tc>
                <a:tc>
                  <a:txBody>
                    <a:bodyPr/>
                    <a:lstStyle/>
                    <a:p>
                      <a:pPr marL="76835">
                        <a:spcBef>
                          <a:spcPts val="160"/>
                        </a:spcBef>
                        <a:spcAft>
                          <a:spcPts val="0"/>
                        </a:spcAft>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200">
                        <a:spcBef>
                          <a:spcPts val="160"/>
                        </a:spcBef>
                        <a:spcAft>
                          <a:spcPts val="0"/>
                        </a:spcAft>
                      </a:pPr>
                      <a:r>
                        <a:rPr lang="en-US" sz="1200">
                          <a:effectLst/>
                        </a:rPr>
                        <a:t>37</a:t>
                      </a:r>
                      <a:endParaRPr lang="en-IN" sz="1100">
                        <a:effectLst/>
                        <a:latin typeface="LM Roman 8"/>
                        <a:ea typeface="LM Roman 8"/>
                        <a:cs typeface="LM Roman 8"/>
                      </a:endParaRPr>
                    </a:p>
                  </a:txBody>
                  <a:tcPr marL="0" marR="0" marT="0" marB="0"/>
                </a:tc>
                <a:tc>
                  <a:txBody>
                    <a:bodyPr/>
                    <a:lstStyle/>
                    <a:p>
                      <a:pPr marL="76200">
                        <a:spcBef>
                          <a:spcPts val="160"/>
                        </a:spcBef>
                        <a:spcAft>
                          <a:spcPts val="0"/>
                        </a:spcAft>
                      </a:pPr>
                      <a:r>
                        <a:rPr lang="en-US" sz="1200">
                          <a:effectLst/>
                          <a:highlight>
                            <a:srgbClr val="FF0000"/>
                          </a:highlight>
                        </a:rPr>
                        <a:t>False</a:t>
                      </a:r>
                      <a:endParaRPr lang="en-IN" sz="1100">
                        <a:effectLst/>
                        <a:highlight>
                          <a:srgbClr val="FF0000"/>
                        </a:highlight>
                        <a:latin typeface="LM Roman 8"/>
                        <a:ea typeface="LM Roman 8"/>
                        <a:cs typeface="LM Roman 8"/>
                      </a:endParaRPr>
                    </a:p>
                  </a:txBody>
                  <a:tcPr marL="0" marR="0" marT="0" marB="0"/>
                </a:tc>
                <a:extLst>
                  <a:ext uri="{0D108BD9-81ED-4DB2-BD59-A6C34878D82A}">
                    <a16:rowId xmlns:a16="http://schemas.microsoft.com/office/drawing/2014/main" val="2385839791"/>
                  </a:ext>
                </a:extLst>
              </a:tr>
              <a:tr h="273685">
                <a:tc>
                  <a:txBody>
                    <a:bodyPr/>
                    <a:lstStyle/>
                    <a:p>
                      <a:pPr marL="77470">
                        <a:spcBef>
                          <a:spcPts val="160"/>
                        </a:spcBef>
                      </a:pPr>
                      <a:r>
                        <a:rPr lang="en-US" sz="1200">
                          <a:effectLst/>
                        </a:rPr>
                        <a:t>12</a:t>
                      </a:r>
                      <a:endParaRPr lang="en-IN" sz="1100">
                        <a:effectLst/>
                        <a:latin typeface="LM Roman 8"/>
                        <a:ea typeface="LM Roman 8"/>
                        <a:cs typeface="LM Roman 8"/>
                      </a:endParaRPr>
                    </a:p>
                  </a:txBody>
                  <a:tcPr marL="0" marR="0" marT="0" marB="0"/>
                </a:tc>
                <a:tc>
                  <a:txBody>
                    <a:bodyPr/>
                    <a:lstStyle/>
                    <a:p>
                      <a:pPr marL="77470">
                        <a:spcBef>
                          <a:spcPts val="160"/>
                        </a:spcBef>
                      </a:pPr>
                      <a:r>
                        <a:rPr lang="en-US" sz="1200" dirty="0">
                          <a:effectLst/>
                          <a:highlight>
                            <a:srgbClr val="FF0000"/>
                          </a:highlight>
                        </a:rPr>
                        <a:t>False</a:t>
                      </a:r>
                      <a:endParaRPr lang="en-IN" sz="1100" dirty="0">
                        <a:effectLst/>
                        <a:highlight>
                          <a:srgbClr val="FF0000"/>
                        </a:highlight>
                        <a:latin typeface="LM Roman 8"/>
                        <a:ea typeface="LM Roman 8"/>
                        <a:cs typeface="LM Roman 8"/>
                      </a:endParaRPr>
                    </a:p>
                  </a:txBody>
                  <a:tcPr marL="0" marR="0" marT="0" marB="0"/>
                </a:tc>
                <a:tc>
                  <a:txBody>
                    <a:bodyPr/>
                    <a:lstStyle/>
                    <a:p>
                      <a:pPr marL="76835">
                        <a:spcBef>
                          <a:spcPts val="160"/>
                        </a:spcBef>
                        <a:spcAft>
                          <a:spcPts val="0"/>
                        </a:spcAft>
                      </a:pPr>
                      <a:r>
                        <a:rPr lang="en-US" sz="1200">
                          <a:effectLst/>
                        </a:rPr>
                        <a:t>25</a:t>
                      </a:r>
                      <a:endParaRPr lang="en-IN" sz="1100">
                        <a:effectLst/>
                        <a:latin typeface="LM Roman 8"/>
                        <a:ea typeface="LM Roman 8"/>
                        <a:cs typeface="LM Roman 8"/>
                      </a:endParaRPr>
                    </a:p>
                  </a:txBody>
                  <a:tcPr marL="0" marR="0" marT="0" marB="0"/>
                </a:tc>
                <a:tc>
                  <a:txBody>
                    <a:bodyPr/>
                    <a:lstStyle/>
                    <a:p>
                      <a:pPr marL="76835">
                        <a:spcBef>
                          <a:spcPts val="160"/>
                        </a:spcBef>
                        <a:spcAft>
                          <a:spcPts val="0"/>
                        </a:spcAft>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200">
                        <a:spcBef>
                          <a:spcPts val="160"/>
                        </a:spcBef>
                        <a:spcAft>
                          <a:spcPts val="0"/>
                        </a:spcAft>
                      </a:pPr>
                      <a:r>
                        <a:rPr lang="en-US" sz="1200">
                          <a:effectLst/>
                        </a:rPr>
                        <a:t>38</a:t>
                      </a:r>
                      <a:endParaRPr lang="en-IN" sz="1100">
                        <a:effectLst/>
                        <a:latin typeface="LM Roman 8"/>
                        <a:ea typeface="LM Roman 8"/>
                        <a:cs typeface="LM Roman 8"/>
                      </a:endParaRPr>
                    </a:p>
                  </a:txBody>
                  <a:tcPr marL="0" marR="0" marT="0" marB="0"/>
                </a:tc>
                <a:tc>
                  <a:txBody>
                    <a:bodyPr/>
                    <a:lstStyle/>
                    <a:p>
                      <a:pPr marL="76200">
                        <a:spcBef>
                          <a:spcPts val="160"/>
                        </a:spcBef>
                        <a:spcAft>
                          <a:spcPts val="0"/>
                        </a:spcAft>
                      </a:pPr>
                      <a:r>
                        <a:rPr lang="en-US" sz="1200">
                          <a:effectLst/>
                          <a:highlight>
                            <a:srgbClr val="FF0000"/>
                          </a:highlight>
                        </a:rPr>
                        <a:t>False</a:t>
                      </a:r>
                      <a:endParaRPr lang="en-IN" sz="1100">
                        <a:effectLst/>
                        <a:highlight>
                          <a:srgbClr val="FF0000"/>
                        </a:highlight>
                        <a:latin typeface="LM Roman 8"/>
                        <a:ea typeface="LM Roman 8"/>
                        <a:cs typeface="LM Roman 8"/>
                      </a:endParaRPr>
                    </a:p>
                  </a:txBody>
                  <a:tcPr marL="0" marR="0" marT="0" marB="0"/>
                </a:tc>
                <a:extLst>
                  <a:ext uri="{0D108BD9-81ED-4DB2-BD59-A6C34878D82A}">
                    <a16:rowId xmlns:a16="http://schemas.microsoft.com/office/drawing/2014/main" val="3038702406"/>
                  </a:ext>
                </a:extLst>
              </a:tr>
              <a:tr h="273685">
                <a:tc>
                  <a:txBody>
                    <a:bodyPr/>
                    <a:lstStyle/>
                    <a:p>
                      <a:pPr marL="77470">
                        <a:spcBef>
                          <a:spcPts val="160"/>
                        </a:spcBef>
                      </a:pPr>
                      <a:r>
                        <a:rPr lang="en-US" sz="1200">
                          <a:effectLst/>
                        </a:rPr>
                        <a:t>13</a:t>
                      </a:r>
                      <a:endParaRPr lang="en-IN" sz="1100">
                        <a:effectLst/>
                        <a:latin typeface="LM Roman 8"/>
                        <a:ea typeface="LM Roman 8"/>
                        <a:cs typeface="LM Roman 8"/>
                      </a:endParaRPr>
                    </a:p>
                  </a:txBody>
                  <a:tcPr marL="0" marR="0" marT="0" marB="0"/>
                </a:tc>
                <a:tc>
                  <a:txBody>
                    <a:bodyPr/>
                    <a:lstStyle/>
                    <a:p>
                      <a:pPr marL="77470">
                        <a:spcBef>
                          <a:spcPts val="160"/>
                        </a:spcBef>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835">
                        <a:spcBef>
                          <a:spcPts val="160"/>
                        </a:spcBef>
                        <a:spcAft>
                          <a:spcPts val="0"/>
                        </a:spcAft>
                      </a:pPr>
                      <a:r>
                        <a:rPr lang="en-US" sz="1200">
                          <a:effectLst/>
                        </a:rPr>
                        <a:t>26</a:t>
                      </a:r>
                      <a:endParaRPr lang="en-IN" sz="1100">
                        <a:effectLst/>
                        <a:latin typeface="LM Roman 8"/>
                        <a:ea typeface="LM Roman 8"/>
                        <a:cs typeface="LM Roman 8"/>
                      </a:endParaRPr>
                    </a:p>
                  </a:txBody>
                  <a:tcPr marL="0" marR="0" marT="0" marB="0"/>
                </a:tc>
                <a:tc>
                  <a:txBody>
                    <a:bodyPr/>
                    <a:lstStyle/>
                    <a:p>
                      <a:pPr marL="76835">
                        <a:spcBef>
                          <a:spcPts val="160"/>
                        </a:spcBef>
                        <a:spcAft>
                          <a:spcPts val="0"/>
                        </a:spcAft>
                      </a:pPr>
                      <a:r>
                        <a:rPr lang="en-US" sz="1200" dirty="0">
                          <a:effectLst/>
                          <a:highlight>
                            <a:srgbClr val="0000FF"/>
                          </a:highlight>
                        </a:rPr>
                        <a:t>True</a:t>
                      </a:r>
                      <a:endParaRPr lang="en-IN" sz="1100" dirty="0">
                        <a:effectLst/>
                        <a:highlight>
                          <a:srgbClr val="0000FF"/>
                        </a:highlight>
                        <a:latin typeface="LM Roman 8"/>
                        <a:ea typeface="LM Roman 8"/>
                        <a:cs typeface="LM Roman 8"/>
                      </a:endParaRPr>
                    </a:p>
                  </a:txBody>
                  <a:tcPr marL="0" marR="0" marT="0" marB="0"/>
                </a:tc>
                <a:tc>
                  <a:txBody>
                    <a:bodyPr/>
                    <a:lstStyle/>
                    <a:p>
                      <a:pPr marL="76200">
                        <a:spcBef>
                          <a:spcPts val="160"/>
                        </a:spcBef>
                        <a:spcAft>
                          <a:spcPts val="0"/>
                        </a:spcAft>
                      </a:pPr>
                      <a:r>
                        <a:rPr lang="en-US" sz="1200">
                          <a:effectLst/>
                        </a:rPr>
                        <a:t>39</a:t>
                      </a:r>
                      <a:endParaRPr lang="en-IN" sz="1100">
                        <a:effectLst/>
                        <a:latin typeface="LM Roman 8"/>
                        <a:ea typeface="LM Roman 8"/>
                        <a:cs typeface="LM Roman 8"/>
                      </a:endParaRPr>
                    </a:p>
                  </a:txBody>
                  <a:tcPr marL="0" marR="0" marT="0" marB="0"/>
                </a:tc>
                <a:tc>
                  <a:txBody>
                    <a:bodyPr/>
                    <a:lstStyle/>
                    <a:p>
                      <a:pPr marL="76200">
                        <a:spcBef>
                          <a:spcPts val="160"/>
                        </a:spcBef>
                        <a:spcAft>
                          <a:spcPts val="0"/>
                        </a:spcAft>
                      </a:pPr>
                      <a:r>
                        <a:rPr lang="en-US" sz="1200" dirty="0">
                          <a:effectLst/>
                          <a:highlight>
                            <a:srgbClr val="FF0000"/>
                          </a:highlight>
                        </a:rPr>
                        <a:t>False</a:t>
                      </a:r>
                      <a:endParaRPr lang="en-IN" sz="1100" dirty="0">
                        <a:effectLst/>
                        <a:highlight>
                          <a:srgbClr val="FF0000"/>
                        </a:highlight>
                        <a:latin typeface="LM Roman 8"/>
                        <a:ea typeface="LM Roman 8"/>
                        <a:cs typeface="LM Roman 8"/>
                      </a:endParaRPr>
                    </a:p>
                  </a:txBody>
                  <a:tcPr marL="0" marR="0" marT="0" marB="0"/>
                </a:tc>
                <a:extLst>
                  <a:ext uri="{0D108BD9-81ED-4DB2-BD59-A6C34878D82A}">
                    <a16:rowId xmlns:a16="http://schemas.microsoft.com/office/drawing/2014/main" val="1663699736"/>
                  </a:ext>
                </a:extLst>
              </a:tr>
            </a:tbl>
          </a:graphicData>
        </a:graphic>
      </p:graphicFrame>
      <p:pic>
        <p:nvPicPr>
          <p:cNvPr id="10" name="image13.jpeg">
            <a:extLst>
              <a:ext uri="{FF2B5EF4-FFF2-40B4-BE49-F238E27FC236}">
                <a16:creationId xmlns:a16="http://schemas.microsoft.com/office/drawing/2014/main" id="{8FE21C1F-89AA-4DCE-8F4B-EE8F92D4E265}"/>
              </a:ext>
            </a:extLst>
          </p:cNvPr>
          <p:cNvPicPr/>
          <p:nvPr/>
        </p:nvPicPr>
        <p:blipFill>
          <a:blip r:embed="rId2" cstate="print"/>
          <a:stretch>
            <a:fillRect/>
          </a:stretch>
        </p:blipFill>
        <p:spPr>
          <a:xfrm>
            <a:off x="5410200" y="1600200"/>
            <a:ext cx="3276599" cy="2512525"/>
          </a:xfrm>
          <a:prstGeom prst="rect">
            <a:avLst/>
          </a:prstGeom>
        </p:spPr>
      </p:pic>
      <p:sp>
        <p:nvSpPr>
          <p:cNvPr id="11" name="TextBox 10">
            <a:extLst>
              <a:ext uri="{FF2B5EF4-FFF2-40B4-BE49-F238E27FC236}">
                <a16:creationId xmlns:a16="http://schemas.microsoft.com/office/drawing/2014/main" id="{D4350C48-F388-4420-9F93-3AFE1AB9D5F6}"/>
              </a:ext>
            </a:extLst>
          </p:cNvPr>
          <p:cNvSpPr txBox="1"/>
          <p:nvPr/>
        </p:nvSpPr>
        <p:spPr>
          <a:xfrm>
            <a:off x="381000" y="438090"/>
            <a:ext cx="4813935" cy="400110"/>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Table 11: Feature Selection</a:t>
            </a:r>
            <a:endParaRPr lang="en-IN" sz="20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7AD3E88-B3B1-4C46-A51B-AC0C2FBB92DE}"/>
              </a:ext>
            </a:extLst>
          </p:cNvPr>
          <p:cNvSpPr txBox="1"/>
          <p:nvPr/>
        </p:nvSpPr>
        <p:spPr>
          <a:xfrm>
            <a:off x="5638800" y="4114800"/>
            <a:ext cx="3276600" cy="707886"/>
          </a:xfrm>
          <a:prstGeom prst="rect">
            <a:avLst/>
          </a:prstGeom>
          <a:noFill/>
        </p:spPr>
        <p:txBody>
          <a:bodyPr wrap="square" rtlCol="0">
            <a:spAutoFit/>
          </a:bodyPr>
          <a:lstStyle/>
          <a:p>
            <a:r>
              <a:rPr lang="en-US" sz="2000" dirty="0">
                <a:effectLst/>
                <a:latin typeface="Times New Roman" panose="02020603050405020304" pitchFamily="18" charset="0"/>
                <a:ea typeface="LM Roman 12"/>
                <a:cs typeface="Times New Roman" panose="02020603050405020304" pitchFamily="18" charset="0"/>
              </a:rPr>
              <a:t>Figure </a:t>
            </a:r>
            <a:r>
              <a:rPr lang="en-US" sz="2000" dirty="0">
                <a:latin typeface="Times New Roman" panose="02020603050405020304" pitchFamily="18" charset="0"/>
                <a:ea typeface="LM Roman 12"/>
                <a:cs typeface="Times New Roman" panose="02020603050405020304" pitchFamily="18" charset="0"/>
              </a:rPr>
              <a:t>12</a:t>
            </a:r>
            <a:r>
              <a:rPr lang="en-US" sz="2000" dirty="0">
                <a:effectLst/>
                <a:latin typeface="Times New Roman" panose="02020603050405020304" pitchFamily="18" charset="0"/>
                <a:ea typeface="LM Roman 12"/>
                <a:cs typeface="Times New Roman" panose="02020603050405020304" pitchFamily="18" charset="0"/>
              </a:rPr>
              <a:t>:Accuracy vs number of features selected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77922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BCF7A-E921-4F5C-950D-3EDB7A72707E}"/>
              </a:ext>
            </a:extLst>
          </p:cNvPr>
          <p:cNvSpPr>
            <a:spLocks noGrp="1"/>
          </p:cNvSpPr>
          <p:nvPr>
            <p:ph type="title"/>
          </p:nvPr>
        </p:nvSpPr>
        <p:spPr>
          <a:xfrm>
            <a:off x="457200" y="-228600"/>
            <a:ext cx="8229600" cy="1143000"/>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Result of MFCC</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8A35D8B-5D72-442A-B088-7C121B0A0E29}"/>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13569BA5-DDF1-4974-94E1-40DD2987E56C}"/>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D91BBCCC-623B-4558-961A-764A3A6CE870}"/>
              </a:ext>
            </a:extLst>
          </p:cNvPr>
          <p:cNvSpPr>
            <a:spLocks noGrp="1"/>
          </p:cNvSpPr>
          <p:nvPr>
            <p:ph type="sldNum" sz="quarter" idx="12"/>
          </p:nvPr>
        </p:nvSpPr>
        <p:spPr/>
        <p:txBody>
          <a:bodyPr/>
          <a:lstStyle/>
          <a:p>
            <a:fld id="{B6F15528-21DE-4FAA-801E-634DDDAF4B2B}" type="slidenum">
              <a:rPr lang="en-US" smtClean="0"/>
              <a:pPr/>
              <a:t>37</a:t>
            </a:fld>
            <a:endParaRPr lang="en-US"/>
          </a:p>
        </p:txBody>
      </p:sp>
      <p:graphicFrame>
        <p:nvGraphicFramePr>
          <p:cNvPr id="7" name="Table 6">
            <a:extLst>
              <a:ext uri="{FF2B5EF4-FFF2-40B4-BE49-F238E27FC236}">
                <a16:creationId xmlns:a16="http://schemas.microsoft.com/office/drawing/2014/main" id="{53618E52-48E0-4A32-BB82-B9986784027A}"/>
              </a:ext>
            </a:extLst>
          </p:cNvPr>
          <p:cNvGraphicFramePr>
            <a:graphicFrameLocks noGrp="1"/>
          </p:cNvGraphicFramePr>
          <p:nvPr>
            <p:extLst>
              <p:ext uri="{D42A27DB-BD31-4B8C-83A1-F6EECF244321}">
                <p14:modId xmlns:p14="http://schemas.microsoft.com/office/powerpoint/2010/main" val="1478693870"/>
              </p:ext>
            </p:extLst>
          </p:nvPr>
        </p:nvGraphicFramePr>
        <p:xfrm>
          <a:off x="685800" y="1143000"/>
          <a:ext cx="7543802" cy="3967482"/>
        </p:xfrm>
        <a:graphic>
          <a:graphicData uri="http://schemas.openxmlformats.org/drawingml/2006/table">
            <a:tbl>
              <a:tblPr firstRow="1" firstCol="1" lastRow="1" lastCol="1" bandRow="1" bandCol="1">
                <a:tableStyleId>{5940675A-B579-460E-94D1-54222C63F5DA}</a:tableStyleId>
              </a:tblPr>
              <a:tblGrid>
                <a:gridCol w="684650">
                  <a:extLst>
                    <a:ext uri="{9D8B030D-6E8A-4147-A177-3AD203B41FA5}">
                      <a16:colId xmlns:a16="http://schemas.microsoft.com/office/drawing/2014/main" val="1789616031"/>
                    </a:ext>
                  </a:extLst>
                </a:gridCol>
                <a:gridCol w="578788">
                  <a:extLst>
                    <a:ext uri="{9D8B030D-6E8A-4147-A177-3AD203B41FA5}">
                      <a16:colId xmlns:a16="http://schemas.microsoft.com/office/drawing/2014/main" val="3070001997"/>
                    </a:ext>
                  </a:extLst>
                </a:gridCol>
                <a:gridCol w="685800">
                  <a:extLst>
                    <a:ext uri="{9D8B030D-6E8A-4147-A177-3AD203B41FA5}">
                      <a16:colId xmlns:a16="http://schemas.microsoft.com/office/drawing/2014/main" val="3588666019"/>
                    </a:ext>
                  </a:extLst>
                </a:gridCol>
                <a:gridCol w="685800">
                  <a:extLst>
                    <a:ext uri="{9D8B030D-6E8A-4147-A177-3AD203B41FA5}">
                      <a16:colId xmlns:a16="http://schemas.microsoft.com/office/drawing/2014/main" val="1845212148"/>
                    </a:ext>
                  </a:extLst>
                </a:gridCol>
                <a:gridCol w="564980">
                  <a:extLst>
                    <a:ext uri="{9D8B030D-6E8A-4147-A177-3AD203B41FA5}">
                      <a16:colId xmlns:a16="http://schemas.microsoft.com/office/drawing/2014/main" val="629068062"/>
                    </a:ext>
                  </a:extLst>
                </a:gridCol>
                <a:gridCol w="570733">
                  <a:extLst>
                    <a:ext uri="{9D8B030D-6E8A-4147-A177-3AD203B41FA5}">
                      <a16:colId xmlns:a16="http://schemas.microsoft.com/office/drawing/2014/main" val="696329890"/>
                    </a:ext>
                  </a:extLst>
                </a:gridCol>
                <a:gridCol w="639773">
                  <a:extLst>
                    <a:ext uri="{9D8B030D-6E8A-4147-A177-3AD203B41FA5}">
                      <a16:colId xmlns:a16="http://schemas.microsoft.com/office/drawing/2014/main" val="2717139390"/>
                    </a:ext>
                  </a:extLst>
                </a:gridCol>
                <a:gridCol w="639773">
                  <a:extLst>
                    <a:ext uri="{9D8B030D-6E8A-4147-A177-3AD203B41FA5}">
                      <a16:colId xmlns:a16="http://schemas.microsoft.com/office/drawing/2014/main" val="1463886242"/>
                    </a:ext>
                  </a:extLst>
                </a:gridCol>
                <a:gridCol w="536213">
                  <a:extLst>
                    <a:ext uri="{9D8B030D-6E8A-4147-A177-3AD203B41FA5}">
                      <a16:colId xmlns:a16="http://schemas.microsoft.com/office/drawing/2014/main" val="1502940311"/>
                    </a:ext>
                  </a:extLst>
                </a:gridCol>
                <a:gridCol w="636321">
                  <a:extLst>
                    <a:ext uri="{9D8B030D-6E8A-4147-A177-3AD203B41FA5}">
                      <a16:colId xmlns:a16="http://schemas.microsoft.com/office/drawing/2014/main" val="2985104413"/>
                    </a:ext>
                  </a:extLst>
                </a:gridCol>
                <a:gridCol w="636321">
                  <a:extLst>
                    <a:ext uri="{9D8B030D-6E8A-4147-A177-3AD203B41FA5}">
                      <a16:colId xmlns:a16="http://schemas.microsoft.com/office/drawing/2014/main" val="2525661490"/>
                    </a:ext>
                  </a:extLst>
                </a:gridCol>
                <a:gridCol w="684650">
                  <a:extLst>
                    <a:ext uri="{9D8B030D-6E8A-4147-A177-3AD203B41FA5}">
                      <a16:colId xmlns:a16="http://schemas.microsoft.com/office/drawing/2014/main" val="3948378927"/>
                    </a:ext>
                  </a:extLst>
                </a:gridCol>
              </a:tblGrid>
              <a:tr h="279927">
                <a:tc rowSpan="2">
                  <a:txBody>
                    <a:bodyPr/>
                    <a:lstStyle/>
                    <a:p>
                      <a:pPr marL="77470">
                        <a:spcBef>
                          <a:spcPts val="85"/>
                        </a:spcBef>
                        <a:spcAft>
                          <a:spcPts val="0"/>
                        </a:spcAft>
                      </a:pPr>
                      <a:r>
                        <a:rPr lang="en-US" sz="1800" dirty="0">
                          <a:effectLst/>
                          <a:latin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320040">
                        <a:spcBef>
                          <a:spcPts val="85"/>
                        </a:spcBef>
                      </a:pPr>
                      <a:r>
                        <a:rPr lang="en-US" sz="1800">
                          <a:effectLst/>
                          <a:latin typeface="Times New Roman" panose="02020603050405020304" pitchFamily="18" charset="0"/>
                          <a:cs typeface="Times New Roman" panose="02020603050405020304" pitchFamily="18" charset="0"/>
                        </a:rPr>
                        <a:t>Number of correctly recognized bird sound in the class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6675">
                        <a:spcBef>
                          <a:spcPts val="795"/>
                        </a:spcBef>
                        <a:spcAft>
                          <a:spcPts val="0"/>
                        </a:spcAft>
                      </a:pPr>
                      <a:r>
                        <a:rPr lang="en-US" sz="1800">
                          <a:effectLst/>
                          <a:latin typeface="Times New Roman" panose="02020603050405020304" pitchFamily="18" charset="0"/>
                          <a:cs typeface="Times New Roman" panose="02020603050405020304" pitchFamily="18" charset="0"/>
                        </a:rPr>
                        <a:t>RSA</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720832923"/>
                  </a:ext>
                </a:extLst>
              </a:tr>
              <a:tr h="279927">
                <a:tc vMerge="1">
                  <a:txBody>
                    <a:bodyPr/>
                    <a:lstStyle/>
                    <a:p>
                      <a:endParaRPr lang="en-IN"/>
                    </a:p>
                  </a:txBody>
                  <a:tcPr/>
                </a:tc>
                <a:tc>
                  <a:txBody>
                    <a:bodyPr/>
                    <a:lstStyle/>
                    <a:p>
                      <a:pPr marL="77470">
                        <a:spcBef>
                          <a:spcPts val="65"/>
                        </a:spcBef>
                      </a:pPr>
                      <a:r>
                        <a:rPr lang="en-US" sz="1800">
                          <a:effectLst/>
                          <a:latin typeface="Times New Roman" panose="02020603050405020304" pitchFamily="18" charset="0"/>
                          <a:cs typeface="Times New Roman" panose="02020603050405020304" pitchFamily="18" charset="0"/>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00" marR="60325" algn="ctr">
                        <a:spcBef>
                          <a:spcPts val="65"/>
                        </a:spcBef>
                        <a:spcAft>
                          <a:spcPts val="0"/>
                        </a:spcAft>
                      </a:pPr>
                      <a:r>
                        <a:rPr lang="en-US" sz="1800">
                          <a:effectLst/>
                          <a:latin typeface="Times New Roman" panose="02020603050405020304" pitchFamily="18" charset="0"/>
                          <a:cs typeface="Times New Roman" panose="02020603050405020304" pitchFamily="18" charset="0"/>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1800">
                          <a:effectLst/>
                          <a:latin typeface="Times New Roman" panose="02020603050405020304" pitchFamily="18" charset="0"/>
                          <a:cs typeface="Times New Roman" panose="02020603050405020304" pitchFamily="18" charset="0"/>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1800">
                          <a:effectLst/>
                          <a:latin typeface="Times New Roman" panose="02020603050405020304" pitchFamily="18" charset="0"/>
                          <a:cs typeface="Times New Roman" panose="02020603050405020304" pitchFamily="18" charset="0"/>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1800">
                          <a:effectLst/>
                          <a:latin typeface="Times New Roman" panose="02020603050405020304" pitchFamily="18" charset="0"/>
                          <a:cs typeface="Times New Roman" panose="02020603050405020304" pitchFamily="18" charset="0"/>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1800">
                          <a:effectLst/>
                          <a:latin typeface="Times New Roman" panose="02020603050405020304" pitchFamily="18" charset="0"/>
                          <a:cs typeface="Times New Roman" panose="02020603050405020304" pitchFamily="18" charset="0"/>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1800">
                          <a:effectLst/>
                          <a:latin typeface="Times New Roman" panose="02020603050405020304" pitchFamily="18" charset="0"/>
                          <a:cs typeface="Times New Roman" panose="02020603050405020304" pitchFamily="18" charset="0"/>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65"/>
                        </a:spcBef>
                        <a:spcAft>
                          <a:spcPts val="0"/>
                        </a:spcAft>
                      </a:pPr>
                      <a:r>
                        <a:rPr lang="en-US" sz="1800">
                          <a:effectLst/>
                          <a:latin typeface="Times New Roman" panose="02020603050405020304" pitchFamily="18" charset="0"/>
                          <a:cs typeface="Times New Roman" panose="02020603050405020304" pitchFamily="18" charset="0"/>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65"/>
                        </a:spcBef>
                        <a:spcAft>
                          <a:spcPts val="0"/>
                        </a:spcAft>
                      </a:pPr>
                      <a:r>
                        <a:rPr lang="en-US" sz="1800">
                          <a:effectLst/>
                          <a:latin typeface="Times New Roman" panose="02020603050405020304" pitchFamily="18" charset="0"/>
                          <a:cs typeface="Times New Roman" panose="02020603050405020304" pitchFamily="18" charset="0"/>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65"/>
                        </a:spcBef>
                        <a:spcAft>
                          <a:spcPts val="0"/>
                        </a:spcAft>
                      </a:pPr>
                      <a:r>
                        <a:rPr lang="en-US" sz="1800">
                          <a:effectLst/>
                          <a:latin typeface="Times New Roman" panose="02020603050405020304" pitchFamily="18" charset="0"/>
                          <a:cs typeface="Times New Roman" panose="02020603050405020304" pitchFamily="18" charset="0"/>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3991076737"/>
                  </a:ext>
                </a:extLst>
              </a:tr>
              <a:tr h="283969">
                <a:tc>
                  <a:txBody>
                    <a:bodyPr/>
                    <a:lstStyle/>
                    <a:p>
                      <a:pPr marL="635" marR="59690" algn="ctr">
                        <a:spcBef>
                          <a:spcPts val="85"/>
                        </a:spcBef>
                        <a:spcAft>
                          <a:spcPts val="0"/>
                        </a:spcAft>
                      </a:pPr>
                      <a:r>
                        <a:rPr lang="en-US" sz="1800">
                          <a:effectLst/>
                          <a:latin typeface="Times New Roman" panose="02020603050405020304" pitchFamily="18" charset="0"/>
                          <a:cs typeface="Times New Roman" panose="02020603050405020304" pitchFamily="18" charset="0"/>
                        </a:rPr>
                        <a:t>RB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56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85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735719320"/>
                  </a:ext>
                </a:extLst>
              </a:tr>
              <a:tr h="283969">
                <a:tc>
                  <a:txBody>
                    <a:bodyPr/>
                    <a:lstStyle/>
                    <a:p>
                      <a:pPr marL="7620" marR="59690" algn="ctr">
                        <a:spcBef>
                          <a:spcPts val="85"/>
                        </a:spcBef>
                        <a:spcAft>
                          <a:spcPts val="0"/>
                        </a:spcAft>
                      </a:pPr>
                      <a:r>
                        <a:rPr lang="en-US" sz="1800">
                          <a:effectLst/>
                          <a:latin typeface="Times New Roman" panose="02020603050405020304" pitchFamily="18" charset="0"/>
                          <a:cs typeface="Times New Roman" panose="02020603050405020304" pitchFamily="18" charset="0"/>
                        </a:rPr>
                        <a:t>GT</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1800">
                          <a:effectLst/>
                          <a:latin typeface="Times New Roman" panose="02020603050405020304" pitchFamily="18" charset="0"/>
                          <a:cs typeface="Times New Roman" panose="02020603050405020304" pitchFamily="18" charset="0"/>
                        </a:rPr>
                        <a:t>61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74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076471174"/>
                  </a:ext>
                </a:extLst>
              </a:tr>
              <a:tr h="283969">
                <a:tc>
                  <a:txBody>
                    <a:bodyPr/>
                    <a:lstStyle/>
                    <a:p>
                      <a:pPr marL="64135" marR="59690" algn="ctr">
                        <a:spcBef>
                          <a:spcPts val="85"/>
                        </a:spcBef>
                        <a:spcAft>
                          <a:spcPts val="0"/>
                        </a:spcAft>
                      </a:pPr>
                      <a:r>
                        <a:rPr lang="en-US" sz="1800">
                          <a:effectLst/>
                          <a:latin typeface="Times New Roman" panose="02020603050405020304" pitchFamily="18" charset="0"/>
                          <a:cs typeface="Times New Roman" panose="02020603050405020304" pitchFamily="18" charset="0"/>
                        </a:rPr>
                        <a:t>WW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dirty="0">
                          <a:effectLst/>
                          <a:latin typeface="Times New Roman" panose="02020603050405020304" pitchFamily="18" charset="0"/>
                          <a:cs typeface="Times New Roman" panose="02020603050405020304" pitchFamily="18" charset="0"/>
                        </a:rPr>
                        <a:t>2</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59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10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69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947378901"/>
                  </a:ext>
                </a:extLst>
              </a:tr>
              <a:tr h="283969">
                <a:tc>
                  <a:txBody>
                    <a:bodyPr/>
                    <a:lstStyle/>
                    <a:p>
                      <a:pPr marL="54610" marR="125730" algn="ctr">
                        <a:spcBef>
                          <a:spcPts val="85"/>
                        </a:spcBef>
                        <a:spcAft>
                          <a:spcPts val="0"/>
                        </a:spcAft>
                      </a:pPr>
                      <a:r>
                        <a:rPr lang="en-US" sz="1800">
                          <a:effectLst/>
                          <a:latin typeface="Times New Roman" panose="02020603050405020304" pitchFamily="18" charset="0"/>
                          <a:cs typeface="Times New Roman" panose="02020603050405020304" pitchFamily="18" charset="0"/>
                        </a:rPr>
                        <a:t>EF</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1800">
                          <a:effectLst/>
                          <a:latin typeface="Times New Roman" panose="02020603050405020304" pitchFamily="18" charset="0"/>
                          <a:cs typeface="Times New Roman" panose="02020603050405020304" pitchFamily="18" charset="0"/>
                        </a:rPr>
                        <a:t>21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21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dirty="0">
                          <a:effectLst/>
                          <a:highlight>
                            <a:srgbClr val="FF0000"/>
                          </a:highlight>
                          <a:latin typeface="Times New Roman" panose="02020603050405020304" pitchFamily="18" charset="0"/>
                          <a:cs typeface="Times New Roman" panose="02020603050405020304" pitchFamily="18" charset="0"/>
                        </a:rPr>
                        <a:t>30</a:t>
                      </a:r>
                      <a:endParaRPr lang="en-IN" sz="18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45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073836800"/>
                  </a:ext>
                </a:extLst>
              </a:tr>
              <a:tr h="283969">
                <a:tc>
                  <a:txBody>
                    <a:bodyPr/>
                    <a:lstStyle/>
                    <a:p>
                      <a:pPr marL="64135" marR="124460" algn="ctr">
                        <a:spcBef>
                          <a:spcPts val="85"/>
                        </a:spcBef>
                        <a:spcAft>
                          <a:spcPts val="0"/>
                        </a:spcAft>
                      </a:pPr>
                      <a:r>
                        <a:rPr lang="en-US" sz="1800">
                          <a:effectLst/>
                          <a:latin typeface="Times New Roman" panose="02020603050405020304" pitchFamily="18" charset="0"/>
                          <a:cs typeface="Times New Roman" panose="02020603050405020304" pitchFamily="18" charset="0"/>
                        </a:rPr>
                        <a:t>CB</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dirty="0">
                          <a:effectLst/>
                          <a:highlight>
                            <a:srgbClr val="00FF00"/>
                          </a:highlight>
                          <a:latin typeface="Times New Roman" panose="02020603050405020304" pitchFamily="18" charset="0"/>
                          <a:cs typeface="Times New Roman" panose="02020603050405020304" pitchFamily="18" charset="0"/>
                        </a:rPr>
                        <a:t>70</a:t>
                      </a:r>
                      <a:endParaRPr lang="en-IN" sz="18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79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984068235"/>
                  </a:ext>
                </a:extLst>
              </a:tr>
              <a:tr h="283969">
                <a:tc>
                  <a:txBody>
                    <a:bodyPr/>
                    <a:lstStyle/>
                    <a:p>
                      <a:pPr marL="2540" marR="59690" algn="ctr">
                        <a:spcBef>
                          <a:spcPts val="85"/>
                        </a:spcBef>
                        <a:spcAft>
                          <a:spcPts val="0"/>
                        </a:spcAft>
                      </a:pPr>
                      <a:r>
                        <a:rPr lang="en-US" sz="1800">
                          <a:effectLst/>
                          <a:latin typeface="Times New Roman" panose="02020603050405020304" pitchFamily="18" charset="0"/>
                          <a:cs typeface="Times New Roman" panose="02020603050405020304" pitchFamily="18" charset="0"/>
                        </a:rPr>
                        <a:t>CR</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latin typeface="Times New Roman" panose="02020603050405020304" pitchFamily="18" charset="0"/>
                          <a:cs typeface="Times New Roman" panose="02020603050405020304" pitchFamily="18" charset="0"/>
                        </a:rPr>
                        <a:t>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43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81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148852688"/>
                  </a:ext>
                </a:extLst>
              </a:tr>
              <a:tr h="283969">
                <a:tc>
                  <a:txBody>
                    <a:bodyPr/>
                    <a:lstStyle/>
                    <a:p>
                      <a:pPr marL="40005" marR="59690" algn="ctr">
                        <a:spcBef>
                          <a:spcPts val="85"/>
                        </a:spcBef>
                        <a:spcAft>
                          <a:spcPts val="0"/>
                        </a:spcAft>
                      </a:pPr>
                      <a:r>
                        <a:rPr lang="en-US" sz="1800">
                          <a:effectLst/>
                          <a:latin typeface="Times New Roman" panose="02020603050405020304" pitchFamily="18" charset="0"/>
                          <a:cs typeface="Times New Roman" panose="02020603050405020304" pitchFamily="18" charset="0"/>
                        </a:rPr>
                        <a:t>GW</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61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87</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174050469"/>
                  </a:ext>
                </a:extLst>
              </a:tr>
              <a:tr h="283969">
                <a:tc>
                  <a:txBody>
                    <a:bodyPr/>
                    <a:lstStyle/>
                    <a:p>
                      <a:pPr marL="42545" marR="125730" algn="ctr">
                        <a:spcBef>
                          <a:spcPts val="85"/>
                        </a:spcBef>
                        <a:spcAft>
                          <a:spcPts val="0"/>
                        </a:spcAft>
                      </a:pPr>
                      <a:r>
                        <a:rPr lang="en-US" sz="1800">
                          <a:effectLst/>
                          <a:latin typeface="Times New Roman" panose="02020603050405020304" pitchFamily="18" charset="0"/>
                          <a:cs typeface="Times New Roman" panose="02020603050405020304" pitchFamily="18" charset="0"/>
                        </a:rPr>
                        <a:t>BJ</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59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10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73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544506116"/>
                  </a:ext>
                </a:extLst>
              </a:tr>
              <a:tr h="283969">
                <a:tc>
                  <a:txBody>
                    <a:bodyPr/>
                    <a:lstStyle/>
                    <a:p>
                      <a:pPr marL="48895" marR="125730" algn="ctr">
                        <a:spcBef>
                          <a:spcPts val="85"/>
                        </a:spcBef>
                        <a:spcAft>
                          <a:spcPts val="0"/>
                        </a:spcAft>
                      </a:pPr>
                      <a:r>
                        <a:rPr lang="en-US" sz="1800">
                          <a:effectLst/>
                          <a:latin typeface="Times New Roman" panose="02020603050405020304" pitchFamily="18" charset="0"/>
                          <a:cs typeface="Times New Roman" panose="02020603050405020304" pitchFamily="18" charset="0"/>
                        </a:rPr>
                        <a:t>CS</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9</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44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65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342967699"/>
                  </a:ext>
                </a:extLst>
              </a:tr>
              <a:tr h="283969">
                <a:tc>
                  <a:txBody>
                    <a:bodyPr/>
                    <a:lstStyle/>
                    <a:p>
                      <a:pPr marL="38100" marR="59690" algn="ctr">
                        <a:spcBef>
                          <a:spcPts val="85"/>
                        </a:spcBef>
                        <a:spcAft>
                          <a:spcPts val="0"/>
                        </a:spcAft>
                      </a:pPr>
                      <a:r>
                        <a:rPr lang="en-US" sz="1800">
                          <a:effectLst/>
                          <a:latin typeface="Times New Roman" panose="02020603050405020304" pitchFamily="18" charset="0"/>
                          <a:cs typeface="Times New Roman" panose="02020603050405020304" pitchFamily="18" charset="0"/>
                        </a:rPr>
                        <a:t>WD</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1800">
                          <a:effectLst/>
                          <a:latin typeface="Times New Roman" panose="02020603050405020304" pitchFamily="18" charset="0"/>
                          <a:cs typeface="Times New Roman" panose="02020603050405020304" pitchFamily="18" charset="0"/>
                        </a:rPr>
                        <a:t>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2</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38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1800">
                          <a:effectLst/>
                          <a:latin typeface="Times New Roman" panose="02020603050405020304" pitchFamily="18" charset="0"/>
                          <a:cs typeface="Times New Roman" panose="02020603050405020304" pitchFamily="18" charset="0"/>
                        </a:rPr>
                        <a:t>80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703797508"/>
                  </a:ext>
                </a:extLst>
              </a:tr>
              <a:tr h="283969">
                <a:tc>
                  <a:txBody>
                    <a:bodyPr/>
                    <a:lstStyle/>
                    <a:p>
                      <a:pPr marL="31750" marR="59690" algn="ctr">
                        <a:spcBef>
                          <a:spcPts val="85"/>
                        </a:spcBef>
                        <a:spcAft>
                          <a:spcPts val="0"/>
                        </a:spcAft>
                      </a:pPr>
                      <a:r>
                        <a:rPr lang="en-US" sz="1800">
                          <a:effectLst/>
                          <a:latin typeface="Times New Roman" panose="02020603050405020304" pitchFamily="18" charset="0"/>
                          <a:cs typeface="Times New Roman" panose="02020603050405020304" pitchFamily="18" charset="0"/>
                        </a:rPr>
                        <a:t>Rel.</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800">
                          <a:effectLst/>
                          <a:latin typeface="Times New Roman" panose="02020603050405020304" pitchFamily="18" charset="0"/>
                          <a:cs typeface="Times New Roman" panose="02020603050405020304" pitchFamily="18" charset="0"/>
                        </a:rPr>
                        <a:t>93</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1800">
                          <a:effectLst/>
                          <a:latin typeface="Times New Roman" panose="02020603050405020304" pitchFamily="18" charset="0"/>
                          <a:cs typeface="Times New Roman" panose="02020603050405020304" pitchFamily="18" charset="0"/>
                        </a:rPr>
                        <a:t>65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1800">
                          <a:effectLst/>
                          <a:latin typeface="Times New Roman" panose="02020603050405020304" pitchFamily="18" charset="0"/>
                          <a:cs typeface="Times New Roman" panose="02020603050405020304" pitchFamily="18" charset="0"/>
                        </a:rPr>
                        <a:t>68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1800">
                          <a:effectLst/>
                          <a:latin typeface="Times New Roman" panose="02020603050405020304" pitchFamily="18" charset="0"/>
                          <a:cs typeface="Times New Roman" panose="02020603050405020304" pitchFamily="18" charset="0"/>
                        </a:rPr>
                        <a:t>54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1800">
                          <a:effectLst/>
                          <a:latin typeface="Times New Roman" panose="02020603050405020304" pitchFamily="18" charset="0"/>
                          <a:cs typeface="Times New Roman" panose="02020603050405020304" pitchFamily="18" charset="0"/>
                        </a:rPr>
                        <a:t>78</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1800">
                          <a:effectLst/>
                          <a:latin typeface="Times New Roman" panose="02020603050405020304" pitchFamily="18" charset="0"/>
                          <a:cs typeface="Times New Roman" panose="02020603050405020304" pitchFamily="18" charset="0"/>
                        </a:rPr>
                        <a:t>75</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1800">
                          <a:effectLst/>
                          <a:latin typeface="Times New Roman" panose="02020603050405020304" pitchFamily="18" charset="0"/>
                          <a:cs typeface="Times New Roman" panose="02020603050405020304" pitchFamily="18" charset="0"/>
                        </a:rPr>
                        <a:t>90</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1800">
                          <a:effectLst/>
                          <a:latin typeface="Times New Roman" panose="02020603050405020304" pitchFamily="18" charset="0"/>
                          <a:cs typeface="Times New Roman" panose="02020603050405020304" pitchFamily="18" charset="0"/>
                        </a:rPr>
                        <a:t>71</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1800">
                          <a:effectLst/>
                          <a:latin typeface="Times New Roman" panose="02020603050405020304" pitchFamily="18" charset="0"/>
                          <a:cs typeface="Times New Roman" panose="02020603050405020304" pitchFamily="18" charset="0"/>
                        </a:rPr>
                        <a:t>64</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1800">
                          <a:effectLst/>
                          <a:latin typeface="Times New Roman" panose="02020603050405020304" pitchFamily="18" charset="0"/>
                          <a:cs typeface="Times New Roman" panose="02020603050405020304" pitchFamily="18" charset="0"/>
                        </a:rPr>
                        <a:t>86</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1800">
                          <a:effectLst/>
                          <a:latin typeface="Times New Roman" panose="02020603050405020304" pitchFamily="18" charset="0"/>
                          <a:cs typeface="Times New Roman" panose="02020603050405020304" pitchFamily="18" charset="0"/>
                        </a:rPr>
                        <a:t> </a:t>
                      </a:r>
                      <a:endParaRPr lang="en-IN" sz="18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788197516"/>
                  </a:ext>
                </a:extLst>
              </a:tr>
              <a:tr h="283969">
                <a:tc gridSpan="12">
                  <a:txBody>
                    <a:bodyPr/>
                    <a:lstStyle/>
                    <a:p>
                      <a:pPr marL="77470">
                        <a:spcBef>
                          <a:spcPts val="85"/>
                        </a:spcBef>
                      </a:pPr>
                      <a:r>
                        <a:rPr lang="en-US" sz="1800" dirty="0">
                          <a:effectLst/>
                          <a:latin typeface="Times New Roman" panose="02020603050405020304" pitchFamily="18" charset="0"/>
                          <a:cs typeface="Times New Roman" panose="02020603050405020304" pitchFamily="18" charset="0"/>
                        </a:rPr>
                        <a:t>Overall Accuracy: 73.58%</a:t>
                      </a:r>
                      <a:endParaRPr lang="en-IN" sz="18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177058828"/>
                  </a:ext>
                </a:extLst>
              </a:tr>
            </a:tbl>
          </a:graphicData>
        </a:graphic>
      </p:graphicFrame>
      <p:sp>
        <p:nvSpPr>
          <p:cNvPr id="8" name="TextBox 7">
            <a:extLst>
              <a:ext uri="{FF2B5EF4-FFF2-40B4-BE49-F238E27FC236}">
                <a16:creationId xmlns:a16="http://schemas.microsoft.com/office/drawing/2014/main" id="{69003A80-1948-4153-94BE-81406BAA330F}"/>
              </a:ext>
            </a:extLst>
          </p:cNvPr>
          <p:cNvSpPr txBox="1"/>
          <p:nvPr/>
        </p:nvSpPr>
        <p:spPr>
          <a:xfrm>
            <a:off x="457200" y="762000"/>
            <a:ext cx="80010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Table</a:t>
            </a:r>
            <a:r>
              <a:rPr lang="en-US" sz="2000" dirty="0">
                <a:latin typeface="Times New Roman" panose="02020603050405020304" pitchFamily="18" charset="0"/>
                <a:ea typeface="LM Roman 12"/>
                <a:cs typeface="Times New Roman" panose="02020603050405020304" pitchFamily="18" charset="0"/>
              </a:rPr>
              <a:t> 12</a:t>
            </a:r>
            <a:r>
              <a:rPr lang="en-US" sz="2000" dirty="0">
                <a:effectLst/>
                <a:latin typeface="Times New Roman" panose="02020603050405020304" pitchFamily="18" charset="0"/>
                <a:ea typeface="LM Roman 12"/>
                <a:cs typeface="Times New Roman" panose="02020603050405020304" pitchFamily="18" charset="0"/>
              </a:rPr>
              <a:t>:Recognition of result with MFCC (27) features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5881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F81793F-6CB6-47E0-8B1C-E344C5D28788}"/>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D27FB6FF-A1EB-489D-9D62-AA7D36A48E51}"/>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CF7371C3-94C0-4F7C-9E79-74E5C8437380}"/>
              </a:ext>
            </a:extLst>
          </p:cNvPr>
          <p:cNvSpPr>
            <a:spLocks noGrp="1"/>
          </p:cNvSpPr>
          <p:nvPr>
            <p:ph type="sldNum" sz="quarter" idx="12"/>
          </p:nvPr>
        </p:nvSpPr>
        <p:spPr/>
        <p:txBody>
          <a:bodyPr/>
          <a:lstStyle/>
          <a:p>
            <a:fld id="{B6F15528-21DE-4FAA-801E-634DDDAF4B2B}" type="slidenum">
              <a:rPr lang="en-US" smtClean="0"/>
              <a:pPr/>
              <a:t>38</a:t>
            </a:fld>
            <a:endParaRPr lang="en-US"/>
          </a:p>
        </p:txBody>
      </p:sp>
      <p:graphicFrame>
        <p:nvGraphicFramePr>
          <p:cNvPr id="9" name="Chart 8">
            <a:extLst>
              <a:ext uri="{FF2B5EF4-FFF2-40B4-BE49-F238E27FC236}">
                <a16:creationId xmlns:a16="http://schemas.microsoft.com/office/drawing/2014/main" id="{2246F2B6-B592-40F7-9E57-70FF837DE94C}"/>
              </a:ext>
            </a:extLst>
          </p:cNvPr>
          <p:cNvGraphicFramePr/>
          <p:nvPr>
            <p:extLst>
              <p:ext uri="{D42A27DB-BD31-4B8C-83A1-F6EECF244321}">
                <p14:modId xmlns:p14="http://schemas.microsoft.com/office/powerpoint/2010/main" val="2851847840"/>
              </p:ext>
            </p:extLst>
          </p:nvPr>
        </p:nvGraphicFramePr>
        <p:xfrm>
          <a:off x="0" y="1371600"/>
          <a:ext cx="4522470" cy="27025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554E855B-2C51-4242-B224-3013ABEB83AC}"/>
              </a:ext>
            </a:extLst>
          </p:cNvPr>
          <p:cNvGraphicFramePr/>
          <p:nvPr>
            <p:extLst>
              <p:ext uri="{D42A27DB-BD31-4B8C-83A1-F6EECF244321}">
                <p14:modId xmlns:p14="http://schemas.microsoft.com/office/powerpoint/2010/main" val="2571985619"/>
              </p:ext>
            </p:extLst>
          </p:nvPr>
        </p:nvGraphicFramePr>
        <p:xfrm>
          <a:off x="4495800" y="13716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AA45DCB4-9E6D-4F93-BE2E-9C1B31EF917C}"/>
              </a:ext>
            </a:extLst>
          </p:cNvPr>
          <p:cNvSpPr txBox="1"/>
          <p:nvPr/>
        </p:nvSpPr>
        <p:spPr>
          <a:xfrm>
            <a:off x="228600" y="4202668"/>
            <a:ext cx="8534400" cy="369332"/>
          </a:xfrm>
          <a:prstGeom prst="rect">
            <a:avLst/>
          </a:prstGeom>
          <a:noFill/>
        </p:spPr>
        <p:txBody>
          <a:bodyPr wrap="square" rtlCol="0">
            <a:spAutoFit/>
          </a:bodyPr>
          <a:lstStyle/>
          <a:p>
            <a:pPr algn="ctr"/>
            <a:r>
              <a:rPr lang="en-US" dirty="0"/>
              <a:t>Fig 13 : Analysis and Accuracy of MFCC (27) Features</a:t>
            </a:r>
            <a:endParaRPr lang="en-IN" dirty="0"/>
          </a:p>
        </p:txBody>
      </p:sp>
    </p:spTree>
    <p:extLst>
      <p:ext uri="{BB962C8B-B14F-4D97-AF65-F5344CB8AC3E}">
        <p14:creationId xmlns:p14="http://schemas.microsoft.com/office/powerpoint/2010/main" val="38142843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8A35D8B-5D72-442A-B088-7C121B0A0E29}"/>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13569BA5-DDF1-4974-94E1-40DD2987E56C}"/>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D91BBCCC-623B-4558-961A-764A3A6CE870}"/>
              </a:ext>
            </a:extLst>
          </p:cNvPr>
          <p:cNvSpPr>
            <a:spLocks noGrp="1"/>
          </p:cNvSpPr>
          <p:nvPr>
            <p:ph type="sldNum" sz="quarter" idx="12"/>
          </p:nvPr>
        </p:nvSpPr>
        <p:spPr/>
        <p:txBody>
          <a:bodyPr/>
          <a:lstStyle/>
          <a:p>
            <a:fld id="{B6F15528-21DE-4FAA-801E-634DDDAF4B2B}" type="slidenum">
              <a:rPr lang="en-US" smtClean="0"/>
              <a:pPr/>
              <a:t>39</a:t>
            </a:fld>
            <a:endParaRPr lang="en-US"/>
          </a:p>
        </p:txBody>
      </p:sp>
      <p:sp>
        <p:nvSpPr>
          <p:cNvPr id="8" name="TextBox 7">
            <a:extLst>
              <a:ext uri="{FF2B5EF4-FFF2-40B4-BE49-F238E27FC236}">
                <a16:creationId xmlns:a16="http://schemas.microsoft.com/office/drawing/2014/main" id="{69003A80-1948-4153-94BE-81406BAA330F}"/>
              </a:ext>
            </a:extLst>
          </p:cNvPr>
          <p:cNvSpPr txBox="1"/>
          <p:nvPr/>
        </p:nvSpPr>
        <p:spPr>
          <a:xfrm>
            <a:off x="228600" y="609600"/>
            <a:ext cx="82296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Table</a:t>
            </a:r>
            <a:r>
              <a:rPr lang="en-US" sz="2000" dirty="0">
                <a:latin typeface="Times New Roman" panose="02020603050405020304" pitchFamily="18" charset="0"/>
                <a:ea typeface="LM Roman 12"/>
                <a:cs typeface="Times New Roman" panose="02020603050405020304" pitchFamily="18" charset="0"/>
              </a:rPr>
              <a:t> 13</a:t>
            </a:r>
            <a:r>
              <a:rPr lang="en-US" sz="2000" dirty="0">
                <a:effectLst/>
                <a:latin typeface="Times New Roman" panose="02020603050405020304" pitchFamily="18" charset="0"/>
                <a:ea typeface="LM Roman 12"/>
                <a:cs typeface="Times New Roman" panose="02020603050405020304" pitchFamily="18" charset="0"/>
              </a:rPr>
              <a:t>:Recognition of result with MFCC (27) features with KNN algorithm</a:t>
            </a:r>
            <a:endParaRPr lang="en-IN" sz="20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2FAE51B9-FD61-458C-92D1-56F3FF51671B}"/>
              </a:ext>
            </a:extLst>
          </p:cNvPr>
          <p:cNvGraphicFramePr>
            <a:graphicFrameLocks noGrp="1"/>
          </p:cNvGraphicFramePr>
          <p:nvPr>
            <p:extLst>
              <p:ext uri="{D42A27DB-BD31-4B8C-83A1-F6EECF244321}">
                <p14:modId xmlns:p14="http://schemas.microsoft.com/office/powerpoint/2010/main" val="153881053"/>
              </p:ext>
            </p:extLst>
          </p:nvPr>
        </p:nvGraphicFramePr>
        <p:xfrm>
          <a:off x="609601" y="1066800"/>
          <a:ext cx="7619998" cy="4267200"/>
        </p:xfrm>
        <a:graphic>
          <a:graphicData uri="http://schemas.openxmlformats.org/drawingml/2006/table">
            <a:tbl>
              <a:tblPr firstRow="1" firstCol="1" lastRow="1" lastCol="1" bandRow="1" bandCol="1">
                <a:tableStyleId>{5940675A-B579-460E-94D1-54222C63F5DA}</a:tableStyleId>
              </a:tblPr>
              <a:tblGrid>
                <a:gridCol w="689147">
                  <a:extLst>
                    <a:ext uri="{9D8B030D-6E8A-4147-A177-3AD203B41FA5}">
                      <a16:colId xmlns:a16="http://schemas.microsoft.com/office/drawing/2014/main" val="2036784682"/>
                    </a:ext>
                  </a:extLst>
                </a:gridCol>
                <a:gridCol w="581432">
                  <a:extLst>
                    <a:ext uri="{9D8B030D-6E8A-4147-A177-3AD203B41FA5}">
                      <a16:colId xmlns:a16="http://schemas.microsoft.com/office/drawing/2014/main" val="2291714254"/>
                    </a:ext>
                  </a:extLst>
                </a:gridCol>
                <a:gridCol w="689147">
                  <a:extLst>
                    <a:ext uri="{9D8B030D-6E8A-4147-A177-3AD203B41FA5}">
                      <a16:colId xmlns:a16="http://schemas.microsoft.com/office/drawing/2014/main" val="639810311"/>
                    </a:ext>
                  </a:extLst>
                </a:gridCol>
                <a:gridCol w="689147">
                  <a:extLst>
                    <a:ext uri="{9D8B030D-6E8A-4147-A177-3AD203B41FA5}">
                      <a16:colId xmlns:a16="http://schemas.microsoft.com/office/drawing/2014/main" val="593052196"/>
                    </a:ext>
                  </a:extLst>
                </a:gridCol>
                <a:gridCol w="567533">
                  <a:extLst>
                    <a:ext uri="{9D8B030D-6E8A-4147-A177-3AD203B41FA5}">
                      <a16:colId xmlns:a16="http://schemas.microsoft.com/office/drawing/2014/main" val="517687519"/>
                    </a:ext>
                  </a:extLst>
                </a:gridCol>
                <a:gridCol w="573324">
                  <a:extLst>
                    <a:ext uri="{9D8B030D-6E8A-4147-A177-3AD203B41FA5}">
                      <a16:colId xmlns:a16="http://schemas.microsoft.com/office/drawing/2014/main" val="188216413"/>
                    </a:ext>
                  </a:extLst>
                </a:gridCol>
                <a:gridCol w="642818">
                  <a:extLst>
                    <a:ext uri="{9D8B030D-6E8A-4147-A177-3AD203B41FA5}">
                      <a16:colId xmlns:a16="http://schemas.microsoft.com/office/drawing/2014/main" val="3660000088"/>
                    </a:ext>
                  </a:extLst>
                </a:gridCol>
                <a:gridCol w="642818">
                  <a:extLst>
                    <a:ext uri="{9D8B030D-6E8A-4147-A177-3AD203B41FA5}">
                      <a16:colId xmlns:a16="http://schemas.microsoft.com/office/drawing/2014/main" val="2226463596"/>
                    </a:ext>
                  </a:extLst>
                </a:gridCol>
                <a:gridCol w="581432">
                  <a:extLst>
                    <a:ext uri="{9D8B030D-6E8A-4147-A177-3AD203B41FA5}">
                      <a16:colId xmlns:a16="http://schemas.microsoft.com/office/drawing/2014/main" val="416974651"/>
                    </a:ext>
                  </a:extLst>
                </a:gridCol>
                <a:gridCol w="638185">
                  <a:extLst>
                    <a:ext uri="{9D8B030D-6E8A-4147-A177-3AD203B41FA5}">
                      <a16:colId xmlns:a16="http://schemas.microsoft.com/office/drawing/2014/main" val="2389854143"/>
                    </a:ext>
                  </a:extLst>
                </a:gridCol>
                <a:gridCol w="638185">
                  <a:extLst>
                    <a:ext uri="{9D8B030D-6E8A-4147-A177-3AD203B41FA5}">
                      <a16:colId xmlns:a16="http://schemas.microsoft.com/office/drawing/2014/main" val="4092030881"/>
                    </a:ext>
                  </a:extLst>
                </a:gridCol>
                <a:gridCol w="686830">
                  <a:extLst>
                    <a:ext uri="{9D8B030D-6E8A-4147-A177-3AD203B41FA5}">
                      <a16:colId xmlns:a16="http://schemas.microsoft.com/office/drawing/2014/main" val="1943969335"/>
                    </a:ext>
                  </a:extLst>
                </a:gridCol>
              </a:tblGrid>
              <a:tr h="279927">
                <a:tc rowSpan="2">
                  <a:txBody>
                    <a:bodyPr/>
                    <a:lstStyle/>
                    <a:p>
                      <a:pPr marL="77470">
                        <a:spcBef>
                          <a:spcPts val="85"/>
                        </a:spcBef>
                        <a:spcAft>
                          <a:spcPts val="0"/>
                        </a:spcAft>
                      </a:pPr>
                      <a:r>
                        <a:rPr lang="en-US" sz="2000" dirty="0">
                          <a:effectLst/>
                          <a:latin typeface="Times New Roman" panose="02020603050405020304" pitchFamily="18" charset="0"/>
                          <a:cs typeface="Times New Roman" panose="02020603050405020304" pitchFamily="18" charset="0"/>
                        </a:rPr>
                        <a:t> </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335280">
                        <a:spcBef>
                          <a:spcPts val="85"/>
                        </a:spcBef>
                      </a:pPr>
                      <a:r>
                        <a:rPr lang="en-US" sz="2000">
                          <a:effectLst/>
                          <a:latin typeface="Times New Roman" panose="02020603050405020304" pitchFamily="18" charset="0"/>
                          <a:cs typeface="Times New Roman" panose="02020603050405020304" pitchFamily="18" charset="0"/>
                        </a:rPr>
                        <a:t>Number of correctly recognized bird sound in the class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73660">
                        <a:spcBef>
                          <a:spcPts val="795"/>
                        </a:spcBef>
                        <a:spcAft>
                          <a:spcPts val="0"/>
                        </a:spcAft>
                      </a:pPr>
                      <a:r>
                        <a:rPr lang="en-US" sz="2000">
                          <a:effectLst/>
                          <a:latin typeface="Times New Roman" panose="02020603050405020304" pitchFamily="18" charset="0"/>
                          <a:cs typeface="Times New Roman" panose="02020603050405020304" pitchFamily="18" charset="0"/>
                        </a:rPr>
                        <a:t>RSA</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86363692"/>
                  </a:ext>
                </a:extLst>
              </a:tr>
              <a:tr h="279927">
                <a:tc vMerge="1">
                  <a:txBody>
                    <a:bodyPr/>
                    <a:lstStyle/>
                    <a:p>
                      <a:endParaRPr lang="en-IN"/>
                    </a:p>
                  </a:txBody>
                  <a:tcPr/>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6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40005" marR="62865" algn="ctr">
                        <a:spcBef>
                          <a:spcPts val="6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2292962242"/>
                  </a:ext>
                </a:extLst>
              </a:tr>
              <a:tr h="283969">
                <a:tc>
                  <a:txBody>
                    <a:bodyPr/>
                    <a:lstStyle/>
                    <a:p>
                      <a:pPr marL="63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72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668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177925296"/>
                  </a:ext>
                </a:extLst>
              </a:tr>
              <a:tr h="283969">
                <a:tc>
                  <a:txBody>
                    <a:bodyPr/>
                    <a:lstStyle/>
                    <a:p>
                      <a:pPr marL="762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dirty="0">
                          <a:effectLst/>
                          <a:latin typeface="Times New Roman" panose="02020603050405020304" pitchFamily="18" charset="0"/>
                          <a:cs typeface="Times New Roman" panose="02020603050405020304" pitchFamily="18" charset="0"/>
                        </a:rPr>
                        <a:t>65</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668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985245914"/>
                  </a:ext>
                </a:extLst>
              </a:tr>
              <a:tr h="283969">
                <a:tc>
                  <a:txBody>
                    <a:bodyPr/>
                    <a:lstStyle/>
                    <a:p>
                      <a:pPr marL="6413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61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dirty="0">
                          <a:effectLst/>
                          <a:latin typeface="Times New Roman" panose="02020603050405020304" pitchFamily="18" charset="0"/>
                          <a:cs typeface="Times New Roman" panose="02020603050405020304" pitchFamily="18" charset="0"/>
                        </a:rPr>
                        <a:t>12</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668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82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329680777"/>
                  </a:ext>
                </a:extLst>
              </a:tr>
              <a:tr h="283969">
                <a:tc>
                  <a:txBody>
                    <a:bodyPr/>
                    <a:lstStyle/>
                    <a:p>
                      <a:pPr marL="54610"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dirty="0">
                          <a:effectLst/>
                          <a:highlight>
                            <a:srgbClr val="FF0000"/>
                          </a:highlight>
                          <a:latin typeface="Times New Roman" panose="02020603050405020304" pitchFamily="18" charset="0"/>
                          <a:cs typeface="Times New Roman" panose="02020603050405020304" pitchFamily="18" charset="0"/>
                        </a:rPr>
                        <a:t>72</a:t>
                      </a:r>
                      <a:endParaRPr lang="en-IN" sz="20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668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88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181363281"/>
                  </a:ext>
                </a:extLst>
              </a:tr>
              <a:tr h="283969">
                <a:tc>
                  <a:txBody>
                    <a:bodyPr/>
                    <a:lstStyle/>
                    <a:p>
                      <a:pPr marL="64135" marR="124460" algn="ctr">
                        <a:spcBef>
                          <a:spcPts val="8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dirty="0">
                          <a:effectLst/>
                          <a:highlight>
                            <a:srgbClr val="00FF00"/>
                          </a:highlight>
                          <a:latin typeface="Times New Roman" panose="02020603050405020304" pitchFamily="18" charset="0"/>
                          <a:cs typeface="Times New Roman" panose="02020603050405020304" pitchFamily="18" charset="0"/>
                        </a:rPr>
                        <a:t>77</a:t>
                      </a:r>
                      <a:endParaRPr lang="en-IN" sz="20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668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90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419441123"/>
                  </a:ext>
                </a:extLst>
              </a:tr>
              <a:tr h="283969">
                <a:tc>
                  <a:txBody>
                    <a:bodyPr/>
                    <a:lstStyle/>
                    <a:p>
                      <a:pPr marL="254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59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668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978456739"/>
                  </a:ext>
                </a:extLst>
              </a:tr>
              <a:tr h="283969">
                <a:tc>
                  <a:txBody>
                    <a:bodyPr/>
                    <a:lstStyle/>
                    <a:p>
                      <a:pPr marL="4000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69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668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193779591"/>
                  </a:ext>
                </a:extLst>
              </a:tr>
              <a:tr h="283969">
                <a:tc>
                  <a:txBody>
                    <a:bodyPr/>
                    <a:lstStyle/>
                    <a:p>
                      <a:pPr marL="42545"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dirty="0">
                          <a:effectLst/>
                          <a:latin typeface="Times New Roman" panose="02020603050405020304" pitchFamily="18" charset="0"/>
                          <a:ea typeface="LM Roman 8"/>
                          <a:cs typeface="Times New Roman" panose="02020603050405020304" pitchFamily="18" charset="0"/>
                        </a:rPr>
                        <a:t>0</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2000">
                          <a:effectLst/>
                          <a:latin typeface="Times New Roman" panose="02020603050405020304" pitchFamily="18" charset="0"/>
                          <a:cs typeface="Times New Roman" panose="02020603050405020304" pitchFamily="18" charset="0"/>
                        </a:rPr>
                        <a:t>75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668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060339231"/>
                  </a:ext>
                </a:extLst>
              </a:tr>
              <a:tr h="283969">
                <a:tc>
                  <a:txBody>
                    <a:bodyPr/>
                    <a:lstStyle/>
                    <a:p>
                      <a:pPr marL="48895"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0160" marR="62865" algn="ctr">
                        <a:spcBef>
                          <a:spcPts val="85"/>
                        </a:spcBef>
                        <a:spcAft>
                          <a:spcPts val="0"/>
                        </a:spcAft>
                      </a:pPr>
                      <a:r>
                        <a:rPr lang="en-US" sz="2000">
                          <a:effectLst/>
                          <a:latin typeface="Times New Roman" panose="02020603050405020304" pitchFamily="18" charset="0"/>
                          <a:cs typeface="Times New Roman" panose="02020603050405020304" pitchFamily="18" charset="0"/>
                        </a:rPr>
                        <a:t>67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58140995"/>
                  </a:ext>
                </a:extLst>
              </a:tr>
              <a:tr h="283969">
                <a:tc>
                  <a:txBody>
                    <a:bodyPr/>
                    <a:lstStyle/>
                    <a:p>
                      <a:pPr marL="3810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668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54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827946874"/>
                  </a:ext>
                </a:extLst>
              </a:tr>
              <a:tr h="283969">
                <a:tc>
                  <a:txBody>
                    <a:bodyPr/>
                    <a:lstStyle/>
                    <a:p>
                      <a:pPr marL="3175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Rel.</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88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79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556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2230" marR="62865" algn="ctr">
                        <a:spcBef>
                          <a:spcPts val="85"/>
                        </a:spcBef>
                        <a:spcAft>
                          <a:spcPts val="0"/>
                        </a:spcAft>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650727186"/>
                  </a:ext>
                </a:extLst>
              </a:tr>
              <a:tr h="283969">
                <a:tc gridSpan="12">
                  <a:txBody>
                    <a:bodyPr/>
                    <a:lstStyle/>
                    <a:p>
                      <a:pPr marL="77470">
                        <a:spcBef>
                          <a:spcPts val="85"/>
                        </a:spcBef>
                      </a:pPr>
                      <a:r>
                        <a:rPr lang="en-US" sz="2000" dirty="0">
                          <a:effectLst/>
                          <a:latin typeface="Times New Roman" panose="02020603050405020304" pitchFamily="18" charset="0"/>
                          <a:cs typeface="Times New Roman" panose="02020603050405020304" pitchFamily="18" charset="0"/>
                        </a:rPr>
                        <a:t>Overall Accuracy: 94.70%</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26374656"/>
                  </a:ext>
                </a:extLst>
              </a:tr>
            </a:tbl>
          </a:graphicData>
        </a:graphic>
      </p:graphicFrame>
    </p:spTree>
    <p:extLst>
      <p:ext uri="{BB962C8B-B14F-4D97-AF65-F5344CB8AC3E}">
        <p14:creationId xmlns:p14="http://schemas.microsoft.com/office/powerpoint/2010/main" val="37938139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509E419-C283-45B7-BCDB-747E5B06F819}"/>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513587AC-DAA8-47B2-AB82-F4D0E9CABEAD}"/>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11FCE556-9F44-4FEF-AB75-782F98865044}"/>
              </a:ext>
            </a:extLst>
          </p:cNvPr>
          <p:cNvSpPr>
            <a:spLocks noGrp="1"/>
          </p:cNvSpPr>
          <p:nvPr>
            <p:ph type="sldNum" sz="quarter" idx="12"/>
          </p:nvPr>
        </p:nvSpPr>
        <p:spPr/>
        <p:txBody>
          <a:bodyPr/>
          <a:lstStyle/>
          <a:p>
            <a:fld id="{B6F15528-21DE-4FAA-801E-634DDDAF4B2B}" type="slidenum">
              <a:rPr lang="en-US" smtClean="0"/>
              <a:pPr/>
              <a:t>40</a:t>
            </a:fld>
            <a:endParaRPr lang="en-US"/>
          </a:p>
        </p:txBody>
      </p:sp>
      <p:graphicFrame>
        <p:nvGraphicFramePr>
          <p:cNvPr id="9" name="Chart 8">
            <a:extLst>
              <a:ext uri="{FF2B5EF4-FFF2-40B4-BE49-F238E27FC236}">
                <a16:creationId xmlns:a16="http://schemas.microsoft.com/office/drawing/2014/main" id="{2EADE550-DAAC-46E0-8C15-D640EDBAF1A7}"/>
              </a:ext>
            </a:extLst>
          </p:cNvPr>
          <p:cNvGraphicFramePr>
            <a:graphicFrameLocks/>
          </p:cNvGraphicFramePr>
          <p:nvPr>
            <p:extLst>
              <p:ext uri="{D42A27DB-BD31-4B8C-83A1-F6EECF244321}">
                <p14:modId xmlns:p14="http://schemas.microsoft.com/office/powerpoint/2010/main" val="2946097403"/>
              </p:ext>
            </p:extLst>
          </p:nvPr>
        </p:nvGraphicFramePr>
        <p:xfrm>
          <a:off x="0" y="1371600"/>
          <a:ext cx="4559300" cy="27305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B7686F37-1C29-4234-8A89-4EFC9A1D8D95}"/>
              </a:ext>
            </a:extLst>
          </p:cNvPr>
          <p:cNvGraphicFramePr/>
          <p:nvPr>
            <p:extLst>
              <p:ext uri="{D42A27DB-BD31-4B8C-83A1-F6EECF244321}">
                <p14:modId xmlns:p14="http://schemas.microsoft.com/office/powerpoint/2010/main" val="3376420035"/>
              </p:ext>
            </p:extLst>
          </p:nvPr>
        </p:nvGraphicFramePr>
        <p:xfrm>
          <a:off x="4572000" y="12954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E1C09B45-3F54-45A4-A6FE-77C5887B426A}"/>
              </a:ext>
            </a:extLst>
          </p:cNvPr>
          <p:cNvSpPr txBox="1"/>
          <p:nvPr/>
        </p:nvSpPr>
        <p:spPr>
          <a:xfrm>
            <a:off x="228600" y="4126468"/>
            <a:ext cx="8534400" cy="369332"/>
          </a:xfrm>
          <a:prstGeom prst="rect">
            <a:avLst/>
          </a:prstGeom>
          <a:noFill/>
        </p:spPr>
        <p:txBody>
          <a:bodyPr wrap="square" rtlCol="0">
            <a:spAutoFit/>
          </a:bodyPr>
          <a:lstStyle/>
          <a:p>
            <a:pPr algn="ctr"/>
            <a:r>
              <a:rPr lang="en-US" dirty="0"/>
              <a:t>Fig 14 : Analysis and Accuracy of MFCC (27) Features with KNN Algorithm</a:t>
            </a:r>
            <a:endParaRPr lang="en-IN" dirty="0"/>
          </a:p>
        </p:txBody>
      </p:sp>
    </p:spTree>
    <p:extLst>
      <p:ext uri="{BB962C8B-B14F-4D97-AF65-F5344CB8AC3E}">
        <p14:creationId xmlns:p14="http://schemas.microsoft.com/office/powerpoint/2010/main" val="35575250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BCF7A-E921-4F5C-950D-3EDB7A72707E}"/>
              </a:ext>
            </a:extLst>
          </p:cNvPr>
          <p:cNvSpPr>
            <a:spLocks noGrp="1"/>
          </p:cNvSpPr>
          <p:nvPr>
            <p:ph type="title"/>
          </p:nvPr>
        </p:nvSpPr>
        <p:spPr>
          <a:xfrm>
            <a:off x="457200" y="-228600"/>
            <a:ext cx="8229600" cy="1143000"/>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Result of LFCC</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8A35D8B-5D72-442A-B088-7C121B0A0E29}"/>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13569BA5-DDF1-4974-94E1-40DD2987E56C}"/>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D91BBCCC-623B-4558-961A-764A3A6CE870}"/>
              </a:ext>
            </a:extLst>
          </p:cNvPr>
          <p:cNvSpPr>
            <a:spLocks noGrp="1"/>
          </p:cNvSpPr>
          <p:nvPr>
            <p:ph type="sldNum" sz="quarter" idx="12"/>
          </p:nvPr>
        </p:nvSpPr>
        <p:spPr/>
        <p:txBody>
          <a:bodyPr/>
          <a:lstStyle/>
          <a:p>
            <a:fld id="{B6F15528-21DE-4FAA-801E-634DDDAF4B2B}" type="slidenum">
              <a:rPr lang="en-US" smtClean="0"/>
              <a:pPr/>
              <a:t>41</a:t>
            </a:fld>
            <a:endParaRPr lang="en-US"/>
          </a:p>
        </p:txBody>
      </p:sp>
      <p:sp>
        <p:nvSpPr>
          <p:cNvPr id="8" name="TextBox 7">
            <a:extLst>
              <a:ext uri="{FF2B5EF4-FFF2-40B4-BE49-F238E27FC236}">
                <a16:creationId xmlns:a16="http://schemas.microsoft.com/office/drawing/2014/main" id="{69003A80-1948-4153-94BE-81406BAA330F}"/>
              </a:ext>
            </a:extLst>
          </p:cNvPr>
          <p:cNvSpPr txBox="1"/>
          <p:nvPr/>
        </p:nvSpPr>
        <p:spPr>
          <a:xfrm>
            <a:off x="457200" y="609600"/>
            <a:ext cx="80010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Table </a:t>
            </a:r>
            <a:r>
              <a:rPr lang="en-US" sz="2000" dirty="0">
                <a:latin typeface="Times New Roman" panose="02020603050405020304" pitchFamily="18" charset="0"/>
                <a:ea typeface="LM Roman 12"/>
                <a:cs typeface="Times New Roman" panose="02020603050405020304" pitchFamily="18" charset="0"/>
              </a:rPr>
              <a:t>14</a:t>
            </a:r>
            <a:r>
              <a:rPr lang="en-US" sz="2000" dirty="0">
                <a:effectLst/>
                <a:latin typeface="Times New Roman" panose="02020603050405020304" pitchFamily="18" charset="0"/>
                <a:ea typeface="LM Roman 12"/>
                <a:cs typeface="Times New Roman" panose="02020603050405020304" pitchFamily="18" charset="0"/>
              </a:rPr>
              <a:t> :Recognition of result with LFCC (27) features</a:t>
            </a:r>
            <a:endParaRPr lang="en-IN" sz="20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EE53F273-904B-416E-862F-E0BCDD07775A}"/>
              </a:ext>
            </a:extLst>
          </p:cNvPr>
          <p:cNvGraphicFramePr>
            <a:graphicFrameLocks noGrp="1"/>
          </p:cNvGraphicFramePr>
          <p:nvPr>
            <p:extLst>
              <p:ext uri="{D42A27DB-BD31-4B8C-83A1-F6EECF244321}">
                <p14:modId xmlns:p14="http://schemas.microsoft.com/office/powerpoint/2010/main" val="2534256687"/>
              </p:ext>
            </p:extLst>
          </p:nvPr>
        </p:nvGraphicFramePr>
        <p:xfrm>
          <a:off x="457200" y="1143000"/>
          <a:ext cx="7696200" cy="4267200"/>
        </p:xfrm>
        <a:graphic>
          <a:graphicData uri="http://schemas.openxmlformats.org/drawingml/2006/table">
            <a:tbl>
              <a:tblPr firstRow="1" firstCol="1" lastRow="1" lastCol="1" bandRow="1" bandCol="1">
                <a:tableStyleId>{5940675A-B579-460E-94D1-54222C63F5DA}</a:tableStyleId>
              </a:tblPr>
              <a:tblGrid>
                <a:gridCol w="698481">
                  <a:extLst>
                    <a:ext uri="{9D8B030D-6E8A-4147-A177-3AD203B41FA5}">
                      <a16:colId xmlns:a16="http://schemas.microsoft.com/office/drawing/2014/main" val="2484942975"/>
                    </a:ext>
                  </a:extLst>
                </a:gridCol>
                <a:gridCol w="590480">
                  <a:extLst>
                    <a:ext uri="{9D8B030D-6E8A-4147-A177-3AD203B41FA5}">
                      <a16:colId xmlns:a16="http://schemas.microsoft.com/office/drawing/2014/main" val="1623961851"/>
                    </a:ext>
                  </a:extLst>
                </a:gridCol>
                <a:gridCol w="699655">
                  <a:extLst>
                    <a:ext uri="{9D8B030D-6E8A-4147-A177-3AD203B41FA5}">
                      <a16:colId xmlns:a16="http://schemas.microsoft.com/office/drawing/2014/main" val="934642655"/>
                    </a:ext>
                  </a:extLst>
                </a:gridCol>
                <a:gridCol w="699655">
                  <a:extLst>
                    <a:ext uri="{9D8B030D-6E8A-4147-A177-3AD203B41FA5}">
                      <a16:colId xmlns:a16="http://schemas.microsoft.com/office/drawing/2014/main" val="3727186362"/>
                    </a:ext>
                  </a:extLst>
                </a:gridCol>
                <a:gridCol w="576393">
                  <a:extLst>
                    <a:ext uri="{9D8B030D-6E8A-4147-A177-3AD203B41FA5}">
                      <a16:colId xmlns:a16="http://schemas.microsoft.com/office/drawing/2014/main" val="1636919359"/>
                    </a:ext>
                  </a:extLst>
                </a:gridCol>
                <a:gridCol w="582263">
                  <a:extLst>
                    <a:ext uri="{9D8B030D-6E8A-4147-A177-3AD203B41FA5}">
                      <a16:colId xmlns:a16="http://schemas.microsoft.com/office/drawing/2014/main" val="4237969398"/>
                    </a:ext>
                  </a:extLst>
                </a:gridCol>
                <a:gridCol w="652697">
                  <a:extLst>
                    <a:ext uri="{9D8B030D-6E8A-4147-A177-3AD203B41FA5}">
                      <a16:colId xmlns:a16="http://schemas.microsoft.com/office/drawing/2014/main" val="3455232158"/>
                    </a:ext>
                  </a:extLst>
                </a:gridCol>
                <a:gridCol w="652697">
                  <a:extLst>
                    <a:ext uri="{9D8B030D-6E8A-4147-A177-3AD203B41FA5}">
                      <a16:colId xmlns:a16="http://schemas.microsoft.com/office/drawing/2014/main" val="58367322"/>
                    </a:ext>
                  </a:extLst>
                </a:gridCol>
                <a:gridCol w="547046">
                  <a:extLst>
                    <a:ext uri="{9D8B030D-6E8A-4147-A177-3AD203B41FA5}">
                      <a16:colId xmlns:a16="http://schemas.microsoft.com/office/drawing/2014/main" val="606917691"/>
                    </a:ext>
                  </a:extLst>
                </a:gridCol>
                <a:gridCol w="649176">
                  <a:extLst>
                    <a:ext uri="{9D8B030D-6E8A-4147-A177-3AD203B41FA5}">
                      <a16:colId xmlns:a16="http://schemas.microsoft.com/office/drawing/2014/main" val="2875994172"/>
                    </a:ext>
                  </a:extLst>
                </a:gridCol>
                <a:gridCol w="649176">
                  <a:extLst>
                    <a:ext uri="{9D8B030D-6E8A-4147-A177-3AD203B41FA5}">
                      <a16:colId xmlns:a16="http://schemas.microsoft.com/office/drawing/2014/main" val="1716763462"/>
                    </a:ext>
                  </a:extLst>
                </a:gridCol>
                <a:gridCol w="698481">
                  <a:extLst>
                    <a:ext uri="{9D8B030D-6E8A-4147-A177-3AD203B41FA5}">
                      <a16:colId xmlns:a16="http://schemas.microsoft.com/office/drawing/2014/main" val="2632338966"/>
                    </a:ext>
                  </a:extLst>
                </a:gridCol>
              </a:tblGrid>
              <a:tr h="279927">
                <a:tc rowSpan="2">
                  <a:txBody>
                    <a:bodyPr/>
                    <a:lstStyle/>
                    <a:p>
                      <a:pPr marL="77470">
                        <a:spcBef>
                          <a:spcPts val="85"/>
                        </a:spcBef>
                        <a:spcAft>
                          <a:spcPts val="0"/>
                        </a:spcAft>
                      </a:pPr>
                      <a:r>
                        <a:rPr lang="en-US" sz="2000" dirty="0">
                          <a:effectLst/>
                          <a:latin typeface="Times New Roman" panose="02020603050405020304" pitchFamily="18" charset="0"/>
                          <a:cs typeface="Times New Roman" panose="02020603050405020304" pitchFamily="18" charset="0"/>
                        </a:rPr>
                        <a:t> </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320040">
                        <a:spcBef>
                          <a:spcPts val="85"/>
                        </a:spcBef>
                      </a:pPr>
                      <a:r>
                        <a:rPr lang="en-US" sz="2000">
                          <a:effectLst/>
                          <a:latin typeface="Times New Roman" panose="02020603050405020304" pitchFamily="18" charset="0"/>
                          <a:cs typeface="Times New Roman" panose="02020603050405020304" pitchFamily="18" charset="0"/>
                        </a:rPr>
                        <a:t>Number of correctly recognized bird sound in the class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6675">
                        <a:spcBef>
                          <a:spcPts val="795"/>
                        </a:spcBef>
                        <a:spcAft>
                          <a:spcPts val="0"/>
                        </a:spcAft>
                      </a:pPr>
                      <a:r>
                        <a:rPr lang="en-US" sz="2000">
                          <a:effectLst/>
                          <a:latin typeface="Times New Roman" panose="02020603050405020304" pitchFamily="18" charset="0"/>
                          <a:cs typeface="Times New Roman" panose="02020603050405020304" pitchFamily="18" charset="0"/>
                        </a:rPr>
                        <a:t>RSA</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152890589"/>
                  </a:ext>
                </a:extLst>
              </a:tr>
              <a:tr h="279927">
                <a:tc vMerge="1">
                  <a:txBody>
                    <a:bodyPr/>
                    <a:lstStyle/>
                    <a:p>
                      <a:endParaRPr lang="en-IN"/>
                    </a:p>
                  </a:txBody>
                  <a:tcPr/>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6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6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6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3652565756"/>
                  </a:ext>
                </a:extLst>
              </a:tr>
              <a:tr h="283969">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dirty="0">
                          <a:effectLst/>
                          <a:latin typeface="Times New Roman" panose="02020603050405020304" pitchFamily="18" charset="0"/>
                          <a:cs typeface="Times New Roman" panose="02020603050405020304" pitchFamily="18" charset="0"/>
                        </a:rPr>
                        <a:t>49</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69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768459249"/>
                  </a:ext>
                </a:extLst>
              </a:tr>
              <a:tr h="283969">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57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80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32235480"/>
                  </a:ext>
                </a:extLst>
              </a:tr>
              <a:tr h="283969">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55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12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65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354111814"/>
                  </a:ext>
                </a:extLst>
              </a:tr>
              <a:tr h="283969">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dirty="0">
                          <a:effectLst/>
                          <a:highlight>
                            <a:srgbClr val="FF0000"/>
                          </a:highlight>
                          <a:latin typeface="Times New Roman" panose="02020603050405020304" pitchFamily="18" charset="0"/>
                          <a:cs typeface="Times New Roman" panose="02020603050405020304" pitchFamily="18" charset="0"/>
                        </a:rPr>
                        <a:t>35</a:t>
                      </a:r>
                      <a:endParaRPr lang="en-IN" sz="20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46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536689180"/>
                  </a:ext>
                </a:extLst>
              </a:tr>
              <a:tr h="283969">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65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75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380689849"/>
                  </a:ext>
                </a:extLst>
              </a:tr>
              <a:tr h="283969">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55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80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750923122"/>
                  </a:ext>
                </a:extLst>
              </a:tr>
              <a:tr h="283969">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08585">
                        <a:spcBef>
                          <a:spcPts val="85"/>
                        </a:spcBef>
                      </a:pPr>
                      <a:r>
                        <a:rPr lang="en-US" sz="2000" dirty="0">
                          <a:effectLst/>
                          <a:highlight>
                            <a:srgbClr val="00FF00"/>
                          </a:highlight>
                          <a:latin typeface="Times New Roman" panose="02020603050405020304" pitchFamily="18" charset="0"/>
                          <a:cs typeface="Times New Roman" panose="02020603050405020304" pitchFamily="18" charset="0"/>
                        </a:rPr>
                        <a:t>63</a:t>
                      </a:r>
                      <a:endParaRPr lang="en-IN" sz="20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523515141"/>
                  </a:ext>
                </a:extLst>
              </a:tr>
              <a:tr h="283969">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54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80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275350350"/>
                  </a:ext>
                </a:extLst>
              </a:tr>
              <a:tr h="283969">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54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85777178"/>
                  </a:ext>
                </a:extLst>
              </a:tr>
              <a:tr h="283969">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36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71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564531995"/>
                  </a:ext>
                </a:extLst>
              </a:tr>
              <a:tr h="283969">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Rel.</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88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71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61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57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89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75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85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69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68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77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862751746"/>
                  </a:ext>
                </a:extLst>
              </a:tr>
              <a:tr h="283969">
                <a:tc gridSpan="12">
                  <a:txBody>
                    <a:bodyPr/>
                    <a:lstStyle/>
                    <a:p>
                      <a:pPr marL="77470">
                        <a:spcBef>
                          <a:spcPts val="85"/>
                        </a:spcBef>
                      </a:pPr>
                      <a:r>
                        <a:rPr lang="en-US" sz="2000" dirty="0">
                          <a:effectLst/>
                          <a:latin typeface="Times New Roman" panose="02020603050405020304" pitchFamily="18" charset="0"/>
                          <a:cs typeface="Times New Roman" panose="02020603050405020304" pitchFamily="18" charset="0"/>
                        </a:rPr>
                        <a:t>Overall Accuracy: 87.56%</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514615587"/>
                  </a:ext>
                </a:extLst>
              </a:tr>
            </a:tbl>
          </a:graphicData>
        </a:graphic>
      </p:graphicFrame>
    </p:spTree>
    <p:extLst>
      <p:ext uri="{BB962C8B-B14F-4D97-AF65-F5344CB8AC3E}">
        <p14:creationId xmlns:p14="http://schemas.microsoft.com/office/powerpoint/2010/main" val="20459108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CDB61CB-61D2-492A-A6C9-AD37DB8E852A}"/>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F3FC0847-9B9E-4849-AB71-DC2D477BBC75}"/>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1F41C3A8-D87A-431E-93F1-B8D79971B1BE}"/>
              </a:ext>
            </a:extLst>
          </p:cNvPr>
          <p:cNvSpPr>
            <a:spLocks noGrp="1"/>
          </p:cNvSpPr>
          <p:nvPr>
            <p:ph type="sldNum" sz="quarter" idx="12"/>
          </p:nvPr>
        </p:nvSpPr>
        <p:spPr/>
        <p:txBody>
          <a:bodyPr/>
          <a:lstStyle/>
          <a:p>
            <a:fld id="{B6F15528-21DE-4FAA-801E-634DDDAF4B2B}" type="slidenum">
              <a:rPr lang="en-US" smtClean="0"/>
              <a:pPr/>
              <a:t>42</a:t>
            </a:fld>
            <a:endParaRPr lang="en-US"/>
          </a:p>
        </p:txBody>
      </p:sp>
      <p:graphicFrame>
        <p:nvGraphicFramePr>
          <p:cNvPr id="11" name="Chart 10">
            <a:extLst>
              <a:ext uri="{FF2B5EF4-FFF2-40B4-BE49-F238E27FC236}">
                <a16:creationId xmlns:a16="http://schemas.microsoft.com/office/drawing/2014/main" id="{19C57898-6139-4B59-843B-EAFB2F9D56B1}"/>
              </a:ext>
            </a:extLst>
          </p:cNvPr>
          <p:cNvGraphicFramePr/>
          <p:nvPr>
            <p:extLst>
              <p:ext uri="{D42A27DB-BD31-4B8C-83A1-F6EECF244321}">
                <p14:modId xmlns:p14="http://schemas.microsoft.com/office/powerpoint/2010/main" val="2313133835"/>
              </p:ext>
            </p:extLst>
          </p:nvPr>
        </p:nvGraphicFramePr>
        <p:xfrm>
          <a:off x="0" y="1447800"/>
          <a:ext cx="4606925" cy="28594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a:extLst>
              <a:ext uri="{FF2B5EF4-FFF2-40B4-BE49-F238E27FC236}">
                <a16:creationId xmlns:a16="http://schemas.microsoft.com/office/drawing/2014/main" id="{0245A0D1-FF17-49ED-A8AD-1D8C498CCD35}"/>
              </a:ext>
            </a:extLst>
          </p:cNvPr>
          <p:cNvGraphicFramePr/>
          <p:nvPr>
            <p:extLst>
              <p:ext uri="{D42A27DB-BD31-4B8C-83A1-F6EECF244321}">
                <p14:modId xmlns:p14="http://schemas.microsoft.com/office/powerpoint/2010/main" val="114268681"/>
              </p:ext>
            </p:extLst>
          </p:nvPr>
        </p:nvGraphicFramePr>
        <p:xfrm>
          <a:off x="4572000" y="14478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7FF7DF05-5F3C-4880-B18B-5E84F2340502}"/>
              </a:ext>
            </a:extLst>
          </p:cNvPr>
          <p:cNvSpPr txBox="1"/>
          <p:nvPr/>
        </p:nvSpPr>
        <p:spPr>
          <a:xfrm>
            <a:off x="228600" y="4355068"/>
            <a:ext cx="8534400" cy="369332"/>
          </a:xfrm>
          <a:prstGeom prst="rect">
            <a:avLst/>
          </a:prstGeom>
          <a:noFill/>
        </p:spPr>
        <p:txBody>
          <a:bodyPr wrap="square" rtlCol="0">
            <a:spAutoFit/>
          </a:bodyPr>
          <a:lstStyle/>
          <a:p>
            <a:pPr algn="ctr"/>
            <a:r>
              <a:rPr lang="en-US" dirty="0"/>
              <a:t>Fig 15: Analysis and Accuracy of LFCC (27) Features</a:t>
            </a:r>
            <a:endParaRPr lang="en-IN" dirty="0"/>
          </a:p>
        </p:txBody>
      </p:sp>
    </p:spTree>
    <p:extLst>
      <p:ext uri="{BB962C8B-B14F-4D97-AF65-F5344CB8AC3E}">
        <p14:creationId xmlns:p14="http://schemas.microsoft.com/office/powerpoint/2010/main" val="15342886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8A35D8B-5D72-442A-B088-7C121B0A0E29}"/>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13569BA5-DDF1-4974-94E1-40DD2987E56C}"/>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D91BBCCC-623B-4558-961A-764A3A6CE870}"/>
              </a:ext>
            </a:extLst>
          </p:cNvPr>
          <p:cNvSpPr>
            <a:spLocks noGrp="1"/>
          </p:cNvSpPr>
          <p:nvPr>
            <p:ph type="sldNum" sz="quarter" idx="12"/>
          </p:nvPr>
        </p:nvSpPr>
        <p:spPr/>
        <p:txBody>
          <a:bodyPr/>
          <a:lstStyle/>
          <a:p>
            <a:fld id="{B6F15528-21DE-4FAA-801E-634DDDAF4B2B}" type="slidenum">
              <a:rPr lang="en-US" smtClean="0"/>
              <a:pPr/>
              <a:t>43</a:t>
            </a:fld>
            <a:endParaRPr lang="en-US"/>
          </a:p>
        </p:txBody>
      </p:sp>
      <p:sp>
        <p:nvSpPr>
          <p:cNvPr id="8" name="TextBox 7">
            <a:extLst>
              <a:ext uri="{FF2B5EF4-FFF2-40B4-BE49-F238E27FC236}">
                <a16:creationId xmlns:a16="http://schemas.microsoft.com/office/drawing/2014/main" id="{69003A80-1948-4153-94BE-81406BAA330F}"/>
              </a:ext>
            </a:extLst>
          </p:cNvPr>
          <p:cNvSpPr txBox="1"/>
          <p:nvPr/>
        </p:nvSpPr>
        <p:spPr>
          <a:xfrm>
            <a:off x="457200" y="609600"/>
            <a:ext cx="83820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Table </a:t>
            </a:r>
            <a:r>
              <a:rPr lang="en-US" sz="2000" dirty="0">
                <a:latin typeface="Times New Roman" panose="02020603050405020304" pitchFamily="18" charset="0"/>
                <a:ea typeface="LM Roman 12"/>
                <a:cs typeface="Times New Roman" panose="02020603050405020304" pitchFamily="18" charset="0"/>
              </a:rPr>
              <a:t>15</a:t>
            </a:r>
            <a:r>
              <a:rPr lang="en-US" sz="2000" dirty="0">
                <a:effectLst/>
                <a:latin typeface="Times New Roman" panose="02020603050405020304" pitchFamily="18" charset="0"/>
                <a:ea typeface="LM Roman 12"/>
                <a:cs typeface="Times New Roman" panose="02020603050405020304" pitchFamily="18" charset="0"/>
              </a:rPr>
              <a:t>:Recognition of result with LFCC (27) features with KNN algorithm</a:t>
            </a:r>
            <a:endParaRPr lang="en-IN" sz="2000"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F478B65B-3B7B-44C6-B5A3-F383EBCF625B}"/>
              </a:ext>
            </a:extLst>
          </p:cNvPr>
          <p:cNvGraphicFramePr>
            <a:graphicFrameLocks noGrp="1"/>
          </p:cNvGraphicFramePr>
          <p:nvPr>
            <p:extLst>
              <p:ext uri="{D42A27DB-BD31-4B8C-83A1-F6EECF244321}">
                <p14:modId xmlns:p14="http://schemas.microsoft.com/office/powerpoint/2010/main" val="3781785736"/>
              </p:ext>
            </p:extLst>
          </p:nvPr>
        </p:nvGraphicFramePr>
        <p:xfrm>
          <a:off x="609599" y="1143000"/>
          <a:ext cx="7848601" cy="4267200"/>
        </p:xfrm>
        <a:graphic>
          <a:graphicData uri="http://schemas.openxmlformats.org/drawingml/2006/table">
            <a:tbl>
              <a:tblPr firstRow="1" firstCol="1" lastRow="1" lastCol="1" bandRow="1" bandCol="1">
                <a:tableStyleId>{5940675A-B579-460E-94D1-54222C63F5DA}</a:tableStyleId>
              </a:tblPr>
              <a:tblGrid>
                <a:gridCol w="712312">
                  <a:extLst>
                    <a:ext uri="{9D8B030D-6E8A-4147-A177-3AD203B41FA5}">
                      <a16:colId xmlns:a16="http://schemas.microsoft.com/office/drawing/2014/main" val="2131620889"/>
                    </a:ext>
                  </a:extLst>
                </a:gridCol>
                <a:gridCol w="602173">
                  <a:extLst>
                    <a:ext uri="{9D8B030D-6E8A-4147-A177-3AD203B41FA5}">
                      <a16:colId xmlns:a16="http://schemas.microsoft.com/office/drawing/2014/main" val="1459538175"/>
                    </a:ext>
                  </a:extLst>
                </a:gridCol>
                <a:gridCol w="713509">
                  <a:extLst>
                    <a:ext uri="{9D8B030D-6E8A-4147-A177-3AD203B41FA5}">
                      <a16:colId xmlns:a16="http://schemas.microsoft.com/office/drawing/2014/main" val="1575093552"/>
                    </a:ext>
                  </a:extLst>
                </a:gridCol>
                <a:gridCol w="713509">
                  <a:extLst>
                    <a:ext uri="{9D8B030D-6E8A-4147-A177-3AD203B41FA5}">
                      <a16:colId xmlns:a16="http://schemas.microsoft.com/office/drawing/2014/main" val="837465284"/>
                    </a:ext>
                  </a:extLst>
                </a:gridCol>
                <a:gridCol w="587807">
                  <a:extLst>
                    <a:ext uri="{9D8B030D-6E8A-4147-A177-3AD203B41FA5}">
                      <a16:colId xmlns:a16="http://schemas.microsoft.com/office/drawing/2014/main" val="989834753"/>
                    </a:ext>
                  </a:extLst>
                </a:gridCol>
                <a:gridCol w="593793">
                  <a:extLst>
                    <a:ext uri="{9D8B030D-6E8A-4147-A177-3AD203B41FA5}">
                      <a16:colId xmlns:a16="http://schemas.microsoft.com/office/drawing/2014/main" val="2019508510"/>
                    </a:ext>
                  </a:extLst>
                </a:gridCol>
                <a:gridCol w="665622">
                  <a:extLst>
                    <a:ext uri="{9D8B030D-6E8A-4147-A177-3AD203B41FA5}">
                      <a16:colId xmlns:a16="http://schemas.microsoft.com/office/drawing/2014/main" val="404092009"/>
                    </a:ext>
                  </a:extLst>
                </a:gridCol>
                <a:gridCol w="665622">
                  <a:extLst>
                    <a:ext uri="{9D8B030D-6E8A-4147-A177-3AD203B41FA5}">
                      <a16:colId xmlns:a16="http://schemas.microsoft.com/office/drawing/2014/main" val="2269174849"/>
                    </a:ext>
                  </a:extLst>
                </a:gridCol>
                <a:gridCol w="557878">
                  <a:extLst>
                    <a:ext uri="{9D8B030D-6E8A-4147-A177-3AD203B41FA5}">
                      <a16:colId xmlns:a16="http://schemas.microsoft.com/office/drawing/2014/main" val="3944848985"/>
                    </a:ext>
                  </a:extLst>
                </a:gridCol>
                <a:gridCol w="662032">
                  <a:extLst>
                    <a:ext uri="{9D8B030D-6E8A-4147-A177-3AD203B41FA5}">
                      <a16:colId xmlns:a16="http://schemas.microsoft.com/office/drawing/2014/main" val="4223018891"/>
                    </a:ext>
                  </a:extLst>
                </a:gridCol>
                <a:gridCol w="662032">
                  <a:extLst>
                    <a:ext uri="{9D8B030D-6E8A-4147-A177-3AD203B41FA5}">
                      <a16:colId xmlns:a16="http://schemas.microsoft.com/office/drawing/2014/main" val="1854197837"/>
                    </a:ext>
                  </a:extLst>
                </a:gridCol>
                <a:gridCol w="712312">
                  <a:extLst>
                    <a:ext uri="{9D8B030D-6E8A-4147-A177-3AD203B41FA5}">
                      <a16:colId xmlns:a16="http://schemas.microsoft.com/office/drawing/2014/main" val="1054919445"/>
                    </a:ext>
                  </a:extLst>
                </a:gridCol>
              </a:tblGrid>
              <a:tr h="283955">
                <a:tc rowSpan="2">
                  <a:txBody>
                    <a:bodyPr/>
                    <a:lstStyle/>
                    <a:p>
                      <a:pPr marL="77470">
                        <a:spcBef>
                          <a:spcPts val="85"/>
                        </a:spcBef>
                        <a:spcAft>
                          <a:spcPts val="0"/>
                        </a:spcAft>
                      </a:pPr>
                      <a:r>
                        <a:rPr lang="en-US" sz="2000" dirty="0">
                          <a:effectLst/>
                          <a:latin typeface="Times New Roman" panose="02020603050405020304" pitchFamily="18" charset="0"/>
                          <a:cs typeface="Times New Roman" panose="02020603050405020304" pitchFamily="18" charset="0"/>
                        </a:rPr>
                        <a:t> </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320040">
                        <a:spcBef>
                          <a:spcPts val="85"/>
                        </a:spcBef>
                      </a:pPr>
                      <a:r>
                        <a:rPr lang="en-US" sz="2000">
                          <a:effectLst/>
                          <a:latin typeface="Times New Roman" panose="02020603050405020304" pitchFamily="18" charset="0"/>
                          <a:cs typeface="Times New Roman" panose="02020603050405020304" pitchFamily="18" charset="0"/>
                        </a:rPr>
                        <a:t>Number of correctly recognized bird sound in the class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6675">
                        <a:spcBef>
                          <a:spcPts val="795"/>
                        </a:spcBef>
                        <a:spcAft>
                          <a:spcPts val="0"/>
                        </a:spcAft>
                      </a:pPr>
                      <a:r>
                        <a:rPr lang="en-US" sz="2000">
                          <a:effectLst/>
                          <a:latin typeface="Times New Roman" panose="02020603050405020304" pitchFamily="18" charset="0"/>
                          <a:cs typeface="Times New Roman" panose="02020603050405020304" pitchFamily="18" charset="0"/>
                        </a:rPr>
                        <a:t>RSA</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95090944"/>
                  </a:ext>
                </a:extLst>
              </a:tr>
              <a:tr h="283955">
                <a:tc vMerge="1">
                  <a:txBody>
                    <a:bodyPr/>
                    <a:lstStyle/>
                    <a:p>
                      <a:endParaRPr lang="en-IN"/>
                    </a:p>
                  </a:txBody>
                  <a:tcPr/>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6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6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6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1953145584"/>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66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437760197"/>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71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dirty="0">
                          <a:effectLst/>
                          <a:latin typeface="Times New Roman" panose="02020603050405020304" pitchFamily="18" charset="0"/>
                          <a:cs typeface="Times New Roman" panose="02020603050405020304" pitchFamily="18" charset="0"/>
                        </a:rPr>
                        <a:t>5</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828380620"/>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58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13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79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911408472"/>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dirty="0">
                          <a:effectLst/>
                          <a:highlight>
                            <a:srgbClr val="FF0000"/>
                          </a:highlight>
                          <a:latin typeface="Times New Roman" panose="02020603050405020304" pitchFamily="18" charset="0"/>
                          <a:cs typeface="Times New Roman" panose="02020603050405020304" pitchFamily="18" charset="0"/>
                        </a:rPr>
                        <a:t>90</a:t>
                      </a:r>
                      <a:endParaRPr lang="en-IN" sz="20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055525377"/>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72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530206106"/>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dirty="0">
                          <a:effectLst/>
                          <a:latin typeface="Times New Roman" panose="02020603050405020304" pitchFamily="18" charset="0"/>
                          <a:ea typeface="LM Roman 8"/>
                          <a:cs typeface="Times New Roman" panose="02020603050405020304" pitchFamily="18" charset="0"/>
                        </a:rPr>
                        <a:t>0</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dirty="0">
                          <a:effectLst/>
                          <a:highlight>
                            <a:srgbClr val="00FF00"/>
                          </a:highlight>
                          <a:latin typeface="Times New Roman" panose="02020603050405020304" pitchFamily="18" charset="0"/>
                          <a:cs typeface="Times New Roman" panose="02020603050405020304" pitchFamily="18" charset="0"/>
                        </a:rPr>
                        <a:t>54</a:t>
                      </a:r>
                      <a:endParaRPr lang="en-IN" sz="20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897469515"/>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dirty="0">
                          <a:effectLst/>
                          <a:latin typeface="Times New Roman" panose="02020603050405020304" pitchFamily="18" charset="0"/>
                          <a:cs typeface="Times New Roman" panose="02020603050405020304" pitchFamily="18" charset="0"/>
                        </a:rPr>
                        <a:t>2</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54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03187468"/>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dirty="0">
                          <a:effectLst/>
                          <a:latin typeface="Times New Roman" panose="02020603050405020304" pitchFamily="18" charset="0"/>
                          <a:cs typeface="Times New Roman" panose="02020603050405020304" pitchFamily="18" charset="0"/>
                        </a:rPr>
                        <a:t>0</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78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128130585"/>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67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811981404"/>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63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139763092"/>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Rel.</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93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82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601094823"/>
                  </a:ext>
                </a:extLst>
              </a:tr>
              <a:tr h="288055">
                <a:tc gridSpan="12">
                  <a:txBody>
                    <a:bodyPr/>
                    <a:lstStyle/>
                    <a:p>
                      <a:pPr marL="77470">
                        <a:spcBef>
                          <a:spcPts val="85"/>
                        </a:spcBef>
                      </a:pPr>
                      <a:r>
                        <a:rPr lang="en-US" sz="2000" dirty="0">
                          <a:effectLst/>
                          <a:latin typeface="Times New Roman" panose="02020603050405020304" pitchFamily="18" charset="0"/>
                          <a:cs typeface="Times New Roman" panose="02020603050405020304" pitchFamily="18" charset="0"/>
                        </a:rPr>
                        <a:t>Overall Accuracy: 95.05%</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316583011"/>
                  </a:ext>
                </a:extLst>
              </a:tr>
            </a:tbl>
          </a:graphicData>
        </a:graphic>
      </p:graphicFrame>
    </p:spTree>
    <p:extLst>
      <p:ext uri="{BB962C8B-B14F-4D97-AF65-F5344CB8AC3E}">
        <p14:creationId xmlns:p14="http://schemas.microsoft.com/office/powerpoint/2010/main" val="12528485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CDB61CB-61D2-492A-A6C9-AD37DB8E852A}"/>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F3FC0847-9B9E-4849-AB71-DC2D477BBC75}"/>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1F41C3A8-D87A-431E-93F1-B8D79971B1BE}"/>
              </a:ext>
            </a:extLst>
          </p:cNvPr>
          <p:cNvSpPr>
            <a:spLocks noGrp="1"/>
          </p:cNvSpPr>
          <p:nvPr>
            <p:ph type="sldNum" sz="quarter" idx="12"/>
          </p:nvPr>
        </p:nvSpPr>
        <p:spPr/>
        <p:txBody>
          <a:bodyPr/>
          <a:lstStyle/>
          <a:p>
            <a:fld id="{B6F15528-21DE-4FAA-801E-634DDDAF4B2B}" type="slidenum">
              <a:rPr lang="en-US" smtClean="0"/>
              <a:pPr/>
              <a:t>44</a:t>
            </a:fld>
            <a:endParaRPr lang="en-US"/>
          </a:p>
        </p:txBody>
      </p:sp>
      <p:graphicFrame>
        <p:nvGraphicFramePr>
          <p:cNvPr id="9" name="Chart 8">
            <a:extLst>
              <a:ext uri="{FF2B5EF4-FFF2-40B4-BE49-F238E27FC236}">
                <a16:creationId xmlns:a16="http://schemas.microsoft.com/office/drawing/2014/main" id="{8AADEE32-65DB-40EB-B04A-66512FF50EBB}"/>
              </a:ext>
            </a:extLst>
          </p:cNvPr>
          <p:cNvGraphicFramePr/>
          <p:nvPr>
            <p:extLst>
              <p:ext uri="{D42A27DB-BD31-4B8C-83A1-F6EECF244321}">
                <p14:modId xmlns:p14="http://schemas.microsoft.com/office/powerpoint/2010/main" val="3680062051"/>
              </p:ext>
            </p:extLst>
          </p:nvPr>
        </p:nvGraphicFramePr>
        <p:xfrm>
          <a:off x="0" y="13716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99EF1F68-90C1-4AB4-9DD3-8AFB309E3A6B}"/>
              </a:ext>
            </a:extLst>
          </p:cNvPr>
          <p:cNvGraphicFramePr/>
          <p:nvPr>
            <p:extLst>
              <p:ext uri="{D42A27DB-BD31-4B8C-83A1-F6EECF244321}">
                <p14:modId xmlns:p14="http://schemas.microsoft.com/office/powerpoint/2010/main" val="773534753"/>
              </p:ext>
            </p:extLst>
          </p:nvPr>
        </p:nvGraphicFramePr>
        <p:xfrm>
          <a:off x="4572000" y="13716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035F5710-0F6D-445A-A092-5D25645FCA59}"/>
              </a:ext>
            </a:extLst>
          </p:cNvPr>
          <p:cNvSpPr txBox="1"/>
          <p:nvPr/>
        </p:nvSpPr>
        <p:spPr>
          <a:xfrm>
            <a:off x="228600" y="4202668"/>
            <a:ext cx="8534400" cy="369332"/>
          </a:xfrm>
          <a:prstGeom prst="rect">
            <a:avLst/>
          </a:prstGeom>
          <a:noFill/>
        </p:spPr>
        <p:txBody>
          <a:bodyPr wrap="square" rtlCol="0">
            <a:spAutoFit/>
          </a:bodyPr>
          <a:lstStyle/>
          <a:p>
            <a:pPr algn="ctr"/>
            <a:r>
              <a:rPr lang="en-US" dirty="0"/>
              <a:t>Fig 16 : Analysis and Accuracy of LFCC (27) Features with KNN Algorithm</a:t>
            </a:r>
            <a:endParaRPr lang="en-IN" dirty="0"/>
          </a:p>
        </p:txBody>
      </p:sp>
    </p:spTree>
    <p:extLst>
      <p:ext uri="{BB962C8B-B14F-4D97-AF65-F5344CB8AC3E}">
        <p14:creationId xmlns:p14="http://schemas.microsoft.com/office/powerpoint/2010/main" val="2399090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BCF7A-E921-4F5C-950D-3EDB7A72707E}"/>
              </a:ext>
            </a:extLst>
          </p:cNvPr>
          <p:cNvSpPr>
            <a:spLocks noGrp="1"/>
          </p:cNvSpPr>
          <p:nvPr>
            <p:ph type="title"/>
          </p:nvPr>
        </p:nvSpPr>
        <p:spPr>
          <a:xfrm>
            <a:off x="457200" y="-304800"/>
            <a:ext cx="8229600" cy="1143000"/>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Result of GFCC</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8A35D8B-5D72-442A-B088-7C121B0A0E29}"/>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13569BA5-DDF1-4974-94E1-40DD2987E56C}"/>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D91BBCCC-623B-4558-961A-764A3A6CE870}"/>
              </a:ext>
            </a:extLst>
          </p:cNvPr>
          <p:cNvSpPr>
            <a:spLocks noGrp="1"/>
          </p:cNvSpPr>
          <p:nvPr>
            <p:ph type="sldNum" sz="quarter" idx="12"/>
          </p:nvPr>
        </p:nvSpPr>
        <p:spPr/>
        <p:txBody>
          <a:bodyPr/>
          <a:lstStyle/>
          <a:p>
            <a:fld id="{B6F15528-21DE-4FAA-801E-634DDDAF4B2B}" type="slidenum">
              <a:rPr lang="en-US" smtClean="0"/>
              <a:pPr/>
              <a:t>45</a:t>
            </a:fld>
            <a:endParaRPr lang="en-US"/>
          </a:p>
        </p:txBody>
      </p:sp>
      <p:sp>
        <p:nvSpPr>
          <p:cNvPr id="8" name="TextBox 7">
            <a:extLst>
              <a:ext uri="{FF2B5EF4-FFF2-40B4-BE49-F238E27FC236}">
                <a16:creationId xmlns:a16="http://schemas.microsoft.com/office/drawing/2014/main" id="{69003A80-1948-4153-94BE-81406BAA330F}"/>
              </a:ext>
            </a:extLst>
          </p:cNvPr>
          <p:cNvSpPr txBox="1"/>
          <p:nvPr/>
        </p:nvSpPr>
        <p:spPr>
          <a:xfrm>
            <a:off x="457200" y="609600"/>
            <a:ext cx="80010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Table </a:t>
            </a:r>
            <a:r>
              <a:rPr lang="en-US" sz="2000" dirty="0">
                <a:latin typeface="Times New Roman" panose="02020603050405020304" pitchFamily="18" charset="0"/>
                <a:ea typeface="LM Roman 12"/>
                <a:cs typeface="Times New Roman" panose="02020603050405020304" pitchFamily="18" charset="0"/>
              </a:rPr>
              <a:t>16</a:t>
            </a:r>
            <a:r>
              <a:rPr lang="en-US" sz="2000" dirty="0">
                <a:effectLst/>
                <a:latin typeface="Times New Roman" panose="02020603050405020304" pitchFamily="18" charset="0"/>
                <a:ea typeface="LM Roman 12"/>
                <a:cs typeface="Times New Roman" panose="02020603050405020304" pitchFamily="18" charset="0"/>
              </a:rPr>
              <a:t> :Recognition of result with GFCC (27) features</a:t>
            </a:r>
            <a:endParaRPr lang="en-IN" sz="20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0D11F2EE-7F03-4C93-A7A6-6091667FDEBA}"/>
              </a:ext>
            </a:extLst>
          </p:cNvPr>
          <p:cNvGraphicFramePr>
            <a:graphicFrameLocks noGrp="1"/>
          </p:cNvGraphicFramePr>
          <p:nvPr>
            <p:extLst>
              <p:ext uri="{D42A27DB-BD31-4B8C-83A1-F6EECF244321}">
                <p14:modId xmlns:p14="http://schemas.microsoft.com/office/powerpoint/2010/main" val="2578459915"/>
              </p:ext>
            </p:extLst>
          </p:nvPr>
        </p:nvGraphicFramePr>
        <p:xfrm>
          <a:off x="685800" y="1066800"/>
          <a:ext cx="7772402" cy="4267200"/>
        </p:xfrm>
        <a:graphic>
          <a:graphicData uri="http://schemas.openxmlformats.org/drawingml/2006/table">
            <a:tbl>
              <a:tblPr firstRow="1" firstCol="1" lastRow="1" lastCol="1" bandRow="1" bandCol="1">
                <a:tableStyleId>{5940675A-B579-460E-94D1-54222C63F5DA}</a:tableStyleId>
              </a:tblPr>
              <a:tblGrid>
                <a:gridCol w="705397">
                  <a:extLst>
                    <a:ext uri="{9D8B030D-6E8A-4147-A177-3AD203B41FA5}">
                      <a16:colId xmlns:a16="http://schemas.microsoft.com/office/drawing/2014/main" val="287519333"/>
                    </a:ext>
                  </a:extLst>
                </a:gridCol>
                <a:gridCol w="596327">
                  <a:extLst>
                    <a:ext uri="{9D8B030D-6E8A-4147-A177-3AD203B41FA5}">
                      <a16:colId xmlns:a16="http://schemas.microsoft.com/office/drawing/2014/main" val="2530194928"/>
                    </a:ext>
                  </a:extLst>
                </a:gridCol>
                <a:gridCol w="706582">
                  <a:extLst>
                    <a:ext uri="{9D8B030D-6E8A-4147-A177-3AD203B41FA5}">
                      <a16:colId xmlns:a16="http://schemas.microsoft.com/office/drawing/2014/main" val="575980029"/>
                    </a:ext>
                  </a:extLst>
                </a:gridCol>
                <a:gridCol w="706582">
                  <a:extLst>
                    <a:ext uri="{9D8B030D-6E8A-4147-A177-3AD203B41FA5}">
                      <a16:colId xmlns:a16="http://schemas.microsoft.com/office/drawing/2014/main" val="947415317"/>
                    </a:ext>
                  </a:extLst>
                </a:gridCol>
                <a:gridCol w="582101">
                  <a:extLst>
                    <a:ext uri="{9D8B030D-6E8A-4147-A177-3AD203B41FA5}">
                      <a16:colId xmlns:a16="http://schemas.microsoft.com/office/drawing/2014/main" val="1550557636"/>
                    </a:ext>
                  </a:extLst>
                </a:gridCol>
                <a:gridCol w="588028">
                  <a:extLst>
                    <a:ext uri="{9D8B030D-6E8A-4147-A177-3AD203B41FA5}">
                      <a16:colId xmlns:a16="http://schemas.microsoft.com/office/drawing/2014/main" val="262125833"/>
                    </a:ext>
                  </a:extLst>
                </a:gridCol>
                <a:gridCol w="659160">
                  <a:extLst>
                    <a:ext uri="{9D8B030D-6E8A-4147-A177-3AD203B41FA5}">
                      <a16:colId xmlns:a16="http://schemas.microsoft.com/office/drawing/2014/main" val="4277116613"/>
                    </a:ext>
                  </a:extLst>
                </a:gridCol>
                <a:gridCol w="659160">
                  <a:extLst>
                    <a:ext uri="{9D8B030D-6E8A-4147-A177-3AD203B41FA5}">
                      <a16:colId xmlns:a16="http://schemas.microsoft.com/office/drawing/2014/main" val="673927727"/>
                    </a:ext>
                  </a:extLst>
                </a:gridCol>
                <a:gridCol w="552462">
                  <a:extLst>
                    <a:ext uri="{9D8B030D-6E8A-4147-A177-3AD203B41FA5}">
                      <a16:colId xmlns:a16="http://schemas.microsoft.com/office/drawing/2014/main" val="787346300"/>
                    </a:ext>
                  </a:extLst>
                </a:gridCol>
                <a:gridCol w="655603">
                  <a:extLst>
                    <a:ext uri="{9D8B030D-6E8A-4147-A177-3AD203B41FA5}">
                      <a16:colId xmlns:a16="http://schemas.microsoft.com/office/drawing/2014/main" val="2836518790"/>
                    </a:ext>
                  </a:extLst>
                </a:gridCol>
                <a:gridCol w="655603">
                  <a:extLst>
                    <a:ext uri="{9D8B030D-6E8A-4147-A177-3AD203B41FA5}">
                      <a16:colId xmlns:a16="http://schemas.microsoft.com/office/drawing/2014/main" val="1274018505"/>
                    </a:ext>
                  </a:extLst>
                </a:gridCol>
                <a:gridCol w="705397">
                  <a:extLst>
                    <a:ext uri="{9D8B030D-6E8A-4147-A177-3AD203B41FA5}">
                      <a16:colId xmlns:a16="http://schemas.microsoft.com/office/drawing/2014/main" val="2195061853"/>
                    </a:ext>
                  </a:extLst>
                </a:gridCol>
              </a:tblGrid>
              <a:tr h="279927">
                <a:tc rowSpan="2">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320040">
                        <a:spcBef>
                          <a:spcPts val="85"/>
                        </a:spcBef>
                      </a:pPr>
                      <a:r>
                        <a:rPr lang="en-US" sz="2000">
                          <a:effectLst/>
                          <a:latin typeface="Times New Roman" panose="02020603050405020304" pitchFamily="18" charset="0"/>
                          <a:cs typeface="Times New Roman" panose="02020603050405020304" pitchFamily="18" charset="0"/>
                        </a:rPr>
                        <a:t>Number of correctly recognized bird sound in the class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6675">
                        <a:spcBef>
                          <a:spcPts val="795"/>
                        </a:spcBef>
                        <a:spcAft>
                          <a:spcPts val="0"/>
                        </a:spcAft>
                      </a:pPr>
                      <a:r>
                        <a:rPr lang="en-US" sz="2000">
                          <a:effectLst/>
                          <a:latin typeface="Times New Roman" panose="02020603050405020304" pitchFamily="18" charset="0"/>
                          <a:cs typeface="Times New Roman" panose="02020603050405020304" pitchFamily="18" charset="0"/>
                        </a:rPr>
                        <a:t>RSA</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532956963"/>
                  </a:ext>
                </a:extLst>
              </a:tr>
              <a:tr h="279927">
                <a:tc vMerge="1">
                  <a:txBody>
                    <a:bodyPr/>
                    <a:lstStyle/>
                    <a:p>
                      <a:endParaRPr lang="en-IN"/>
                    </a:p>
                  </a:txBody>
                  <a:tcPr/>
                </a:tc>
                <a:tc>
                  <a:txBody>
                    <a:bodyPr/>
                    <a:lstStyle/>
                    <a:p>
                      <a:pPr marL="77470">
                        <a:spcBef>
                          <a:spcPts val="65"/>
                        </a:spcBef>
                      </a:pPr>
                      <a:r>
                        <a:rPr lang="en-US" sz="2000" dirty="0">
                          <a:effectLst/>
                          <a:latin typeface="Times New Roman" panose="02020603050405020304" pitchFamily="18" charset="0"/>
                          <a:cs typeface="Times New Roman" panose="02020603050405020304" pitchFamily="18" charset="0"/>
                        </a:rPr>
                        <a:t>RB</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00" marR="60325" algn="ctr">
                        <a:spcBef>
                          <a:spcPts val="6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6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6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6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3940010286"/>
                  </a:ext>
                </a:extLst>
              </a:tr>
              <a:tr h="283969">
                <a:tc>
                  <a:txBody>
                    <a:bodyPr/>
                    <a:lstStyle/>
                    <a:p>
                      <a:pPr marL="63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49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dirty="0">
                          <a:effectLst/>
                          <a:latin typeface="Times New Roman" panose="02020603050405020304" pitchFamily="18" charset="0"/>
                          <a:cs typeface="Times New Roman" panose="02020603050405020304" pitchFamily="18" charset="0"/>
                        </a:rPr>
                        <a:t>2</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69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066092613"/>
                  </a:ext>
                </a:extLst>
              </a:tr>
              <a:tr h="283969">
                <a:tc>
                  <a:txBody>
                    <a:bodyPr/>
                    <a:lstStyle/>
                    <a:p>
                      <a:pPr marL="762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2000">
                          <a:effectLst/>
                          <a:latin typeface="Times New Roman" panose="02020603050405020304" pitchFamily="18" charset="0"/>
                          <a:cs typeface="Times New Roman" panose="02020603050405020304" pitchFamily="18" charset="0"/>
                        </a:rPr>
                        <a:t>48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68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354301873"/>
                  </a:ext>
                </a:extLst>
              </a:tr>
              <a:tr h="283969">
                <a:tc>
                  <a:txBody>
                    <a:bodyPr/>
                    <a:lstStyle/>
                    <a:p>
                      <a:pPr marL="6413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dirty="0">
                          <a:effectLst/>
                          <a:highlight>
                            <a:srgbClr val="FF0000"/>
                          </a:highlight>
                          <a:latin typeface="Times New Roman" panose="02020603050405020304" pitchFamily="18" charset="0"/>
                          <a:cs typeface="Times New Roman" panose="02020603050405020304" pitchFamily="18" charset="0"/>
                        </a:rPr>
                        <a:t>42</a:t>
                      </a:r>
                      <a:endParaRPr lang="en-IN" sz="20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49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824641490"/>
                  </a:ext>
                </a:extLst>
              </a:tr>
              <a:tr h="283969">
                <a:tc>
                  <a:txBody>
                    <a:bodyPr/>
                    <a:lstStyle/>
                    <a:p>
                      <a:pPr marL="54610"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24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41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54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007894599"/>
                  </a:ext>
                </a:extLst>
              </a:tr>
              <a:tr h="283969">
                <a:tc>
                  <a:txBody>
                    <a:bodyPr/>
                    <a:lstStyle/>
                    <a:p>
                      <a:pPr marL="64135" marR="124460" algn="ctr">
                        <a:spcBef>
                          <a:spcPts val="8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1125">
                        <a:spcBef>
                          <a:spcPts val="85"/>
                        </a:spcBef>
                      </a:pPr>
                      <a:r>
                        <a:rPr lang="en-US" sz="2000" dirty="0">
                          <a:effectLst/>
                          <a:highlight>
                            <a:srgbClr val="00FF00"/>
                          </a:highlight>
                          <a:latin typeface="Times New Roman" panose="02020603050405020304" pitchFamily="18" charset="0"/>
                          <a:cs typeface="Times New Roman" panose="02020603050405020304" pitchFamily="18" charset="0"/>
                        </a:rPr>
                        <a:t>82</a:t>
                      </a:r>
                      <a:endParaRPr lang="en-IN" sz="20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70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091314840"/>
                  </a:ext>
                </a:extLst>
              </a:tr>
              <a:tr h="283969">
                <a:tc>
                  <a:txBody>
                    <a:bodyPr/>
                    <a:lstStyle/>
                    <a:p>
                      <a:pPr marL="254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30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61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933369823"/>
                  </a:ext>
                </a:extLst>
              </a:tr>
              <a:tr h="283969">
                <a:tc>
                  <a:txBody>
                    <a:bodyPr/>
                    <a:lstStyle/>
                    <a:p>
                      <a:pPr marL="4000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dirty="0">
                          <a:effectLst/>
                          <a:latin typeface="Times New Roman" panose="02020603050405020304" pitchFamily="18" charset="0"/>
                          <a:cs typeface="Times New Roman" panose="02020603050405020304" pitchFamily="18" charset="0"/>
                        </a:rPr>
                        <a:t>0</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dirty="0">
                          <a:effectLst/>
                          <a:latin typeface="Times New Roman" panose="02020603050405020304" pitchFamily="18" charset="0"/>
                          <a:cs typeface="Times New Roman" panose="02020603050405020304" pitchFamily="18" charset="0"/>
                        </a:rPr>
                        <a:t>60</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989914820"/>
                  </a:ext>
                </a:extLst>
              </a:tr>
              <a:tr h="283969">
                <a:tc>
                  <a:txBody>
                    <a:bodyPr/>
                    <a:lstStyle/>
                    <a:p>
                      <a:pPr marL="42545"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64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81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26207574"/>
                  </a:ext>
                </a:extLst>
              </a:tr>
              <a:tr h="283969">
                <a:tc>
                  <a:txBody>
                    <a:bodyPr/>
                    <a:lstStyle/>
                    <a:p>
                      <a:pPr marL="48895"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43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64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740472429"/>
                  </a:ext>
                </a:extLst>
              </a:tr>
              <a:tr h="283969">
                <a:tc>
                  <a:txBody>
                    <a:bodyPr/>
                    <a:lstStyle/>
                    <a:p>
                      <a:pPr marL="3810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30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59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5344528"/>
                  </a:ext>
                </a:extLst>
              </a:tr>
              <a:tr h="283969">
                <a:tc>
                  <a:txBody>
                    <a:bodyPr/>
                    <a:lstStyle/>
                    <a:p>
                      <a:pPr marL="3175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Rel.</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60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2000">
                          <a:effectLst/>
                          <a:latin typeface="Times New Roman" panose="02020603050405020304" pitchFamily="18" charset="0"/>
                          <a:cs typeface="Times New Roman" panose="02020603050405020304" pitchFamily="18" charset="0"/>
                        </a:rPr>
                        <a:t>76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49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62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77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83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69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71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69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68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653942488"/>
                  </a:ext>
                </a:extLst>
              </a:tr>
              <a:tr h="283969">
                <a:tc gridSpan="12">
                  <a:txBody>
                    <a:bodyPr/>
                    <a:lstStyle/>
                    <a:p>
                      <a:pPr marL="77470">
                        <a:spcBef>
                          <a:spcPts val="85"/>
                        </a:spcBef>
                      </a:pPr>
                      <a:r>
                        <a:rPr lang="en-US" sz="2000" dirty="0">
                          <a:effectLst/>
                          <a:latin typeface="Times New Roman" panose="02020603050405020304" pitchFamily="18" charset="0"/>
                          <a:cs typeface="Times New Roman" panose="02020603050405020304" pitchFamily="18" charset="0"/>
                        </a:rPr>
                        <a:t>Overall Accuracy: 85.22%</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502940191"/>
                  </a:ext>
                </a:extLst>
              </a:tr>
            </a:tbl>
          </a:graphicData>
        </a:graphic>
      </p:graphicFrame>
    </p:spTree>
    <p:extLst>
      <p:ext uri="{BB962C8B-B14F-4D97-AF65-F5344CB8AC3E}">
        <p14:creationId xmlns:p14="http://schemas.microsoft.com/office/powerpoint/2010/main" val="33535345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8C7AFC8-7C8B-4C96-A17A-D1CC496F1683}"/>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0EFE75BF-0DD4-4BB7-BB74-FB99C1EC39CA}"/>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FF9988DF-DA5E-47CA-930E-5CDB7A55D1C3}"/>
              </a:ext>
            </a:extLst>
          </p:cNvPr>
          <p:cNvSpPr>
            <a:spLocks noGrp="1"/>
          </p:cNvSpPr>
          <p:nvPr>
            <p:ph type="sldNum" sz="quarter" idx="12"/>
          </p:nvPr>
        </p:nvSpPr>
        <p:spPr/>
        <p:txBody>
          <a:bodyPr/>
          <a:lstStyle/>
          <a:p>
            <a:fld id="{B6F15528-21DE-4FAA-801E-634DDDAF4B2B}" type="slidenum">
              <a:rPr lang="en-US" smtClean="0"/>
              <a:pPr/>
              <a:t>46</a:t>
            </a:fld>
            <a:endParaRPr lang="en-US"/>
          </a:p>
        </p:txBody>
      </p:sp>
      <p:graphicFrame>
        <p:nvGraphicFramePr>
          <p:cNvPr id="9" name="Chart 8">
            <a:extLst>
              <a:ext uri="{FF2B5EF4-FFF2-40B4-BE49-F238E27FC236}">
                <a16:creationId xmlns:a16="http://schemas.microsoft.com/office/drawing/2014/main" id="{E38A6C3B-488A-49BA-B560-B2DBA61BB854}"/>
              </a:ext>
            </a:extLst>
          </p:cNvPr>
          <p:cNvGraphicFramePr/>
          <p:nvPr>
            <p:extLst>
              <p:ext uri="{D42A27DB-BD31-4B8C-83A1-F6EECF244321}">
                <p14:modId xmlns:p14="http://schemas.microsoft.com/office/powerpoint/2010/main" val="1537858129"/>
              </p:ext>
            </p:extLst>
          </p:nvPr>
        </p:nvGraphicFramePr>
        <p:xfrm>
          <a:off x="0" y="1371600"/>
          <a:ext cx="4606925" cy="28594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0950C5C8-411D-45FD-A420-764215B8C5B2}"/>
              </a:ext>
            </a:extLst>
          </p:cNvPr>
          <p:cNvGraphicFramePr/>
          <p:nvPr>
            <p:extLst>
              <p:ext uri="{D42A27DB-BD31-4B8C-83A1-F6EECF244321}">
                <p14:modId xmlns:p14="http://schemas.microsoft.com/office/powerpoint/2010/main" val="3536222866"/>
              </p:ext>
            </p:extLst>
          </p:nvPr>
        </p:nvGraphicFramePr>
        <p:xfrm>
          <a:off x="4572000" y="12954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0BC24667-5564-4469-A27E-8377633362D6}"/>
              </a:ext>
            </a:extLst>
          </p:cNvPr>
          <p:cNvSpPr txBox="1"/>
          <p:nvPr/>
        </p:nvSpPr>
        <p:spPr>
          <a:xfrm>
            <a:off x="304800" y="4278868"/>
            <a:ext cx="8534400" cy="369332"/>
          </a:xfrm>
          <a:prstGeom prst="rect">
            <a:avLst/>
          </a:prstGeom>
          <a:noFill/>
        </p:spPr>
        <p:txBody>
          <a:bodyPr wrap="square" rtlCol="0">
            <a:spAutoFit/>
          </a:bodyPr>
          <a:lstStyle/>
          <a:p>
            <a:pPr algn="ctr"/>
            <a:r>
              <a:rPr lang="en-US" dirty="0"/>
              <a:t>Fig 17 : Analysis and Accuracy of GFCC (27) Features</a:t>
            </a:r>
            <a:endParaRPr lang="en-IN" dirty="0"/>
          </a:p>
        </p:txBody>
      </p:sp>
    </p:spTree>
    <p:extLst>
      <p:ext uri="{BB962C8B-B14F-4D97-AF65-F5344CB8AC3E}">
        <p14:creationId xmlns:p14="http://schemas.microsoft.com/office/powerpoint/2010/main" val="28248527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8A35D8B-5D72-442A-B088-7C121B0A0E29}"/>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13569BA5-DDF1-4974-94E1-40DD2987E56C}"/>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D91BBCCC-623B-4558-961A-764A3A6CE870}"/>
              </a:ext>
            </a:extLst>
          </p:cNvPr>
          <p:cNvSpPr>
            <a:spLocks noGrp="1"/>
          </p:cNvSpPr>
          <p:nvPr>
            <p:ph type="sldNum" sz="quarter" idx="12"/>
          </p:nvPr>
        </p:nvSpPr>
        <p:spPr/>
        <p:txBody>
          <a:bodyPr/>
          <a:lstStyle/>
          <a:p>
            <a:fld id="{B6F15528-21DE-4FAA-801E-634DDDAF4B2B}" type="slidenum">
              <a:rPr lang="en-US" smtClean="0"/>
              <a:pPr/>
              <a:t>47</a:t>
            </a:fld>
            <a:endParaRPr lang="en-US"/>
          </a:p>
        </p:txBody>
      </p:sp>
      <p:sp>
        <p:nvSpPr>
          <p:cNvPr id="8" name="TextBox 7">
            <a:extLst>
              <a:ext uri="{FF2B5EF4-FFF2-40B4-BE49-F238E27FC236}">
                <a16:creationId xmlns:a16="http://schemas.microsoft.com/office/drawing/2014/main" id="{69003A80-1948-4153-94BE-81406BAA330F}"/>
              </a:ext>
            </a:extLst>
          </p:cNvPr>
          <p:cNvSpPr txBox="1"/>
          <p:nvPr/>
        </p:nvSpPr>
        <p:spPr>
          <a:xfrm>
            <a:off x="228600" y="457200"/>
            <a:ext cx="82296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Table 17:Recognition of result with GFCC (27) features with KNN algorithm</a:t>
            </a:r>
            <a:endParaRPr lang="en-IN" sz="2000"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AB2A7371-60BD-4A47-9F5B-8A0301B0AC2B}"/>
              </a:ext>
            </a:extLst>
          </p:cNvPr>
          <p:cNvGraphicFramePr>
            <a:graphicFrameLocks noGrp="1"/>
          </p:cNvGraphicFramePr>
          <p:nvPr>
            <p:extLst>
              <p:ext uri="{D42A27DB-BD31-4B8C-83A1-F6EECF244321}">
                <p14:modId xmlns:p14="http://schemas.microsoft.com/office/powerpoint/2010/main" val="2269583853"/>
              </p:ext>
            </p:extLst>
          </p:nvPr>
        </p:nvGraphicFramePr>
        <p:xfrm>
          <a:off x="685800" y="1066800"/>
          <a:ext cx="7772400" cy="4267200"/>
        </p:xfrm>
        <a:graphic>
          <a:graphicData uri="http://schemas.openxmlformats.org/drawingml/2006/table">
            <a:tbl>
              <a:tblPr firstRow="1" firstCol="1" lastRow="1" lastCol="1" bandRow="1" bandCol="1">
                <a:tableStyleId>{5940675A-B579-460E-94D1-54222C63F5DA}</a:tableStyleId>
              </a:tblPr>
              <a:tblGrid>
                <a:gridCol w="701757">
                  <a:extLst>
                    <a:ext uri="{9D8B030D-6E8A-4147-A177-3AD203B41FA5}">
                      <a16:colId xmlns:a16="http://schemas.microsoft.com/office/drawing/2014/main" val="1577122820"/>
                    </a:ext>
                  </a:extLst>
                </a:gridCol>
                <a:gridCol w="593249">
                  <a:extLst>
                    <a:ext uri="{9D8B030D-6E8A-4147-A177-3AD203B41FA5}">
                      <a16:colId xmlns:a16="http://schemas.microsoft.com/office/drawing/2014/main" val="3613499338"/>
                    </a:ext>
                  </a:extLst>
                </a:gridCol>
                <a:gridCol w="702936">
                  <a:extLst>
                    <a:ext uri="{9D8B030D-6E8A-4147-A177-3AD203B41FA5}">
                      <a16:colId xmlns:a16="http://schemas.microsoft.com/office/drawing/2014/main" val="4078145592"/>
                    </a:ext>
                  </a:extLst>
                </a:gridCol>
                <a:gridCol w="702936">
                  <a:extLst>
                    <a:ext uri="{9D8B030D-6E8A-4147-A177-3AD203B41FA5}">
                      <a16:colId xmlns:a16="http://schemas.microsoft.com/office/drawing/2014/main" val="1336778923"/>
                    </a:ext>
                  </a:extLst>
                </a:gridCol>
                <a:gridCol w="579097">
                  <a:extLst>
                    <a:ext uri="{9D8B030D-6E8A-4147-A177-3AD203B41FA5}">
                      <a16:colId xmlns:a16="http://schemas.microsoft.com/office/drawing/2014/main" val="21264979"/>
                    </a:ext>
                  </a:extLst>
                </a:gridCol>
                <a:gridCol w="584994">
                  <a:extLst>
                    <a:ext uri="{9D8B030D-6E8A-4147-A177-3AD203B41FA5}">
                      <a16:colId xmlns:a16="http://schemas.microsoft.com/office/drawing/2014/main" val="4152822492"/>
                    </a:ext>
                  </a:extLst>
                </a:gridCol>
                <a:gridCol w="655760">
                  <a:extLst>
                    <a:ext uri="{9D8B030D-6E8A-4147-A177-3AD203B41FA5}">
                      <a16:colId xmlns:a16="http://schemas.microsoft.com/office/drawing/2014/main" val="2209515711"/>
                    </a:ext>
                  </a:extLst>
                </a:gridCol>
                <a:gridCol w="655760">
                  <a:extLst>
                    <a:ext uri="{9D8B030D-6E8A-4147-A177-3AD203B41FA5}">
                      <a16:colId xmlns:a16="http://schemas.microsoft.com/office/drawing/2014/main" val="809994536"/>
                    </a:ext>
                  </a:extLst>
                </a:gridCol>
                <a:gridCol w="593249">
                  <a:extLst>
                    <a:ext uri="{9D8B030D-6E8A-4147-A177-3AD203B41FA5}">
                      <a16:colId xmlns:a16="http://schemas.microsoft.com/office/drawing/2014/main" val="3515018904"/>
                    </a:ext>
                  </a:extLst>
                </a:gridCol>
                <a:gridCol w="651042">
                  <a:extLst>
                    <a:ext uri="{9D8B030D-6E8A-4147-A177-3AD203B41FA5}">
                      <a16:colId xmlns:a16="http://schemas.microsoft.com/office/drawing/2014/main" val="1209701641"/>
                    </a:ext>
                  </a:extLst>
                </a:gridCol>
                <a:gridCol w="651042">
                  <a:extLst>
                    <a:ext uri="{9D8B030D-6E8A-4147-A177-3AD203B41FA5}">
                      <a16:colId xmlns:a16="http://schemas.microsoft.com/office/drawing/2014/main" val="1624682060"/>
                    </a:ext>
                  </a:extLst>
                </a:gridCol>
                <a:gridCol w="700578">
                  <a:extLst>
                    <a:ext uri="{9D8B030D-6E8A-4147-A177-3AD203B41FA5}">
                      <a16:colId xmlns:a16="http://schemas.microsoft.com/office/drawing/2014/main" val="1858622431"/>
                    </a:ext>
                  </a:extLst>
                </a:gridCol>
              </a:tblGrid>
              <a:tr h="294992">
                <a:tc rowSpan="2">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335280">
                        <a:spcBef>
                          <a:spcPts val="85"/>
                        </a:spcBef>
                      </a:pPr>
                      <a:r>
                        <a:rPr lang="en-US" sz="2000">
                          <a:effectLst/>
                          <a:latin typeface="Times New Roman" panose="02020603050405020304" pitchFamily="18" charset="0"/>
                          <a:cs typeface="Times New Roman" panose="02020603050405020304" pitchFamily="18" charset="0"/>
                        </a:rPr>
                        <a:t>Number of correctly recognized bird sound in the class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7945">
                        <a:spcBef>
                          <a:spcPts val="795"/>
                        </a:spcBef>
                        <a:spcAft>
                          <a:spcPts val="0"/>
                        </a:spcAft>
                      </a:pPr>
                      <a:r>
                        <a:rPr lang="en-US" sz="2000">
                          <a:effectLst/>
                          <a:latin typeface="Times New Roman" panose="02020603050405020304" pitchFamily="18" charset="0"/>
                          <a:cs typeface="Times New Roman" panose="02020603050405020304" pitchFamily="18" charset="0"/>
                        </a:rPr>
                        <a:t>RSA</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827851854"/>
                  </a:ext>
                </a:extLst>
              </a:tr>
              <a:tr h="294992">
                <a:tc vMerge="1">
                  <a:txBody>
                    <a:bodyPr/>
                    <a:lstStyle/>
                    <a:p>
                      <a:endParaRPr lang="en-IN"/>
                    </a:p>
                  </a:txBody>
                  <a:tcPr/>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00" marR="60325" algn="ctr">
                        <a:spcBef>
                          <a:spcPts val="6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6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6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6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786731289"/>
                  </a:ext>
                </a:extLst>
              </a:tr>
              <a:tr h="299251">
                <a:tc>
                  <a:txBody>
                    <a:bodyPr/>
                    <a:lstStyle/>
                    <a:p>
                      <a:pPr marL="63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62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541682364"/>
                  </a:ext>
                </a:extLst>
              </a:tr>
              <a:tr h="299251">
                <a:tc>
                  <a:txBody>
                    <a:bodyPr/>
                    <a:lstStyle/>
                    <a:p>
                      <a:pPr marL="762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2000">
                          <a:effectLst/>
                          <a:latin typeface="Times New Roman" panose="02020603050405020304" pitchFamily="18" charset="0"/>
                          <a:cs typeface="Times New Roman" panose="02020603050405020304" pitchFamily="18" charset="0"/>
                        </a:rPr>
                        <a:t>69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443275902"/>
                  </a:ext>
                </a:extLst>
              </a:tr>
              <a:tr h="299251">
                <a:tc>
                  <a:txBody>
                    <a:bodyPr/>
                    <a:lstStyle/>
                    <a:p>
                      <a:pPr marL="6413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57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dirty="0">
                          <a:effectLst/>
                          <a:latin typeface="Times New Roman" panose="02020603050405020304" pitchFamily="18" charset="0"/>
                          <a:cs typeface="Times New Roman" panose="02020603050405020304" pitchFamily="18" charset="0"/>
                        </a:rPr>
                        <a:t>10</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83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731099034"/>
                  </a:ext>
                </a:extLst>
              </a:tr>
              <a:tr h="299251">
                <a:tc>
                  <a:txBody>
                    <a:bodyPr/>
                    <a:lstStyle/>
                    <a:p>
                      <a:pPr marL="54610"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dirty="0">
                          <a:effectLst/>
                          <a:highlight>
                            <a:srgbClr val="FF0000"/>
                          </a:highlight>
                          <a:latin typeface="Times New Roman" panose="02020603050405020304" pitchFamily="18" charset="0"/>
                          <a:cs typeface="Times New Roman" panose="02020603050405020304" pitchFamily="18" charset="0"/>
                        </a:rPr>
                        <a:t>65</a:t>
                      </a:r>
                      <a:endParaRPr lang="en-IN" sz="20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88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719681741"/>
                  </a:ext>
                </a:extLst>
              </a:tr>
              <a:tr h="299251">
                <a:tc>
                  <a:txBody>
                    <a:bodyPr/>
                    <a:lstStyle/>
                    <a:p>
                      <a:pPr marL="64135" marR="124460" algn="ctr">
                        <a:spcBef>
                          <a:spcPts val="8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dirty="0">
                          <a:effectLst/>
                          <a:highlight>
                            <a:srgbClr val="00FF00"/>
                          </a:highlight>
                          <a:latin typeface="Times New Roman" panose="02020603050405020304" pitchFamily="18" charset="0"/>
                          <a:cs typeface="Times New Roman" panose="02020603050405020304" pitchFamily="18" charset="0"/>
                        </a:rPr>
                        <a:t>87</a:t>
                      </a:r>
                      <a:endParaRPr lang="en-IN" sz="20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556250571"/>
                  </a:ext>
                </a:extLst>
              </a:tr>
              <a:tr h="299251">
                <a:tc>
                  <a:txBody>
                    <a:bodyPr/>
                    <a:lstStyle/>
                    <a:p>
                      <a:pPr marL="254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55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378420309"/>
                  </a:ext>
                </a:extLst>
              </a:tr>
              <a:tr h="299251">
                <a:tc>
                  <a:txBody>
                    <a:bodyPr/>
                    <a:lstStyle/>
                    <a:p>
                      <a:pPr marL="4000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61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007274815"/>
                  </a:ext>
                </a:extLst>
              </a:tr>
              <a:tr h="299251">
                <a:tc>
                  <a:txBody>
                    <a:bodyPr/>
                    <a:lstStyle/>
                    <a:p>
                      <a:pPr marL="42545"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73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230207551"/>
                  </a:ext>
                </a:extLst>
              </a:tr>
              <a:tr h="299251">
                <a:tc>
                  <a:txBody>
                    <a:bodyPr/>
                    <a:lstStyle/>
                    <a:p>
                      <a:pPr marL="48895"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71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963122840"/>
                  </a:ext>
                </a:extLst>
              </a:tr>
              <a:tr h="299251">
                <a:tc>
                  <a:txBody>
                    <a:bodyPr/>
                    <a:lstStyle/>
                    <a:p>
                      <a:pPr marL="3810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49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75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707005724"/>
                  </a:ext>
                </a:extLst>
              </a:tr>
              <a:tr h="299251">
                <a:tc>
                  <a:txBody>
                    <a:bodyPr/>
                    <a:lstStyle/>
                    <a:p>
                      <a:pPr marL="3175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Rel.</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2000">
                          <a:effectLst/>
                          <a:latin typeface="Times New Roman" panose="02020603050405020304" pitchFamily="18" charset="0"/>
                          <a:cs typeface="Times New Roman" panose="02020603050405020304" pitchFamily="18" charset="0"/>
                        </a:rPr>
                        <a:t>93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78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76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92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265794143"/>
                  </a:ext>
                </a:extLst>
              </a:tr>
              <a:tr h="299251">
                <a:tc gridSpan="12">
                  <a:txBody>
                    <a:bodyPr/>
                    <a:lstStyle/>
                    <a:p>
                      <a:pPr marL="77470">
                        <a:spcBef>
                          <a:spcPts val="85"/>
                        </a:spcBef>
                      </a:pPr>
                      <a:r>
                        <a:rPr lang="en-US" sz="2000" dirty="0">
                          <a:effectLst/>
                          <a:latin typeface="Times New Roman" panose="02020603050405020304" pitchFamily="18" charset="0"/>
                          <a:cs typeface="Times New Roman" panose="02020603050405020304" pitchFamily="18" charset="0"/>
                        </a:rPr>
                        <a:t>Overall Accuracy: 91.66%</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406693344"/>
                  </a:ext>
                </a:extLst>
              </a:tr>
            </a:tbl>
          </a:graphicData>
        </a:graphic>
      </p:graphicFrame>
    </p:spTree>
    <p:extLst>
      <p:ext uri="{BB962C8B-B14F-4D97-AF65-F5344CB8AC3E}">
        <p14:creationId xmlns:p14="http://schemas.microsoft.com/office/powerpoint/2010/main" val="1457910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8DF1B3-D2EE-4516-BB5D-9B8DA88C01D6}"/>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141311C0-4CF7-4013-A273-6CDAF8E27B1B}"/>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8A11BA5B-B5E0-4074-B81D-76D3497222BD}"/>
              </a:ext>
            </a:extLst>
          </p:cNvPr>
          <p:cNvSpPr>
            <a:spLocks noGrp="1"/>
          </p:cNvSpPr>
          <p:nvPr>
            <p:ph type="sldNum" sz="quarter" idx="12"/>
          </p:nvPr>
        </p:nvSpPr>
        <p:spPr/>
        <p:txBody>
          <a:bodyPr/>
          <a:lstStyle/>
          <a:p>
            <a:fld id="{B6F15528-21DE-4FAA-801E-634DDDAF4B2B}" type="slidenum">
              <a:rPr lang="en-US" smtClean="0"/>
              <a:pPr/>
              <a:t>48</a:t>
            </a:fld>
            <a:endParaRPr lang="en-US"/>
          </a:p>
        </p:txBody>
      </p:sp>
      <p:graphicFrame>
        <p:nvGraphicFramePr>
          <p:cNvPr id="9" name="Chart 8">
            <a:extLst>
              <a:ext uri="{FF2B5EF4-FFF2-40B4-BE49-F238E27FC236}">
                <a16:creationId xmlns:a16="http://schemas.microsoft.com/office/drawing/2014/main" id="{8CE82C9E-E276-4A20-9C15-11B3C94A5A11}"/>
              </a:ext>
            </a:extLst>
          </p:cNvPr>
          <p:cNvGraphicFramePr/>
          <p:nvPr>
            <p:extLst>
              <p:ext uri="{D42A27DB-BD31-4B8C-83A1-F6EECF244321}">
                <p14:modId xmlns:p14="http://schemas.microsoft.com/office/powerpoint/2010/main" val="3731841865"/>
              </p:ext>
            </p:extLst>
          </p:nvPr>
        </p:nvGraphicFramePr>
        <p:xfrm>
          <a:off x="0" y="14478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D2082877-0AA7-4650-954C-988AD2E709B0}"/>
              </a:ext>
            </a:extLst>
          </p:cNvPr>
          <p:cNvGraphicFramePr/>
          <p:nvPr>
            <p:extLst>
              <p:ext uri="{D42A27DB-BD31-4B8C-83A1-F6EECF244321}">
                <p14:modId xmlns:p14="http://schemas.microsoft.com/office/powerpoint/2010/main" val="404973443"/>
              </p:ext>
            </p:extLst>
          </p:nvPr>
        </p:nvGraphicFramePr>
        <p:xfrm>
          <a:off x="4572000" y="14478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5749981D-E893-4D46-A760-0B1102F5EBC6}"/>
              </a:ext>
            </a:extLst>
          </p:cNvPr>
          <p:cNvSpPr txBox="1"/>
          <p:nvPr/>
        </p:nvSpPr>
        <p:spPr>
          <a:xfrm>
            <a:off x="228600" y="4278868"/>
            <a:ext cx="8534400" cy="369332"/>
          </a:xfrm>
          <a:prstGeom prst="rect">
            <a:avLst/>
          </a:prstGeom>
          <a:noFill/>
        </p:spPr>
        <p:txBody>
          <a:bodyPr wrap="square" rtlCol="0">
            <a:spAutoFit/>
          </a:bodyPr>
          <a:lstStyle/>
          <a:p>
            <a:pPr algn="ctr"/>
            <a:r>
              <a:rPr lang="en-US" dirty="0"/>
              <a:t>Fig 18 : Analysis and Accuracy of GFCC (27) Features with KNN Algorithm</a:t>
            </a:r>
            <a:endParaRPr lang="en-IN" dirty="0"/>
          </a:p>
        </p:txBody>
      </p:sp>
    </p:spTree>
    <p:extLst>
      <p:ext uri="{BB962C8B-B14F-4D97-AF65-F5344CB8AC3E}">
        <p14:creationId xmlns:p14="http://schemas.microsoft.com/office/powerpoint/2010/main" val="9138814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1ECFAB2-53FC-4906-AE76-04A1743DCB06}"/>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758A93D3-2857-4B7E-8560-EB2A1F31E79A}"/>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6366D485-4B30-4D8E-8EAF-B4D9B79980C8}"/>
              </a:ext>
            </a:extLst>
          </p:cNvPr>
          <p:cNvSpPr>
            <a:spLocks noGrp="1"/>
          </p:cNvSpPr>
          <p:nvPr>
            <p:ph type="sldNum" sz="quarter" idx="12"/>
          </p:nvPr>
        </p:nvSpPr>
        <p:spPr/>
        <p:txBody>
          <a:bodyPr/>
          <a:lstStyle/>
          <a:p>
            <a:fld id="{B6F15528-21DE-4FAA-801E-634DDDAF4B2B}" type="slidenum">
              <a:rPr lang="en-US" smtClean="0"/>
              <a:pPr/>
              <a:t>49</a:t>
            </a:fld>
            <a:endParaRPr lang="en-US"/>
          </a:p>
        </p:txBody>
      </p:sp>
      <p:graphicFrame>
        <p:nvGraphicFramePr>
          <p:cNvPr id="7" name="Table 6">
            <a:extLst>
              <a:ext uri="{FF2B5EF4-FFF2-40B4-BE49-F238E27FC236}">
                <a16:creationId xmlns:a16="http://schemas.microsoft.com/office/drawing/2014/main" id="{60D6246B-D500-4CD9-AB8E-A74B52C6F44E}"/>
              </a:ext>
            </a:extLst>
          </p:cNvPr>
          <p:cNvGraphicFramePr>
            <a:graphicFrameLocks noGrp="1"/>
          </p:cNvGraphicFramePr>
          <p:nvPr>
            <p:extLst>
              <p:ext uri="{D42A27DB-BD31-4B8C-83A1-F6EECF244321}">
                <p14:modId xmlns:p14="http://schemas.microsoft.com/office/powerpoint/2010/main" val="3114090240"/>
              </p:ext>
            </p:extLst>
          </p:nvPr>
        </p:nvGraphicFramePr>
        <p:xfrm>
          <a:off x="1981200" y="1600200"/>
          <a:ext cx="4495801" cy="2415064"/>
        </p:xfrm>
        <a:graphic>
          <a:graphicData uri="http://schemas.openxmlformats.org/drawingml/2006/table">
            <a:tbl>
              <a:tblPr firstRow="1" firstCol="1" lastRow="1" lastCol="1" bandRow="1" bandCol="1">
                <a:tableStyleId>{5940675A-B579-460E-94D1-54222C63F5DA}</a:tableStyleId>
              </a:tblPr>
              <a:tblGrid>
                <a:gridCol w="1135937">
                  <a:extLst>
                    <a:ext uri="{9D8B030D-6E8A-4147-A177-3AD203B41FA5}">
                      <a16:colId xmlns:a16="http://schemas.microsoft.com/office/drawing/2014/main" val="1638274395"/>
                    </a:ext>
                  </a:extLst>
                </a:gridCol>
                <a:gridCol w="1578896">
                  <a:extLst>
                    <a:ext uri="{9D8B030D-6E8A-4147-A177-3AD203B41FA5}">
                      <a16:colId xmlns:a16="http://schemas.microsoft.com/office/drawing/2014/main" val="3469278629"/>
                    </a:ext>
                  </a:extLst>
                </a:gridCol>
                <a:gridCol w="890484">
                  <a:extLst>
                    <a:ext uri="{9D8B030D-6E8A-4147-A177-3AD203B41FA5}">
                      <a16:colId xmlns:a16="http://schemas.microsoft.com/office/drawing/2014/main" val="1373382408"/>
                    </a:ext>
                  </a:extLst>
                </a:gridCol>
                <a:gridCol w="890484">
                  <a:extLst>
                    <a:ext uri="{9D8B030D-6E8A-4147-A177-3AD203B41FA5}">
                      <a16:colId xmlns:a16="http://schemas.microsoft.com/office/drawing/2014/main" val="57443991"/>
                    </a:ext>
                  </a:extLst>
                </a:gridCol>
              </a:tblGrid>
              <a:tr h="603766">
                <a:tc>
                  <a:txBody>
                    <a:bodyPr/>
                    <a:lstStyle/>
                    <a:p>
                      <a:pPr marL="77470">
                        <a:spcBef>
                          <a:spcPts val="160"/>
                        </a:spcBef>
                      </a:pPr>
                      <a:r>
                        <a:rPr lang="en-US" sz="2000" b="1">
                          <a:effectLst/>
                          <a:latin typeface="Times New Roman" panose="02020603050405020304" pitchFamily="18" charset="0"/>
                          <a:cs typeface="Times New Roman" panose="02020603050405020304" pitchFamily="18" charset="0"/>
                        </a:rPr>
                        <a:t>Sr. No.</a:t>
                      </a:r>
                      <a:endParaRPr lang="en-IN" sz="2000" b="1">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160"/>
                        </a:spcBef>
                      </a:pPr>
                      <a:r>
                        <a:rPr lang="en-US" sz="2000" b="1" dirty="0">
                          <a:effectLst/>
                          <a:latin typeface="Times New Roman" panose="02020603050405020304" pitchFamily="18" charset="0"/>
                          <a:cs typeface="Times New Roman" panose="02020603050405020304" pitchFamily="18" charset="0"/>
                        </a:rPr>
                        <a:t>Feature set</a:t>
                      </a:r>
                      <a:endParaRPr lang="en-IN" sz="2000" b="1"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160"/>
                        </a:spcBef>
                      </a:pPr>
                      <a:r>
                        <a:rPr lang="en-US" sz="2000" b="1">
                          <a:effectLst/>
                          <a:latin typeface="Times New Roman" panose="02020603050405020304" pitchFamily="18" charset="0"/>
                          <a:cs typeface="Times New Roman" panose="02020603050405020304" pitchFamily="18" charset="0"/>
                        </a:rPr>
                        <a:t>KNN</a:t>
                      </a:r>
                      <a:endParaRPr lang="en-IN" sz="2000" b="1">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160"/>
                        </a:spcBef>
                      </a:pPr>
                      <a:r>
                        <a:rPr lang="en-US" sz="2000" b="1" dirty="0">
                          <a:effectLst/>
                          <a:latin typeface="Times New Roman" panose="02020603050405020304" pitchFamily="18" charset="0"/>
                          <a:cs typeface="Times New Roman" panose="02020603050405020304" pitchFamily="18" charset="0"/>
                        </a:rPr>
                        <a:t>SVM</a:t>
                      </a:r>
                      <a:endParaRPr lang="en-IN" sz="2000" b="1" dirty="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281650045"/>
                  </a:ext>
                </a:extLst>
              </a:tr>
              <a:tr h="603766">
                <a:tc>
                  <a:txBody>
                    <a:bodyPr/>
                    <a:lstStyle/>
                    <a:p>
                      <a:pPr marL="77470">
                        <a:spcBef>
                          <a:spcPts val="160"/>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160"/>
                        </a:spcBef>
                      </a:pPr>
                      <a:r>
                        <a:rPr lang="en-US" sz="2000">
                          <a:effectLst/>
                          <a:latin typeface="Times New Roman" panose="02020603050405020304" pitchFamily="18" charset="0"/>
                          <a:cs typeface="Times New Roman" panose="02020603050405020304" pitchFamily="18" charset="0"/>
                        </a:rPr>
                        <a:t>MFCC</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160"/>
                        </a:spcBef>
                      </a:pPr>
                      <a:r>
                        <a:rPr lang="en-US" sz="2000">
                          <a:effectLst/>
                          <a:latin typeface="Times New Roman" panose="02020603050405020304" pitchFamily="18" charset="0"/>
                          <a:cs typeface="Times New Roman" panose="02020603050405020304" pitchFamily="18" charset="0"/>
                        </a:rPr>
                        <a:t>94.7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160"/>
                        </a:spcBef>
                      </a:pPr>
                      <a:r>
                        <a:rPr lang="en-US" sz="2000">
                          <a:effectLst/>
                          <a:latin typeface="Times New Roman" panose="02020603050405020304" pitchFamily="18" charset="0"/>
                          <a:cs typeface="Times New Roman" panose="02020603050405020304" pitchFamily="18" charset="0"/>
                        </a:rPr>
                        <a:t>73.58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69192008"/>
                  </a:ext>
                </a:extLst>
              </a:tr>
              <a:tr h="603766">
                <a:tc>
                  <a:txBody>
                    <a:bodyPr/>
                    <a:lstStyle/>
                    <a:p>
                      <a:pPr marL="77470">
                        <a:spcBef>
                          <a:spcPts val="160"/>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160"/>
                        </a:spcBef>
                      </a:pPr>
                      <a:r>
                        <a:rPr lang="en-US" sz="2000">
                          <a:effectLst/>
                          <a:latin typeface="Times New Roman" panose="02020603050405020304" pitchFamily="18" charset="0"/>
                          <a:cs typeface="Times New Roman" panose="02020603050405020304" pitchFamily="18" charset="0"/>
                        </a:rPr>
                        <a:t>LFCC</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160"/>
                        </a:spcBef>
                      </a:pPr>
                      <a:r>
                        <a:rPr lang="en-US" sz="2000">
                          <a:effectLst/>
                          <a:latin typeface="Times New Roman" panose="02020603050405020304" pitchFamily="18" charset="0"/>
                          <a:cs typeface="Times New Roman" panose="02020603050405020304" pitchFamily="18" charset="0"/>
                        </a:rPr>
                        <a:t>95.05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160"/>
                        </a:spcBef>
                      </a:pPr>
                      <a:r>
                        <a:rPr lang="en-US" sz="2000">
                          <a:effectLst/>
                          <a:latin typeface="Times New Roman" panose="02020603050405020304" pitchFamily="18" charset="0"/>
                          <a:cs typeface="Times New Roman" panose="02020603050405020304" pitchFamily="18" charset="0"/>
                        </a:rPr>
                        <a:t>87.56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41486855"/>
                  </a:ext>
                </a:extLst>
              </a:tr>
              <a:tr h="603766">
                <a:tc>
                  <a:txBody>
                    <a:bodyPr/>
                    <a:lstStyle/>
                    <a:p>
                      <a:pPr marL="77470">
                        <a:spcBef>
                          <a:spcPts val="160"/>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160"/>
                        </a:spcBef>
                      </a:pPr>
                      <a:r>
                        <a:rPr lang="en-US" sz="2000">
                          <a:effectLst/>
                          <a:latin typeface="Times New Roman" panose="02020603050405020304" pitchFamily="18" charset="0"/>
                          <a:cs typeface="Times New Roman" panose="02020603050405020304" pitchFamily="18" charset="0"/>
                        </a:rPr>
                        <a:t>GFCC</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160"/>
                        </a:spcBef>
                      </a:pPr>
                      <a:r>
                        <a:rPr lang="en-US" sz="2000">
                          <a:effectLst/>
                          <a:latin typeface="Times New Roman" panose="02020603050405020304" pitchFamily="18" charset="0"/>
                          <a:cs typeface="Times New Roman" panose="02020603050405020304" pitchFamily="18" charset="0"/>
                        </a:rPr>
                        <a:t>91.66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160"/>
                        </a:spcBef>
                      </a:pPr>
                      <a:r>
                        <a:rPr lang="en-US" sz="2000" dirty="0">
                          <a:effectLst/>
                          <a:latin typeface="Times New Roman" panose="02020603050405020304" pitchFamily="18" charset="0"/>
                          <a:cs typeface="Times New Roman" panose="02020603050405020304" pitchFamily="18" charset="0"/>
                        </a:rPr>
                        <a:t>85.22</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847858551"/>
                  </a:ext>
                </a:extLst>
              </a:tr>
            </a:tbl>
          </a:graphicData>
        </a:graphic>
      </p:graphicFrame>
      <p:sp>
        <p:nvSpPr>
          <p:cNvPr id="8" name="TextBox 7">
            <a:extLst>
              <a:ext uri="{FF2B5EF4-FFF2-40B4-BE49-F238E27FC236}">
                <a16:creationId xmlns:a16="http://schemas.microsoft.com/office/drawing/2014/main" id="{54663032-E2BF-41D8-A014-2390CF474EB1}"/>
              </a:ext>
            </a:extLst>
          </p:cNvPr>
          <p:cNvSpPr txBox="1"/>
          <p:nvPr/>
        </p:nvSpPr>
        <p:spPr>
          <a:xfrm>
            <a:off x="1295400" y="971490"/>
            <a:ext cx="61722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Table </a:t>
            </a:r>
            <a:r>
              <a:rPr lang="en-US" sz="2000" dirty="0">
                <a:latin typeface="Times New Roman" panose="02020603050405020304" pitchFamily="18" charset="0"/>
                <a:ea typeface="LM Roman 12"/>
                <a:cs typeface="Times New Roman" panose="02020603050405020304" pitchFamily="18" charset="0"/>
              </a:rPr>
              <a:t>18 </a:t>
            </a:r>
            <a:r>
              <a:rPr lang="en-US" sz="2000" dirty="0">
                <a:effectLst/>
                <a:latin typeface="Times New Roman" panose="02020603050405020304" pitchFamily="18" charset="0"/>
                <a:ea typeface="LM Roman 12"/>
                <a:cs typeface="Times New Roman" panose="02020603050405020304" pitchFamily="18" charset="0"/>
              </a:rPr>
              <a:t>:Overall Accuracy of Feature Selection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54410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0ED7-1B5A-4A6E-A638-03C4A481A2EF}"/>
              </a:ext>
            </a:extLst>
          </p:cNvPr>
          <p:cNvSpPr>
            <a:spLocks noGrp="1"/>
          </p:cNvSpPr>
          <p:nvPr>
            <p:ph type="title"/>
          </p:nvPr>
        </p:nvSpPr>
        <p:spPr>
          <a:xfrm>
            <a:off x="381000" y="0"/>
            <a:ext cx="8229600" cy="1143000"/>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K-Nearest Neighbors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832C763-9B13-4397-A64A-6AA147E641D1}"/>
              </a:ext>
            </a:extLst>
          </p:cNvPr>
          <p:cNvSpPr>
            <a:spLocks noGrp="1"/>
          </p:cNvSpPr>
          <p:nvPr>
            <p:ph idx="1"/>
          </p:nvPr>
        </p:nvSpPr>
        <p:spPr>
          <a:xfrm>
            <a:off x="228600" y="1437542"/>
            <a:ext cx="8229600" cy="4525963"/>
          </a:xfrm>
        </p:spPr>
        <p:txBody>
          <a:bodyPr/>
          <a:lstStyle/>
          <a:p>
            <a:pPr algn="just"/>
            <a:r>
              <a:rPr lang="en-US" sz="2000" dirty="0">
                <a:latin typeface="Times New Roman" panose="02020603050405020304" pitchFamily="18" charset="0"/>
                <a:cs typeface="Times New Roman" panose="02020603050405020304" pitchFamily="18" charset="0"/>
              </a:rPr>
              <a:t>Supervised machine learning algorithm used for regression and classification.</a:t>
            </a:r>
          </a:p>
          <a:p>
            <a:pPr algn="just"/>
            <a:r>
              <a:rPr lang="en-IN" sz="2000" b="0" i="0" u="none" strike="noStrike" baseline="0" dirty="0">
                <a:latin typeface="Times New Roman" panose="02020603050405020304" pitchFamily="18" charset="0"/>
                <a:cs typeface="Times New Roman" panose="02020603050405020304" pitchFamily="18" charset="0"/>
              </a:rPr>
              <a:t>Each </a:t>
            </a:r>
            <a:r>
              <a:rPr lang="en-US" sz="2000" b="0" i="0" u="none" strike="noStrike" baseline="0" dirty="0">
                <a:latin typeface="Times New Roman" panose="02020603050405020304" pitchFamily="18" charset="0"/>
                <a:cs typeface="Times New Roman" panose="02020603050405020304" pitchFamily="18" charset="0"/>
              </a:rPr>
              <a:t>query point considers the closest k value and predicts the maximum possible class.</a:t>
            </a:r>
            <a:endParaRPr lang="en-US" sz="2000" dirty="0">
              <a:latin typeface="Times New Roman" panose="02020603050405020304" pitchFamily="18" charset="0"/>
              <a:cs typeface="Times New Roman" panose="02020603050405020304" pitchFamily="18" charset="0"/>
            </a:endParaRPr>
          </a:p>
          <a:p>
            <a:pPr algn="just"/>
            <a:r>
              <a:rPr lang="en-IN" sz="2000" b="0" i="0" u="none" strike="noStrike" baseline="0" dirty="0">
                <a:latin typeface="Times New Roman" panose="02020603050405020304" pitchFamily="18" charset="0"/>
                <a:cs typeface="Times New Roman" panose="02020603050405020304" pitchFamily="18" charset="0"/>
              </a:rPr>
              <a:t>It </a:t>
            </a:r>
            <a:r>
              <a:rPr lang="en-US" sz="2000" b="0" i="0" u="none" strike="noStrike" baseline="0" dirty="0">
                <a:latin typeface="Times New Roman" panose="02020603050405020304" pitchFamily="18" charset="0"/>
                <a:cs typeface="Times New Roman" panose="02020603050405020304" pitchFamily="18" charset="0"/>
              </a:rPr>
              <a:t>is also used for identifying similar objects.</a:t>
            </a:r>
          </a:p>
          <a:p>
            <a:pPr algn="l"/>
            <a:r>
              <a:rPr lang="en-US" sz="2000" b="0" i="0" u="none" strike="noStrike" baseline="0" dirty="0">
                <a:latin typeface="Times New Roman" panose="02020603050405020304" pitchFamily="18" charset="0"/>
                <a:cs typeface="Times New Roman" panose="02020603050405020304" pitchFamily="18" charset="0"/>
              </a:rPr>
              <a:t>For each bird audio signal, the mean value of the feature is extracted to form a vector.</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FE783D5-346C-484F-851A-9369773CB196}"/>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D4B56FFE-ED48-4D91-809A-37D593722950}"/>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4F7F17D5-6BBD-4A74-BB34-22E15E5F2A9C}"/>
              </a:ext>
            </a:extLst>
          </p:cNvPr>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6855585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5F5FB-6B59-4593-9D78-04B33C203E00}"/>
              </a:ext>
            </a:extLst>
          </p:cNvPr>
          <p:cNvSpPr>
            <a:spLocks noGrp="1"/>
          </p:cNvSpPr>
          <p:nvPr>
            <p:ph type="title"/>
          </p:nvPr>
        </p:nvSpPr>
        <p:spPr>
          <a:xfrm>
            <a:off x="457200" y="-228600"/>
            <a:ext cx="8229600" cy="1143000"/>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Result of MFCC</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9C76949-E0B2-4ED2-B1F7-B66877DABA95}"/>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43FEE2CC-91AB-4303-B7B9-DA037315E569}"/>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E84BDB67-0A62-481C-92EB-FE5A15B529DC}"/>
              </a:ext>
            </a:extLst>
          </p:cNvPr>
          <p:cNvSpPr>
            <a:spLocks noGrp="1"/>
          </p:cNvSpPr>
          <p:nvPr>
            <p:ph type="sldNum" sz="quarter" idx="12"/>
          </p:nvPr>
        </p:nvSpPr>
        <p:spPr/>
        <p:txBody>
          <a:bodyPr/>
          <a:lstStyle/>
          <a:p>
            <a:fld id="{B6F15528-21DE-4FAA-801E-634DDDAF4B2B}" type="slidenum">
              <a:rPr lang="en-US" smtClean="0"/>
              <a:pPr/>
              <a:t>51</a:t>
            </a:fld>
            <a:endParaRPr lang="en-US"/>
          </a:p>
        </p:txBody>
      </p:sp>
      <p:graphicFrame>
        <p:nvGraphicFramePr>
          <p:cNvPr id="7" name="Table 6">
            <a:extLst>
              <a:ext uri="{FF2B5EF4-FFF2-40B4-BE49-F238E27FC236}">
                <a16:creationId xmlns:a16="http://schemas.microsoft.com/office/drawing/2014/main" id="{02CB7945-EE2F-4AC2-9C5B-614321D4746E}"/>
              </a:ext>
            </a:extLst>
          </p:cNvPr>
          <p:cNvGraphicFramePr>
            <a:graphicFrameLocks noGrp="1"/>
          </p:cNvGraphicFramePr>
          <p:nvPr>
            <p:extLst>
              <p:ext uri="{D42A27DB-BD31-4B8C-83A1-F6EECF244321}">
                <p14:modId xmlns:p14="http://schemas.microsoft.com/office/powerpoint/2010/main" val="696986756"/>
              </p:ext>
            </p:extLst>
          </p:nvPr>
        </p:nvGraphicFramePr>
        <p:xfrm>
          <a:off x="685801" y="1124364"/>
          <a:ext cx="7772401" cy="4285836"/>
        </p:xfrm>
        <a:graphic>
          <a:graphicData uri="http://schemas.openxmlformats.org/drawingml/2006/table">
            <a:tbl>
              <a:tblPr firstRow="1" firstCol="1" lastRow="1" lastCol="1" bandRow="1" bandCol="1">
                <a:tableStyleId>{5940675A-B579-460E-94D1-54222C63F5DA}</a:tableStyleId>
              </a:tblPr>
              <a:tblGrid>
                <a:gridCol w="704643">
                  <a:extLst>
                    <a:ext uri="{9D8B030D-6E8A-4147-A177-3AD203B41FA5}">
                      <a16:colId xmlns:a16="http://schemas.microsoft.com/office/drawing/2014/main" val="1937002566"/>
                    </a:ext>
                  </a:extLst>
                </a:gridCol>
                <a:gridCol w="595691">
                  <a:extLst>
                    <a:ext uri="{9D8B030D-6E8A-4147-A177-3AD203B41FA5}">
                      <a16:colId xmlns:a16="http://schemas.microsoft.com/office/drawing/2014/main" val="4181160089"/>
                    </a:ext>
                  </a:extLst>
                </a:gridCol>
                <a:gridCol w="705828">
                  <a:extLst>
                    <a:ext uri="{9D8B030D-6E8A-4147-A177-3AD203B41FA5}">
                      <a16:colId xmlns:a16="http://schemas.microsoft.com/office/drawing/2014/main" val="2457863188"/>
                    </a:ext>
                  </a:extLst>
                </a:gridCol>
                <a:gridCol w="705828">
                  <a:extLst>
                    <a:ext uri="{9D8B030D-6E8A-4147-A177-3AD203B41FA5}">
                      <a16:colId xmlns:a16="http://schemas.microsoft.com/office/drawing/2014/main" val="372733202"/>
                    </a:ext>
                  </a:extLst>
                </a:gridCol>
                <a:gridCol w="581479">
                  <a:extLst>
                    <a:ext uri="{9D8B030D-6E8A-4147-A177-3AD203B41FA5}">
                      <a16:colId xmlns:a16="http://schemas.microsoft.com/office/drawing/2014/main" val="2242257835"/>
                    </a:ext>
                  </a:extLst>
                </a:gridCol>
                <a:gridCol w="595691">
                  <a:extLst>
                    <a:ext uri="{9D8B030D-6E8A-4147-A177-3AD203B41FA5}">
                      <a16:colId xmlns:a16="http://schemas.microsoft.com/office/drawing/2014/main" val="3848487387"/>
                    </a:ext>
                  </a:extLst>
                </a:gridCol>
                <a:gridCol w="658458">
                  <a:extLst>
                    <a:ext uri="{9D8B030D-6E8A-4147-A177-3AD203B41FA5}">
                      <a16:colId xmlns:a16="http://schemas.microsoft.com/office/drawing/2014/main" val="205767647"/>
                    </a:ext>
                  </a:extLst>
                </a:gridCol>
                <a:gridCol w="658458">
                  <a:extLst>
                    <a:ext uri="{9D8B030D-6E8A-4147-A177-3AD203B41FA5}">
                      <a16:colId xmlns:a16="http://schemas.microsoft.com/office/drawing/2014/main" val="1024122777"/>
                    </a:ext>
                  </a:extLst>
                </a:gridCol>
                <a:gridCol w="551872">
                  <a:extLst>
                    <a:ext uri="{9D8B030D-6E8A-4147-A177-3AD203B41FA5}">
                      <a16:colId xmlns:a16="http://schemas.microsoft.com/office/drawing/2014/main" val="392567483"/>
                    </a:ext>
                  </a:extLst>
                </a:gridCol>
                <a:gridCol w="654905">
                  <a:extLst>
                    <a:ext uri="{9D8B030D-6E8A-4147-A177-3AD203B41FA5}">
                      <a16:colId xmlns:a16="http://schemas.microsoft.com/office/drawing/2014/main" val="1948663591"/>
                    </a:ext>
                  </a:extLst>
                </a:gridCol>
                <a:gridCol w="654905">
                  <a:extLst>
                    <a:ext uri="{9D8B030D-6E8A-4147-A177-3AD203B41FA5}">
                      <a16:colId xmlns:a16="http://schemas.microsoft.com/office/drawing/2014/main" val="463047663"/>
                    </a:ext>
                  </a:extLst>
                </a:gridCol>
                <a:gridCol w="704643">
                  <a:extLst>
                    <a:ext uri="{9D8B030D-6E8A-4147-A177-3AD203B41FA5}">
                      <a16:colId xmlns:a16="http://schemas.microsoft.com/office/drawing/2014/main" val="1757716442"/>
                    </a:ext>
                  </a:extLst>
                </a:gridCol>
              </a:tblGrid>
              <a:tr h="301992">
                <a:tc rowSpan="2">
                  <a:txBody>
                    <a:bodyPr/>
                    <a:lstStyle/>
                    <a:p>
                      <a:pPr marL="77470">
                        <a:spcBef>
                          <a:spcPts val="85"/>
                        </a:spcBef>
                        <a:spcAft>
                          <a:spcPts val="0"/>
                        </a:spcAft>
                      </a:pPr>
                      <a:r>
                        <a:rPr lang="en-US" sz="2000" dirty="0">
                          <a:effectLst/>
                          <a:latin typeface="Times New Roman" panose="02020603050405020304" pitchFamily="18" charset="0"/>
                          <a:cs typeface="Times New Roman" panose="02020603050405020304" pitchFamily="18" charset="0"/>
                        </a:rPr>
                        <a:t> </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603885">
                        <a:spcBef>
                          <a:spcPts val="85"/>
                        </a:spcBef>
                      </a:pPr>
                      <a:r>
                        <a:rPr lang="en-US" sz="2000">
                          <a:effectLst/>
                          <a:latin typeface="Times New Roman" panose="02020603050405020304" pitchFamily="18" charset="0"/>
                          <a:cs typeface="Times New Roman" panose="02020603050405020304" pitchFamily="18" charset="0"/>
                        </a:rPr>
                        <a:t>Number of correctly recognized bird sound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6675">
                        <a:spcBef>
                          <a:spcPts val="795"/>
                        </a:spcBef>
                        <a:spcAft>
                          <a:spcPts val="0"/>
                        </a:spcAft>
                      </a:pPr>
                      <a:r>
                        <a:rPr lang="en-US" sz="2000">
                          <a:effectLst/>
                          <a:latin typeface="Times New Roman" panose="02020603050405020304" pitchFamily="18" charset="0"/>
                          <a:cs typeface="Times New Roman" panose="02020603050405020304" pitchFamily="18" charset="0"/>
                        </a:rPr>
                        <a:t>RSA</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123232609"/>
                  </a:ext>
                </a:extLst>
              </a:tr>
              <a:tr h="301992">
                <a:tc vMerge="1">
                  <a:txBody>
                    <a:bodyPr/>
                    <a:lstStyle/>
                    <a:p>
                      <a:endParaRPr lang="en-IN"/>
                    </a:p>
                  </a:txBody>
                  <a:tcPr/>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6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6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6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3549937173"/>
                  </a:ext>
                </a:extLst>
              </a:tr>
              <a:tr h="306353">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69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41064980"/>
                  </a:ext>
                </a:extLst>
              </a:tr>
              <a:tr h="306353">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66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dirty="0">
                          <a:effectLst/>
                          <a:latin typeface="Times New Roman" panose="02020603050405020304" pitchFamily="18" charset="0"/>
                          <a:cs typeface="Times New Roman" panose="02020603050405020304" pitchFamily="18" charset="0"/>
                        </a:rPr>
                        <a:t>8</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51125956"/>
                  </a:ext>
                </a:extLst>
              </a:tr>
              <a:tr h="306353">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72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219505281"/>
                  </a:ext>
                </a:extLst>
              </a:tr>
              <a:tr h="306353">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dirty="0">
                          <a:effectLst/>
                          <a:highlight>
                            <a:srgbClr val="FF0000"/>
                          </a:highlight>
                          <a:latin typeface="Times New Roman" panose="02020603050405020304" pitchFamily="18" charset="0"/>
                          <a:cs typeface="Times New Roman" panose="02020603050405020304" pitchFamily="18" charset="0"/>
                        </a:rPr>
                        <a:t>68</a:t>
                      </a:r>
                      <a:endParaRPr lang="en-IN" sz="20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84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685380594"/>
                  </a:ext>
                </a:extLst>
              </a:tr>
              <a:tr h="306353">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68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607660595"/>
                  </a:ext>
                </a:extLst>
              </a:tr>
              <a:tr h="306353">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09855">
                        <a:spcBef>
                          <a:spcPts val="85"/>
                        </a:spcBef>
                      </a:pPr>
                      <a:r>
                        <a:rPr lang="en-US" sz="2000" dirty="0">
                          <a:effectLst/>
                          <a:highlight>
                            <a:srgbClr val="00FF00"/>
                          </a:highlight>
                          <a:latin typeface="Times New Roman" panose="02020603050405020304" pitchFamily="18" charset="0"/>
                          <a:cs typeface="Times New Roman" panose="02020603050405020304" pitchFamily="18" charset="0"/>
                        </a:rPr>
                        <a:t>54</a:t>
                      </a:r>
                      <a:endParaRPr lang="en-IN" sz="20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523447575"/>
                  </a:ext>
                </a:extLst>
              </a:tr>
              <a:tr h="306353">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54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007060654"/>
                  </a:ext>
                </a:extLst>
              </a:tr>
              <a:tr h="306353">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79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875188830"/>
                  </a:ext>
                </a:extLst>
              </a:tr>
              <a:tr h="306353">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74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204511198"/>
                  </a:ext>
                </a:extLst>
              </a:tr>
              <a:tr h="306353">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58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734465777"/>
                  </a:ext>
                </a:extLst>
              </a:tr>
              <a:tr h="306353">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Rel.</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88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80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952074078"/>
                  </a:ext>
                </a:extLst>
              </a:tr>
              <a:tr h="306353">
                <a:tc gridSpan="12">
                  <a:txBody>
                    <a:bodyPr/>
                    <a:lstStyle/>
                    <a:p>
                      <a:pPr marL="77470">
                        <a:spcBef>
                          <a:spcPts val="85"/>
                        </a:spcBef>
                      </a:pPr>
                      <a:r>
                        <a:rPr lang="en-US" sz="2000" dirty="0">
                          <a:effectLst/>
                          <a:latin typeface="Times New Roman" panose="02020603050405020304" pitchFamily="18" charset="0"/>
                          <a:cs typeface="Times New Roman" panose="02020603050405020304" pitchFamily="18" charset="0"/>
                        </a:rPr>
                        <a:t>Overall Accuracy: 91.13%</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504167748"/>
                  </a:ext>
                </a:extLst>
              </a:tr>
            </a:tbl>
          </a:graphicData>
        </a:graphic>
      </p:graphicFrame>
      <p:sp>
        <p:nvSpPr>
          <p:cNvPr id="8" name="TextBox 7">
            <a:extLst>
              <a:ext uri="{FF2B5EF4-FFF2-40B4-BE49-F238E27FC236}">
                <a16:creationId xmlns:a16="http://schemas.microsoft.com/office/drawing/2014/main" id="{E1FABBD9-544F-4522-92E4-E19E0A9D428A}"/>
              </a:ext>
            </a:extLst>
          </p:cNvPr>
          <p:cNvSpPr txBox="1"/>
          <p:nvPr/>
        </p:nvSpPr>
        <p:spPr>
          <a:xfrm>
            <a:off x="228600" y="609600"/>
            <a:ext cx="82296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Table</a:t>
            </a:r>
            <a:r>
              <a:rPr lang="en-US" sz="2000" dirty="0">
                <a:latin typeface="Times New Roman" panose="02020603050405020304" pitchFamily="18" charset="0"/>
                <a:ea typeface="LM Roman 12"/>
                <a:cs typeface="Times New Roman" panose="02020603050405020304" pitchFamily="18" charset="0"/>
              </a:rPr>
              <a:t> 19</a:t>
            </a:r>
            <a:r>
              <a:rPr lang="en-US" sz="2000" dirty="0">
                <a:effectLst/>
                <a:latin typeface="Times New Roman" panose="02020603050405020304" pitchFamily="18" charset="0"/>
                <a:ea typeface="LM Roman 12"/>
                <a:cs typeface="Times New Roman" panose="02020603050405020304" pitchFamily="18" charset="0"/>
              </a:rPr>
              <a:t>:Recognition of result with MFCC (13) features with KNN algorithm</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36752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EF112B9-B418-437B-BD58-CCE9E15543E9}"/>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24847C80-DC57-43BE-AA00-6640FB7E8DAD}"/>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E030C0C6-BE7A-43A7-84BD-4B8CA5EB03E9}"/>
              </a:ext>
            </a:extLst>
          </p:cNvPr>
          <p:cNvSpPr>
            <a:spLocks noGrp="1"/>
          </p:cNvSpPr>
          <p:nvPr>
            <p:ph type="sldNum" sz="quarter" idx="12"/>
          </p:nvPr>
        </p:nvSpPr>
        <p:spPr/>
        <p:txBody>
          <a:bodyPr/>
          <a:lstStyle/>
          <a:p>
            <a:fld id="{B6F15528-21DE-4FAA-801E-634DDDAF4B2B}" type="slidenum">
              <a:rPr lang="en-US" smtClean="0"/>
              <a:pPr/>
              <a:t>52</a:t>
            </a:fld>
            <a:endParaRPr lang="en-US"/>
          </a:p>
        </p:txBody>
      </p:sp>
      <p:graphicFrame>
        <p:nvGraphicFramePr>
          <p:cNvPr id="9" name="Chart 8">
            <a:extLst>
              <a:ext uri="{FF2B5EF4-FFF2-40B4-BE49-F238E27FC236}">
                <a16:creationId xmlns:a16="http://schemas.microsoft.com/office/drawing/2014/main" id="{049D025E-B3E2-4538-B582-6EF4D70811DA}"/>
              </a:ext>
            </a:extLst>
          </p:cNvPr>
          <p:cNvGraphicFramePr>
            <a:graphicFrameLocks/>
          </p:cNvGraphicFramePr>
          <p:nvPr>
            <p:extLst>
              <p:ext uri="{D42A27DB-BD31-4B8C-83A1-F6EECF244321}">
                <p14:modId xmlns:p14="http://schemas.microsoft.com/office/powerpoint/2010/main" val="644089668"/>
              </p:ext>
            </p:extLst>
          </p:nvPr>
        </p:nvGraphicFramePr>
        <p:xfrm>
          <a:off x="0" y="1447800"/>
          <a:ext cx="4559300" cy="27305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8E04CC2A-57DE-45A0-BCED-381D63B46F45}"/>
              </a:ext>
            </a:extLst>
          </p:cNvPr>
          <p:cNvGraphicFramePr/>
          <p:nvPr>
            <p:extLst>
              <p:ext uri="{D42A27DB-BD31-4B8C-83A1-F6EECF244321}">
                <p14:modId xmlns:p14="http://schemas.microsoft.com/office/powerpoint/2010/main" val="3188274225"/>
              </p:ext>
            </p:extLst>
          </p:nvPr>
        </p:nvGraphicFramePr>
        <p:xfrm>
          <a:off x="4572000" y="14478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4135D787-FB02-44F3-9AB2-869CBF399411}"/>
              </a:ext>
            </a:extLst>
          </p:cNvPr>
          <p:cNvSpPr txBox="1"/>
          <p:nvPr/>
        </p:nvSpPr>
        <p:spPr>
          <a:xfrm>
            <a:off x="304800" y="4278868"/>
            <a:ext cx="8534400" cy="369332"/>
          </a:xfrm>
          <a:prstGeom prst="rect">
            <a:avLst/>
          </a:prstGeom>
          <a:noFill/>
        </p:spPr>
        <p:txBody>
          <a:bodyPr wrap="square" rtlCol="0">
            <a:spAutoFit/>
          </a:bodyPr>
          <a:lstStyle/>
          <a:p>
            <a:pPr algn="ctr"/>
            <a:r>
              <a:rPr lang="en-US" dirty="0"/>
              <a:t>Fig 19 : Analysis and Accuracy of MFCC (13) Features with KNN Algorithm</a:t>
            </a:r>
            <a:endParaRPr lang="en-IN" dirty="0"/>
          </a:p>
        </p:txBody>
      </p:sp>
    </p:spTree>
    <p:extLst>
      <p:ext uri="{BB962C8B-B14F-4D97-AF65-F5344CB8AC3E}">
        <p14:creationId xmlns:p14="http://schemas.microsoft.com/office/powerpoint/2010/main" val="34318603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9C76949-E0B2-4ED2-B1F7-B66877DABA95}"/>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43FEE2CC-91AB-4303-B7B9-DA037315E569}"/>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E84BDB67-0A62-481C-92EB-FE5A15B529DC}"/>
              </a:ext>
            </a:extLst>
          </p:cNvPr>
          <p:cNvSpPr>
            <a:spLocks noGrp="1"/>
          </p:cNvSpPr>
          <p:nvPr>
            <p:ph type="sldNum" sz="quarter" idx="12"/>
          </p:nvPr>
        </p:nvSpPr>
        <p:spPr/>
        <p:txBody>
          <a:bodyPr/>
          <a:lstStyle/>
          <a:p>
            <a:fld id="{B6F15528-21DE-4FAA-801E-634DDDAF4B2B}" type="slidenum">
              <a:rPr lang="en-US" smtClean="0"/>
              <a:pPr/>
              <a:t>53</a:t>
            </a:fld>
            <a:endParaRPr lang="en-US"/>
          </a:p>
        </p:txBody>
      </p:sp>
      <p:sp>
        <p:nvSpPr>
          <p:cNvPr id="8" name="TextBox 7">
            <a:extLst>
              <a:ext uri="{FF2B5EF4-FFF2-40B4-BE49-F238E27FC236}">
                <a16:creationId xmlns:a16="http://schemas.microsoft.com/office/drawing/2014/main" id="{E1FABBD9-544F-4522-92E4-E19E0A9D428A}"/>
              </a:ext>
            </a:extLst>
          </p:cNvPr>
          <p:cNvSpPr txBox="1"/>
          <p:nvPr/>
        </p:nvSpPr>
        <p:spPr>
          <a:xfrm>
            <a:off x="457200" y="457200"/>
            <a:ext cx="82296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Table </a:t>
            </a:r>
            <a:r>
              <a:rPr lang="en-US" sz="2000" dirty="0">
                <a:latin typeface="Times New Roman" panose="02020603050405020304" pitchFamily="18" charset="0"/>
                <a:ea typeface="LM Roman 12"/>
                <a:cs typeface="Times New Roman" panose="02020603050405020304" pitchFamily="18" charset="0"/>
              </a:rPr>
              <a:t>20</a:t>
            </a:r>
            <a:r>
              <a:rPr lang="en-US" sz="2000" dirty="0">
                <a:effectLst/>
                <a:latin typeface="Times New Roman" panose="02020603050405020304" pitchFamily="18" charset="0"/>
                <a:ea typeface="LM Roman 12"/>
                <a:cs typeface="Times New Roman" panose="02020603050405020304" pitchFamily="18" charset="0"/>
              </a:rPr>
              <a:t>:Recognition of result with MFCC (26) features with KNN algorithm</a:t>
            </a:r>
            <a:endParaRPr lang="en-IN" sz="2000"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2E97A879-BB83-46F0-840F-12DDDFF149FB}"/>
              </a:ext>
            </a:extLst>
          </p:cNvPr>
          <p:cNvGraphicFramePr>
            <a:graphicFrameLocks noGrp="1"/>
          </p:cNvGraphicFramePr>
          <p:nvPr>
            <p:extLst>
              <p:ext uri="{D42A27DB-BD31-4B8C-83A1-F6EECF244321}">
                <p14:modId xmlns:p14="http://schemas.microsoft.com/office/powerpoint/2010/main" val="3839741855"/>
              </p:ext>
            </p:extLst>
          </p:nvPr>
        </p:nvGraphicFramePr>
        <p:xfrm>
          <a:off x="685800" y="1066800"/>
          <a:ext cx="7543803" cy="4267200"/>
        </p:xfrm>
        <a:graphic>
          <a:graphicData uri="http://schemas.openxmlformats.org/drawingml/2006/table">
            <a:tbl>
              <a:tblPr firstRow="1" firstCol="1" lastRow="1" lastCol="1" bandRow="1" bandCol="1">
                <a:tableStyleId>{5940675A-B579-460E-94D1-54222C63F5DA}</a:tableStyleId>
              </a:tblPr>
              <a:tblGrid>
                <a:gridCol w="686640">
                  <a:extLst>
                    <a:ext uri="{9D8B030D-6E8A-4147-A177-3AD203B41FA5}">
                      <a16:colId xmlns:a16="http://schemas.microsoft.com/office/drawing/2014/main" val="2750319157"/>
                    </a:ext>
                  </a:extLst>
                </a:gridCol>
                <a:gridCol w="579315">
                  <a:extLst>
                    <a:ext uri="{9D8B030D-6E8A-4147-A177-3AD203B41FA5}">
                      <a16:colId xmlns:a16="http://schemas.microsoft.com/office/drawing/2014/main" val="1983495107"/>
                    </a:ext>
                  </a:extLst>
                </a:gridCol>
                <a:gridCol w="686640">
                  <a:extLst>
                    <a:ext uri="{9D8B030D-6E8A-4147-A177-3AD203B41FA5}">
                      <a16:colId xmlns:a16="http://schemas.microsoft.com/office/drawing/2014/main" val="984720731"/>
                    </a:ext>
                  </a:extLst>
                </a:gridCol>
                <a:gridCol w="686640">
                  <a:extLst>
                    <a:ext uri="{9D8B030D-6E8A-4147-A177-3AD203B41FA5}">
                      <a16:colId xmlns:a16="http://schemas.microsoft.com/office/drawing/2014/main" val="1136846239"/>
                    </a:ext>
                  </a:extLst>
                </a:gridCol>
                <a:gridCol w="564313">
                  <a:extLst>
                    <a:ext uri="{9D8B030D-6E8A-4147-A177-3AD203B41FA5}">
                      <a16:colId xmlns:a16="http://schemas.microsoft.com/office/drawing/2014/main" val="873497818"/>
                    </a:ext>
                  </a:extLst>
                </a:gridCol>
                <a:gridCol w="570083">
                  <a:extLst>
                    <a:ext uri="{9D8B030D-6E8A-4147-A177-3AD203B41FA5}">
                      <a16:colId xmlns:a16="http://schemas.microsoft.com/office/drawing/2014/main" val="502893670"/>
                    </a:ext>
                  </a:extLst>
                </a:gridCol>
                <a:gridCol w="639325">
                  <a:extLst>
                    <a:ext uri="{9D8B030D-6E8A-4147-A177-3AD203B41FA5}">
                      <a16:colId xmlns:a16="http://schemas.microsoft.com/office/drawing/2014/main" val="2163831037"/>
                    </a:ext>
                  </a:extLst>
                </a:gridCol>
                <a:gridCol w="639325">
                  <a:extLst>
                    <a:ext uri="{9D8B030D-6E8A-4147-A177-3AD203B41FA5}">
                      <a16:colId xmlns:a16="http://schemas.microsoft.com/office/drawing/2014/main" val="2913350155"/>
                    </a:ext>
                  </a:extLst>
                </a:gridCol>
                <a:gridCol w="535464">
                  <a:extLst>
                    <a:ext uri="{9D8B030D-6E8A-4147-A177-3AD203B41FA5}">
                      <a16:colId xmlns:a16="http://schemas.microsoft.com/office/drawing/2014/main" val="2289742426"/>
                    </a:ext>
                  </a:extLst>
                </a:gridCol>
                <a:gridCol w="635863">
                  <a:extLst>
                    <a:ext uri="{9D8B030D-6E8A-4147-A177-3AD203B41FA5}">
                      <a16:colId xmlns:a16="http://schemas.microsoft.com/office/drawing/2014/main" val="2275389565"/>
                    </a:ext>
                  </a:extLst>
                </a:gridCol>
                <a:gridCol w="635863">
                  <a:extLst>
                    <a:ext uri="{9D8B030D-6E8A-4147-A177-3AD203B41FA5}">
                      <a16:colId xmlns:a16="http://schemas.microsoft.com/office/drawing/2014/main" val="3821893020"/>
                    </a:ext>
                  </a:extLst>
                </a:gridCol>
                <a:gridCol w="684332">
                  <a:extLst>
                    <a:ext uri="{9D8B030D-6E8A-4147-A177-3AD203B41FA5}">
                      <a16:colId xmlns:a16="http://schemas.microsoft.com/office/drawing/2014/main" val="4017695731"/>
                    </a:ext>
                  </a:extLst>
                </a:gridCol>
              </a:tblGrid>
              <a:tr h="283955">
                <a:tc rowSpan="2">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604520">
                        <a:spcBef>
                          <a:spcPts val="85"/>
                        </a:spcBef>
                      </a:pPr>
                      <a:r>
                        <a:rPr lang="en-US" sz="2000">
                          <a:effectLst/>
                          <a:latin typeface="Times New Roman" panose="02020603050405020304" pitchFamily="18" charset="0"/>
                          <a:cs typeface="Times New Roman" panose="02020603050405020304" pitchFamily="18" charset="0"/>
                        </a:rPr>
                        <a:t>Number of correctly recognized bird sound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76835">
                        <a:spcBef>
                          <a:spcPts val="795"/>
                        </a:spcBef>
                        <a:spcAft>
                          <a:spcPts val="0"/>
                        </a:spcAft>
                      </a:pPr>
                      <a:r>
                        <a:rPr lang="en-US" sz="2000">
                          <a:effectLst/>
                          <a:latin typeface="Times New Roman" panose="02020603050405020304" pitchFamily="18" charset="0"/>
                          <a:cs typeface="Times New Roman" panose="02020603050405020304" pitchFamily="18" charset="0"/>
                        </a:rPr>
                        <a:t>RSA</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860906488"/>
                  </a:ext>
                </a:extLst>
              </a:tr>
              <a:tr h="283955">
                <a:tc vMerge="1">
                  <a:txBody>
                    <a:bodyPr/>
                    <a:lstStyle/>
                    <a:p>
                      <a:endParaRPr lang="en-IN"/>
                    </a:p>
                  </a:txBody>
                  <a:tcPr/>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4135" marR="59690" algn="ctr">
                        <a:spcBef>
                          <a:spcPts val="6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3150662192"/>
                  </a:ext>
                </a:extLst>
              </a:tr>
              <a:tr h="288055">
                <a:tc>
                  <a:txBody>
                    <a:bodyPr/>
                    <a:lstStyle/>
                    <a:p>
                      <a:pPr marL="63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62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774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259746042"/>
                  </a:ext>
                </a:extLst>
              </a:tr>
              <a:tr h="288055">
                <a:tc>
                  <a:txBody>
                    <a:bodyPr/>
                    <a:lstStyle/>
                    <a:p>
                      <a:pPr marL="762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81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774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61360466"/>
                  </a:ext>
                </a:extLst>
              </a:tr>
              <a:tr h="288055">
                <a:tc>
                  <a:txBody>
                    <a:bodyPr/>
                    <a:lstStyle/>
                    <a:p>
                      <a:pPr marL="6413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61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dirty="0">
                          <a:effectLst/>
                          <a:latin typeface="Times New Roman" panose="02020603050405020304" pitchFamily="18" charset="0"/>
                          <a:cs typeface="Times New Roman" panose="02020603050405020304" pitchFamily="18" charset="0"/>
                        </a:rPr>
                        <a:t>0</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774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84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074615827"/>
                  </a:ext>
                </a:extLst>
              </a:tr>
              <a:tr h="288055">
                <a:tc>
                  <a:txBody>
                    <a:bodyPr/>
                    <a:lstStyle/>
                    <a:p>
                      <a:pPr marL="54610"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3665">
                        <a:spcBef>
                          <a:spcPts val="85"/>
                        </a:spcBef>
                      </a:pPr>
                      <a:r>
                        <a:rPr lang="en-US" sz="2000" dirty="0">
                          <a:effectLst/>
                          <a:highlight>
                            <a:srgbClr val="FF0000"/>
                          </a:highlight>
                          <a:latin typeface="Times New Roman" panose="02020603050405020304" pitchFamily="18" charset="0"/>
                          <a:cs typeface="Times New Roman" panose="02020603050405020304" pitchFamily="18" charset="0"/>
                        </a:rPr>
                        <a:t>66</a:t>
                      </a:r>
                      <a:endParaRPr lang="en-IN" sz="20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774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79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757029832"/>
                  </a:ext>
                </a:extLst>
              </a:tr>
              <a:tr h="288055">
                <a:tc>
                  <a:txBody>
                    <a:bodyPr/>
                    <a:lstStyle/>
                    <a:p>
                      <a:pPr marL="64135" marR="124460" algn="ctr">
                        <a:spcBef>
                          <a:spcPts val="8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dirty="0">
                          <a:effectLst/>
                          <a:highlight>
                            <a:srgbClr val="00FF00"/>
                          </a:highlight>
                          <a:latin typeface="Times New Roman" panose="02020603050405020304" pitchFamily="18" charset="0"/>
                          <a:cs typeface="Times New Roman" panose="02020603050405020304" pitchFamily="18" charset="0"/>
                        </a:rPr>
                        <a:t>71</a:t>
                      </a:r>
                      <a:endParaRPr lang="en-IN" sz="20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77470" algn="ctr">
                        <a:spcBef>
                          <a:spcPts val="85"/>
                        </a:spcBef>
                        <a:spcAft>
                          <a:spcPts val="0"/>
                        </a:spcAft>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93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470637989"/>
                  </a:ext>
                </a:extLst>
              </a:tr>
              <a:tr h="288055">
                <a:tc>
                  <a:txBody>
                    <a:bodyPr/>
                    <a:lstStyle/>
                    <a:p>
                      <a:pPr marL="254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55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774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538209853"/>
                  </a:ext>
                </a:extLst>
              </a:tr>
              <a:tr h="288055">
                <a:tc>
                  <a:txBody>
                    <a:bodyPr/>
                    <a:lstStyle/>
                    <a:p>
                      <a:pPr marL="4000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69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774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010866512"/>
                  </a:ext>
                </a:extLst>
              </a:tr>
              <a:tr h="288055">
                <a:tc>
                  <a:txBody>
                    <a:bodyPr/>
                    <a:lstStyle/>
                    <a:p>
                      <a:pPr marL="42545"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80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77470" algn="ctr">
                        <a:spcBef>
                          <a:spcPts val="85"/>
                        </a:spcBef>
                        <a:spcAft>
                          <a:spcPts val="0"/>
                        </a:spcAft>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472948243"/>
                  </a:ext>
                </a:extLst>
              </a:tr>
              <a:tr h="288055">
                <a:tc>
                  <a:txBody>
                    <a:bodyPr/>
                    <a:lstStyle/>
                    <a:p>
                      <a:pPr marL="48895"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619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63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936859697"/>
                  </a:ext>
                </a:extLst>
              </a:tr>
              <a:tr h="288055">
                <a:tc>
                  <a:txBody>
                    <a:bodyPr/>
                    <a:lstStyle/>
                    <a:p>
                      <a:pPr marL="3810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774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54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2000" dirty="0">
                          <a:effectLst/>
                          <a:latin typeface="Times New Roman" panose="02020603050405020304" pitchFamily="18" charset="0"/>
                          <a:cs typeface="Times New Roman" panose="02020603050405020304" pitchFamily="18" charset="0"/>
                        </a:rPr>
                        <a:t>98 </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862224241"/>
                  </a:ext>
                </a:extLst>
              </a:tr>
              <a:tr h="288055">
                <a:tc>
                  <a:txBody>
                    <a:bodyPr/>
                    <a:lstStyle/>
                    <a:p>
                      <a:pPr marL="3175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Rel.</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84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75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3619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811359870"/>
                  </a:ext>
                </a:extLst>
              </a:tr>
              <a:tr h="288055">
                <a:tc gridSpan="12">
                  <a:txBody>
                    <a:bodyPr/>
                    <a:lstStyle/>
                    <a:p>
                      <a:pPr marL="77470">
                        <a:spcBef>
                          <a:spcPts val="85"/>
                        </a:spcBef>
                      </a:pPr>
                      <a:r>
                        <a:rPr lang="en-US" sz="2000" dirty="0">
                          <a:effectLst/>
                          <a:latin typeface="Times New Roman" panose="02020603050405020304" pitchFamily="18" charset="0"/>
                          <a:cs typeface="Times New Roman" panose="02020603050405020304" pitchFamily="18" charset="0"/>
                        </a:rPr>
                        <a:t>Overall Accuracy: 91.50%</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966331340"/>
                  </a:ext>
                </a:extLst>
              </a:tr>
            </a:tbl>
          </a:graphicData>
        </a:graphic>
      </p:graphicFrame>
    </p:spTree>
    <p:extLst>
      <p:ext uri="{BB962C8B-B14F-4D97-AF65-F5344CB8AC3E}">
        <p14:creationId xmlns:p14="http://schemas.microsoft.com/office/powerpoint/2010/main" val="1913105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844E00E-274F-43E0-A3CF-5A9F9FE9ED4B}"/>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532333A9-EE5F-4304-84C9-91E6C1058592}"/>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BDDD6E19-BE69-4879-BEB2-60D022006975}"/>
              </a:ext>
            </a:extLst>
          </p:cNvPr>
          <p:cNvSpPr>
            <a:spLocks noGrp="1"/>
          </p:cNvSpPr>
          <p:nvPr>
            <p:ph type="sldNum" sz="quarter" idx="12"/>
          </p:nvPr>
        </p:nvSpPr>
        <p:spPr/>
        <p:txBody>
          <a:bodyPr/>
          <a:lstStyle/>
          <a:p>
            <a:fld id="{B6F15528-21DE-4FAA-801E-634DDDAF4B2B}" type="slidenum">
              <a:rPr lang="en-US" smtClean="0"/>
              <a:pPr/>
              <a:t>54</a:t>
            </a:fld>
            <a:endParaRPr lang="en-US"/>
          </a:p>
        </p:txBody>
      </p:sp>
      <p:graphicFrame>
        <p:nvGraphicFramePr>
          <p:cNvPr id="9" name="Chart 8">
            <a:extLst>
              <a:ext uri="{FF2B5EF4-FFF2-40B4-BE49-F238E27FC236}">
                <a16:creationId xmlns:a16="http://schemas.microsoft.com/office/drawing/2014/main" id="{196193E0-1534-4697-98B9-08B5E365B1C1}"/>
              </a:ext>
            </a:extLst>
          </p:cNvPr>
          <p:cNvGraphicFramePr>
            <a:graphicFrameLocks/>
          </p:cNvGraphicFramePr>
          <p:nvPr>
            <p:extLst>
              <p:ext uri="{D42A27DB-BD31-4B8C-83A1-F6EECF244321}">
                <p14:modId xmlns:p14="http://schemas.microsoft.com/office/powerpoint/2010/main" val="4009362657"/>
              </p:ext>
            </p:extLst>
          </p:nvPr>
        </p:nvGraphicFramePr>
        <p:xfrm>
          <a:off x="0" y="1371600"/>
          <a:ext cx="4559300" cy="27305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E24C9348-E328-4F4E-AA8B-EADE14BE4035}"/>
              </a:ext>
            </a:extLst>
          </p:cNvPr>
          <p:cNvGraphicFramePr/>
          <p:nvPr>
            <p:extLst>
              <p:ext uri="{D42A27DB-BD31-4B8C-83A1-F6EECF244321}">
                <p14:modId xmlns:p14="http://schemas.microsoft.com/office/powerpoint/2010/main" val="3109899713"/>
              </p:ext>
            </p:extLst>
          </p:nvPr>
        </p:nvGraphicFramePr>
        <p:xfrm>
          <a:off x="4572000" y="12954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89DBD543-E02C-4E2C-9A1B-C385889F8EAE}"/>
              </a:ext>
            </a:extLst>
          </p:cNvPr>
          <p:cNvSpPr txBox="1"/>
          <p:nvPr/>
        </p:nvSpPr>
        <p:spPr>
          <a:xfrm>
            <a:off x="304800" y="4126468"/>
            <a:ext cx="8534400" cy="369332"/>
          </a:xfrm>
          <a:prstGeom prst="rect">
            <a:avLst/>
          </a:prstGeom>
          <a:noFill/>
        </p:spPr>
        <p:txBody>
          <a:bodyPr wrap="square" rtlCol="0">
            <a:spAutoFit/>
          </a:bodyPr>
          <a:lstStyle/>
          <a:p>
            <a:pPr algn="ctr"/>
            <a:r>
              <a:rPr lang="en-US" dirty="0"/>
              <a:t>Fig 20 : Analysis and Accuracy of MFCC (26) Features with KNN Algorithm</a:t>
            </a:r>
            <a:endParaRPr lang="en-IN" dirty="0"/>
          </a:p>
        </p:txBody>
      </p:sp>
    </p:spTree>
    <p:extLst>
      <p:ext uri="{BB962C8B-B14F-4D97-AF65-F5344CB8AC3E}">
        <p14:creationId xmlns:p14="http://schemas.microsoft.com/office/powerpoint/2010/main" val="21664728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9C76949-E0B2-4ED2-B1F7-B66877DABA95}"/>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43FEE2CC-91AB-4303-B7B9-DA037315E569}"/>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E84BDB67-0A62-481C-92EB-FE5A15B529DC}"/>
              </a:ext>
            </a:extLst>
          </p:cNvPr>
          <p:cNvSpPr>
            <a:spLocks noGrp="1"/>
          </p:cNvSpPr>
          <p:nvPr>
            <p:ph type="sldNum" sz="quarter" idx="12"/>
          </p:nvPr>
        </p:nvSpPr>
        <p:spPr/>
        <p:txBody>
          <a:bodyPr/>
          <a:lstStyle/>
          <a:p>
            <a:fld id="{B6F15528-21DE-4FAA-801E-634DDDAF4B2B}" type="slidenum">
              <a:rPr lang="en-US" smtClean="0"/>
              <a:pPr/>
              <a:t>55</a:t>
            </a:fld>
            <a:endParaRPr lang="en-US"/>
          </a:p>
        </p:txBody>
      </p:sp>
      <p:sp>
        <p:nvSpPr>
          <p:cNvPr id="8" name="TextBox 7">
            <a:extLst>
              <a:ext uri="{FF2B5EF4-FFF2-40B4-BE49-F238E27FC236}">
                <a16:creationId xmlns:a16="http://schemas.microsoft.com/office/drawing/2014/main" id="{E1FABBD9-544F-4522-92E4-E19E0A9D428A}"/>
              </a:ext>
            </a:extLst>
          </p:cNvPr>
          <p:cNvSpPr txBox="1"/>
          <p:nvPr/>
        </p:nvSpPr>
        <p:spPr>
          <a:xfrm>
            <a:off x="228600" y="457200"/>
            <a:ext cx="82296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Table</a:t>
            </a:r>
            <a:r>
              <a:rPr lang="en-US" sz="2000" dirty="0">
                <a:latin typeface="Times New Roman" panose="02020603050405020304" pitchFamily="18" charset="0"/>
                <a:ea typeface="LM Roman 12"/>
                <a:cs typeface="Times New Roman" panose="02020603050405020304" pitchFamily="18" charset="0"/>
              </a:rPr>
              <a:t> 21</a:t>
            </a:r>
            <a:r>
              <a:rPr lang="en-US" sz="2000" dirty="0">
                <a:effectLst/>
                <a:latin typeface="Times New Roman" panose="02020603050405020304" pitchFamily="18" charset="0"/>
                <a:ea typeface="LM Roman 12"/>
                <a:cs typeface="Times New Roman" panose="02020603050405020304" pitchFamily="18" charset="0"/>
              </a:rPr>
              <a:t>:Recognition of result with MFCC (39) features with KNN algorithm</a:t>
            </a:r>
            <a:endParaRPr lang="en-IN" sz="20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1DFA4A05-9C19-48EC-9051-2CC04DD9C4E2}"/>
              </a:ext>
            </a:extLst>
          </p:cNvPr>
          <p:cNvGraphicFramePr>
            <a:graphicFrameLocks noGrp="1"/>
          </p:cNvGraphicFramePr>
          <p:nvPr>
            <p:extLst>
              <p:ext uri="{D42A27DB-BD31-4B8C-83A1-F6EECF244321}">
                <p14:modId xmlns:p14="http://schemas.microsoft.com/office/powerpoint/2010/main" val="1448034081"/>
              </p:ext>
            </p:extLst>
          </p:nvPr>
        </p:nvGraphicFramePr>
        <p:xfrm>
          <a:off x="609600" y="1066800"/>
          <a:ext cx="7848599" cy="4267200"/>
        </p:xfrm>
        <a:graphic>
          <a:graphicData uri="http://schemas.openxmlformats.org/drawingml/2006/table">
            <a:tbl>
              <a:tblPr firstRow="1" firstCol="1" lastRow="1" lastCol="1" bandRow="1" bandCol="1">
                <a:tableStyleId>{5940675A-B579-460E-94D1-54222C63F5DA}</a:tableStyleId>
              </a:tblPr>
              <a:tblGrid>
                <a:gridCol w="707885">
                  <a:extLst>
                    <a:ext uri="{9D8B030D-6E8A-4147-A177-3AD203B41FA5}">
                      <a16:colId xmlns:a16="http://schemas.microsoft.com/office/drawing/2014/main" val="3960065749"/>
                    </a:ext>
                  </a:extLst>
                </a:gridCol>
                <a:gridCol w="598431">
                  <a:extLst>
                    <a:ext uri="{9D8B030D-6E8A-4147-A177-3AD203B41FA5}">
                      <a16:colId xmlns:a16="http://schemas.microsoft.com/office/drawing/2014/main" val="2904692516"/>
                    </a:ext>
                  </a:extLst>
                </a:gridCol>
                <a:gridCol w="709074">
                  <a:extLst>
                    <a:ext uri="{9D8B030D-6E8A-4147-A177-3AD203B41FA5}">
                      <a16:colId xmlns:a16="http://schemas.microsoft.com/office/drawing/2014/main" val="2278933078"/>
                    </a:ext>
                  </a:extLst>
                </a:gridCol>
                <a:gridCol w="709074">
                  <a:extLst>
                    <a:ext uri="{9D8B030D-6E8A-4147-A177-3AD203B41FA5}">
                      <a16:colId xmlns:a16="http://schemas.microsoft.com/office/drawing/2014/main" val="1176287898"/>
                    </a:ext>
                  </a:extLst>
                </a:gridCol>
                <a:gridCol w="584154">
                  <a:extLst>
                    <a:ext uri="{9D8B030D-6E8A-4147-A177-3AD203B41FA5}">
                      <a16:colId xmlns:a16="http://schemas.microsoft.com/office/drawing/2014/main" val="2563875413"/>
                    </a:ext>
                  </a:extLst>
                </a:gridCol>
                <a:gridCol w="598431">
                  <a:extLst>
                    <a:ext uri="{9D8B030D-6E8A-4147-A177-3AD203B41FA5}">
                      <a16:colId xmlns:a16="http://schemas.microsoft.com/office/drawing/2014/main" val="1529157102"/>
                    </a:ext>
                  </a:extLst>
                </a:gridCol>
                <a:gridCol w="661486">
                  <a:extLst>
                    <a:ext uri="{9D8B030D-6E8A-4147-A177-3AD203B41FA5}">
                      <a16:colId xmlns:a16="http://schemas.microsoft.com/office/drawing/2014/main" val="4285876607"/>
                    </a:ext>
                  </a:extLst>
                </a:gridCol>
                <a:gridCol w="661486">
                  <a:extLst>
                    <a:ext uri="{9D8B030D-6E8A-4147-A177-3AD203B41FA5}">
                      <a16:colId xmlns:a16="http://schemas.microsoft.com/office/drawing/2014/main" val="2505760438"/>
                    </a:ext>
                  </a:extLst>
                </a:gridCol>
                <a:gridCol w="598431">
                  <a:extLst>
                    <a:ext uri="{9D8B030D-6E8A-4147-A177-3AD203B41FA5}">
                      <a16:colId xmlns:a16="http://schemas.microsoft.com/office/drawing/2014/main" val="177194951"/>
                    </a:ext>
                  </a:extLst>
                </a:gridCol>
                <a:gridCol w="656726">
                  <a:extLst>
                    <a:ext uri="{9D8B030D-6E8A-4147-A177-3AD203B41FA5}">
                      <a16:colId xmlns:a16="http://schemas.microsoft.com/office/drawing/2014/main" val="3082260286"/>
                    </a:ext>
                  </a:extLst>
                </a:gridCol>
                <a:gridCol w="656726">
                  <a:extLst>
                    <a:ext uri="{9D8B030D-6E8A-4147-A177-3AD203B41FA5}">
                      <a16:colId xmlns:a16="http://schemas.microsoft.com/office/drawing/2014/main" val="1856234189"/>
                    </a:ext>
                  </a:extLst>
                </a:gridCol>
                <a:gridCol w="706695">
                  <a:extLst>
                    <a:ext uri="{9D8B030D-6E8A-4147-A177-3AD203B41FA5}">
                      <a16:colId xmlns:a16="http://schemas.microsoft.com/office/drawing/2014/main" val="2274995222"/>
                    </a:ext>
                  </a:extLst>
                </a:gridCol>
              </a:tblGrid>
              <a:tr h="294992">
                <a:tc rowSpan="2">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615950">
                        <a:spcBef>
                          <a:spcPts val="85"/>
                        </a:spcBef>
                      </a:pPr>
                      <a:r>
                        <a:rPr lang="en-US" sz="2000">
                          <a:effectLst/>
                          <a:latin typeface="Times New Roman" panose="02020603050405020304" pitchFamily="18" charset="0"/>
                          <a:cs typeface="Times New Roman" panose="02020603050405020304" pitchFamily="18" charset="0"/>
                        </a:rPr>
                        <a:t>Number of correctly recognized bird sound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7945">
                        <a:spcBef>
                          <a:spcPts val="795"/>
                        </a:spcBef>
                        <a:spcAft>
                          <a:spcPts val="0"/>
                        </a:spcAft>
                      </a:pPr>
                      <a:r>
                        <a:rPr lang="en-US" sz="2000">
                          <a:effectLst/>
                          <a:latin typeface="Times New Roman" panose="02020603050405020304" pitchFamily="18" charset="0"/>
                          <a:cs typeface="Times New Roman" panose="02020603050405020304" pitchFamily="18" charset="0"/>
                        </a:rPr>
                        <a:t>RSA</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268133225"/>
                  </a:ext>
                </a:extLst>
              </a:tr>
              <a:tr h="294992">
                <a:tc vMerge="1">
                  <a:txBody>
                    <a:bodyPr/>
                    <a:lstStyle/>
                    <a:p>
                      <a:endParaRPr lang="en-IN"/>
                    </a:p>
                  </a:txBody>
                  <a:tcPr/>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00" marR="60325" algn="ctr">
                        <a:spcBef>
                          <a:spcPts val="6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6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6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6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3548982999"/>
                  </a:ext>
                </a:extLst>
              </a:tr>
              <a:tr h="299251">
                <a:tc>
                  <a:txBody>
                    <a:bodyPr/>
                    <a:lstStyle/>
                    <a:p>
                      <a:pPr marL="63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68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304739031"/>
                  </a:ext>
                </a:extLst>
              </a:tr>
              <a:tr h="299251">
                <a:tc>
                  <a:txBody>
                    <a:bodyPr/>
                    <a:lstStyle/>
                    <a:p>
                      <a:pPr marL="762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2000">
                          <a:effectLst/>
                          <a:latin typeface="Times New Roman" panose="02020603050405020304" pitchFamily="18" charset="0"/>
                          <a:cs typeface="Times New Roman" panose="02020603050405020304" pitchFamily="18" charset="0"/>
                        </a:rPr>
                        <a:t>57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575624926"/>
                  </a:ext>
                </a:extLst>
              </a:tr>
              <a:tr h="299251">
                <a:tc>
                  <a:txBody>
                    <a:bodyPr/>
                    <a:lstStyle/>
                    <a:p>
                      <a:pPr marL="6413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65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dirty="0">
                          <a:effectLst/>
                          <a:latin typeface="Times New Roman" panose="02020603050405020304" pitchFamily="18" charset="0"/>
                          <a:cs typeface="Times New Roman" panose="02020603050405020304" pitchFamily="18" charset="0"/>
                        </a:rPr>
                        <a:t>12</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87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351511233"/>
                  </a:ext>
                </a:extLst>
              </a:tr>
              <a:tr h="299251">
                <a:tc>
                  <a:txBody>
                    <a:bodyPr/>
                    <a:lstStyle/>
                    <a:p>
                      <a:pPr marL="54610"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dirty="0">
                          <a:effectLst/>
                          <a:highlight>
                            <a:srgbClr val="FF0000"/>
                          </a:highlight>
                          <a:latin typeface="Times New Roman" panose="02020603050405020304" pitchFamily="18" charset="0"/>
                          <a:cs typeface="Times New Roman" panose="02020603050405020304" pitchFamily="18" charset="0"/>
                        </a:rPr>
                        <a:t>77</a:t>
                      </a:r>
                      <a:endParaRPr lang="en-IN" sz="20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84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635486298"/>
                  </a:ext>
                </a:extLst>
              </a:tr>
              <a:tr h="299251">
                <a:tc>
                  <a:txBody>
                    <a:bodyPr/>
                    <a:lstStyle/>
                    <a:p>
                      <a:pPr marL="64135" marR="124460" algn="ctr">
                        <a:spcBef>
                          <a:spcPts val="8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72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324534905"/>
                  </a:ext>
                </a:extLst>
              </a:tr>
              <a:tr h="299251">
                <a:tc>
                  <a:txBody>
                    <a:bodyPr/>
                    <a:lstStyle/>
                    <a:p>
                      <a:pPr marL="254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dirty="0">
                          <a:effectLst/>
                          <a:highlight>
                            <a:srgbClr val="00FF00"/>
                          </a:highlight>
                          <a:latin typeface="Times New Roman" panose="02020603050405020304" pitchFamily="18" charset="0"/>
                          <a:cs typeface="Times New Roman" panose="02020603050405020304" pitchFamily="18" charset="0"/>
                        </a:rPr>
                        <a:t>48</a:t>
                      </a:r>
                      <a:endParaRPr lang="en-IN" sz="20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084920763"/>
                  </a:ext>
                </a:extLst>
              </a:tr>
              <a:tr h="299251">
                <a:tc>
                  <a:txBody>
                    <a:bodyPr/>
                    <a:lstStyle/>
                    <a:p>
                      <a:pPr marL="4000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60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183247527"/>
                  </a:ext>
                </a:extLst>
              </a:tr>
              <a:tr h="299251">
                <a:tc>
                  <a:txBody>
                    <a:bodyPr/>
                    <a:lstStyle/>
                    <a:p>
                      <a:pPr marL="42545"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85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471774237"/>
                  </a:ext>
                </a:extLst>
              </a:tr>
              <a:tr h="299251">
                <a:tc>
                  <a:txBody>
                    <a:bodyPr/>
                    <a:lstStyle/>
                    <a:p>
                      <a:pPr marL="48895"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74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111448894"/>
                  </a:ext>
                </a:extLst>
              </a:tr>
              <a:tr h="299251">
                <a:tc>
                  <a:txBody>
                    <a:bodyPr/>
                    <a:lstStyle/>
                    <a:p>
                      <a:pPr marL="3810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57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773903030"/>
                  </a:ext>
                </a:extLst>
              </a:tr>
              <a:tr h="299251">
                <a:tc>
                  <a:txBody>
                    <a:bodyPr/>
                    <a:lstStyle/>
                    <a:p>
                      <a:pPr marL="3175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Rel.</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2000">
                          <a:effectLst/>
                          <a:latin typeface="Times New Roman" panose="02020603050405020304" pitchFamily="18" charset="0"/>
                          <a:cs typeface="Times New Roman" panose="02020603050405020304" pitchFamily="18" charset="0"/>
                        </a:rPr>
                        <a:t>92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90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81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91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767032065"/>
                  </a:ext>
                </a:extLst>
              </a:tr>
              <a:tr h="299251">
                <a:tc gridSpan="12">
                  <a:txBody>
                    <a:bodyPr/>
                    <a:lstStyle/>
                    <a:p>
                      <a:pPr marL="77470">
                        <a:spcBef>
                          <a:spcPts val="85"/>
                        </a:spcBef>
                      </a:pPr>
                      <a:r>
                        <a:rPr lang="en-US" sz="2000" dirty="0">
                          <a:effectLst/>
                          <a:latin typeface="Times New Roman" panose="02020603050405020304" pitchFamily="18" charset="0"/>
                          <a:cs typeface="Times New Roman" panose="02020603050405020304" pitchFamily="18" charset="0"/>
                        </a:rPr>
                        <a:t>Overall Accuracy: 93.64%</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837145944"/>
                  </a:ext>
                </a:extLst>
              </a:tr>
            </a:tbl>
          </a:graphicData>
        </a:graphic>
      </p:graphicFrame>
    </p:spTree>
    <p:extLst>
      <p:ext uri="{BB962C8B-B14F-4D97-AF65-F5344CB8AC3E}">
        <p14:creationId xmlns:p14="http://schemas.microsoft.com/office/powerpoint/2010/main" val="13248490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A7F3297-1F8C-40BB-A4A9-57B1AD165A7A}"/>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81522355-D924-46FE-82CD-69EC60FA9CEF}"/>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62EAB1E8-F51C-4999-B1FA-C75A6603CDE4}"/>
              </a:ext>
            </a:extLst>
          </p:cNvPr>
          <p:cNvSpPr>
            <a:spLocks noGrp="1"/>
          </p:cNvSpPr>
          <p:nvPr>
            <p:ph type="sldNum" sz="quarter" idx="12"/>
          </p:nvPr>
        </p:nvSpPr>
        <p:spPr/>
        <p:txBody>
          <a:bodyPr/>
          <a:lstStyle/>
          <a:p>
            <a:fld id="{B6F15528-21DE-4FAA-801E-634DDDAF4B2B}" type="slidenum">
              <a:rPr lang="en-US" smtClean="0"/>
              <a:pPr/>
              <a:t>56</a:t>
            </a:fld>
            <a:endParaRPr lang="en-US"/>
          </a:p>
        </p:txBody>
      </p:sp>
      <p:graphicFrame>
        <p:nvGraphicFramePr>
          <p:cNvPr id="9" name="Chart 8">
            <a:extLst>
              <a:ext uri="{FF2B5EF4-FFF2-40B4-BE49-F238E27FC236}">
                <a16:creationId xmlns:a16="http://schemas.microsoft.com/office/drawing/2014/main" id="{E52F2C17-7830-4CC3-8DAF-6A20ACB8AC66}"/>
              </a:ext>
            </a:extLst>
          </p:cNvPr>
          <p:cNvGraphicFramePr>
            <a:graphicFrameLocks/>
          </p:cNvGraphicFramePr>
          <p:nvPr>
            <p:extLst>
              <p:ext uri="{D42A27DB-BD31-4B8C-83A1-F6EECF244321}">
                <p14:modId xmlns:p14="http://schemas.microsoft.com/office/powerpoint/2010/main" val="1722167312"/>
              </p:ext>
            </p:extLst>
          </p:nvPr>
        </p:nvGraphicFramePr>
        <p:xfrm>
          <a:off x="0" y="1371600"/>
          <a:ext cx="4760595" cy="28263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634335B2-EC31-4049-8F77-71FBB9CA7638}"/>
              </a:ext>
            </a:extLst>
          </p:cNvPr>
          <p:cNvGraphicFramePr/>
          <p:nvPr>
            <p:extLst>
              <p:ext uri="{D42A27DB-BD31-4B8C-83A1-F6EECF244321}">
                <p14:modId xmlns:p14="http://schemas.microsoft.com/office/powerpoint/2010/main" val="2769811354"/>
              </p:ext>
            </p:extLst>
          </p:nvPr>
        </p:nvGraphicFramePr>
        <p:xfrm>
          <a:off x="4572000" y="13716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C50FF86D-5E84-4036-85EF-6F19FAD9EFA0}"/>
              </a:ext>
            </a:extLst>
          </p:cNvPr>
          <p:cNvSpPr txBox="1"/>
          <p:nvPr/>
        </p:nvSpPr>
        <p:spPr>
          <a:xfrm>
            <a:off x="228600" y="4202668"/>
            <a:ext cx="8534400" cy="369332"/>
          </a:xfrm>
          <a:prstGeom prst="rect">
            <a:avLst/>
          </a:prstGeom>
          <a:noFill/>
        </p:spPr>
        <p:txBody>
          <a:bodyPr wrap="square" rtlCol="0">
            <a:spAutoFit/>
          </a:bodyPr>
          <a:lstStyle/>
          <a:p>
            <a:pPr algn="ctr"/>
            <a:r>
              <a:rPr lang="en-US" dirty="0"/>
              <a:t>Fig 21 : Analysis and Accuracy of MFCC (39) Features with KNN Algorithm</a:t>
            </a:r>
            <a:endParaRPr lang="en-IN" dirty="0"/>
          </a:p>
        </p:txBody>
      </p:sp>
    </p:spTree>
    <p:extLst>
      <p:ext uri="{BB962C8B-B14F-4D97-AF65-F5344CB8AC3E}">
        <p14:creationId xmlns:p14="http://schemas.microsoft.com/office/powerpoint/2010/main" val="24163290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5F5FB-6B59-4593-9D78-04B33C203E00}"/>
              </a:ext>
            </a:extLst>
          </p:cNvPr>
          <p:cNvSpPr>
            <a:spLocks noGrp="1"/>
          </p:cNvSpPr>
          <p:nvPr>
            <p:ph type="title"/>
          </p:nvPr>
        </p:nvSpPr>
        <p:spPr>
          <a:xfrm>
            <a:off x="457200" y="-228600"/>
            <a:ext cx="8229600" cy="1143000"/>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Result of LFCC</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9C76949-E0B2-4ED2-B1F7-B66877DABA95}"/>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43FEE2CC-91AB-4303-B7B9-DA037315E569}"/>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E84BDB67-0A62-481C-92EB-FE5A15B529DC}"/>
              </a:ext>
            </a:extLst>
          </p:cNvPr>
          <p:cNvSpPr>
            <a:spLocks noGrp="1"/>
          </p:cNvSpPr>
          <p:nvPr>
            <p:ph type="sldNum" sz="quarter" idx="12"/>
          </p:nvPr>
        </p:nvSpPr>
        <p:spPr/>
        <p:txBody>
          <a:bodyPr/>
          <a:lstStyle/>
          <a:p>
            <a:fld id="{B6F15528-21DE-4FAA-801E-634DDDAF4B2B}" type="slidenum">
              <a:rPr lang="en-US" smtClean="0"/>
              <a:pPr/>
              <a:t>57</a:t>
            </a:fld>
            <a:endParaRPr lang="en-US"/>
          </a:p>
        </p:txBody>
      </p:sp>
      <p:sp>
        <p:nvSpPr>
          <p:cNvPr id="8" name="TextBox 7">
            <a:extLst>
              <a:ext uri="{FF2B5EF4-FFF2-40B4-BE49-F238E27FC236}">
                <a16:creationId xmlns:a16="http://schemas.microsoft.com/office/drawing/2014/main" id="{E1FABBD9-544F-4522-92E4-E19E0A9D428A}"/>
              </a:ext>
            </a:extLst>
          </p:cNvPr>
          <p:cNvSpPr txBox="1"/>
          <p:nvPr/>
        </p:nvSpPr>
        <p:spPr>
          <a:xfrm>
            <a:off x="533400" y="609600"/>
            <a:ext cx="82296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Table </a:t>
            </a:r>
            <a:r>
              <a:rPr lang="en-US" sz="2000" dirty="0">
                <a:latin typeface="Times New Roman" panose="02020603050405020304" pitchFamily="18" charset="0"/>
                <a:ea typeface="LM Roman 12"/>
                <a:cs typeface="Times New Roman" panose="02020603050405020304" pitchFamily="18" charset="0"/>
              </a:rPr>
              <a:t>22</a:t>
            </a:r>
            <a:r>
              <a:rPr lang="en-US" sz="2000" dirty="0">
                <a:effectLst/>
                <a:latin typeface="Times New Roman" panose="02020603050405020304" pitchFamily="18" charset="0"/>
                <a:ea typeface="LM Roman 12"/>
                <a:cs typeface="Times New Roman" panose="02020603050405020304" pitchFamily="18" charset="0"/>
              </a:rPr>
              <a:t>:Recognition of result with LFCC (13) features with KNN algorithm</a:t>
            </a:r>
            <a:endParaRPr lang="en-IN" sz="20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505B4732-836D-47C5-91A7-7C43BC9A4CE9}"/>
              </a:ext>
            </a:extLst>
          </p:cNvPr>
          <p:cNvGraphicFramePr>
            <a:graphicFrameLocks noGrp="1"/>
          </p:cNvGraphicFramePr>
          <p:nvPr>
            <p:extLst>
              <p:ext uri="{D42A27DB-BD31-4B8C-83A1-F6EECF244321}">
                <p14:modId xmlns:p14="http://schemas.microsoft.com/office/powerpoint/2010/main" val="3499839906"/>
              </p:ext>
            </p:extLst>
          </p:nvPr>
        </p:nvGraphicFramePr>
        <p:xfrm>
          <a:off x="685800" y="1066800"/>
          <a:ext cx="7772399" cy="4267200"/>
        </p:xfrm>
        <a:graphic>
          <a:graphicData uri="http://schemas.openxmlformats.org/drawingml/2006/table">
            <a:tbl>
              <a:tblPr firstRow="1" firstCol="1" lastRow="1" lastCol="1" bandRow="1" bandCol="1">
                <a:tableStyleId>{5940675A-B579-460E-94D1-54222C63F5DA}</a:tableStyleId>
              </a:tblPr>
              <a:tblGrid>
                <a:gridCol w="706258">
                  <a:extLst>
                    <a:ext uri="{9D8B030D-6E8A-4147-A177-3AD203B41FA5}">
                      <a16:colId xmlns:a16="http://schemas.microsoft.com/office/drawing/2014/main" val="1259688919"/>
                    </a:ext>
                  </a:extLst>
                </a:gridCol>
                <a:gridCol w="597055">
                  <a:extLst>
                    <a:ext uri="{9D8B030D-6E8A-4147-A177-3AD203B41FA5}">
                      <a16:colId xmlns:a16="http://schemas.microsoft.com/office/drawing/2014/main" val="1014427084"/>
                    </a:ext>
                  </a:extLst>
                </a:gridCol>
                <a:gridCol w="707445">
                  <a:extLst>
                    <a:ext uri="{9D8B030D-6E8A-4147-A177-3AD203B41FA5}">
                      <a16:colId xmlns:a16="http://schemas.microsoft.com/office/drawing/2014/main" val="541767543"/>
                    </a:ext>
                  </a:extLst>
                </a:gridCol>
                <a:gridCol w="707445">
                  <a:extLst>
                    <a:ext uri="{9D8B030D-6E8A-4147-A177-3AD203B41FA5}">
                      <a16:colId xmlns:a16="http://schemas.microsoft.com/office/drawing/2014/main" val="1393396255"/>
                    </a:ext>
                  </a:extLst>
                </a:gridCol>
                <a:gridCol w="581624">
                  <a:extLst>
                    <a:ext uri="{9D8B030D-6E8A-4147-A177-3AD203B41FA5}">
                      <a16:colId xmlns:a16="http://schemas.microsoft.com/office/drawing/2014/main" val="989065022"/>
                    </a:ext>
                  </a:extLst>
                </a:gridCol>
                <a:gridCol w="587559">
                  <a:extLst>
                    <a:ext uri="{9D8B030D-6E8A-4147-A177-3AD203B41FA5}">
                      <a16:colId xmlns:a16="http://schemas.microsoft.com/office/drawing/2014/main" val="549179991"/>
                    </a:ext>
                  </a:extLst>
                </a:gridCol>
                <a:gridCol w="658778">
                  <a:extLst>
                    <a:ext uri="{9D8B030D-6E8A-4147-A177-3AD203B41FA5}">
                      <a16:colId xmlns:a16="http://schemas.microsoft.com/office/drawing/2014/main" val="1643510928"/>
                    </a:ext>
                  </a:extLst>
                </a:gridCol>
                <a:gridCol w="658778">
                  <a:extLst>
                    <a:ext uri="{9D8B030D-6E8A-4147-A177-3AD203B41FA5}">
                      <a16:colId xmlns:a16="http://schemas.microsoft.com/office/drawing/2014/main" val="2542811616"/>
                    </a:ext>
                  </a:extLst>
                </a:gridCol>
                <a:gridCol w="551950">
                  <a:extLst>
                    <a:ext uri="{9D8B030D-6E8A-4147-A177-3AD203B41FA5}">
                      <a16:colId xmlns:a16="http://schemas.microsoft.com/office/drawing/2014/main" val="262328604"/>
                    </a:ext>
                  </a:extLst>
                </a:gridCol>
                <a:gridCol w="655218">
                  <a:extLst>
                    <a:ext uri="{9D8B030D-6E8A-4147-A177-3AD203B41FA5}">
                      <a16:colId xmlns:a16="http://schemas.microsoft.com/office/drawing/2014/main" val="2641288550"/>
                    </a:ext>
                  </a:extLst>
                </a:gridCol>
                <a:gridCol w="655218">
                  <a:extLst>
                    <a:ext uri="{9D8B030D-6E8A-4147-A177-3AD203B41FA5}">
                      <a16:colId xmlns:a16="http://schemas.microsoft.com/office/drawing/2014/main" val="509941162"/>
                    </a:ext>
                  </a:extLst>
                </a:gridCol>
                <a:gridCol w="705071">
                  <a:extLst>
                    <a:ext uri="{9D8B030D-6E8A-4147-A177-3AD203B41FA5}">
                      <a16:colId xmlns:a16="http://schemas.microsoft.com/office/drawing/2014/main" val="128016349"/>
                    </a:ext>
                  </a:extLst>
                </a:gridCol>
              </a:tblGrid>
              <a:tr h="283955">
                <a:tc rowSpan="2">
                  <a:txBody>
                    <a:bodyPr/>
                    <a:lstStyle/>
                    <a:p>
                      <a:pPr marL="77470">
                        <a:spcBef>
                          <a:spcPts val="85"/>
                        </a:spcBef>
                        <a:spcAft>
                          <a:spcPts val="0"/>
                        </a:spcAft>
                      </a:pPr>
                      <a:r>
                        <a:rPr lang="en-US" sz="2000" dirty="0">
                          <a:effectLst/>
                          <a:latin typeface="Times New Roman" panose="02020603050405020304" pitchFamily="18" charset="0"/>
                          <a:cs typeface="Times New Roman" panose="02020603050405020304" pitchFamily="18" charset="0"/>
                        </a:rPr>
                        <a:t> </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601980">
                        <a:spcBef>
                          <a:spcPts val="85"/>
                        </a:spcBef>
                      </a:pPr>
                      <a:r>
                        <a:rPr lang="en-US" sz="2000">
                          <a:effectLst/>
                          <a:latin typeface="Times New Roman" panose="02020603050405020304" pitchFamily="18" charset="0"/>
                          <a:cs typeface="Times New Roman" panose="02020603050405020304" pitchFamily="18" charset="0"/>
                        </a:rPr>
                        <a:t>Number of correctly recognized bird sound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70485">
                        <a:spcBef>
                          <a:spcPts val="795"/>
                        </a:spcBef>
                        <a:spcAft>
                          <a:spcPts val="0"/>
                        </a:spcAft>
                      </a:pPr>
                      <a:r>
                        <a:rPr lang="en-US" sz="2000">
                          <a:effectLst/>
                          <a:latin typeface="Times New Roman" panose="02020603050405020304" pitchFamily="18" charset="0"/>
                          <a:cs typeface="Times New Roman" panose="02020603050405020304" pitchFamily="18" charset="0"/>
                        </a:rPr>
                        <a:t>RSA</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926129682"/>
                  </a:ext>
                </a:extLst>
              </a:tr>
              <a:tr h="283955">
                <a:tc vMerge="1">
                  <a:txBody>
                    <a:bodyPr/>
                    <a:lstStyle/>
                    <a:p>
                      <a:endParaRPr lang="en-IN"/>
                    </a:p>
                  </a:txBody>
                  <a:tcPr/>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6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6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4165030828"/>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69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637068659"/>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65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91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022747571"/>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dirty="0">
                          <a:effectLst/>
                          <a:latin typeface="Times New Roman" panose="02020603050405020304" pitchFamily="18" charset="0"/>
                          <a:cs typeface="Times New Roman" panose="02020603050405020304" pitchFamily="18" charset="0"/>
                        </a:rPr>
                        <a:t>61</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85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625124123"/>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1760">
                        <a:spcBef>
                          <a:spcPts val="85"/>
                        </a:spcBef>
                      </a:pPr>
                      <a:r>
                        <a:rPr lang="en-US" sz="2000" dirty="0">
                          <a:effectLst/>
                          <a:highlight>
                            <a:srgbClr val="FF0000"/>
                          </a:highlight>
                          <a:latin typeface="Times New Roman" panose="02020603050405020304" pitchFamily="18" charset="0"/>
                          <a:cs typeface="Times New Roman" panose="02020603050405020304" pitchFamily="18" charset="0"/>
                        </a:rPr>
                        <a:t>61</a:t>
                      </a:r>
                      <a:endParaRPr lang="en-IN" sz="20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dirty="0">
                          <a:effectLst/>
                          <a:latin typeface="Times New Roman" panose="02020603050405020304" pitchFamily="18" charset="0"/>
                          <a:cs typeface="Times New Roman" panose="02020603050405020304" pitchFamily="18" charset="0"/>
                        </a:rPr>
                        <a:t>79</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630585365"/>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dirty="0">
                          <a:effectLst/>
                          <a:highlight>
                            <a:srgbClr val="00FF00"/>
                          </a:highlight>
                          <a:latin typeface="Times New Roman" panose="02020603050405020304" pitchFamily="18" charset="0"/>
                          <a:cs typeface="Times New Roman" panose="02020603050405020304" pitchFamily="18" charset="0"/>
                        </a:rPr>
                        <a:t>83</a:t>
                      </a:r>
                      <a:endParaRPr lang="en-IN" sz="20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92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340886385"/>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55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146493397"/>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55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92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940407667"/>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86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93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129534005"/>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63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555031628"/>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52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441754429"/>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Rel.</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88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88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82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93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90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91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706703019"/>
                  </a:ext>
                </a:extLst>
              </a:tr>
              <a:tr h="288055">
                <a:tc gridSpan="12">
                  <a:txBody>
                    <a:bodyPr/>
                    <a:lstStyle/>
                    <a:p>
                      <a:pPr marL="77470">
                        <a:spcBef>
                          <a:spcPts val="85"/>
                        </a:spcBef>
                      </a:pPr>
                      <a:r>
                        <a:rPr lang="en-US" sz="2000" dirty="0">
                          <a:effectLst/>
                          <a:latin typeface="Times New Roman" panose="02020603050405020304" pitchFamily="18" charset="0"/>
                          <a:cs typeface="Times New Roman" panose="02020603050405020304" pitchFamily="18" charset="0"/>
                        </a:rPr>
                        <a:t>Overall Accuracy: 91.80%</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757959560"/>
                  </a:ext>
                </a:extLst>
              </a:tr>
            </a:tbl>
          </a:graphicData>
        </a:graphic>
      </p:graphicFrame>
    </p:spTree>
    <p:extLst>
      <p:ext uri="{BB962C8B-B14F-4D97-AF65-F5344CB8AC3E}">
        <p14:creationId xmlns:p14="http://schemas.microsoft.com/office/powerpoint/2010/main" val="19749420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AE92E7A-139E-49E3-8F1F-5324CD2DFA4A}"/>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3E04C137-976C-49FB-BDAC-8EC0B195D563}"/>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27E53CC3-D632-4022-915A-7681014E1DB8}"/>
              </a:ext>
            </a:extLst>
          </p:cNvPr>
          <p:cNvSpPr>
            <a:spLocks noGrp="1"/>
          </p:cNvSpPr>
          <p:nvPr>
            <p:ph type="sldNum" sz="quarter" idx="12"/>
          </p:nvPr>
        </p:nvSpPr>
        <p:spPr/>
        <p:txBody>
          <a:bodyPr/>
          <a:lstStyle/>
          <a:p>
            <a:fld id="{B6F15528-21DE-4FAA-801E-634DDDAF4B2B}" type="slidenum">
              <a:rPr lang="en-US" smtClean="0"/>
              <a:pPr/>
              <a:t>58</a:t>
            </a:fld>
            <a:endParaRPr lang="en-US"/>
          </a:p>
        </p:txBody>
      </p:sp>
      <p:graphicFrame>
        <p:nvGraphicFramePr>
          <p:cNvPr id="9" name="Chart 8">
            <a:extLst>
              <a:ext uri="{FF2B5EF4-FFF2-40B4-BE49-F238E27FC236}">
                <a16:creationId xmlns:a16="http://schemas.microsoft.com/office/drawing/2014/main" id="{1B69AD8E-6159-4745-9B19-2D98F300D943}"/>
              </a:ext>
            </a:extLst>
          </p:cNvPr>
          <p:cNvGraphicFramePr>
            <a:graphicFrameLocks/>
          </p:cNvGraphicFramePr>
          <p:nvPr>
            <p:extLst>
              <p:ext uri="{D42A27DB-BD31-4B8C-83A1-F6EECF244321}">
                <p14:modId xmlns:p14="http://schemas.microsoft.com/office/powerpoint/2010/main" val="405338145"/>
              </p:ext>
            </p:extLst>
          </p:nvPr>
        </p:nvGraphicFramePr>
        <p:xfrm>
          <a:off x="0" y="1308100"/>
          <a:ext cx="4559300" cy="27305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83DB5230-F5B5-4363-AF52-77CD2D25A022}"/>
              </a:ext>
            </a:extLst>
          </p:cNvPr>
          <p:cNvGraphicFramePr/>
          <p:nvPr>
            <p:extLst>
              <p:ext uri="{D42A27DB-BD31-4B8C-83A1-F6EECF244321}">
                <p14:modId xmlns:p14="http://schemas.microsoft.com/office/powerpoint/2010/main" val="2501374598"/>
              </p:ext>
            </p:extLst>
          </p:nvPr>
        </p:nvGraphicFramePr>
        <p:xfrm>
          <a:off x="4572000" y="12954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3DA0C6F3-36F9-4FD7-8587-6EC44BCA4C3C}"/>
              </a:ext>
            </a:extLst>
          </p:cNvPr>
          <p:cNvSpPr txBox="1"/>
          <p:nvPr/>
        </p:nvSpPr>
        <p:spPr>
          <a:xfrm>
            <a:off x="228600" y="4126468"/>
            <a:ext cx="8534400" cy="369332"/>
          </a:xfrm>
          <a:prstGeom prst="rect">
            <a:avLst/>
          </a:prstGeom>
          <a:noFill/>
        </p:spPr>
        <p:txBody>
          <a:bodyPr wrap="square" rtlCol="0">
            <a:spAutoFit/>
          </a:bodyPr>
          <a:lstStyle/>
          <a:p>
            <a:pPr algn="ctr"/>
            <a:r>
              <a:rPr lang="en-US" dirty="0"/>
              <a:t>Fig 22 : Analysis and Accuracy of LFCC (13) Features with KNN Algorithm</a:t>
            </a:r>
            <a:endParaRPr lang="en-IN" dirty="0"/>
          </a:p>
        </p:txBody>
      </p:sp>
    </p:spTree>
    <p:extLst>
      <p:ext uri="{BB962C8B-B14F-4D97-AF65-F5344CB8AC3E}">
        <p14:creationId xmlns:p14="http://schemas.microsoft.com/office/powerpoint/2010/main" val="39463022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9C76949-E0B2-4ED2-B1F7-B66877DABA95}"/>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43FEE2CC-91AB-4303-B7B9-DA037315E569}"/>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E84BDB67-0A62-481C-92EB-FE5A15B529DC}"/>
              </a:ext>
            </a:extLst>
          </p:cNvPr>
          <p:cNvSpPr>
            <a:spLocks noGrp="1"/>
          </p:cNvSpPr>
          <p:nvPr>
            <p:ph type="sldNum" sz="quarter" idx="12"/>
          </p:nvPr>
        </p:nvSpPr>
        <p:spPr/>
        <p:txBody>
          <a:bodyPr/>
          <a:lstStyle/>
          <a:p>
            <a:fld id="{B6F15528-21DE-4FAA-801E-634DDDAF4B2B}" type="slidenum">
              <a:rPr lang="en-US" smtClean="0"/>
              <a:pPr/>
              <a:t>59</a:t>
            </a:fld>
            <a:endParaRPr lang="en-US"/>
          </a:p>
        </p:txBody>
      </p:sp>
      <p:sp>
        <p:nvSpPr>
          <p:cNvPr id="8" name="TextBox 7">
            <a:extLst>
              <a:ext uri="{FF2B5EF4-FFF2-40B4-BE49-F238E27FC236}">
                <a16:creationId xmlns:a16="http://schemas.microsoft.com/office/drawing/2014/main" id="{E1FABBD9-544F-4522-92E4-E19E0A9D428A}"/>
              </a:ext>
            </a:extLst>
          </p:cNvPr>
          <p:cNvSpPr txBox="1"/>
          <p:nvPr/>
        </p:nvSpPr>
        <p:spPr>
          <a:xfrm>
            <a:off x="304800" y="457200"/>
            <a:ext cx="81534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Table </a:t>
            </a:r>
            <a:r>
              <a:rPr lang="en-US" sz="2000" dirty="0">
                <a:latin typeface="Times New Roman" panose="02020603050405020304" pitchFamily="18" charset="0"/>
                <a:ea typeface="LM Roman 12"/>
                <a:cs typeface="Times New Roman" panose="02020603050405020304" pitchFamily="18" charset="0"/>
              </a:rPr>
              <a:t>23</a:t>
            </a:r>
            <a:r>
              <a:rPr lang="en-US" sz="2000" dirty="0">
                <a:effectLst/>
                <a:latin typeface="Times New Roman" panose="02020603050405020304" pitchFamily="18" charset="0"/>
                <a:ea typeface="LM Roman 12"/>
                <a:cs typeface="Times New Roman" panose="02020603050405020304" pitchFamily="18" charset="0"/>
              </a:rPr>
              <a:t>:Recognition of result with LFCC (26) features with KNN algorithm</a:t>
            </a:r>
            <a:endParaRPr lang="en-IN" sz="20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C7850962-3EFE-4EAF-AFFD-35B99AF93904}"/>
              </a:ext>
            </a:extLst>
          </p:cNvPr>
          <p:cNvGraphicFramePr>
            <a:graphicFrameLocks noGrp="1"/>
          </p:cNvGraphicFramePr>
          <p:nvPr>
            <p:extLst>
              <p:ext uri="{D42A27DB-BD31-4B8C-83A1-F6EECF244321}">
                <p14:modId xmlns:p14="http://schemas.microsoft.com/office/powerpoint/2010/main" val="4013964225"/>
              </p:ext>
            </p:extLst>
          </p:nvPr>
        </p:nvGraphicFramePr>
        <p:xfrm>
          <a:off x="685802" y="862642"/>
          <a:ext cx="7543798" cy="4385160"/>
        </p:xfrm>
        <a:graphic>
          <a:graphicData uri="http://schemas.openxmlformats.org/drawingml/2006/table">
            <a:tbl>
              <a:tblPr firstRow="1" firstCol="1" lastRow="1" lastCol="1" bandRow="1" bandCol="1">
                <a:tableStyleId>{5940675A-B579-460E-94D1-54222C63F5DA}</a:tableStyleId>
              </a:tblPr>
              <a:tblGrid>
                <a:gridCol w="684753">
                  <a:extLst>
                    <a:ext uri="{9D8B030D-6E8A-4147-A177-3AD203B41FA5}">
                      <a16:colId xmlns:a16="http://schemas.microsoft.com/office/drawing/2014/main" val="2676531830"/>
                    </a:ext>
                  </a:extLst>
                </a:gridCol>
                <a:gridCol w="578876">
                  <a:extLst>
                    <a:ext uri="{9D8B030D-6E8A-4147-A177-3AD203B41FA5}">
                      <a16:colId xmlns:a16="http://schemas.microsoft.com/office/drawing/2014/main" val="2299812174"/>
                    </a:ext>
                  </a:extLst>
                </a:gridCol>
                <a:gridCol w="685905">
                  <a:extLst>
                    <a:ext uri="{9D8B030D-6E8A-4147-A177-3AD203B41FA5}">
                      <a16:colId xmlns:a16="http://schemas.microsoft.com/office/drawing/2014/main" val="2986926545"/>
                    </a:ext>
                  </a:extLst>
                </a:gridCol>
                <a:gridCol w="685905">
                  <a:extLst>
                    <a:ext uri="{9D8B030D-6E8A-4147-A177-3AD203B41FA5}">
                      <a16:colId xmlns:a16="http://schemas.microsoft.com/office/drawing/2014/main" val="3218972465"/>
                    </a:ext>
                  </a:extLst>
                </a:gridCol>
                <a:gridCol w="563916">
                  <a:extLst>
                    <a:ext uri="{9D8B030D-6E8A-4147-A177-3AD203B41FA5}">
                      <a16:colId xmlns:a16="http://schemas.microsoft.com/office/drawing/2014/main" val="2952843241"/>
                    </a:ext>
                  </a:extLst>
                </a:gridCol>
                <a:gridCol w="577723">
                  <a:extLst>
                    <a:ext uri="{9D8B030D-6E8A-4147-A177-3AD203B41FA5}">
                      <a16:colId xmlns:a16="http://schemas.microsoft.com/office/drawing/2014/main" val="734444835"/>
                    </a:ext>
                  </a:extLst>
                </a:gridCol>
                <a:gridCol w="638720">
                  <a:extLst>
                    <a:ext uri="{9D8B030D-6E8A-4147-A177-3AD203B41FA5}">
                      <a16:colId xmlns:a16="http://schemas.microsoft.com/office/drawing/2014/main" val="3279449294"/>
                    </a:ext>
                  </a:extLst>
                </a:gridCol>
                <a:gridCol w="638720">
                  <a:extLst>
                    <a:ext uri="{9D8B030D-6E8A-4147-A177-3AD203B41FA5}">
                      <a16:colId xmlns:a16="http://schemas.microsoft.com/office/drawing/2014/main" val="1254115411"/>
                    </a:ext>
                  </a:extLst>
                </a:gridCol>
                <a:gridCol w="535144">
                  <a:extLst>
                    <a:ext uri="{9D8B030D-6E8A-4147-A177-3AD203B41FA5}">
                      <a16:colId xmlns:a16="http://schemas.microsoft.com/office/drawing/2014/main" val="3546432548"/>
                    </a:ext>
                  </a:extLst>
                </a:gridCol>
                <a:gridCol w="635267">
                  <a:extLst>
                    <a:ext uri="{9D8B030D-6E8A-4147-A177-3AD203B41FA5}">
                      <a16:colId xmlns:a16="http://schemas.microsoft.com/office/drawing/2014/main" val="3063391604"/>
                    </a:ext>
                  </a:extLst>
                </a:gridCol>
                <a:gridCol w="635267">
                  <a:extLst>
                    <a:ext uri="{9D8B030D-6E8A-4147-A177-3AD203B41FA5}">
                      <a16:colId xmlns:a16="http://schemas.microsoft.com/office/drawing/2014/main" val="150469418"/>
                    </a:ext>
                  </a:extLst>
                </a:gridCol>
                <a:gridCol w="683602">
                  <a:extLst>
                    <a:ext uri="{9D8B030D-6E8A-4147-A177-3AD203B41FA5}">
                      <a16:colId xmlns:a16="http://schemas.microsoft.com/office/drawing/2014/main" val="2876727452"/>
                    </a:ext>
                  </a:extLst>
                </a:gridCol>
              </a:tblGrid>
              <a:tr h="309396">
                <a:tc rowSpan="2">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603885">
                        <a:spcBef>
                          <a:spcPts val="85"/>
                        </a:spcBef>
                      </a:pPr>
                      <a:r>
                        <a:rPr lang="en-US" sz="2000">
                          <a:effectLst/>
                          <a:latin typeface="Times New Roman" panose="02020603050405020304" pitchFamily="18" charset="0"/>
                          <a:cs typeface="Times New Roman" panose="02020603050405020304" pitchFamily="18" charset="0"/>
                        </a:rPr>
                        <a:t>Number of correctly recognized bird sound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70485">
                        <a:spcBef>
                          <a:spcPts val="795"/>
                        </a:spcBef>
                        <a:spcAft>
                          <a:spcPts val="0"/>
                        </a:spcAft>
                      </a:pPr>
                      <a:r>
                        <a:rPr lang="en-US" sz="2000">
                          <a:effectLst/>
                          <a:latin typeface="Times New Roman" panose="02020603050405020304" pitchFamily="18" charset="0"/>
                          <a:cs typeface="Times New Roman" panose="02020603050405020304" pitchFamily="18" charset="0"/>
                        </a:rPr>
                        <a:t>RSA</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514671598"/>
                  </a:ext>
                </a:extLst>
              </a:tr>
              <a:tr h="309396">
                <a:tc vMerge="1">
                  <a:txBody>
                    <a:bodyPr/>
                    <a:lstStyle/>
                    <a:p>
                      <a:endParaRPr lang="en-IN"/>
                    </a:p>
                  </a:txBody>
                  <a:tcPr/>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6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6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790273564"/>
                  </a:ext>
                </a:extLst>
              </a:tr>
              <a:tr h="313864">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69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767913733"/>
                  </a:ext>
                </a:extLst>
              </a:tr>
              <a:tr h="313864">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67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35061139"/>
                  </a:ext>
                </a:extLst>
              </a:tr>
              <a:tr h="313864">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67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85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64772042"/>
                  </a:ext>
                </a:extLst>
              </a:tr>
              <a:tr h="313864">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1760">
                        <a:spcBef>
                          <a:spcPts val="85"/>
                        </a:spcBef>
                      </a:pPr>
                      <a:r>
                        <a:rPr lang="en-US" sz="2000" dirty="0">
                          <a:effectLst/>
                          <a:highlight>
                            <a:srgbClr val="FF0000"/>
                          </a:highlight>
                          <a:latin typeface="Times New Roman" panose="02020603050405020304" pitchFamily="18" charset="0"/>
                          <a:cs typeface="Times New Roman" panose="02020603050405020304" pitchFamily="18" charset="0"/>
                        </a:rPr>
                        <a:t>70</a:t>
                      </a:r>
                      <a:endParaRPr lang="en-IN" sz="20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dirty="0">
                          <a:effectLst/>
                          <a:latin typeface="Times New Roman" panose="02020603050405020304" pitchFamily="18" charset="0"/>
                          <a:cs typeface="Times New Roman" panose="02020603050405020304" pitchFamily="18" charset="0"/>
                        </a:rPr>
                        <a:t>0</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82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9248564"/>
                  </a:ext>
                </a:extLst>
              </a:tr>
              <a:tr h="313864">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73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182957280"/>
                  </a:ext>
                </a:extLst>
              </a:tr>
              <a:tr h="313864">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dirty="0">
                          <a:effectLst/>
                          <a:highlight>
                            <a:srgbClr val="00FF00"/>
                          </a:highlight>
                          <a:latin typeface="Times New Roman" panose="02020603050405020304" pitchFamily="18" charset="0"/>
                          <a:cs typeface="Times New Roman" panose="02020603050405020304" pitchFamily="18" charset="0"/>
                        </a:rPr>
                        <a:t>61</a:t>
                      </a:r>
                      <a:endParaRPr lang="en-IN" sz="20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58904680"/>
                  </a:ext>
                </a:extLst>
              </a:tr>
              <a:tr h="313864">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60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230245986"/>
                  </a:ext>
                </a:extLst>
              </a:tr>
              <a:tr h="313864">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78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38187250"/>
                  </a:ext>
                </a:extLst>
              </a:tr>
              <a:tr h="313864">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57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201270660"/>
                  </a:ext>
                </a:extLst>
              </a:tr>
              <a:tr h="313864">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57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810745841"/>
                  </a:ext>
                </a:extLst>
              </a:tr>
              <a:tr h="313864">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Rel.</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91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84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83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660">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75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039408307"/>
                  </a:ext>
                </a:extLst>
              </a:tr>
              <a:tr h="313864">
                <a:tc gridSpan="12">
                  <a:txBody>
                    <a:bodyPr/>
                    <a:lstStyle/>
                    <a:p>
                      <a:pPr marL="77470">
                        <a:spcBef>
                          <a:spcPts val="85"/>
                        </a:spcBef>
                      </a:pPr>
                      <a:r>
                        <a:rPr lang="en-US" sz="2000" dirty="0">
                          <a:effectLst/>
                          <a:latin typeface="Times New Roman" panose="02020603050405020304" pitchFamily="18" charset="0"/>
                          <a:cs typeface="Times New Roman" panose="02020603050405020304" pitchFamily="18" charset="0"/>
                        </a:rPr>
                        <a:t>Overall Accuracy: 91.76%</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977679426"/>
                  </a:ext>
                </a:extLst>
              </a:tr>
            </a:tbl>
          </a:graphicData>
        </a:graphic>
      </p:graphicFrame>
    </p:spTree>
    <p:extLst>
      <p:ext uri="{BB962C8B-B14F-4D97-AF65-F5344CB8AC3E}">
        <p14:creationId xmlns:p14="http://schemas.microsoft.com/office/powerpoint/2010/main" val="9435271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390BF8D-5661-4123-820D-56F813DF0073}"/>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F4D6E2E2-7552-421F-BD09-8BDD53C46B00}"/>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E9070090-2633-4DCC-8C09-C62E51347253}"/>
              </a:ext>
            </a:extLst>
          </p:cNvPr>
          <p:cNvSpPr>
            <a:spLocks noGrp="1"/>
          </p:cNvSpPr>
          <p:nvPr>
            <p:ph type="sldNum" sz="quarter" idx="12"/>
          </p:nvPr>
        </p:nvSpPr>
        <p:spPr/>
        <p:txBody>
          <a:bodyPr/>
          <a:lstStyle/>
          <a:p>
            <a:fld id="{B6F15528-21DE-4FAA-801E-634DDDAF4B2B}" type="slidenum">
              <a:rPr lang="en-US" smtClean="0"/>
              <a:pPr/>
              <a:t>60</a:t>
            </a:fld>
            <a:endParaRPr lang="en-US"/>
          </a:p>
        </p:txBody>
      </p:sp>
      <p:graphicFrame>
        <p:nvGraphicFramePr>
          <p:cNvPr id="9" name="Chart 8">
            <a:extLst>
              <a:ext uri="{FF2B5EF4-FFF2-40B4-BE49-F238E27FC236}">
                <a16:creationId xmlns:a16="http://schemas.microsoft.com/office/drawing/2014/main" id="{9F6B6045-3C13-4832-9914-7349F5EEDD6A}"/>
              </a:ext>
            </a:extLst>
          </p:cNvPr>
          <p:cNvGraphicFramePr/>
          <p:nvPr>
            <p:extLst>
              <p:ext uri="{D42A27DB-BD31-4B8C-83A1-F6EECF244321}">
                <p14:modId xmlns:p14="http://schemas.microsoft.com/office/powerpoint/2010/main" val="1489045564"/>
              </p:ext>
            </p:extLst>
          </p:nvPr>
        </p:nvGraphicFramePr>
        <p:xfrm>
          <a:off x="0" y="1524000"/>
          <a:ext cx="4549140" cy="270954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26548FD9-371B-489A-8649-65E7BD78BE7D}"/>
              </a:ext>
            </a:extLst>
          </p:cNvPr>
          <p:cNvGraphicFramePr/>
          <p:nvPr>
            <p:extLst>
              <p:ext uri="{D42A27DB-BD31-4B8C-83A1-F6EECF244321}">
                <p14:modId xmlns:p14="http://schemas.microsoft.com/office/powerpoint/2010/main" val="3990478166"/>
              </p:ext>
            </p:extLst>
          </p:nvPr>
        </p:nvGraphicFramePr>
        <p:xfrm>
          <a:off x="4572000" y="14478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002F209C-22A8-46A5-86B8-0147F5E778C1}"/>
              </a:ext>
            </a:extLst>
          </p:cNvPr>
          <p:cNvSpPr txBox="1"/>
          <p:nvPr/>
        </p:nvSpPr>
        <p:spPr>
          <a:xfrm>
            <a:off x="228600" y="4202668"/>
            <a:ext cx="8534400" cy="369332"/>
          </a:xfrm>
          <a:prstGeom prst="rect">
            <a:avLst/>
          </a:prstGeom>
          <a:noFill/>
        </p:spPr>
        <p:txBody>
          <a:bodyPr wrap="square" rtlCol="0">
            <a:spAutoFit/>
          </a:bodyPr>
          <a:lstStyle/>
          <a:p>
            <a:pPr algn="ctr"/>
            <a:r>
              <a:rPr lang="en-US" dirty="0"/>
              <a:t>Fig 23 : Analysis and Accuracy of LFCC (26) Features with KNN Algorithm</a:t>
            </a:r>
            <a:endParaRPr lang="en-IN" dirty="0"/>
          </a:p>
        </p:txBody>
      </p:sp>
    </p:spTree>
    <p:extLst>
      <p:ext uri="{BB962C8B-B14F-4D97-AF65-F5344CB8AC3E}">
        <p14:creationId xmlns:p14="http://schemas.microsoft.com/office/powerpoint/2010/main" val="18285653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9C76949-E0B2-4ED2-B1F7-B66877DABA95}"/>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43FEE2CC-91AB-4303-B7B9-DA037315E569}"/>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E84BDB67-0A62-481C-92EB-FE5A15B529DC}"/>
              </a:ext>
            </a:extLst>
          </p:cNvPr>
          <p:cNvSpPr>
            <a:spLocks noGrp="1"/>
          </p:cNvSpPr>
          <p:nvPr>
            <p:ph type="sldNum" sz="quarter" idx="12"/>
          </p:nvPr>
        </p:nvSpPr>
        <p:spPr/>
        <p:txBody>
          <a:bodyPr/>
          <a:lstStyle/>
          <a:p>
            <a:fld id="{B6F15528-21DE-4FAA-801E-634DDDAF4B2B}" type="slidenum">
              <a:rPr lang="en-US" smtClean="0"/>
              <a:pPr/>
              <a:t>61</a:t>
            </a:fld>
            <a:endParaRPr lang="en-US"/>
          </a:p>
        </p:txBody>
      </p:sp>
      <p:sp>
        <p:nvSpPr>
          <p:cNvPr id="8" name="TextBox 7">
            <a:extLst>
              <a:ext uri="{FF2B5EF4-FFF2-40B4-BE49-F238E27FC236}">
                <a16:creationId xmlns:a16="http://schemas.microsoft.com/office/drawing/2014/main" id="{E1FABBD9-544F-4522-92E4-E19E0A9D428A}"/>
              </a:ext>
            </a:extLst>
          </p:cNvPr>
          <p:cNvSpPr txBox="1"/>
          <p:nvPr/>
        </p:nvSpPr>
        <p:spPr>
          <a:xfrm>
            <a:off x="228600" y="457200"/>
            <a:ext cx="82296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Table 24:Recognition of result with LFCC (39) features with KNN algorithm</a:t>
            </a:r>
            <a:endParaRPr lang="en-IN" sz="20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EDB82EC9-0AE0-4B7E-931D-BCBF5520B6ED}"/>
              </a:ext>
            </a:extLst>
          </p:cNvPr>
          <p:cNvGraphicFramePr>
            <a:graphicFrameLocks noGrp="1"/>
          </p:cNvGraphicFramePr>
          <p:nvPr>
            <p:extLst>
              <p:ext uri="{D42A27DB-BD31-4B8C-83A1-F6EECF244321}">
                <p14:modId xmlns:p14="http://schemas.microsoft.com/office/powerpoint/2010/main" val="251289102"/>
              </p:ext>
            </p:extLst>
          </p:nvPr>
        </p:nvGraphicFramePr>
        <p:xfrm>
          <a:off x="685800" y="1066800"/>
          <a:ext cx="7619999" cy="4267200"/>
        </p:xfrm>
        <a:graphic>
          <a:graphicData uri="http://schemas.openxmlformats.org/drawingml/2006/table">
            <a:tbl>
              <a:tblPr firstRow="1" firstCol="1" lastRow="1" lastCol="1" bandRow="1" bandCol="1">
                <a:tableStyleId>{5940675A-B579-460E-94D1-54222C63F5DA}</a:tableStyleId>
              </a:tblPr>
              <a:tblGrid>
                <a:gridCol w="687997">
                  <a:extLst>
                    <a:ext uri="{9D8B030D-6E8A-4147-A177-3AD203B41FA5}">
                      <a16:colId xmlns:a16="http://schemas.microsoft.com/office/drawing/2014/main" val="704074325"/>
                    </a:ext>
                  </a:extLst>
                </a:gridCol>
                <a:gridCol w="581617">
                  <a:extLst>
                    <a:ext uri="{9D8B030D-6E8A-4147-A177-3AD203B41FA5}">
                      <a16:colId xmlns:a16="http://schemas.microsoft.com/office/drawing/2014/main" val="1999928707"/>
                    </a:ext>
                  </a:extLst>
                </a:gridCol>
                <a:gridCol w="689153">
                  <a:extLst>
                    <a:ext uri="{9D8B030D-6E8A-4147-A177-3AD203B41FA5}">
                      <a16:colId xmlns:a16="http://schemas.microsoft.com/office/drawing/2014/main" val="3671896809"/>
                    </a:ext>
                  </a:extLst>
                </a:gridCol>
                <a:gridCol w="689153">
                  <a:extLst>
                    <a:ext uri="{9D8B030D-6E8A-4147-A177-3AD203B41FA5}">
                      <a16:colId xmlns:a16="http://schemas.microsoft.com/office/drawing/2014/main" val="4141677267"/>
                    </a:ext>
                  </a:extLst>
                </a:gridCol>
                <a:gridCol w="567742">
                  <a:extLst>
                    <a:ext uri="{9D8B030D-6E8A-4147-A177-3AD203B41FA5}">
                      <a16:colId xmlns:a16="http://schemas.microsoft.com/office/drawing/2014/main" val="4286516511"/>
                    </a:ext>
                  </a:extLst>
                </a:gridCol>
                <a:gridCol w="573523">
                  <a:extLst>
                    <a:ext uri="{9D8B030D-6E8A-4147-A177-3AD203B41FA5}">
                      <a16:colId xmlns:a16="http://schemas.microsoft.com/office/drawing/2014/main" val="1053490014"/>
                    </a:ext>
                  </a:extLst>
                </a:gridCol>
                <a:gridCol w="642902">
                  <a:extLst>
                    <a:ext uri="{9D8B030D-6E8A-4147-A177-3AD203B41FA5}">
                      <a16:colId xmlns:a16="http://schemas.microsoft.com/office/drawing/2014/main" val="4203744155"/>
                    </a:ext>
                  </a:extLst>
                </a:gridCol>
                <a:gridCol w="642902">
                  <a:extLst>
                    <a:ext uri="{9D8B030D-6E8A-4147-A177-3AD203B41FA5}">
                      <a16:colId xmlns:a16="http://schemas.microsoft.com/office/drawing/2014/main" val="3426695152"/>
                    </a:ext>
                  </a:extLst>
                </a:gridCol>
                <a:gridCol w="581617">
                  <a:extLst>
                    <a:ext uri="{9D8B030D-6E8A-4147-A177-3AD203B41FA5}">
                      <a16:colId xmlns:a16="http://schemas.microsoft.com/office/drawing/2014/main" val="2133354841"/>
                    </a:ext>
                  </a:extLst>
                </a:gridCol>
                <a:gridCol w="638276">
                  <a:extLst>
                    <a:ext uri="{9D8B030D-6E8A-4147-A177-3AD203B41FA5}">
                      <a16:colId xmlns:a16="http://schemas.microsoft.com/office/drawing/2014/main" val="3358482634"/>
                    </a:ext>
                  </a:extLst>
                </a:gridCol>
                <a:gridCol w="638276">
                  <a:extLst>
                    <a:ext uri="{9D8B030D-6E8A-4147-A177-3AD203B41FA5}">
                      <a16:colId xmlns:a16="http://schemas.microsoft.com/office/drawing/2014/main" val="900695956"/>
                    </a:ext>
                  </a:extLst>
                </a:gridCol>
                <a:gridCol w="686841">
                  <a:extLst>
                    <a:ext uri="{9D8B030D-6E8A-4147-A177-3AD203B41FA5}">
                      <a16:colId xmlns:a16="http://schemas.microsoft.com/office/drawing/2014/main" val="108281198"/>
                    </a:ext>
                  </a:extLst>
                </a:gridCol>
              </a:tblGrid>
              <a:tr h="294992">
                <a:tc rowSpan="2">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616585">
                        <a:spcBef>
                          <a:spcPts val="85"/>
                        </a:spcBef>
                      </a:pPr>
                      <a:r>
                        <a:rPr lang="en-US" sz="2000">
                          <a:effectLst/>
                          <a:latin typeface="Times New Roman" panose="02020603050405020304" pitchFamily="18" charset="0"/>
                          <a:cs typeface="Times New Roman" panose="02020603050405020304" pitchFamily="18" charset="0"/>
                        </a:rPr>
                        <a:t>Number of correctly recognized bird sound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7945">
                        <a:spcBef>
                          <a:spcPts val="795"/>
                        </a:spcBef>
                        <a:spcAft>
                          <a:spcPts val="0"/>
                        </a:spcAft>
                      </a:pPr>
                      <a:r>
                        <a:rPr lang="en-US" sz="2000">
                          <a:effectLst/>
                          <a:latin typeface="Times New Roman" panose="02020603050405020304" pitchFamily="18" charset="0"/>
                          <a:cs typeface="Times New Roman" panose="02020603050405020304" pitchFamily="18" charset="0"/>
                        </a:rPr>
                        <a:t>RSA</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259606134"/>
                  </a:ext>
                </a:extLst>
              </a:tr>
              <a:tr h="294992">
                <a:tc vMerge="1">
                  <a:txBody>
                    <a:bodyPr/>
                    <a:lstStyle/>
                    <a:p>
                      <a:endParaRPr lang="en-IN"/>
                    </a:p>
                  </a:txBody>
                  <a:tcPr/>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00" marR="60325" algn="ctr">
                        <a:spcBef>
                          <a:spcPts val="6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6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6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6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647772344"/>
                  </a:ext>
                </a:extLst>
              </a:tr>
              <a:tr h="299251">
                <a:tc>
                  <a:txBody>
                    <a:bodyPr/>
                    <a:lstStyle/>
                    <a:p>
                      <a:pPr marL="63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77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281878964"/>
                  </a:ext>
                </a:extLst>
              </a:tr>
              <a:tr h="299251">
                <a:tc>
                  <a:txBody>
                    <a:bodyPr/>
                    <a:lstStyle/>
                    <a:p>
                      <a:pPr marL="762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2000">
                          <a:effectLst/>
                          <a:latin typeface="Times New Roman" panose="02020603050405020304" pitchFamily="18" charset="0"/>
                          <a:cs typeface="Times New Roman" panose="02020603050405020304" pitchFamily="18" charset="0"/>
                        </a:rPr>
                        <a:t>63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953684408"/>
                  </a:ext>
                </a:extLst>
              </a:tr>
              <a:tr h="299251">
                <a:tc>
                  <a:txBody>
                    <a:bodyPr/>
                    <a:lstStyle/>
                    <a:p>
                      <a:pPr marL="6413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66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12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dirty="0">
                          <a:effectLst/>
                          <a:latin typeface="Times New Roman" panose="02020603050405020304" pitchFamily="18" charset="0"/>
                          <a:cs typeface="Times New Roman" panose="02020603050405020304" pitchFamily="18" charset="0"/>
                        </a:rPr>
                        <a:t>0</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85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325776772"/>
                  </a:ext>
                </a:extLst>
              </a:tr>
              <a:tr h="299251">
                <a:tc>
                  <a:txBody>
                    <a:bodyPr/>
                    <a:lstStyle/>
                    <a:p>
                      <a:pPr marL="54610"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dirty="0">
                          <a:effectLst/>
                          <a:highlight>
                            <a:srgbClr val="FF0000"/>
                          </a:highlight>
                          <a:latin typeface="Times New Roman" panose="02020603050405020304" pitchFamily="18" charset="0"/>
                          <a:cs typeface="Times New Roman" panose="02020603050405020304" pitchFamily="18" charset="0"/>
                        </a:rPr>
                        <a:t>70</a:t>
                      </a:r>
                      <a:endParaRPr lang="en-IN" sz="20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dirty="0">
                          <a:effectLst/>
                          <a:latin typeface="Times New Roman" panose="02020603050405020304" pitchFamily="18" charset="0"/>
                          <a:cs typeface="Times New Roman" panose="02020603050405020304" pitchFamily="18" charset="0"/>
                        </a:rPr>
                        <a:t>3</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85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133794762"/>
                  </a:ext>
                </a:extLst>
              </a:tr>
              <a:tr h="299251">
                <a:tc>
                  <a:txBody>
                    <a:bodyPr/>
                    <a:lstStyle/>
                    <a:p>
                      <a:pPr marL="64135" marR="124460" algn="ctr">
                        <a:spcBef>
                          <a:spcPts val="8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81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56509144"/>
                  </a:ext>
                </a:extLst>
              </a:tr>
              <a:tr h="299251">
                <a:tc>
                  <a:txBody>
                    <a:bodyPr/>
                    <a:lstStyle/>
                    <a:p>
                      <a:pPr marL="254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dirty="0">
                          <a:effectLst/>
                          <a:highlight>
                            <a:srgbClr val="00FF00"/>
                          </a:highlight>
                          <a:latin typeface="Times New Roman" panose="02020603050405020304" pitchFamily="18" charset="0"/>
                          <a:cs typeface="Times New Roman" panose="02020603050405020304" pitchFamily="18" charset="0"/>
                        </a:rPr>
                        <a:t>49</a:t>
                      </a:r>
                      <a:endParaRPr lang="en-IN" sz="20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122577602"/>
                  </a:ext>
                </a:extLst>
              </a:tr>
              <a:tr h="299251">
                <a:tc>
                  <a:txBody>
                    <a:bodyPr/>
                    <a:lstStyle/>
                    <a:p>
                      <a:pPr marL="4000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63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519983213"/>
                  </a:ext>
                </a:extLst>
              </a:tr>
              <a:tr h="299251">
                <a:tc>
                  <a:txBody>
                    <a:bodyPr/>
                    <a:lstStyle/>
                    <a:p>
                      <a:pPr marL="42545"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78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866035061"/>
                  </a:ext>
                </a:extLst>
              </a:tr>
              <a:tr h="299251">
                <a:tc>
                  <a:txBody>
                    <a:bodyPr/>
                    <a:lstStyle/>
                    <a:p>
                      <a:pPr marL="48895"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69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27510687"/>
                  </a:ext>
                </a:extLst>
              </a:tr>
              <a:tr h="299251">
                <a:tc>
                  <a:txBody>
                    <a:bodyPr/>
                    <a:lstStyle/>
                    <a:p>
                      <a:pPr marL="3810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51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286140698"/>
                  </a:ext>
                </a:extLst>
              </a:tr>
              <a:tr h="299251">
                <a:tc>
                  <a:txBody>
                    <a:bodyPr/>
                    <a:lstStyle/>
                    <a:p>
                      <a:pPr marL="3175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Rel.</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88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80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04190736"/>
                  </a:ext>
                </a:extLst>
              </a:tr>
              <a:tr h="299251">
                <a:tc gridSpan="12">
                  <a:txBody>
                    <a:bodyPr/>
                    <a:lstStyle/>
                    <a:p>
                      <a:pPr marL="77470">
                        <a:spcBef>
                          <a:spcPts val="85"/>
                        </a:spcBef>
                      </a:pPr>
                      <a:r>
                        <a:rPr lang="en-US" sz="2000" dirty="0">
                          <a:effectLst/>
                          <a:latin typeface="Times New Roman" panose="02020603050405020304" pitchFamily="18" charset="0"/>
                          <a:cs typeface="Times New Roman" panose="02020603050405020304" pitchFamily="18" charset="0"/>
                        </a:rPr>
                        <a:t>Overall Accuracy: 91.90%</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180502626"/>
                  </a:ext>
                </a:extLst>
              </a:tr>
            </a:tbl>
          </a:graphicData>
        </a:graphic>
      </p:graphicFrame>
    </p:spTree>
    <p:extLst>
      <p:ext uri="{BB962C8B-B14F-4D97-AF65-F5344CB8AC3E}">
        <p14:creationId xmlns:p14="http://schemas.microsoft.com/office/powerpoint/2010/main" val="33785804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2E8FB2E-BA61-473A-B791-BB899C24B0B6}"/>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7D6032FF-36B9-44EF-AC10-E82C75A3FF52}"/>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54504EC7-76E7-40F3-8E41-64BFC366D20D}"/>
              </a:ext>
            </a:extLst>
          </p:cNvPr>
          <p:cNvSpPr>
            <a:spLocks noGrp="1"/>
          </p:cNvSpPr>
          <p:nvPr>
            <p:ph type="sldNum" sz="quarter" idx="12"/>
          </p:nvPr>
        </p:nvSpPr>
        <p:spPr/>
        <p:txBody>
          <a:bodyPr/>
          <a:lstStyle/>
          <a:p>
            <a:fld id="{B6F15528-21DE-4FAA-801E-634DDDAF4B2B}" type="slidenum">
              <a:rPr lang="en-US" smtClean="0"/>
              <a:pPr/>
              <a:t>62</a:t>
            </a:fld>
            <a:endParaRPr lang="en-US"/>
          </a:p>
        </p:txBody>
      </p:sp>
      <p:graphicFrame>
        <p:nvGraphicFramePr>
          <p:cNvPr id="9" name="Chart 8">
            <a:extLst>
              <a:ext uri="{FF2B5EF4-FFF2-40B4-BE49-F238E27FC236}">
                <a16:creationId xmlns:a16="http://schemas.microsoft.com/office/drawing/2014/main" id="{E1316BFC-DA4C-4FE3-A733-BCA481C70477}"/>
              </a:ext>
            </a:extLst>
          </p:cNvPr>
          <p:cNvGraphicFramePr/>
          <p:nvPr>
            <p:extLst>
              <p:ext uri="{D42A27DB-BD31-4B8C-83A1-F6EECF244321}">
                <p14:modId xmlns:p14="http://schemas.microsoft.com/office/powerpoint/2010/main" val="2150919634"/>
              </p:ext>
            </p:extLst>
          </p:nvPr>
        </p:nvGraphicFramePr>
        <p:xfrm>
          <a:off x="0" y="15240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51125B2C-816A-40D2-9897-1003CC37EC7A}"/>
              </a:ext>
            </a:extLst>
          </p:cNvPr>
          <p:cNvGraphicFramePr/>
          <p:nvPr>
            <p:extLst>
              <p:ext uri="{D42A27DB-BD31-4B8C-83A1-F6EECF244321}">
                <p14:modId xmlns:p14="http://schemas.microsoft.com/office/powerpoint/2010/main" val="1550588355"/>
              </p:ext>
            </p:extLst>
          </p:nvPr>
        </p:nvGraphicFramePr>
        <p:xfrm>
          <a:off x="4572000" y="16002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C692CA49-333A-4761-9DA7-F6A3936A45B0}"/>
              </a:ext>
            </a:extLst>
          </p:cNvPr>
          <p:cNvSpPr txBox="1"/>
          <p:nvPr/>
        </p:nvSpPr>
        <p:spPr>
          <a:xfrm>
            <a:off x="228600" y="4355068"/>
            <a:ext cx="8534400" cy="369332"/>
          </a:xfrm>
          <a:prstGeom prst="rect">
            <a:avLst/>
          </a:prstGeom>
          <a:noFill/>
        </p:spPr>
        <p:txBody>
          <a:bodyPr wrap="square" rtlCol="0">
            <a:spAutoFit/>
          </a:bodyPr>
          <a:lstStyle/>
          <a:p>
            <a:pPr algn="ctr"/>
            <a:r>
              <a:rPr lang="en-US" dirty="0"/>
              <a:t>Fig 24 : Analysis and Accuracy of LFCC (39) Features with KNN Algorithm</a:t>
            </a:r>
            <a:endParaRPr lang="en-IN" dirty="0"/>
          </a:p>
        </p:txBody>
      </p:sp>
    </p:spTree>
    <p:extLst>
      <p:ext uri="{BB962C8B-B14F-4D97-AF65-F5344CB8AC3E}">
        <p14:creationId xmlns:p14="http://schemas.microsoft.com/office/powerpoint/2010/main" val="32218871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5F5FB-6B59-4593-9D78-04B33C203E00}"/>
              </a:ext>
            </a:extLst>
          </p:cNvPr>
          <p:cNvSpPr>
            <a:spLocks noGrp="1"/>
          </p:cNvSpPr>
          <p:nvPr>
            <p:ph type="title"/>
          </p:nvPr>
        </p:nvSpPr>
        <p:spPr>
          <a:xfrm>
            <a:off x="457200" y="-228600"/>
            <a:ext cx="8229600" cy="1143000"/>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Result of GFCC</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9C76949-E0B2-4ED2-B1F7-B66877DABA95}"/>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43FEE2CC-91AB-4303-B7B9-DA037315E569}"/>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E84BDB67-0A62-481C-92EB-FE5A15B529DC}"/>
              </a:ext>
            </a:extLst>
          </p:cNvPr>
          <p:cNvSpPr>
            <a:spLocks noGrp="1"/>
          </p:cNvSpPr>
          <p:nvPr>
            <p:ph type="sldNum" sz="quarter" idx="12"/>
          </p:nvPr>
        </p:nvSpPr>
        <p:spPr/>
        <p:txBody>
          <a:bodyPr/>
          <a:lstStyle/>
          <a:p>
            <a:fld id="{B6F15528-21DE-4FAA-801E-634DDDAF4B2B}" type="slidenum">
              <a:rPr lang="en-US" smtClean="0"/>
              <a:pPr/>
              <a:t>63</a:t>
            </a:fld>
            <a:endParaRPr lang="en-US"/>
          </a:p>
        </p:txBody>
      </p:sp>
      <p:sp>
        <p:nvSpPr>
          <p:cNvPr id="8" name="TextBox 7">
            <a:extLst>
              <a:ext uri="{FF2B5EF4-FFF2-40B4-BE49-F238E27FC236}">
                <a16:creationId xmlns:a16="http://schemas.microsoft.com/office/drawing/2014/main" id="{E1FABBD9-544F-4522-92E4-E19E0A9D428A}"/>
              </a:ext>
            </a:extLst>
          </p:cNvPr>
          <p:cNvSpPr txBox="1"/>
          <p:nvPr/>
        </p:nvSpPr>
        <p:spPr>
          <a:xfrm>
            <a:off x="533400" y="609600"/>
            <a:ext cx="82296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Table</a:t>
            </a:r>
            <a:r>
              <a:rPr lang="en-US" sz="2000" dirty="0">
                <a:latin typeface="Times New Roman" panose="02020603050405020304" pitchFamily="18" charset="0"/>
                <a:ea typeface="LM Roman 12"/>
                <a:cs typeface="Times New Roman" panose="02020603050405020304" pitchFamily="18" charset="0"/>
              </a:rPr>
              <a:t> 25</a:t>
            </a:r>
            <a:r>
              <a:rPr lang="en-US" sz="2000" dirty="0">
                <a:effectLst/>
                <a:latin typeface="Times New Roman" panose="02020603050405020304" pitchFamily="18" charset="0"/>
                <a:ea typeface="LM Roman 12"/>
                <a:cs typeface="Times New Roman" panose="02020603050405020304" pitchFamily="18" charset="0"/>
              </a:rPr>
              <a:t>:Recognition of result with GFCC (13) features with KNN algorithm</a:t>
            </a:r>
            <a:endParaRPr lang="en-IN" sz="2000"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1D29D75C-1652-4172-81BB-63EF20F42775}"/>
              </a:ext>
            </a:extLst>
          </p:cNvPr>
          <p:cNvGraphicFramePr>
            <a:graphicFrameLocks noGrp="1"/>
          </p:cNvGraphicFramePr>
          <p:nvPr>
            <p:extLst>
              <p:ext uri="{D42A27DB-BD31-4B8C-83A1-F6EECF244321}">
                <p14:modId xmlns:p14="http://schemas.microsoft.com/office/powerpoint/2010/main" val="3858606203"/>
              </p:ext>
            </p:extLst>
          </p:nvPr>
        </p:nvGraphicFramePr>
        <p:xfrm>
          <a:off x="685800" y="1066800"/>
          <a:ext cx="7772401" cy="4267200"/>
        </p:xfrm>
        <a:graphic>
          <a:graphicData uri="http://schemas.openxmlformats.org/drawingml/2006/table">
            <a:tbl>
              <a:tblPr firstRow="1" firstCol="1" lastRow="1" lastCol="1" bandRow="1" bandCol="1">
                <a:tableStyleId>{5940675A-B579-460E-94D1-54222C63F5DA}</a:tableStyleId>
              </a:tblPr>
              <a:tblGrid>
                <a:gridCol w="705397">
                  <a:extLst>
                    <a:ext uri="{9D8B030D-6E8A-4147-A177-3AD203B41FA5}">
                      <a16:colId xmlns:a16="http://schemas.microsoft.com/office/drawing/2014/main" val="2814467838"/>
                    </a:ext>
                  </a:extLst>
                </a:gridCol>
                <a:gridCol w="596327">
                  <a:extLst>
                    <a:ext uri="{9D8B030D-6E8A-4147-A177-3AD203B41FA5}">
                      <a16:colId xmlns:a16="http://schemas.microsoft.com/office/drawing/2014/main" val="2264388096"/>
                    </a:ext>
                  </a:extLst>
                </a:gridCol>
                <a:gridCol w="706582">
                  <a:extLst>
                    <a:ext uri="{9D8B030D-6E8A-4147-A177-3AD203B41FA5}">
                      <a16:colId xmlns:a16="http://schemas.microsoft.com/office/drawing/2014/main" val="724391121"/>
                    </a:ext>
                  </a:extLst>
                </a:gridCol>
                <a:gridCol w="706582">
                  <a:extLst>
                    <a:ext uri="{9D8B030D-6E8A-4147-A177-3AD203B41FA5}">
                      <a16:colId xmlns:a16="http://schemas.microsoft.com/office/drawing/2014/main" val="1781915655"/>
                    </a:ext>
                  </a:extLst>
                </a:gridCol>
                <a:gridCol w="582100">
                  <a:extLst>
                    <a:ext uri="{9D8B030D-6E8A-4147-A177-3AD203B41FA5}">
                      <a16:colId xmlns:a16="http://schemas.microsoft.com/office/drawing/2014/main" val="3803066807"/>
                    </a:ext>
                  </a:extLst>
                </a:gridCol>
                <a:gridCol w="588027">
                  <a:extLst>
                    <a:ext uri="{9D8B030D-6E8A-4147-A177-3AD203B41FA5}">
                      <a16:colId xmlns:a16="http://schemas.microsoft.com/office/drawing/2014/main" val="1314377851"/>
                    </a:ext>
                  </a:extLst>
                </a:gridCol>
                <a:gridCol w="659160">
                  <a:extLst>
                    <a:ext uri="{9D8B030D-6E8A-4147-A177-3AD203B41FA5}">
                      <a16:colId xmlns:a16="http://schemas.microsoft.com/office/drawing/2014/main" val="269630761"/>
                    </a:ext>
                  </a:extLst>
                </a:gridCol>
                <a:gridCol w="659160">
                  <a:extLst>
                    <a:ext uri="{9D8B030D-6E8A-4147-A177-3AD203B41FA5}">
                      <a16:colId xmlns:a16="http://schemas.microsoft.com/office/drawing/2014/main" val="835188615"/>
                    </a:ext>
                  </a:extLst>
                </a:gridCol>
                <a:gridCol w="552463">
                  <a:extLst>
                    <a:ext uri="{9D8B030D-6E8A-4147-A177-3AD203B41FA5}">
                      <a16:colId xmlns:a16="http://schemas.microsoft.com/office/drawing/2014/main" val="2626925022"/>
                    </a:ext>
                  </a:extLst>
                </a:gridCol>
                <a:gridCol w="655603">
                  <a:extLst>
                    <a:ext uri="{9D8B030D-6E8A-4147-A177-3AD203B41FA5}">
                      <a16:colId xmlns:a16="http://schemas.microsoft.com/office/drawing/2014/main" val="470082882"/>
                    </a:ext>
                  </a:extLst>
                </a:gridCol>
                <a:gridCol w="655603">
                  <a:extLst>
                    <a:ext uri="{9D8B030D-6E8A-4147-A177-3AD203B41FA5}">
                      <a16:colId xmlns:a16="http://schemas.microsoft.com/office/drawing/2014/main" val="1957365369"/>
                    </a:ext>
                  </a:extLst>
                </a:gridCol>
                <a:gridCol w="705397">
                  <a:extLst>
                    <a:ext uri="{9D8B030D-6E8A-4147-A177-3AD203B41FA5}">
                      <a16:colId xmlns:a16="http://schemas.microsoft.com/office/drawing/2014/main" val="3806363891"/>
                    </a:ext>
                  </a:extLst>
                </a:gridCol>
              </a:tblGrid>
              <a:tr h="283955">
                <a:tc rowSpan="2">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601980">
                        <a:spcBef>
                          <a:spcPts val="85"/>
                        </a:spcBef>
                      </a:pPr>
                      <a:r>
                        <a:rPr lang="en-US" sz="2000">
                          <a:effectLst/>
                          <a:latin typeface="Times New Roman" panose="02020603050405020304" pitchFamily="18" charset="0"/>
                          <a:cs typeface="Times New Roman" panose="02020603050405020304" pitchFamily="18" charset="0"/>
                        </a:rPr>
                        <a:t>Number of correctly recognized bird sound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6675">
                        <a:spcBef>
                          <a:spcPts val="795"/>
                        </a:spcBef>
                        <a:spcAft>
                          <a:spcPts val="0"/>
                        </a:spcAft>
                      </a:pPr>
                      <a:r>
                        <a:rPr lang="en-US" sz="2000">
                          <a:effectLst/>
                          <a:latin typeface="Times New Roman" panose="02020603050405020304" pitchFamily="18" charset="0"/>
                          <a:cs typeface="Times New Roman" panose="02020603050405020304" pitchFamily="18" charset="0"/>
                        </a:rPr>
                        <a:t>RSA</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080253333"/>
                  </a:ext>
                </a:extLst>
              </a:tr>
              <a:tr h="283955">
                <a:tc vMerge="1">
                  <a:txBody>
                    <a:bodyPr/>
                    <a:lstStyle/>
                    <a:p>
                      <a:endParaRPr lang="en-IN"/>
                    </a:p>
                  </a:txBody>
                  <a:tcPr/>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6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6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6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2124462614"/>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65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46608781"/>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dirty="0">
                          <a:effectLst/>
                          <a:latin typeface="Times New Roman" panose="02020603050405020304" pitchFamily="18" charset="0"/>
                          <a:cs typeface="Times New Roman" panose="02020603050405020304" pitchFamily="18" charset="0"/>
                        </a:rPr>
                        <a:t>71</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55911509"/>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dirty="0">
                          <a:effectLst/>
                          <a:latin typeface="Times New Roman" panose="02020603050405020304" pitchFamily="18" charset="0"/>
                          <a:cs typeface="Times New Roman" panose="02020603050405020304" pitchFamily="18" charset="0"/>
                        </a:rPr>
                        <a:t>1</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70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13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88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218555466"/>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dirty="0">
                          <a:effectLst/>
                          <a:highlight>
                            <a:srgbClr val="FF0000"/>
                          </a:highlight>
                          <a:latin typeface="Times New Roman" panose="02020603050405020304" pitchFamily="18" charset="0"/>
                          <a:cs typeface="Times New Roman" panose="02020603050405020304" pitchFamily="18" charset="0"/>
                        </a:rPr>
                        <a:t>55</a:t>
                      </a:r>
                      <a:endParaRPr lang="en-IN" sz="20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83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684684917"/>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dirty="0">
                          <a:effectLst/>
                          <a:highlight>
                            <a:srgbClr val="00FF00"/>
                          </a:highlight>
                          <a:latin typeface="Times New Roman" panose="02020603050405020304" pitchFamily="18" charset="0"/>
                          <a:cs typeface="Times New Roman" panose="02020603050405020304" pitchFamily="18" charset="0"/>
                        </a:rPr>
                        <a:t>82</a:t>
                      </a:r>
                      <a:endParaRPr lang="en-IN" sz="20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363664800"/>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54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778187422"/>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66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347114605"/>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80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689122516"/>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75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111180138"/>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44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205113148"/>
                  </a:ext>
                </a:extLst>
              </a:tr>
              <a:tr h="288055">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Rel.</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76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91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683355632"/>
                  </a:ext>
                </a:extLst>
              </a:tr>
              <a:tr h="288055">
                <a:tc gridSpan="12">
                  <a:txBody>
                    <a:bodyPr/>
                    <a:lstStyle/>
                    <a:p>
                      <a:pPr marL="77470">
                        <a:spcBef>
                          <a:spcPts val="85"/>
                        </a:spcBef>
                      </a:pPr>
                      <a:r>
                        <a:rPr lang="en-US" sz="2000" dirty="0">
                          <a:effectLst/>
                          <a:latin typeface="Times New Roman" panose="02020603050405020304" pitchFamily="18" charset="0"/>
                          <a:cs typeface="Times New Roman" panose="02020603050405020304" pitchFamily="18" charset="0"/>
                        </a:rPr>
                        <a:t>Overall Accuracy: 91.64%</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414242604"/>
                  </a:ext>
                </a:extLst>
              </a:tr>
            </a:tbl>
          </a:graphicData>
        </a:graphic>
      </p:graphicFrame>
    </p:spTree>
    <p:extLst>
      <p:ext uri="{BB962C8B-B14F-4D97-AF65-F5344CB8AC3E}">
        <p14:creationId xmlns:p14="http://schemas.microsoft.com/office/powerpoint/2010/main" val="17773579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2C96712-2B76-4926-831B-93CE315BCB16}"/>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B66E9683-861C-4B27-B3E8-17921CF06BC5}"/>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5FDC69C4-DFBE-4CCF-8E7D-CA78DC986D68}"/>
              </a:ext>
            </a:extLst>
          </p:cNvPr>
          <p:cNvSpPr>
            <a:spLocks noGrp="1"/>
          </p:cNvSpPr>
          <p:nvPr>
            <p:ph type="sldNum" sz="quarter" idx="12"/>
          </p:nvPr>
        </p:nvSpPr>
        <p:spPr/>
        <p:txBody>
          <a:bodyPr/>
          <a:lstStyle/>
          <a:p>
            <a:fld id="{B6F15528-21DE-4FAA-801E-634DDDAF4B2B}" type="slidenum">
              <a:rPr lang="en-US" smtClean="0"/>
              <a:pPr/>
              <a:t>64</a:t>
            </a:fld>
            <a:endParaRPr lang="en-US"/>
          </a:p>
        </p:txBody>
      </p:sp>
      <p:graphicFrame>
        <p:nvGraphicFramePr>
          <p:cNvPr id="9" name="Chart 8">
            <a:extLst>
              <a:ext uri="{FF2B5EF4-FFF2-40B4-BE49-F238E27FC236}">
                <a16:creationId xmlns:a16="http://schemas.microsoft.com/office/drawing/2014/main" id="{4D33624D-9AB5-40F5-B802-B1AB9FF7F07E}"/>
              </a:ext>
            </a:extLst>
          </p:cNvPr>
          <p:cNvGraphicFramePr/>
          <p:nvPr>
            <p:extLst>
              <p:ext uri="{D42A27DB-BD31-4B8C-83A1-F6EECF244321}">
                <p14:modId xmlns:p14="http://schemas.microsoft.com/office/powerpoint/2010/main" val="3884590687"/>
              </p:ext>
            </p:extLst>
          </p:nvPr>
        </p:nvGraphicFramePr>
        <p:xfrm>
          <a:off x="0" y="14478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D7A0FF65-0396-4C87-9EE0-17DDCCC9199F}"/>
              </a:ext>
            </a:extLst>
          </p:cNvPr>
          <p:cNvGraphicFramePr/>
          <p:nvPr>
            <p:extLst>
              <p:ext uri="{D42A27DB-BD31-4B8C-83A1-F6EECF244321}">
                <p14:modId xmlns:p14="http://schemas.microsoft.com/office/powerpoint/2010/main" val="3721510288"/>
              </p:ext>
            </p:extLst>
          </p:nvPr>
        </p:nvGraphicFramePr>
        <p:xfrm>
          <a:off x="4572000" y="14478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BC49C074-E7F5-4A3D-973D-98D63156419B}"/>
              </a:ext>
            </a:extLst>
          </p:cNvPr>
          <p:cNvSpPr txBox="1"/>
          <p:nvPr/>
        </p:nvSpPr>
        <p:spPr>
          <a:xfrm>
            <a:off x="228600" y="4191000"/>
            <a:ext cx="8534400" cy="369332"/>
          </a:xfrm>
          <a:prstGeom prst="rect">
            <a:avLst/>
          </a:prstGeom>
          <a:noFill/>
        </p:spPr>
        <p:txBody>
          <a:bodyPr wrap="square" rtlCol="0">
            <a:spAutoFit/>
          </a:bodyPr>
          <a:lstStyle/>
          <a:p>
            <a:pPr algn="ctr"/>
            <a:r>
              <a:rPr lang="en-US" dirty="0"/>
              <a:t>Fig 25: Analysis and Accuracy of GFCC (13) Features with KNN Algorithm</a:t>
            </a:r>
            <a:endParaRPr lang="en-IN" dirty="0"/>
          </a:p>
        </p:txBody>
      </p:sp>
    </p:spTree>
    <p:extLst>
      <p:ext uri="{BB962C8B-B14F-4D97-AF65-F5344CB8AC3E}">
        <p14:creationId xmlns:p14="http://schemas.microsoft.com/office/powerpoint/2010/main" val="32161820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9C76949-E0B2-4ED2-B1F7-B66877DABA95}"/>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43FEE2CC-91AB-4303-B7B9-DA037315E569}"/>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E84BDB67-0A62-481C-92EB-FE5A15B529DC}"/>
              </a:ext>
            </a:extLst>
          </p:cNvPr>
          <p:cNvSpPr>
            <a:spLocks noGrp="1"/>
          </p:cNvSpPr>
          <p:nvPr>
            <p:ph type="sldNum" sz="quarter" idx="12"/>
          </p:nvPr>
        </p:nvSpPr>
        <p:spPr/>
        <p:txBody>
          <a:bodyPr/>
          <a:lstStyle/>
          <a:p>
            <a:fld id="{B6F15528-21DE-4FAA-801E-634DDDAF4B2B}" type="slidenum">
              <a:rPr lang="en-US" smtClean="0"/>
              <a:pPr/>
              <a:t>65</a:t>
            </a:fld>
            <a:endParaRPr lang="en-US"/>
          </a:p>
        </p:txBody>
      </p:sp>
      <p:sp>
        <p:nvSpPr>
          <p:cNvPr id="8" name="TextBox 7">
            <a:extLst>
              <a:ext uri="{FF2B5EF4-FFF2-40B4-BE49-F238E27FC236}">
                <a16:creationId xmlns:a16="http://schemas.microsoft.com/office/drawing/2014/main" id="{E1FABBD9-544F-4522-92E4-E19E0A9D428A}"/>
              </a:ext>
            </a:extLst>
          </p:cNvPr>
          <p:cNvSpPr txBox="1"/>
          <p:nvPr/>
        </p:nvSpPr>
        <p:spPr>
          <a:xfrm>
            <a:off x="457200" y="533400"/>
            <a:ext cx="81534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Table </a:t>
            </a:r>
            <a:r>
              <a:rPr lang="en-US" sz="2000" dirty="0">
                <a:latin typeface="Times New Roman" panose="02020603050405020304" pitchFamily="18" charset="0"/>
                <a:ea typeface="LM Roman 12"/>
                <a:cs typeface="Times New Roman" panose="02020603050405020304" pitchFamily="18" charset="0"/>
              </a:rPr>
              <a:t>26</a:t>
            </a:r>
            <a:r>
              <a:rPr lang="en-US" sz="2000" dirty="0">
                <a:effectLst/>
                <a:latin typeface="Times New Roman" panose="02020603050405020304" pitchFamily="18" charset="0"/>
                <a:ea typeface="LM Roman 12"/>
                <a:cs typeface="Times New Roman" panose="02020603050405020304" pitchFamily="18" charset="0"/>
              </a:rPr>
              <a:t>:Recognition of result with GFCC (26) features with KNN algorithm</a:t>
            </a:r>
            <a:endParaRPr lang="en-IN" sz="20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EDB82EC9-0AE0-4B7E-931D-BCBF5520B6ED}"/>
              </a:ext>
            </a:extLst>
          </p:cNvPr>
          <p:cNvGraphicFramePr>
            <a:graphicFrameLocks noGrp="1"/>
          </p:cNvGraphicFramePr>
          <p:nvPr>
            <p:extLst>
              <p:ext uri="{D42A27DB-BD31-4B8C-83A1-F6EECF244321}">
                <p14:modId xmlns:p14="http://schemas.microsoft.com/office/powerpoint/2010/main" val="1368232417"/>
              </p:ext>
            </p:extLst>
          </p:nvPr>
        </p:nvGraphicFramePr>
        <p:xfrm>
          <a:off x="685800" y="1066800"/>
          <a:ext cx="7619999" cy="4267200"/>
        </p:xfrm>
        <a:graphic>
          <a:graphicData uri="http://schemas.openxmlformats.org/drawingml/2006/table">
            <a:tbl>
              <a:tblPr firstRow="1" firstCol="1" lastRow="1" lastCol="1" bandRow="1" bandCol="1">
                <a:tableStyleId>{5940675A-B579-460E-94D1-54222C63F5DA}</a:tableStyleId>
              </a:tblPr>
              <a:tblGrid>
                <a:gridCol w="687997">
                  <a:extLst>
                    <a:ext uri="{9D8B030D-6E8A-4147-A177-3AD203B41FA5}">
                      <a16:colId xmlns:a16="http://schemas.microsoft.com/office/drawing/2014/main" val="704074325"/>
                    </a:ext>
                  </a:extLst>
                </a:gridCol>
                <a:gridCol w="581617">
                  <a:extLst>
                    <a:ext uri="{9D8B030D-6E8A-4147-A177-3AD203B41FA5}">
                      <a16:colId xmlns:a16="http://schemas.microsoft.com/office/drawing/2014/main" val="1999928707"/>
                    </a:ext>
                  </a:extLst>
                </a:gridCol>
                <a:gridCol w="689153">
                  <a:extLst>
                    <a:ext uri="{9D8B030D-6E8A-4147-A177-3AD203B41FA5}">
                      <a16:colId xmlns:a16="http://schemas.microsoft.com/office/drawing/2014/main" val="3671896809"/>
                    </a:ext>
                  </a:extLst>
                </a:gridCol>
                <a:gridCol w="689153">
                  <a:extLst>
                    <a:ext uri="{9D8B030D-6E8A-4147-A177-3AD203B41FA5}">
                      <a16:colId xmlns:a16="http://schemas.microsoft.com/office/drawing/2014/main" val="4141677267"/>
                    </a:ext>
                  </a:extLst>
                </a:gridCol>
                <a:gridCol w="567742">
                  <a:extLst>
                    <a:ext uri="{9D8B030D-6E8A-4147-A177-3AD203B41FA5}">
                      <a16:colId xmlns:a16="http://schemas.microsoft.com/office/drawing/2014/main" val="4286516511"/>
                    </a:ext>
                  </a:extLst>
                </a:gridCol>
                <a:gridCol w="573523">
                  <a:extLst>
                    <a:ext uri="{9D8B030D-6E8A-4147-A177-3AD203B41FA5}">
                      <a16:colId xmlns:a16="http://schemas.microsoft.com/office/drawing/2014/main" val="1053490014"/>
                    </a:ext>
                  </a:extLst>
                </a:gridCol>
                <a:gridCol w="642902">
                  <a:extLst>
                    <a:ext uri="{9D8B030D-6E8A-4147-A177-3AD203B41FA5}">
                      <a16:colId xmlns:a16="http://schemas.microsoft.com/office/drawing/2014/main" val="4203744155"/>
                    </a:ext>
                  </a:extLst>
                </a:gridCol>
                <a:gridCol w="642902">
                  <a:extLst>
                    <a:ext uri="{9D8B030D-6E8A-4147-A177-3AD203B41FA5}">
                      <a16:colId xmlns:a16="http://schemas.microsoft.com/office/drawing/2014/main" val="3426695152"/>
                    </a:ext>
                  </a:extLst>
                </a:gridCol>
                <a:gridCol w="581617">
                  <a:extLst>
                    <a:ext uri="{9D8B030D-6E8A-4147-A177-3AD203B41FA5}">
                      <a16:colId xmlns:a16="http://schemas.microsoft.com/office/drawing/2014/main" val="2133354841"/>
                    </a:ext>
                  </a:extLst>
                </a:gridCol>
                <a:gridCol w="638276">
                  <a:extLst>
                    <a:ext uri="{9D8B030D-6E8A-4147-A177-3AD203B41FA5}">
                      <a16:colId xmlns:a16="http://schemas.microsoft.com/office/drawing/2014/main" val="3358482634"/>
                    </a:ext>
                  </a:extLst>
                </a:gridCol>
                <a:gridCol w="638276">
                  <a:extLst>
                    <a:ext uri="{9D8B030D-6E8A-4147-A177-3AD203B41FA5}">
                      <a16:colId xmlns:a16="http://schemas.microsoft.com/office/drawing/2014/main" val="900695956"/>
                    </a:ext>
                  </a:extLst>
                </a:gridCol>
                <a:gridCol w="686841">
                  <a:extLst>
                    <a:ext uri="{9D8B030D-6E8A-4147-A177-3AD203B41FA5}">
                      <a16:colId xmlns:a16="http://schemas.microsoft.com/office/drawing/2014/main" val="108281198"/>
                    </a:ext>
                  </a:extLst>
                </a:gridCol>
              </a:tblGrid>
              <a:tr h="294992">
                <a:tc rowSpan="2">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616585">
                        <a:spcBef>
                          <a:spcPts val="85"/>
                        </a:spcBef>
                      </a:pPr>
                      <a:r>
                        <a:rPr lang="en-US" sz="2000">
                          <a:effectLst/>
                          <a:latin typeface="Times New Roman" panose="02020603050405020304" pitchFamily="18" charset="0"/>
                          <a:cs typeface="Times New Roman" panose="02020603050405020304" pitchFamily="18" charset="0"/>
                        </a:rPr>
                        <a:t>Number of correctly recognized bird sound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7945">
                        <a:spcBef>
                          <a:spcPts val="795"/>
                        </a:spcBef>
                        <a:spcAft>
                          <a:spcPts val="0"/>
                        </a:spcAft>
                      </a:pPr>
                      <a:r>
                        <a:rPr lang="en-US" sz="2000">
                          <a:effectLst/>
                          <a:latin typeface="Times New Roman" panose="02020603050405020304" pitchFamily="18" charset="0"/>
                          <a:cs typeface="Times New Roman" panose="02020603050405020304" pitchFamily="18" charset="0"/>
                        </a:rPr>
                        <a:t>RSA</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259606134"/>
                  </a:ext>
                </a:extLst>
              </a:tr>
              <a:tr h="294992">
                <a:tc vMerge="1">
                  <a:txBody>
                    <a:bodyPr/>
                    <a:lstStyle/>
                    <a:p>
                      <a:endParaRPr lang="en-IN"/>
                    </a:p>
                  </a:txBody>
                  <a:tcPr/>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00" marR="60325" algn="ctr">
                        <a:spcBef>
                          <a:spcPts val="6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6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6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6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647772344"/>
                  </a:ext>
                </a:extLst>
              </a:tr>
              <a:tr h="299251">
                <a:tc>
                  <a:txBody>
                    <a:bodyPr/>
                    <a:lstStyle/>
                    <a:p>
                      <a:pPr marL="63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77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281878964"/>
                  </a:ext>
                </a:extLst>
              </a:tr>
              <a:tr h="299251">
                <a:tc>
                  <a:txBody>
                    <a:bodyPr/>
                    <a:lstStyle/>
                    <a:p>
                      <a:pPr marL="762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2000">
                          <a:effectLst/>
                          <a:latin typeface="Times New Roman" panose="02020603050405020304" pitchFamily="18" charset="0"/>
                          <a:cs typeface="Times New Roman" panose="02020603050405020304" pitchFamily="18" charset="0"/>
                        </a:rPr>
                        <a:t>63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953684408"/>
                  </a:ext>
                </a:extLst>
              </a:tr>
              <a:tr h="299251">
                <a:tc>
                  <a:txBody>
                    <a:bodyPr/>
                    <a:lstStyle/>
                    <a:p>
                      <a:pPr marL="6413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66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12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dirty="0">
                          <a:effectLst/>
                          <a:latin typeface="Times New Roman" panose="02020603050405020304" pitchFamily="18" charset="0"/>
                          <a:cs typeface="Times New Roman" panose="02020603050405020304" pitchFamily="18" charset="0"/>
                        </a:rPr>
                        <a:t>0</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85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325776772"/>
                  </a:ext>
                </a:extLst>
              </a:tr>
              <a:tr h="299251">
                <a:tc>
                  <a:txBody>
                    <a:bodyPr/>
                    <a:lstStyle/>
                    <a:p>
                      <a:pPr marL="54610"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dirty="0">
                          <a:effectLst/>
                          <a:highlight>
                            <a:srgbClr val="FF0000"/>
                          </a:highlight>
                          <a:latin typeface="Times New Roman" panose="02020603050405020304" pitchFamily="18" charset="0"/>
                          <a:cs typeface="Times New Roman" panose="02020603050405020304" pitchFamily="18" charset="0"/>
                        </a:rPr>
                        <a:t>70</a:t>
                      </a:r>
                      <a:endParaRPr lang="en-IN" sz="20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dirty="0">
                          <a:effectLst/>
                          <a:latin typeface="Times New Roman" panose="02020603050405020304" pitchFamily="18" charset="0"/>
                          <a:cs typeface="Times New Roman" panose="02020603050405020304" pitchFamily="18" charset="0"/>
                        </a:rPr>
                        <a:t>3</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85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133794762"/>
                  </a:ext>
                </a:extLst>
              </a:tr>
              <a:tr h="299251">
                <a:tc>
                  <a:txBody>
                    <a:bodyPr/>
                    <a:lstStyle/>
                    <a:p>
                      <a:pPr marL="64135" marR="124460" algn="ctr">
                        <a:spcBef>
                          <a:spcPts val="8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dirty="0">
                          <a:effectLst/>
                          <a:latin typeface="Times New Roman" panose="02020603050405020304" pitchFamily="18" charset="0"/>
                          <a:cs typeface="Times New Roman" panose="02020603050405020304" pitchFamily="18" charset="0"/>
                        </a:rPr>
                        <a:t>71</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56509144"/>
                  </a:ext>
                </a:extLst>
              </a:tr>
              <a:tr h="299251">
                <a:tc>
                  <a:txBody>
                    <a:bodyPr/>
                    <a:lstStyle/>
                    <a:p>
                      <a:pPr marL="254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dirty="0">
                          <a:effectLst/>
                          <a:highlight>
                            <a:srgbClr val="00FF00"/>
                          </a:highlight>
                          <a:latin typeface="Times New Roman" panose="02020603050405020304" pitchFamily="18" charset="0"/>
                          <a:cs typeface="Times New Roman" panose="02020603050405020304" pitchFamily="18" charset="0"/>
                        </a:rPr>
                        <a:t>69</a:t>
                      </a:r>
                      <a:endParaRPr lang="en-IN" sz="20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122577602"/>
                  </a:ext>
                </a:extLst>
              </a:tr>
              <a:tr h="299251">
                <a:tc>
                  <a:txBody>
                    <a:bodyPr/>
                    <a:lstStyle/>
                    <a:p>
                      <a:pPr marL="4000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dirty="0">
                          <a:effectLst/>
                          <a:latin typeface="Times New Roman" panose="02020603050405020304" pitchFamily="18" charset="0"/>
                          <a:ea typeface="LM Roman 8"/>
                          <a:cs typeface="Times New Roman" panose="02020603050405020304" pitchFamily="18" charset="0"/>
                        </a:rPr>
                        <a:t>3</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63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519983213"/>
                  </a:ext>
                </a:extLst>
              </a:tr>
              <a:tr h="299251">
                <a:tc>
                  <a:txBody>
                    <a:bodyPr/>
                    <a:lstStyle/>
                    <a:p>
                      <a:pPr marL="42545"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78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866035061"/>
                  </a:ext>
                </a:extLst>
              </a:tr>
              <a:tr h="299251">
                <a:tc>
                  <a:txBody>
                    <a:bodyPr/>
                    <a:lstStyle/>
                    <a:p>
                      <a:pPr marL="48895"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dirty="0">
                          <a:effectLst/>
                          <a:latin typeface="Times New Roman" panose="02020603050405020304" pitchFamily="18" charset="0"/>
                          <a:cs typeface="Times New Roman" panose="02020603050405020304" pitchFamily="18" charset="0"/>
                        </a:rPr>
                        <a:t>69</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27510687"/>
                  </a:ext>
                </a:extLst>
              </a:tr>
              <a:tr h="299251">
                <a:tc>
                  <a:txBody>
                    <a:bodyPr/>
                    <a:lstStyle/>
                    <a:p>
                      <a:pPr marL="3810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51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794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4286140698"/>
                  </a:ext>
                </a:extLst>
              </a:tr>
              <a:tr h="299251">
                <a:tc>
                  <a:txBody>
                    <a:bodyPr/>
                    <a:lstStyle/>
                    <a:p>
                      <a:pPr marL="3175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Rel.</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88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80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0485">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215">
                        <a:spcBef>
                          <a:spcPts val="85"/>
                        </a:spcBef>
                      </a:pPr>
                      <a:r>
                        <a:rPr lang="en-US" sz="2000">
                          <a:effectLst/>
                          <a:latin typeface="Times New Roman" panose="02020603050405020304" pitchFamily="18" charset="0"/>
                          <a:cs typeface="Times New Roman" panose="02020603050405020304" pitchFamily="18" charset="0"/>
                        </a:rPr>
                        <a:t>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04190736"/>
                  </a:ext>
                </a:extLst>
              </a:tr>
              <a:tr h="299251">
                <a:tc gridSpan="12">
                  <a:txBody>
                    <a:bodyPr/>
                    <a:lstStyle/>
                    <a:p>
                      <a:pPr marL="77470">
                        <a:spcBef>
                          <a:spcPts val="85"/>
                        </a:spcBef>
                      </a:pPr>
                      <a:r>
                        <a:rPr lang="en-US" sz="2000" dirty="0">
                          <a:effectLst/>
                          <a:latin typeface="Times New Roman" panose="02020603050405020304" pitchFamily="18" charset="0"/>
                          <a:cs typeface="Times New Roman" panose="02020603050405020304" pitchFamily="18" charset="0"/>
                        </a:rPr>
                        <a:t>Overall Accuracy: 91.90%</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180502626"/>
                  </a:ext>
                </a:extLst>
              </a:tr>
            </a:tbl>
          </a:graphicData>
        </a:graphic>
      </p:graphicFrame>
    </p:spTree>
    <p:extLst>
      <p:ext uri="{BB962C8B-B14F-4D97-AF65-F5344CB8AC3E}">
        <p14:creationId xmlns:p14="http://schemas.microsoft.com/office/powerpoint/2010/main" val="31235526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296DE4D-E195-4532-8861-003681D6FCE1}"/>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FCAAD430-7FC7-42EF-BAA8-9F313BE7E949}"/>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73443941-7045-4FA2-A020-F2165F8DC6B0}"/>
              </a:ext>
            </a:extLst>
          </p:cNvPr>
          <p:cNvSpPr>
            <a:spLocks noGrp="1"/>
          </p:cNvSpPr>
          <p:nvPr>
            <p:ph type="sldNum" sz="quarter" idx="12"/>
          </p:nvPr>
        </p:nvSpPr>
        <p:spPr/>
        <p:txBody>
          <a:bodyPr/>
          <a:lstStyle/>
          <a:p>
            <a:fld id="{B6F15528-21DE-4FAA-801E-634DDDAF4B2B}" type="slidenum">
              <a:rPr lang="en-US" smtClean="0"/>
              <a:pPr/>
              <a:t>66</a:t>
            </a:fld>
            <a:endParaRPr lang="en-US"/>
          </a:p>
        </p:txBody>
      </p:sp>
      <p:graphicFrame>
        <p:nvGraphicFramePr>
          <p:cNvPr id="9" name="Chart 8">
            <a:extLst>
              <a:ext uri="{FF2B5EF4-FFF2-40B4-BE49-F238E27FC236}">
                <a16:creationId xmlns:a16="http://schemas.microsoft.com/office/drawing/2014/main" id="{A8382AF7-7D1F-4593-AC04-7E32F28D3665}"/>
              </a:ext>
            </a:extLst>
          </p:cNvPr>
          <p:cNvGraphicFramePr/>
          <p:nvPr>
            <p:extLst>
              <p:ext uri="{D42A27DB-BD31-4B8C-83A1-F6EECF244321}">
                <p14:modId xmlns:p14="http://schemas.microsoft.com/office/powerpoint/2010/main" val="224244428"/>
              </p:ext>
            </p:extLst>
          </p:nvPr>
        </p:nvGraphicFramePr>
        <p:xfrm>
          <a:off x="0" y="14478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69B2399A-4730-4FA7-90F5-9C0C6DCBE5AE}"/>
              </a:ext>
            </a:extLst>
          </p:cNvPr>
          <p:cNvGraphicFramePr/>
          <p:nvPr>
            <p:extLst>
              <p:ext uri="{D42A27DB-BD31-4B8C-83A1-F6EECF244321}">
                <p14:modId xmlns:p14="http://schemas.microsoft.com/office/powerpoint/2010/main" val="2825292915"/>
              </p:ext>
            </p:extLst>
          </p:nvPr>
        </p:nvGraphicFramePr>
        <p:xfrm>
          <a:off x="4572000" y="14478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6F57AA95-F6FE-444B-A760-5BAEDC10C449}"/>
              </a:ext>
            </a:extLst>
          </p:cNvPr>
          <p:cNvSpPr txBox="1"/>
          <p:nvPr/>
        </p:nvSpPr>
        <p:spPr>
          <a:xfrm>
            <a:off x="228600" y="4202668"/>
            <a:ext cx="8534400" cy="369332"/>
          </a:xfrm>
          <a:prstGeom prst="rect">
            <a:avLst/>
          </a:prstGeom>
          <a:noFill/>
        </p:spPr>
        <p:txBody>
          <a:bodyPr wrap="square" rtlCol="0">
            <a:spAutoFit/>
          </a:bodyPr>
          <a:lstStyle/>
          <a:p>
            <a:pPr algn="ctr"/>
            <a:r>
              <a:rPr lang="en-US" dirty="0"/>
              <a:t>Fig 26 : Analysis and Accuracy of GFCC (26) Features with KNN Algorithm</a:t>
            </a:r>
            <a:endParaRPr lang="en-IN" dirty="0"/>
          </a:p>
        </p:txBody>
      </p:sp>
    </p:spTree>
    <p:extLst>
      <p:ext uri="{BB962C8B-B14F-4D97-AF65-F5344CB8AC3E}">
        <p14:creationId xmlns:p14="http://schemas.microsoft.com/office/powerpoint/2010/main" val="53218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9C76949-E0B2-4ED2-B1F7-B66877DABA95}"/>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43FEE2CC-91AB-4303-B7B9-DA037315E569}"/>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E84BDB67-0A62-481C-92EB-FE5A15B529DC}"/>
              </a:ext>
            </a:extLst>
          </p:cNvPr>
          <p:cNvSpPr>
            <a:spLocks noGrp="1"/>
          </p:cNvSpPr>
          <p:nvPr>
            <p:ph type="sldNum" sz="quarter" idx="12"/>
          </p:nvPr>
        </p:nvSpPr>
        <p:spPr/>
        <p:txBody>
          <a:bodyPr/>
          <a:lstStyle/>
          <a:p>
            <a:fld id="{B6F15528-21DE-4FAA-801E-634DDDAF4B2B}" type="slidenum">
              <a:rPr lang="en-US" smtClean="0"/>
              <a:pPr/>
              <a:t>67</a:t>
            </a:fld>
            <a:endParaRPr lang="en-US"/>
          </a:p>
        </p:txBody>
      </p:sp>
      <p:sp>
        <p:nvSpPr>
          <p:cNvPr id="8" name="TextBox 7">
            <a:extLst>
              <a:ext uri="{FF2B5EF4-FFF2-40B4-BE49-F238E27FC236}">
                <a16:creationId xmlns:a16="http://schemas.microsoft.com/office/drawing/2014/main" id="{E1FABBD9-544F-4522-92E4-E19E0A9D428A}"/>
              </a:ext>
            </a:extLst>
          </p:cNvPr>
          <p:cNvSpPr txBox="1"/>
          <p:nvPr/>
        </p:nvSpPr>
        <p:spPr>
          <a:xfrm>
            <a:off x="228600" y="457200"/>
            <a:ext cx="82296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Table </a:t>
            </a:r>
            <a:r>
              <a:rPr lang="en-US" sz="2000" dirty="0">
                <a:latin typeface="Times New Roman" panose="02020603050405020304" pitchFamily="18" charset="0"/>
                <a:ea typeface="LM Roman 12"/>
                <a:cs typeface="Times New Roman" panose="02020603050405020304" pitchFamily="18" charset="0"/>
              </a:rPr>
              <a:t>27</a:t>
            </a:r>
            <a:r>
              <a:rPr lang="en-US" sz="2000" dirty="0">
                <a:effectLst/>
                <a:latin typeface="Times New Roman" panose="02020603050405020304" pitchFamily="18" charset="0"/>
                <a:ea typeface="LM Roman 12"/>
                <a:cs typeface="Times New Roman" panose="02020603050405020304" pitchFamily="18" charset="0"/>
              </a:rPr>
              <a:t>:Recognition of result with GFCC (39) features with KNN algorithm</a:t>
            </a:r>
            <a:endParaRPr lang="en-IN" sz="2000"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6C55F049-60AA-442F-85A6-8D6938C94A6B}"/>
              </a:ext>
            </a:extLst>
          </p:cNvPr>
          <p:cNvGraphicFramePr>
            <a:graphicFrameLocks noGrp="1"/>
          </p:cNvGraphicFramePr>
          <p:nvPr>
            <p:extLst>
              <p:ext uri="{D42A27DB-BD31-4B8C-83A1-F6EECF244321}">
                <p14:modId xmlns:p14="http://schemas.microsoft.com/office/powerpoint/2010/main" val="3146389602"/>
              </p:ext>
            </p:extLst>
          </p:nvPr>
        </p:nvGraphicFramePr>
        <p:xfrm>
          <a:off x="609600" y="918429"/>
          <a:ext cx="7848600" cy="4329372"/>
        </p:xfrm>
        <a:graphic>
          <a:graphicData uri="http://schemas.openxmlformats.org/drawingml/2006/table">
            <a:tbl>
              <a:tblPr firstRow="1" firstCol="1" lastRow="1" lastCol="1" bandRow="1" bandCol="1">
                <a:tableStyleId>{5940675A-B579-460E-94D1-54222C63F5DA}</a:tableStyleId>
              </a:tblPr>
              <a:tblGrid>
                <a:gridCol w="712312">
                  <a:extLst>
                    <a:ext uri="{9D8B030D-6E8A-4147-A177-3AD203B41FA5}">
                      <a16:colId xmlns:a16="http://schemas.microsoft.com/office/drawing/2014/main" val="1186229313"/>
                    </a:ext>
                  </a:extLst>
                </a:gridCol>
                <a:gridCol w="602173">
                  <a:extLst>
                    <a:ext uri="{9D8B030D-6E8A-4147-A177-3AD203B41FA5}">
                      <a16:colId xmlns:a16="http://schemas.microsoft.com/office/drawing/2014/main" val="3805434571"/>
                    </a:ext>
                  </a:extLst>
                </a:gridCol>
                <a:gridCol w="713509">
                  <a:extLst>
                    <a:ext uri="{9D8B030D-6E8A-4147-A177-3AD203B41FA5}">
                      <a16:colId xmlns:a16="http://schemas.microsoft.com/office/drawing/2014/main" val="2774306703"/>
                    </a:ext>
                  </a:extLst>
                </a:gridCol>
                <a:gridCol w="713509">
                  <a:extLst>
                    <a:ext uri="{9D8B030D-6E8A-4147-A177-3AD203B41FA5}">
                      <a16:colId xmlns:a16="http://schemas.microsoft.com/office/drawing/2014/main" val="1760116415"/>
                    </a:ext>
                  </a:extLst>
                </a:gridCol>
                <a:gridCol w="587807">
                  <a:extLst>
                    <a:ext uri="{9D8B030D-6E8A-4147-A177-3AD203B41FA5}">
                      <a16:colId xmlns:a16="http://schemas.microsoft.com/office/drawing/2014/main" val="239596475"/>
                    </a:ext>
                  </a:extLst>
                </a:gridCol>
                <a:gridCol w="593793">
                  <a:extLst>
                    <a:ext uri="{9D8B030D-6E8A-4147-A177-3AD203B41FA5}">
                      <a16:colId xmlns:a16="http://schemas.microsoft.com/office/drawing/2014/main" val="3303487712"/>
                    </a:ext>
                  </a:extLst>
                </a:gridCol>
                <a:gridCol w="665622">
                  <a:extLst>
                    <a:ext uri="{9D8B030D-6E8A-4147-A177-3AD203B41FA5}">
                      <a16:colId xmlns:a16="http://schemas.microsoft.com/office/drawing/2014/main" val="3667012828"/>
                    </a:ext>
                  </a:extLst>
                </a:gridCol>
                <a:gridCol w="665622">
                  <a:extLst>
                    <a:ext uri="{9D8B030D-6E8A-4147-A177-3AD203B41FA5}">
                      <a16:colId xmlns:a16="http://schemas.microsoft.com/office/drawing/2014/main" val="3347802451"/>
                    </a:ext>
                  </a:extLst>
                </a:gridCol>
                <a:gridCol w="557877">
                  <a:extLst>
                    <a:ext uri="{9D8B030D-6E8A-4147-A177-3AD203B41FA5}">
                      <a16:colId xmlns:a16="http://schemas.microsoft.com/office/drawing/2014/main" val="3589510220"/>
                    </a:ext>
                  </a:extLst>
                </a:gridCol>
                <a:gridCol w="662032">
                  <a:extLst>
                    <a:ext uri="{9D8B030D-6E8A-4147-A177-3AD203B41FA5}">
                      <a16:colId xmlns:a16="http://schemas.microsoft.com/office/drawing/2014/main" val="2981907533"/>
                    </a:ext>
                  </a:extLst>
                </a:gridCol>
                <a:gridCol w="662032">
                  <a:extLst>
                    <a:ext uri="{9D8B030D-6E8A-4147-A177-3AD203B41FA5}">
                      <a16:colId xmlns:a16="http://schemas.microsoft.com/office/drawing/2014/main" val="4278475637"/>
                    </a:ext>
                  </a:extLst>
                </a:gridCol>
                <a:gridCol w="712312">
                  <a:extLst>
                    <a:ext uri="{9D8B030D-6E8A-4147-A177-3AD203B41FA5}">
                      <a16:colId xmlns:a16="http://schemas.microsoft.com/office/drawing/2014/main" val="1695629565"/>
                    </a:ext>
                  </a:extLst>
                </a:gridCol>
              </a:tblGrid>
              <a:tr h="305460">
                <a:tc rowSpan="2">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gridSpan="10">
                  <a:txBody>
                    <a:bodyPr/>
                    <a:lstStyle/>
                    <a:p>
                      <a:pPr marL="601980">
                        <a:spcBef>
                          <a:spcPts val="85"/>
                        </a:spcBef>
                      </a:pPr>
                      <a:r>
                        <a:rPr lang="en-US" sz="2000">
                          <a:effectLst/>
                          <a:latin typeface="Times New Roman" panose="02020603050405020304" pitchFamily="18" charset="0"/>
                          <a:cs typeface="Times New Roman" panose="02020603050405020304" pitchFamily="18" charset="0"/>
                        </a:rPr>
                        <a:t>Number of correctly recognized bird sound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marL="66675">
                        <a:spcBef>
                          <a:spcPts val="795"/>
                        </a:spcBef>
                        <a:spcAft>
                          <a:spcPts val="0"/>
                        </a:spcAft>
                      </a:pPr>
                      <a:r>
                        <a:rPr lang="en-US" sz="2000">
                          <a:effectLst/>
                          <a:latin typeface="Times New Roman" panose="02020603050405020304" pitchFamily="18" charset="0"/>
                          <a:cs typeface="Times New Roman" panose="02020603050405020304" pitchFamily="18" charset="0"/>
                        </a:rPr>
                        <a:t>RSA</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766687189"/>
                  </a:ext>
                </a:extLst>
              </a:tr>
              <a:tr h="305460">
                <a:tc vMerge="1">
                  <a:txBody>
                    <a:bodyPr/>
                    <a:lstStyle/>
                    <a:p>
                      <a:endParaRPr lang="en-IN"/>
                    </a:p>
                  </a:txBody>
                  <a:tcPr/>
                </a:tc>
                <a:tc>
                  <a:txBody>
                    <a:bodyPr/>
                    <a:lstStyle/>
                    <a:p>
                      <a:pPr marL="77470">
                        <a:spcBef>
                          <a:spcPts val="65"/>
                        </a:spcBef>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3500" marR="60325" algn="ctr">
                        <a:spcBef>
                          <a:spcPts val="6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6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6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6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6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6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6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6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6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vMerge="1">
                  <a:txBody>
                    <a:bodyPr/>
                    <a:lstStyle/>
                    <a:p>
                      <a:endParaRPr lang="en-IN"/>
                    </a:p>
                  </a:txBody>
                  <a:tcPr/>
                </a:tc>
                <a:extLst>
                  <a:ext uri="{0D108BD9-81ED-4DB2-BD59-A6C34878D82A}">
                    <a16:rowId xmlns:a16="http://schemas.microsoft.com/office/drawing/2014/main" val="2655004892"/>
                  </a:ext>
                </a:extLst>
              </a:tr>
              <a:tr h="309871">
                <a:tc>
                  <a:txBody>
                    <a:bodyPr/>
                    <a:lstStyle/>
                    <a:p>
                      <a:pPr marL="63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RB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64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572433798"/>
                  </a:ext>
                </a:extLst>
              </a:tr>
              <a:tr h="309871">
                <a:tc>
                  <a:txBody>
                    <a:bodyPr/>
                    <a:lstStyle/>
                    <a:p>
                      <a:pPr marL="762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GT</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2000">
                          <a:effectLst/>
                          <a:latin typeface="Times New Roman" panose="02020603050405020304" pitchFamily="18" charset="0"/>
                          <a:cs typeface="Times New Roman" panose="02020603050405020304" pitchFamily="18" charset="0"/>
                        </a:rPr>
                        <a:t>71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dirty="0">
                          <a:effectLst/>
                          <a:latin typeface="Times New Roman" panose="02020603050405020304" pitchFamily="18" charset="0"/>
                          <a:cs typeface="Times New Roman" panose="02020603050405020304" pitchFamily="18" charset="0"/>
                        </a:rPr>
                        <a:t>2</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358827688"/>
                  </a:ext>
                </a:extLst>
              </a:tr>
              <a:tr h="309871">
                <a:tc>
                  <a:txBody>
                    <a:bodyPr/>
                    <a:lstStyle/>
                    <a:p>
                      <a:pPr marL="6413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WW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63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12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85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689488628"/>
                  </a:ext>
                </a:extLst>
              </a:tr>
              <a:tr h="309871">
                <a:tc>
                  <a:txBody>
                    <a:bodyPr/>
                    <a:lstStyle/>
                    <a:p>
                      <a:pPr marL="54610"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EF</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dirty="0">
                          <a:effectLst/>
                          <a:highlight>
                            <a:srgbClr val="FF0000"/>
                          </a:highlight>
                          <a:latin typeface="Times New Roman" panose="02020603050405020304" pitchFamily="18" charset="0"/>
                          <a:cs typeface="Times New Roman" panose="02020603050405020304" pitchFamily="18" charset="0"/>
                        </a:rPr>
                        <a:t>81</a:t>
                      </a:r>
                      <a:endParaRPr lang="en-IN" sz="2000" dirty="0">
                        <a:effectLst/>
                        <a:highlight>
                          <a:srgbClr val="FF00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86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576785821"/>
                  </a:ext>
                </a:extLst>
              </a:tr>
              <a:tr h="309871">
                <a:tc>
                  <a:txBody>
                    <a:bodyPr/>
                    <a:lstStyle/>
                    <a:p>
                      <a:pPr marL="64135" marR="124460" algn="ctr">
                        <a:spcBef>
                          <a:spcPts val="85"/>
                        </a:spcBef>
                        <a:spcAft>
                          <a:spcPts val="0"/>
                        </a:spcAft>
                      </a:pPr>
                      <a:r>
                        <a:rPr lang="en-US" sz="2000">
                          <a:effectLst/>
                          <a:latin typeface="Times New Roman" panose="02020603050405020304" pitchFamily="18" charset="0"/>
                          <a:cs typeface="Times New Roman" panose="02020603050405020304" pitchFamily="18" charset="0"/>
                        </a:rPr>
                        <a:t>CB</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77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430806690"/>
                  </a:ext>
                </a:extLst>
              </a:tr>
              <a:tr h="309871">
                <a:tc>
                  <a:txBody>
                    <a:bodyPr/>
                    <a:lstStyle/>
                    <a:p>
                      <a:pPr marL="254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CR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60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161591265"/>
                  </a:ext>
                </a:extLst>
              </a:tr>
              <a:tr h="309871">
                <a:tc>
                  <a:txBody>
                    <a:bodyPr/>
                    <a:lstStyle/>
                    <a:p>
                      <a:pPr marL="40005"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GW</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dirty="0">
                          <a:effectLst/>
                          <a:highlight>
                            <a:srgbClr val="00FF00"/>
                          </a:highlight>
                          <a:latin typeface="Times New Roman" panose="02020603050405020304" pitchFamily="18" charset="0"/>
                          <a:cs typeface="Times New Roman" panose="02020603050405020304" pitchFamily="18" charset="0"/>
                        </a:rPr>
                        <a:t>56</a:t>
                      </a:r>
                      <a:endParaRPr lang="en-IN" sz="2000" dirty="0">
                        <a:effectLst/>
                        <a:highlight>
                          <a:srgbClr val="00FF00"/>
                        </a:highligh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881609355"/>
                  </a:ext>
                </a:extLst>
              </a:tr>
              <a:tr h="309871">
                <a:tc>
                  <a:txBody>
                    <a:bodyPr/>
                    <a:lstStyle/>
                    <a:p>
                      <a:pPr marL="42545"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BJ</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71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813075808"/>
                  </a:ext>
                </a:extLst>
              </a:tr>
              <a:tr h="309871">
                <a:tc>
                  <a:txBody>
                    <a:bodyPr/>
                    <a:lstStyle/>
                    <a:p>
                      <a:pPr marL="48895" marR="125730" algn="ctr">
                        <a:spcBef>
                          <a:spcPts val="85"/>
                        </a:spcBef>
                        <a:spcAft>
                          <a:spcPts val="0"/>
                        </a:spcAft>
                      </a:pPr>
                      <a:r>
                        <a:rPr lang="en-US" sz="2000">
                          <a:effectLst/>
                          <a:latin typeface="Times New Roman" panose="02020603050405020304" pitchFamily="18" charset="0"/>
                          <a:cs typeface="Times New Roman" panose="02020603050405020304" pitchFamily="18" charset="0"/>
                        </a:rPr>
                        <a:t>CS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75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568218167"/>
                  </a:ext>
                </a:extLst>
              </a:tr>
              <a:tr h="309871">
                <a:tc>
                  <a:txBody>
                    <a:bodyPr/>
                    <a:lstStyle/>
                    <a:p>
                      <a:pPr marL="3810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WD</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marR="102870" algn="ctr">
                        <a:spcBef>
                          <a:spcPts val="85"/>
                        </a:spcBef>
                        <a:spcAft>
                          <a:spcPts val="0"/>
                        </a:spcAft>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46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6675">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739061479"/>
                  </a:ext>
                </a:extLst>
              </a:tr>
              <a:tr h="309871">
                <a:tc>
                  <a:txBody>
                    <a:bodyPr/>
                    <a:lstStyle/>
                    <a:p>
                      <a:pPr marL="31750" marR="59690" algn="ctr">
                        <a:spcBef>
                          <a:spcPts val="85"/>
                        </a:spcBef>
                        <a:spcAft>
                          <a:spcPts val="0"/>
                        </a:spcAft>
                      </a:pPr>
                      <a:r>
                        <a:rPr lang="en-US" sz="2000">
                          <a:effectLst/>
                          <a:latin typeface="Times New Roman" panose="02020603050405020304" pitchFamily="18" charset="0"/>
                          <a:cs typeface="Times New Roman" panose="02020603050405020304" pitchFamily="18" charset="0"/>
                        </a:rPr>
                        <a:t>Rel.</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11430" marR="60325" algn="ctr">
                        <a:spcBef>
                          <a:spcPts val="85"/>
                        </a:spcBef>
                        <a:spcAft>
                          <a:spcPts val="0"/>
                        </a:spcAft>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spcBef>
                          <a:spcPts val="85"/>
                        </a:spcBef>
                      </a:pPr>
                      <a:r>
                        <a:rPr lang="en-US" sz="2000">
                          <a:effectLst/>
                          <a:latin typeface="Times New Roman" panose="02020603050405020304" pitchFamily="18" charset="0"/>
                          <a:cs typeface="Times New Roman" panose="02020603050405020304" pitchFamily="18" charset="0"/>
                        </a:rPr>
                        <a:t>88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spcBef>
                          <a:spcPts val="85"/>
                        </a:spcBef>
                      </a:pPr>
                      <a:r>
                        <a:rPr lang="en-US" sz="2000">
                          <a:effectLst/>
                          <a:latin typeface="Times New Roman" panose="02020603050405020304" pitchFamily="18" charset="0"/>
                          <a:cs typeface="Times New Roman" panose="02020603050405020304" pitchFamily="18" charset="0"/>
                        </a:rPr>
                        <a:t>81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930">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4295">
                        <a:spcBef>
                          <a:spcPts val="85"/>
                        </a:spcBef>
                      </a:pPr>
                      <a:r>
                        <a:rPr lang="en-US" sz="2000">
                          <a:effectLst/>
                          <a:latin typeface="Times New Roman" panose="02020603050405020304" pitchFamily="18" charset="0"/>
                          <a:cs typeface="Times New Roman" panose="02020603050405020304" pitchFamily="18" charset="0"/>
                        </a:rPr>
                        <a:t>95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3025">
                        <a:spcBef>
                          <a:spcPts val="85"/>
                        </a:spcBef>
                      </a:pPr>
                      <a:r>
                        <a:rPr lang="en-US" sz="2000">
                          <a:effectLst/>
                          <a:latin typeface="Times New Roman" panose="02020603050405020304" pitchFamily="18" charset="0"/>
                          <a:cs typeface="Times New Roman" panose="02020603050405020304" pitchFamily="18" charset="0"/>
                        </a:rPr>
                        <a:t>100</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1120">
                        <a:spcBef>
                          <a:spcPts val="85"/>
                        </a:spcBef>
                      </a:pPr>
                      <a:r>
                        <a:rPr lang="en-US" sz="2000">
                          <a:effectLst/>
                          <a:latin typeface="Times New Roman" panose="02020603050405020304" pitchFamily="18" charset="0"/>
                          <a:cs typeface="Times New Roman" panose="02020603050405020304" pitchFamily="18" charset="0"/>
                        </a:rPr>
                        <a:t>99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9850">
                        <a:spcBef>
                          <a:spcPts val="85"/>
                        </a:spcBef>
                      </a:pPr>
                      <a:r>
                        <a:rPr lang="en-US" sz="2000">
                          <a:effectLst/>
                          <a:latin typeface="Times New Roman" panose="02020603050405020304" pitchFamily="18" charset="0"/>
                          <a:cs typeface="Times New Roman" panose="02020603050405020304" pitchFamily="18" charset="0"/>
                        </a:rPr>
                        <a:t>96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68580">
                        <a:spcBef>
                          <a:spcPts val="85"/>
                        </a:spcBef>
                      </a:pPr>
                      <a:r>
                        <a:rPr lang="en-US" sz="2000">
                          <a:effectLst/>
                          <a:latin typeface="Times New Roman" panose="02020603050405020304" pitchFamily="18" charset="0"/>
                          <a:cs typeface="Times New Roman" panose="02020603050405020304" pitchFamily="18" charset="0"/>
                        </a:rPr>
                        <a:t>98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spcAft>
                          <a:spcPts val="0"/>
                        </a:spcAft>
                      </a:pPr>
                      <a:r>
                        <a:rPr lang="en-US" sz="2000">
                          <a:effectLst/>
                          <a:latin typeface="Times New Roman" panose="02020603050405020304" pitchFamily="18" charset="0"/>
                          <a:cs typeface="Times New Roman" panose="02020603050405020304" pitchFamily="18" charset="0"/>
                        </a:rPr>
                        <a:t> </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689437614"/>
                  </a:ext>
                </a:extLst>
              </a:tr>
              <a:tr h="309871">
                <a:tc gridSpan="12">
                  <a:txBody>
                    <a:bodyPr/>
                    <a:lstStyle/>
                    <a:p>
                      <a:pPr marL="77470">
                        <a:spcBef>
                          <a:spcPts val="85"/>
                        </a:spcBef>
                      </a:pPr>
                      <a:r>
                        <a:rPr lang="en-US" sz="2000" dirty="0">
                          <a:effectLst/>
                          <a:latin typeface="Times New Roman" panose="02020603050405020304" pitchFamily="18" charset="0"/>
                          <a:cs typeface="Times New Roman" panose="02020603050405020304" pitchFamily="18" charset="0"/>
                        </a:rPr>
                        <a:t>Overall Accuracy: 91.61%</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557511897"/>
                  </a:ext>
                </a:extLst>
              </a:tr>
            </a:tbl>
          </a:graphicData>
        </a:graphic>
      </p:graphicFrame>
    </p:spTree>
    <p:extLst>
      <p:ext uri="{BB962C8B-B14F-4D97-AF65-F5344CB8AC3E}">
        <p14:creationId xmlns:p14="http://schemas.microsoft.com/office/powerpoint/2010/main" val="3377179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F4C573B-8956-4773-ACE0-A5C38CEEAC68}"/>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5044CFA0-B5F5-4789-8859-11965A6582FE}"/>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6FA947F9-B86E-457D-AB05-931093E3D0CA}"/>
              </a:ext>
            </a:extLst>
          </p:cNvPr>
          <p:cNvSpPr>
            <a:spLocks noGrp="1"/>
          </p:cNvSpPr>
          <p:nvPr>
            <p:ph type="sldNum" sz="quarter" idx="12"/>
          </p:nvPr>
        </p:nvSpPr>
        <p:spPr/>
        <p:txBody>
          <a:bodyPr/>
          <a:lstStyle/>
          <a:p>
            <a:fld id="{B6F15528-21DE-4FAA-801E-634DDDAF4B2B}" type="slidenum">
              <a:rPr lang="en-US" smtClean="0"/>
              <a:pPr/>
              <a:t>68</a:t>
            </a:fld>
            <a:endParaRPr lang="en-US"/>
          </a:p>
        </p:txBody>
      </p:sp>
      <p:graphicFrame>
        <p:nvGraphicFramePr>
          <p:cNvPr id="9" name="Chart 8">
            <a:extLst>
              <a:ext uri="{FF2B5EF4-FFF2-40B4-BE49-F238E27FC236}">
                <a16:creationId xmlns:a16="http://schemas.microsoft.com/office/drawing/2014/main" id="{68355DA9-63D1-4EF4-A53D-FCF7E8D2B10E}"/>
              </a:ext>
            </a:extLst>
          </p:cNvPr>
          <p:cNvGraphicFramePr/>
          <p:nvPr>
            <p:extLst>
              <p:ext uri="{D42A27DB-BD31-4B8C-83A1-F6EECF244321}">
                <p14:modId xmlns:p14="http://schemas.microsoft.com/office/powerpoint/2010/main" val="204625034"/>
              </p:ext>
            </p:extLst>
          </p:nvPr>
        </p:nvGraphicFramePr>
        <p:xfrm>
          <a:off x="0" y="12954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6601436B-44C1-43B5-A953-4C779731988A}"/>
              </a:ext>
            </a:extLst>
          </p:cNvPr>
          <p:cNvGraphicFramePr/>
          <p:nvPr>
            <p:extLst>
              <p:ext uri="{D42A27DB-BD31-4B8C-83A1-F6EECF244321}">
                <p14:modId xmlns:p14="http://schemas.microsoft.com/office/powerpoint/2010/main" val="3503269863"/>
              </p:ext>
            </p:extLst>
          </p:nvPr>
        </p:nvGraphicFramePr>
        <p:xfrm>
          <a:off x="4572000" y="1284514"/>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C7952FD8-2DC0-4DD5-A599-235D7D594288}"/>
              </a:ext>
            </a:extLst>
          </p:cNvPr>
          <p:cNvSpPr txBox="1"/>
          <p:nvPr/>
        </p:nvSpPr>
        <p:spPr>
          <a:xfrm>
            <a:off x="304800" y="4126468"/>
            <a:ext cx="8534400" cy="369332"/>
          </a:xfrm>
          <a:prstGeom prst="rect">
            <a:avLst/>
          </a:prstGeom>
          <a:noFill/>
        </p:spPr>
        <p:txBody>
          <a:bodyPr wrap="square" rtlCol="0">
            <a:spAutoFit/>
          </a:bodyPr>
          <a:lstStyle/>
          <a:p>
            <a:pPr algn="ctr"/>
            <a:r>
              <a:rPr lang="en-US" dirty="0"/>
              <a:t>Fig 27 : Analysis and Accuracy of GFCC (39) Features with KNN Algorithm</a:t>
            </a:r>
            <a:endParaRPr lang="en-IN" dirty="0"/>
          </a:p>
        </p:txBody>
      </p:sp>
    </p:spTree>
    <p:extLst>
      <p:ext uri="{BB962C8B-B14F-4D97-AF65-F5344CB8AC3E}">
        <p14:creationId xmlns:p14="http://schemas.microsoft.com/office/powerpoint/2010/main" val="31200521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189EF9F-0E7C-4023-80EA-FD977D086CA4}"/>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A32F6646-5D00-49D5-BAD9-EFC1432CFE28}"/>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8F6B47BD-4EEF-4787-B866-20361A2679C1}"/>
              </a:ext>
            </a:extLst>
          </p:cNvPr>
          <p:cNvSpPr>
            <a:spLocks noGrp="1"/>
          </p:cNvSpPr>
          <p:nvPr>
            <p:ph type="sldNum" sz="quarter" idx="12"/>
          </p:nvPr>
        </p:nvSpPr>
        <p:spPr/>
        <p:txBody>
          <a:bodyPr/>
          <a:lstStyle/>
          <a:p>
            <a:fld id="{B6F15528-21DE-4FAA-801E-634DDDAF4B2B}" type="slidenum">
              <a:rPr lang="en-US" smtClean="0"/>
              <a:pPr/>
              <a:t>69</a:t>
            </a:fld>
            <a:endParaRPr lang="en-US"/>
          </a:p>
        </p:txBody>
      </p:sp>
      <p:graphicFrame>
        <p:nvGraphicFramePr>
          <p:cNvPr id="7" name="Table 6">
            <a:extLst>
              <a:ext uri="{FF2B5EF4-FFF2-40B4-BE49-F238E27FC236}">
                <a16:creationId xmlns:a16="http://schemas.microsoft.com/office/drawing/2014/main" id="{873C39A7-1DC2-43AA-9F76-6BF347BF8F8C}"/>
              </a:ext>
            </a:extLst>
          </p:cNvPr>
          <p:cNvGraphicFramePr>
            <a:graphicFrameLocks noGrp="1"/>
          </p:cNvGraphicFramePr>
          <p:nvPr>
            <p:extLst>
              <p:ext uri="{D42A27DB-BD31-4B8C-83A1-F6EECF244321}">
                <p14:modId xmlns:p14="http://schemas.microsoft.com/office/powerpoint/2010/main" val="1292509797"/>
              </p:ext>
            </p:extLst>
          </p:nvPr>
        </p:nvGraphicFramePr>
        <p:xfrm>
          <a:off x="1371601" y="1708030"/>
          <a:ext cx="5638799" cy="2840636"/>
        </p:xfrm>
        <a:graphic>
          <a:graphicData uri="http://schemas.openxmlformats.org/drawingml/2006/table">
            <a:tbl>
              <a:tblPr firstRow="1" firstCol="1" lastRow="1" lastCol="1" bandRow="1" bandCol="1">
                <a:tableStyleId>{5940675A-B579-460E-94D1-54222C63F5DA}</a:tableStyleId>
              </a:tblPr>
              <a:tblGrid>
                <a:gridCol w="956910">
                  <a:extLst>
                    <a:ext uri="{9D8B030D-6E8A-4147-A177-3AD203B41FA5}">
                      <a16:colId xmlns:a16="http://schemas.microsoft.com/office/drawing/2014/main" val="2421699174"/>
                    </a:ext>
                  </a:extLst>
                </a:gridCol>
                <a:gridCol w="1836589">
                  <a:extLst>
                    <a:ext uri="{9D8B030D-6E8A-4147-A177-3AD203B41FA5}">
                      <a16:colId xmlns:a16="http://schemas.microsoft.com/office/drawing/2014/main" val="3188405239"/>
                    </a:ext>
                  </a:extLst>
                </a:gridCol>
                <a:gridCol w="991758">
                  <a:extLst>
                    <a:ext uri="{9D8B030D-6E8A-4147-A177-3AD203B41FA5}">
                      <a16:colId xmlns:a16="http://schemas.microsoft.com/office/drawing/2014/main" val="1423904617"/>
                    </a:ext>
                  </a:extLst>
                </a:gridCol>
                <a:gridCol w="903225">
                  <a:extLst>
                    <a:ext uri="{9D8B030D-6E8A-4147-A177-3AD203B41FA5}">
                      <a16:colId xmlns:a16="http://schemas.microsoft.com/office/drawing/2014/main" val="2169482448"/>
                    </a:ext>
                  </a:extLst>
                </a:gridCol>
                <a:gridCol w="950317">
                  <a:extLst>
                    <a:ext uri="{9D8B030D-6E8A-4147-A177-3AD203B41FA5}">
                      <a16:colId xmlns:a16="http://schemas.microsoft.com/office/drawing/2014/main" val="1890523952"/>
                    </a:ext>
                  </a:extLst>
                </a:gridCol>
              </a:tblGrid>
              <a:tr h="710159">
                <a:tc>
                  <a:txBody>
                    <a:bodyPr/>
                    <a:lstStyle/>
                    <a:p>
                      <a:pPr marL="77470" algn="ctr">
                        <a:spcBef>
                          <a:spcPts val="145"/>
                        </a:spcBef>
                      </a:pPr>
                      <a:r>
                        <a:rPr lang="en-US" sz="2000" b="1" dirty="0">
                          <a:effectLst/>
                          <a:latin typeface="Times New Roman" panose="02020603050405020304" pitchFamily="18" charset="0"/>
                          <a:cs typeface="Times New Roman" panose="02020603050405020304" pitchFamily="18" charset="0"/>
                        </a:rPr>
                        <a:t>Sr No.</a:t>
                      </a:r>
                      <a:endParaRPr lang="en-IN" sz="2000" b="1"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45"/>
                        </a:spcBef>
                      </a:pPr>
                      <a:r>
                        <a:rPr lang="en-US" sz="2000" b="1">
                          <a:effectLst/>
                          <a:latin typeface="Times New Roman" panose="02020603050405020304" pitchFamily="18" charset="0"/>
                          <a:cs typeface="Times New Roman" panose="02020603050405020304" pitchFamily="18" charset="0"/>
                        </a:rPr>
                        <a:t>Feature vector</a:t>
                      </a:r>
                      <a:endParaRPr lang="en-IN" sz="2000" b="1">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lgn="ctr">
                        <a:spcBef>
                          <a:spcPts val="145"/>
                        </a:spcBef>
                        <a:spcAft>
                          <a:spcPts val="0"/>
                        </a:spcAft>
                      </a:pPr>
                      <a:r>
                        <a:rPr lang="en-US" sz="2000" b="1">
                          <a:effectLst/>
                          <a:latin typeface="Times New Roman" panose="02020603050405020304" pitchFamily="18" charset="0"/>
                          <a:cs typeface="Times New Roman" panose="02020603050405020304" pitchFamily="18" charset="0"/>
                        </a:rPr>
                        <a:t>MFCC</a:t>
                      </a:r>
                      <a:endParaRPr lang="en-IN" sz="2000" b="1">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45"/>
                        </a:spcBef>
                        <a:spcAft>
                          <a:spcPts val="0"/>
                        </a:spcAft>
                      </a:pPr>
                      <a:r>
                        <a:rPr lang="en-US" sz="2000" b="1">
                          <a:effectLst/>
                          <a:latin typeface="Times New Roman" panose="02020603050405020304" pitchFamily="18" charset="0"/>
                          <a:cs typeface="Times New Roman" panose="02020603050405020304" pitchFamily="18" charset="0"/>
                        </a:rPr>
                        <a:t>LFCC</a:t>
                      </a:r>
                      <a:endParaRPr lang="en-IN" sz="2000" b="1">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45"/>
                        </a:spcBef>
                        <a:spcAft>
                          <a:spcPts val="0"/>
                        </a:spcAft>
                      </a:pPr>
                      <a:r>
                        <a:rPr lang="en-US" sz="2000" b="1" dirty="0">
                          <a:effectLst/>
                          <a:latin typeface="Times New Roman" panose="02020603050405020304" pitchFamily="18" charset="0"/>
                          <a:cs typeface="Times New Roman" panose="02020603050405020304" pitchFamily="18" charset="0"/>
                        </a:rPr>
                        <a:t>GFCC</a:t>
                      </a:r>
                      <a:endParaRPr lang="en-IN" sz="2000" b="1" dirty="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268348464"/>
                  </a:ext>
                </a:extLst>
              </a:tr>
              <a:tr h="710159">
                <a:tc>
                  <a:txBody>
                    <a:bodyPr/>
                    <a:lstStyle/>
                    <a:p>
                      <a:pPr marL="77470" algn="ctr">
                        <a:spcBef>
                          <a:spcPts val="160"/>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2000">
                          <a:effectLst/>
                          <a:latin typeface="Times New Roman" panose="02020603050405020304" pitchFamily="18" charset="0"/>
                          <a:cs typeface="Times New Roman" panose="02020603050405020304" pitchFamily="18" charset="0"/>
                        </a:rPr>
                        <a:t>13 coefficients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lgn="ctr">
                        <a:spcBef>
                          <a:spcPts val="160"/>
                        </a:spcBef>
                        <a:spcAft>
                          <a:spcPts val="0"/>
                        </a:spcAft>
                      </a:pPr>
                      <a:r>
                        <a:rPr lang="en-US" sz="2000">
                          <a:effectLst/>
                          <a:latin typeface="Times New Roman" panose="02020603050405020304" pitchFamily="18" charset="0"/>
                          <a:cs typeface="Times New Roman" panose="02020603050405020304" pitchFamily="18" charset="0"/>
                        </a:rPr>
                        <a:t>91.13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a:effectLst/>
                          <a:latin typeface="Times New Roman" panose="02020603050405020304" pitchFamily="18" charset="0"/>
                          <a:cs typeface="Times New Roman" panose="02020603050405020304" pitchFamily="18" charset="0"/>
                        </a:rPr>
                        <a:t>91.8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a:effectLst/>
                          <a:latin typeface="Times New Roman" panose="02020603050405020304" pitchFamily="18" charset="0"/>
                          <a:cs typeface="Times New Roman" panose="02020603050405020304" pitchFamily="18" charset="0"/>
                        </a:rPr>
                        <a:t>91.64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972574233"/>
                  </a:ext>
                </a:extLst>
              </a:tr>
              <a:tr h="710159">
                <a:tc>
                  <a:txBody>
                    <a:bodyPr/>
                    <a:lstStyle/>
                    <a:p>
                      <a:pPr marL="77470" algn="ctr">
                        <a:spcBef>
                          <a:spcPts val="160"/>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2000">
                          <a:effectLst/>
                          <a:latin typeface="Times New Roman" panose="02020603050405020304" pitchFamily="18" charset="0"/>
                          <a:cs typeface="Times New Roman" panose="02020603050405020304" pitchFamily="18" charset="0"/>
                        </a:rPr>
                        <a:t>26 coefficients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lgn="ctr">
                        <a:spcBef>
                          <a:spcPts val="160"/>
                        </a:spcBef>
                        <a:spcAft>
                          <a:spcPts val="0"/>
                        </a:spcAft>
                      </a:pPr>
                      <a:r>
                        <a:rPr lang="en-US" sz="2000">
                          <a:effectLst/>
                          <a:latin typeface="Times New Roman" panose="02020603050405020304" pitchFamily="18" charset="0"/>
                          <a:cs typeface="Times New Roman" panose="02020603050405020304" pitchFamily="18" charset="0"/>
                        </a:rPr>
                        <a:t>91.5</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a:effectLst/>
                          <a:latin typeface="Times New Roman" panose="02020603050405020304" pitchFamily="18" charset="0"/>
                          <a:cs typeface="Times New Roman" panose="02020603050405020304" pitchFamily="18" charset="0"/>
                        </a:rPr>
                        <a:t>91.76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a:effectLst/>
                          <a:latin typeface="Times New Roman" panose="02020603050405020304" pitchFamily="18" charset="0"/>
                          <a:cs typeface="Times New Roman" panose="02020603050405020304" pitchFamily="18" charset="0"/>
                        </a:rPr>
                        <a:t>92.32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350181867"/>
                  </a:ext>
                </a:extLst>
              </a:tr>
              <a:tr h="710159">
                <a:tc>
                  <a:txBody>
                    <a:bodyPr/>
                    <a:lstStyle/>
                    <a:p>
                      <a:pPr marL="77470" algn="ctr">
                        <a:spcBef>
                          <a:spcPts val="160"/>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2000">
                          <a:effectLst/>
                          <a:latin typeface="Times New Roman" panose="02020603050405020304" pitchFamily="18" charset="0"/>
                          <a:cs typeface="Times New Roman" panose="02020603050405020304" pitchFamily="18" charset="0"/>
                        </a:rPr>
                        <a:t>39 coefficients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lgn="ctr">
                        <a:spcBef>
                          <a:spcPts val="160"/>
                        </a:spcBef>
                        <a:spcAft>
                          <a:spcPts val="0"/>
                        </a:spcAft>
                      </a:pPr>
                      <a:r>
                        <a:rPr lang="en-US" sz="2000">
                          <a:effectLst/>
                          <a:latin typeface="Times New Roman" panose="02020603050405020304" pitchFamily="18" charset="0"/>
                          <a:cs typeface="Times New Roman" panose="02020603050405020304" pitchFamily="18" charset="0"/>
                        </a:rPr>
                        <a:t>93.64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a:effectLst/>
                          <a:latin typeface="Times New Roman" panose="02020603050405020304" pitchFamily="18" charset="0"/>
                          <a:cs typeface="Times New Roman" panose="02020603050405020304" pitchFamily="18" charset="0"/>
                        </a:rPr>
                        <a:t>91.9</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dirty="0">
                          <a:effectLst/>
                          <a:latin typeface="Times New Roman" panose="02020603050405020304" pitchFamily="18" charset="0"/>
                          <a:cs typeface="Times New Roman" panose="02020603050405020304" pitchFamily="18" charset="0"/>
                        </a:rPr>
                        <a:t>91.61</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357076430"/>
                  </a:ext>
                </a:extLst>
              </a:tr>
            </a:tbl>
          </a:graphicData>
        </a:graphic>
      </p:graphicFrame>
      <p:sp>
        <p:nvSpPr>
          <p:cNvPr id="10" name="TextBox 9">
            <a:extLst>
              <a:ext uri="{FF2B5EF4-FFF2-40B4-BE49-F238E27FC236}">
                <a16:creationId xmlns:a16="http://schemas.microsoft.com/office/drawing/2014/main" id="{DDCBF18D-D517-488D-B5F7-2CA71D4A3D22}"/>
              </a:ext>
            </a:extLst>
          </p:cNvPr>
          <p:cNvSpPr txBox="1"/>
          <p:nvPr/>
        </p:nvSpPr>
        <p:spPr>
          <a:xfrm>
            <a:off x="609600" y="1123890"/>
            <a:ext cx="7467600" cy="400110"/>
          </a:xfrm>
          <a:prstGeom prst="rect">
            <a:avLst/>
          </a:prstGeom>
          <a:noFill/>
        </p:spPr>
        <p:txBody>
          <a:bodyPr wrap="square" rtlCol="0">
            <a:spAutoFit/>
          </a:bodyPr>
          <a:lstStyle/>
          <a:p>
            <a:r>
              <a:rPr lang="en-US" sz="2000" dirty="0">
                <a:effectLst/>
                <a:latin typeface="Times New Roman" panose="02020603050405020304" pitchFamily="18" charset="0"/>
                <a:ea typeface="LM Roman 12"/>
                <a:cs typeface="Times New Roman" panose="02020603050405020304" pitchFamily="18" charset="0"/>
              </a:rPr>
              <a:t>Table</a:t>
            </a:r>
            <a:r>
              <a:rPr lang="en-US" sz="2000" dirty="0">
                <a:latin typeface="Times New Roman" panose="02020603050405020304" pitchFamily="18" charset="0"/>
                <a:ea typeface="LM Roman 12"/>
                <a:cs typeface="Times New Roman" panose="02020603050405020304" pitchFamily="18" charset="0"/>
              </a:rPr>
              <a:t> 28</a:t>
            </a:r>
            <a:r>
              <a:rPr lang="en-US" sz="2000" dirty="0">
                <a:effectLst/>
                <a:latin typeface="Times New Roman" panose="02020603050405020304" pitchFamily="18" charset="0"/>
                <a:ea typeface="LM Roman 12"/>
                <a:cs typeface="Times New Roman" panose="02020603050405020304" pitchFamily="18" charset="0"/>
              </a:rPr>
              <a:t>:Overall Accuracy of Feature Extraction using KNN algorithm</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895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34688-674B-47D3-9CC8-91A410CB5777}"/>
              </a:ext>
            </a:extLst>
          </p:cNvPr>
          <p:cNvSpPr>
            <a:spLocks noGrp="1"/>
          </p:cNvSpPr>
          <p:nvPr>
            <p:ph type="title"/>
          </p:nvPr>
        </p:nvSpPr>
        <p:spPr>
          <a:xfrm>
            <a:off x="457200" y="-152400"/>
            <a:ext cx="8229600" cy="1143000"/>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Artificial Neural Network</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9339D0C-157B-4BC9-BFAD-64B21B2A02F7}"/>
              </a:ext>
            </a:extLst>
          </p:cNvPr>
          <p:cNvSpPr>
            <a:spLocks noGrp="1"/>
          </p:cNvSpPr>
          <p:nvPr>
            <p:ph idx="1"/>
          </p:nvPr>
        </p:nvSpPr>
        <p:spPr>
          <a:xfrm>
            <a:off x="381000" y="686441"/>
            <a:ext cx="8229600" cy="4525963"/>
          </a:xfrm>
        </p:spPr>
        <p:txBody>
          <a:bodyPr/>
          <a:lstStyle/>
          <a:p>
            <a:pPr algn="just"/>
            <a:r>
              <a:rPr lang="en-US" sz="2000" b="0" i="0" u="none" strike="noStrike" baseline="0" dirty="0">
                <a:latin typeface="Times New Roman" panose="02020603050405020304" pitchFamily="18" charset="0"/>
                <a:cs typeface="Times New Roman" panose="02020603050405020304" pitchFamily="18" charset="0"/>
              </a:rPr>
              <a:t>ANN contains three layers called the Input layer, hidden layer and output layer.</a:t>
            </a:r>
            <a:r>
              <a:rPr lang="en-US" sz="2000" dirty="0">
                <a:latin typeface="Times New Roman" panose="02020603050405020304" pitchFamily="18" charset="0"/>
                <a:cs typeface="Times New Roman" panose="02020603050405020304" pitchFamily="18" charset="0"/>
              </a:rPr>
              <a:t> </a:t>
            </a:r>
          </a:p>
          <a:p>
            <a:pPr algn="just"/>
            <a:r>
              <a:rPr lang="en-US" sz="2000" b="0" i="0" u="none" strike="noStrike" baseline="0" dirty="0">
                <a:latin typeface="Times New Roman" panose="02020603050405020304" pitchFamily="18" charset="0"/>
                <a:cs typeface="Times New Roman" panose="02020603050405020304" pitchFamily="18" charset="0"/>
              </a:rPr>
              <a:t>The </a:t>
            </a:r>
            <a:r>
              <a:rPr lang="en-US" sz="2000" b="0" i="0" u="none" strike="noStrike" baseline="0" dirty="0" err="1">
                <a:latin typeface="Times New Roman" panose="02020603050405020304" pitchFamily="18" charset="0"/>
                <a:cs typeface="Times New Roman" panose="02020603050405020304" pitchFamily="18" charset="0"/>
              </a:rPr>
              <a:t>ReLU</a:t>
            </a:r>
            <a:r>
              <a:rPr lang="en-US" sz="2000" b="0" i="0" u="none" strike="noStrike" baseline="0" dirty="0">
                <a:latin typeface="Times New Roman" panose="02020603050405020304" pitchFamily="18" charset="0"/>
                <a:cs typeface="Times New Roman" panose="02020603050405020304" pitchFamily="18" charset="0"/>
              </a:rPr>
              <a:t> (Rectified Linear Unit) activation function assigns value zero if the negative and same value is positive.</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32F9AF3-67C7-4F92-B3A2-A29DFA05F5D0}"/>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2A73B3A2-FC48-4586-B8A5-252635F1A19C}"/>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5A6920BC-3D5A-459F-B458-1BEA5DEEC608}"/>
              </a:ext>
            </a:extLst>
          </p:cNvPr>
          <p:cNvSpPr>
            <a:spLocks noGrp="1"/>
          </p:cNvSpPr>
          <p:nvPr>
            <p:ph type="sldNum" sz="quarter" idx="12"/>
          </p:nvPr>
        </p:nvSpPr>
        <p:spPr/>
        <p:txBody>
          <a:bodyPr/>
          <a:lstStyle/>
          <a:p>
            <a:fld id="{B6F15528-21DE-4FAA-801E-634DDDAF4B2B}" type="slidenum">
              <a:rPr lang="en-US" smtClean="0"/>
              <a:pPr/>
              <a:t>70</a:t>
            </a:fld>
            <a:endParaRPr lang="en-US"/>
          </a:p>
        </p:txBody>
      </p:sp>
      <p:pic>
        <p:nvPicPr>
          <p:cNvPr id="7" name="image11.png">
            <a:extLst>
              <a:ext uri="{FF2B5EF4-FFF2-40B4-BE49-F238E27FC236}">
                <a16:creationId xmlns:a16="http://schemas.microsoft.com/office/drawing/2014/main" id="{AF454FCE-764C-478A-9089-A256CC57CC1B}"/>
              </a:ext>
            </a:extLst>
          </p:cNvPr>
          <p:cNvPicPr/>
          <p:nvPr/>
        </p:nvPicPr>
        <p:blipFill>
          <a:blip r:embed="rId2" cstate="print"/>
          <a:stretch>
            <a:fillRect/>
          </a:stretch>
        </p:blipFill>
        <p:spPr>
          <a:xfrm>
            <a:off x="1143000" y="2209800"/>
            <a:ext cx="6705600" cy="2909570"/>
          </a:xfrm>
          <a:prstGeom prst="rect">
            <a:avLst/>
          </a:prstGeom>
        </p:spPr>
      </p:pic>
      <p:sp>
        <p:nvSpPr>
          <p:cNvPr id="8" name="TextBox 7">
            <a:extLst>
              <a:ext uri="{FF2B5EF4-FFF2-40B4-BE49-F238E27FC236}">
                <a16:creationId xmlns:a16="http://schemas.microsoft.com/office/drawing/2014/main" id="{E5735EC8-23B4-4AA8-9047-030FE54F71BE}"/>
              </a:ext>
            </a:extLst>
          </p:cNvPr>
          <p:cNvSpPr txBox="1"/>
          <p:nvPr/>
        </p:nvSpPr>
        <p:spPr>
          <a:xfrm>
            <a:off x="685800" y="5086290"/>
            <a:ext cx="7924800" cy="400110"/>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Figure_28: Block Diagram of ANN Model</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65560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64174-A60D-4A28-96F7-C57602AF5487}"/>
              </a:ext>
            </a:extLst>
          </p:cNvPr>
          <p:cNvSpPr>
            <a:spLocks noGrp="1"/>
          </p:cNvSpPr>
          <p:nvPr>
            <p:ph type="title"/>
          </p:nvPr>
        </p:nvSpPr>
        <p:spPr>
          <a:xfrm>
            <a:off x="228600" y="-381000"/>
            <a:ext cx="8229600" cy="1143000"/>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Result of MFCC</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04E47E3-EB58-4516-857D-4D20E736EFEB}"/>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4D03A3C3-48FF-4714-96B0-2D531F25F627}"/>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3DEA8721-2AC9-4D6E-B805-F06B4BB421AB}"/>
              </a:ext>
            </a:extLst>
          </p:cNvPr>
          <p:cNvSpPr>
            <a:spLocks noGrp="1"/>
          </p:cNvSpPr>
          <p:nvPr>
            <p:ph type="sldNum" sz="quarter" idx="12"/>
          </p:nvPr>
        </p:nvSpPr>
        <p:spPr/>
        <p:txBody>
          <a:bodyPr/>
          <a:lstStyle/>
          <a:p>
            <a:fld id="{B6F15528-21DE-4FAA-801E-634DDDAF4B2B}" type="slidenum">
              <a:rPr lang="en-US" smtClean="0"/>
              <a:pPr/>
              <a:t>71</a:t>
            </a:fld>
            <a:endParaRPr lang="en-US"/>
          </a:p>
        </p:txBody>
      </p:sp>
      <p:pic>
        <p:nvPicPr>
          <p:cNvPr id="7" name="image14.jpeg">
            <a:extLst>
              <a:ext uri="{FF2B5EF4-FFF2-40B4-BE49-F238E27FC236}">
                <a16:creationId xmlns:a16="http://schemas.microsoft.com/office/drawing/2014/main" id="{CB789C88-D9DA-4BD3-82BC-6454328A457D}"/>
              </a:ext>
            </a:extLst>
          </p:cNvPr>
          <p:cNvPicPr/>
          <p:nvPr/>
        </p:nvPicPr>
        <p:blipFill>
          <a:blip r:embed="rId2" cstate="print"/>
          <a:stretch>
            <a:fillRect/>
          </a:stretch>
        </p:blipFill>
        <p:spPr>
          <a:xfrm>
            <a:off x="457200" y="457199"/>
            <a:ext cx="3657600" cy="1990793"/>
          </a:xfrm>
          <a:prstGeom prst="rect">
            <a:avLst/>
          </a:prstGeom>
        </p:spPr>
      </p:pic>
      <p:pic>
        <p:nvPicPr>
          <p:cNvPr id="8" name="image15.jpeg">
            <a:extLst>
              <a:ext uri="{FF2B5EF4-FFF2-40B4-BE49-F238E27FC236}">
                <a16:creationId xmlns:a16="http://schemas.microsoft.com/office/drawing/2014/main" id="{58755030-7D5C-4C25-83D0-CD3D9FD68E77}"/>
              </a:ext>
            </a:extLst>
          </p:cNvPr>
          <p:cNvPicPr/>
          <p:nvPr/>
        </p:nvPicPr>
        <p:blipFill>
          <a:blip r:embed="rId3" cstate="print"/>
          <a:stretch>
            <a:fillRect/>
          </a:stretch>
        </p:blipFill>
        <p:spPr>
          <a:xfrm>
            <a:off x="4495800" y="457200"/>
            <a:ext cx="3657600" cy="1990792"/>
          </a:xfrm>
          <a:prstGeom prst="rect">
            <a:avLst/>
          </a:prstGeom>
        </p:spPr>
      </p:pic>
      <p:sp>
        <p:nvSpPr>
          <p:cNvPr id="9" name="TextBox 8">
            <a:extLst>
              <a:ext uri="{FF2B5EF4-FFF2-40B4-BE49-F238E27FC236}">
                <a16:creationId xmlns:a16="http://schemas.microsoft.com/office/drawing/2014/main" id="{8C979D48-CCC2-48AC-BB6D-EF0E12D06F98}"/>
              </a:ext>
            </a:extLst>
          </p:cNvPr>
          <p:cNvSpPr txBox="1"/>
          <p:nvPr/>
        </p:nvSpPr>
        <p:spPr>
          <a:xfrm>
            <a:off x="609600" y="2450068"/>
            <a:ext cx="7696200" cy="369332"/>
          </a:xfrm>
          <a:prstGeom prst="rect">
            <a:avLst/>
          </a:prstGeom>
          <a:noFill/>
        </p:spPr>
        <p:txBody>
          <a:bodyPr wrap="square" rtlCol="0">
            <a:spAutoFit/>
          </a:bodyPr>
          <a:lstStyle/>
          <a:p>
            <a:pPr algn="ctr"/>
            <a:r>
              <a:rPr lang="en-US" sz="1800" dirty="0">
                <a:effectLst/>
                <a:latin typeface="LM Roman 12"/>
                <a:ea typeface="LM Roman 12"/>
                <a:cs typeface="LM Roman 12"/>
              </a:rPr>
              <a:t>Figure </a:t>
            </a:r>
            <a:r>
              <a:rPr lang="en-US" dirty="0">
                <a:latin typeface="LM Roman 12"/>
                <a:ea typeface="LM Roman 12"/>
                <a:cs typeface="LM Roman 12"/>
              </a:rPr>
              <a:t>29</a:t>
            </a:r>
            <a:r>
              <a:rPr lang="en-US" sz="1800" dirty="0">
                <a:effectLst/>
                <a:latin typeface="LM Roman 12"/>
                <a:ea typeface="LM Roman 12"/>
                <a:cs typeface="LM Roman 12"/>
              </a:rPr>
              <a:t>:Training and Validation Accuracy and loss of 13 MFCC coefficients</a:t>
            </a:r>
            <a:endParaRPr lang="en-IN" dirty="0"/>
          </a:p>
        </p:txBody>
      </p:sp>
      <p:pic>
        <p:nvPicPr>
          <p:cNvPr id="10" name="image16.png">
            <a:extLst>
              <a:ext uri="{FF2B5EF4-FFF2-40B4-BE49-F238E27FC236}">
                <a16:creationId xmlns:a16="http://schemas.microsoft.com/office/drawing/2014/main" id="{07D29254-ED85-4C18-A687-059E4D7763D3}"/>
              </a:ext>
            </a:extLst>
          </p:cNvPr>
          <p:cNvPicPr/>
          <p:nvPr/>
        </p:nvPicPr>
        <p:blipFill>
          <a:blip r:embed="rId4" cstate="print"/>
          <a:stretch>
            <a:fillRect/>
          </a:stretch>
        </p:blipFill>
        <p:spPr>
          <a:xfrm>
            <a:off x="609600" y="2928620"/>
            <a:ext cx="7543800" cy="2024380"/>
          </a:xfrm>
          <a:prstGeom prst="rect">
            <a:avLst/>
          </a:prstGeom>
        </p:spPr>
      </p:pic>
      <p:sp>
        <p:nvSpPr>
          <p:cNvPr id="11" name="TextBox 10">
            <a:extLst>
              <a:ext uri="{FF2B5EF4-FFF2-40B4-BE49-F238E27FC236}">
                <a16:creationId xmlns:a16="http://schemas.microsoft.com/office/drawing/2014/main" id="{AEEBBF87-2F61-4E68-A6EB-571C84C9F269}"/>
              </a:ext>
            </a:extLst>
          </p:cNvPr>
          <p:cNvSpPr txBox="1"/>
          <p:nvPr/>
        </p:nvSpPr>
        <p:spPr>
          <a:xfrm>
            <a:off x="762000" y="5040868"/>
            <a:ext cx="7696200" cy="369332"/>
          </a:xfrm>
          <a:prstGeom prst="rect">
            <a:avLst/>
          </a:prstGeom>
          <a:noFill/>
        </p:spPr>
        <p:txBody>
          <a:bodyPr wrap="square" rtlCol="0">
            <a:spAutoFit/>
          </a:bodyPr>
          <a:lstStyle/>
          <a:p>
            <a:pPr algn="ctr"/>
            <a:r>
              <a:rPr lang="en-US" sz="1800" dirty="0">
                <a:effectLst/>
                <a:latin typeface="LM Roman 12"/>
                <a:ea typeface="LM Roman 12"/>
                <a:cs typeface="LM Roman 12"/>
              </a:rPr>
              <a:t>Figure </a:t>
            </a:r>
            <a:r>
              <a:rPr lang="en-US" dirty="0">
                <a:latin typeface="LM Roman 12"/>
                <a:ea typeface="LM Roman 12"/>
                <a:cs typeface="LM Roman 12"/>
              </a:rPr>
              <a:t>30</a:t>
            </a:r>
            <a:r>
              <a:rPr lang="en-US" sz="1800" dirty="0">
                <a:effectLst/>
                <a:latin typeface="LM Roman 12"/>
                <a:ea typeface="LM Roman 12"/>
                <a:cs typeface="LM Roman 12"/>
              </a:rPr>
              <a:t>:Training and Validation Accuracy and loss of 26 MFCC coefficients</a:t>
            </a:r>
            <a:endParaRPr lang="en-IN" dirty="0"/>
          </a:p>
        </p:txBody>
      </p:sp>
    </p:spTree>
    <p:extLst>
      <p:ext uri="{BB962C8B-B14F-4D97-AF65-F5344CB8AC3E}">
        <p14:creationId xmlns:p14="http://schemas.microsoft.com/office/powerpoint/2010/main" val="10880683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ACB4362-D7AF-46DC-9078-BC6DD843E7E7}"/>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B7E983A6-C2D8-40B0-A8DF-D5391E76624E}"/>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D59FB423-84CB-4D65-906E-55AEB66BD588}"/>
              </a:ext>
            </a:extLst>
          </p:cNvPr>
          <p:cNvSpPr>
            <a:spLocks noGrp="1"/>
          </p:cNvSpPr>
          <p:nvPr>
            <p:ph type="sldNum" sz="quarter" idx="12"/>
          </p:nvPr>
        </p:nvSpPr>
        <p:spPr/>
        <p:txBody>
          <a:bodyPr/>
          <a:lstStyle/>
          <a:p>
            <a:fld id="{B6F15528-21DE-4FAA-801E-634DDDAF4B2B}" type="slidenum">
              <a:rPr lang="en-US" smtClean="0"/>
              <a:pPr/>
              <a:t>72</a:t>
            </a:fld>
            <a:endParaRPr lang="en-US"/>
          </a:p>
        </p:txBody>
      </p:sp>
      <p:sp>
        <p:nvSpPr>
          <p:cNvPr id="7" name="Rectangle 4">
            <a:extLst>
              <a:ext uri="{FF2B5EF4-FFF2-40B4-BE49-F238E27FC236}">
                <a16:creationId xmlns:a16="http://schemas.microsoft.com/office/drawing/2014/main" id="{4FD2D0DB-1C95-4599-8D7B-1D9EF2EE0A22}"/>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8" name="Group 1">
            <a:extLst>
              <a:ext uri="{FF2B5EF4-FFF2-40B4-BE49-F238E27FC236}">
                <a16:creationId xmlns:a16="http://schemas.microsoft.com/office/drawing/2014/main" id="{27424470-243C-4551-87F7-71640CB34B76}"/>
              </a:ext>
            </a:extLst>
          </p:cNvPr>
          <p:cNvGrpSpPr>
            <a:grpSpLocks/>
          </p:cNvGrpSpPr>
          <p:nvPr/>
        </p:nvGrpSpPr>
        <p:grpSpPr bwMode="auto">
          <a:xfrm>
            <a:off x="381000" y="228600"/>
            <a:ext cx="8077200" cy="2133589"/>
            <a:chOff x="0" y="0"/>
            <a:chExt cx="8115" cy="2730"/>
          </a:xfrm>
        </p:grpSpPr>
        <p:pic>
          <p:nvPicPr>
            <p:cNvPr id="19459" name="Picture 3">
              <a:extLst>
                <a:ext uri="{FF2B5EF4-FFF2-40B4-BE49-F238E27FC236}">
                  <a16:creationId xmlns:a16="http://schemas.microsoft.com/office/drawing/2014/main" id="{60257F1F-6C5F-4685-93E7-DA117A950B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079" cy="2719"/>
            </a:xfrm>
            <a:prstGeom prst="rect">
              <a:avLst/>
            </a:prstGeom>
            <a:noFill/>
            <a:extLst>
              <a:ext uri="{909E8E84-426E-40DD-AFC4-6F175D3DCCD1}">
                <a14:hiddenFill xmlns:a14="http://schemas.microsoft.com/office/drawing/2010/main">
                  <a:solidFill>
                    <a:srgbClr val="FFFFFF"/>
                  </a:solidFill>
                </a14:hiddenFill>
              </a:ext>
            </a:extLst>
          </p:spPr>
        </p:pic>
        <p:pic>
          <p:nvPicPr>
            <p:cNvPr id="19458" name="Picture 2">
              <a:extLst>
                <a:ext uri="{FF2B5EF4-FFF2-40B4-BE49-F238E27FC236}">
                  <a16:creationId xmlns:a16="http://schemas.microsoft.com/office/drawing/2014/main" id="{59B50D8B-31D0-494D-9BFA-086196F913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8" y="38"/>
              <a:ext cx="4037" cy="2691"/>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Rectangle 5">
            <a:extLst>
              <a:ext uri="{FF2B5EF4-FFF2-40B4-BE49-F238E27FC236}">
                <a16:creationId xmlns:a16="http://schemas.microsoft.com/office/drawing/2014/main" id="{1543A287-67AA-4491-A761-ADA0AD2E13EE}"/>
              </a:ext>
            </a:extLst>
          </p:cNvPr>
          <p:cNvSpPr>
            <a:spLocks noChangeArrowheads="1"/>
          </p:cNvSpPr>
          <p:nvPr/>
        </p:nvSpPr>
        <p:spPr bwMode="auto">
          <a:xfrm>
            <a:off x="179388" y="2190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TextBox 9">
            <a:extLst>
              <a:ext uri="{FF2B5EF4-FFF2-40B4-BE49-F238E27FC236}">
                <a16:creationId xmlns:a16="http://schemas.microsoft.com/office/drawing/2014/main" id="{3C33397C-2AB2-46AD-ACD1-75AD63F09599}"/>
              </a:ext>
            </a:extLst>
          </p:cNvPr>
          <p:cNvSpPr txBox="1"/>
          <p:nvPr/>
        </p:nvSpPr>
        <p:spPr>
          <a:xfrm>
            <a:off x="457200" y="2514601"/>
            <a:ext cx="81534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a:t>
            </a:r>
            <a:r>
              <a:rPr lang="en-US" sz="2000" dirty="0">
                <a:latin typeface="Times New Roman" panose="02020603050405020304" pitchFamily="18" charset="0"/>
                <a:ea typeface="LM Roman 12"/>
                <a:cs typeface="Times New Roman" panose="02020603050405020304" pitchFamily="18" charset="0"/>
              </a:rPr>
              <a:t>31</a:t>
            </a:r>
            <a:r>
              <a:rPr lang="en-US" sz="2000" dirty="0">
                <a:effectLst/>
                <a:latin typeface="Times New Roman" panose="02020603050405020304" pitchFamily="18" charset="0"/>
                <a:ea typeface="LM Roman 12"/>
                <a:cs typeface="Times New Roman" panose="02020603050405020304" pitchFamily="18" charset="0"/>
              </a:rPr>
              <a:t>:Training and Validation Accuracy and loss of 39 MFCC coefficients</a:t>
            </a:r>
            <a:endParaRPr lang="en-IN" sz="2000" dirty="0">
              <a:latin typeface="Times New Roman" panose="02020603050405020304" pitchFamily="18" charset="0"/>
              <a:cs typeface="Times New Roman" panose="02020603050405020304" pitchFamily="18" charset="0"/>
            </a:endParaRPr>
          </a:p>
        </p:txBody>
      </p:sp>
      <p:pic>
        <p:nvPicPr>
          <p:cNvPr id="13" name="image19.png">
            <a:extLst>
              <a:ext uri="{FF2B5EF4-FFF2-40B4-BE49-F238E27FC236}">
                <a16:creationId xmlns:a16="http://schemas.microsoft.com/office/drawing/2014/main" id="{276FA7D4-9A27-4B82-B8B6-C52E020AAD44}"/>
              </a:ext>
            </a:extLst>
          </p:cNvPr>
          <p:cNvPicPr/>
          <p:nvPr/>
        </p:nvPicPr>
        <p:blipFill>
          <a:blip r:embed="rId4" cstate="print"/>
          <a:stretch>
            <a:fillRect/>
          </a:stretch>
        </p:blipFill>
        <p:spPr>
          <a:xfrm>
            <a:off x="457200" y="3075719"/>
            <a:ext cx="8001000" cy="2008495"/>
          </a:xfrm>
          <a:prstGeom prst="rect">
            <a:avLst/>
          </a:prstGeom>
        </p:spPr>
      </p:pic>
      <p:sp>
        <p:nvSpPr>
          <p:cNvPr id="14" name="TextBox 13">
            <a:extLst>
              <a:ext uri="{FF2B5EF4-FFF2-40B4-BE49-F238E27FC236}">
                <a16:creationId xmlns:a16="http://schemas.microsoft.com/office/drawing/2014/main" id="{51AFE1F5-50F4-4D7D-BC48-5C26935F8868}"/>
              </a:ext>
            </a:extLst>
          </p:cNvPr>
          <p:cNvSpPr txBox="1"/>
          <p:nvPr/>
        </p:nvSpPr>
        <p:spPr>
          <a:xfrm>
            <a:off x="609600" y="5086290"/>
            <a:ext cx="81534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a:t>
            </a:r>
            <a:r>
              <a:rPr lang="en-US" sz="2000" dirty="0">
                <a:latin typeface="Times New Roman" panose="02020603050405020304" pitchFamily="18" charset="0"/>
                <a:ea typeface="LM Roman 12"/>
                <a:cs typeface="Times New Roman" panose="02020603050405020304" pitchFamily="18" charset="0"/>
              </a:rPr>
              <a:t>32</a:t>
            </a:r>
            <a:r>
              <a:rPr lang="en-US" sz="2000" dirty="0">
                <a:effectLst/>
                <a:latin typeface="Times New Roman" panose="02020603050405020304" pitchFamily="18" charset="0"/>
                <a:ea typeface="LM Roman 12"/>
                <a:cs typeface="Times New Roman" panose="02020603050405020304" pitchFamily="18" charset="0"/>
              </a:rPr>
              <a:t>:Training and Validation Accuracy and loss of 27 MFCC coefficients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59054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64174-A60D-4A28-96F7-C57602AF5487}"/>
              </a:ext>
            </a:extLst>
          </p:cNvPr>
          <p:cNvSpPr>
            <a:spLocks noGrp="1"/>
          </p:cNvSpPr>
          <p:nvPr>
            <p:ph type="title"/>
          </p:nvPr>
        </p:nvSpPr>
        <p:spPr>
          <a:xfrm>
            <a:off x="228600" y="-381000"/>
            <a:ext cx="8229600" cy="1143000"/>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Result of LFCC</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04E47E3-EB58-4516-857D-4D20E736EFEB}"/>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4D03A3C3-48FF-4714-96B0-2D531F25F627}"/>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3DEA8721-2AC9-4D6E-B805-F06B4BB421AB}"/>
              </a:ext>
            </a:extLst>
          </p:cNvPr>
          <p:cNvSpPr>
            <a:spLocks noGrp="1"/>
          </p:cNvSpPr>
          <p:nvPr>
            <p:ph type="sldNum" sz="quarter" idx="12"/>
          </p:nvPr>
        </p:nvSpPr>
        <p:spPr/>
        <p:txBody>
          <a:bodyPr/>
          <a:lstStyle/>
          <a:p>
            <a:fld id="{B6F15528-21DE-4FAA-801E-634DDDAF4B2B}" type="slidenum">
              <a:rPr lang="en-US" smtClean="0"/>
              <a:pPr/>
              <a:t>73</a:t>
            </a:fld>
            <a:endParaRPr lang="en-US"/>
          </a:p>
        </p:txBody>
      </p:sp>
      <p:sp>
        <p:nvSpPr>
          <p:cNvPr id="9" name="TextBox 8">
            <a:extLst>
              <a:ext uri="{FF2B5EF4-FFF2-40B4-BE49-F238E27FC236}">
                <a16:creationId xmlns:a16="http://schemas.microsoft.com/office/drawing/2014/main" id="{8C979D48-CCC2-48AC-BB6D-EF0E12D06F98}"/>
              </a:ext>
            </a:extLst>
          </p:cNvPr>
          <p:cNvSpPr txBox="1"/>
          <p:nvPr/>
        </p:nvSpPr>
        <p:spPr>
          <a:xfrm>
            <a:off x="228600" y="2450068"/>
            <a:ext cx="80772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a:t>
            </a:r>
            <a:r>
              <a:rPr lang="en-US" sz="2000" dirty="0">
                <a:latin typeface="Times New Roman" panose="02020603050405020304" pitchFamily="18" charset="0"/>
                <a:ea typeface="LM Roman 12"/>
                <a:cs typeface="Times New Roman" panose="02020603050405020304" pitchFamily="18" charset="0"/>
              </a:rPr>
              <a:t>33</a:t>
            </a:r>
            <a:r>
              <a:rPr lang="en-US" sz="2000" dirty="0">
                <a:effectLst/>
                <a:latin typeface="Times New Roman" panose="02020603050405020304" pitchFamily="18" charset="0"/>
                <a:ea typeface="LM Roman 12"/>
                <a:cs typeface="Times New Roman" panose="02020603050405020304" pitchFamily="18" charset="0"/>
              </a:rPr>
              <a:t>:Training and Validation Accuracy and loss of 13 LFCC coefficients</a:t>
            </a:r>
            <a:endParaRPr lang="en-IN"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EEBBF87-2F61-4E68-A6EB-571C84C9F269}"/>
              </a:ext>
            </a:extLst>
          </p:cNvPr>
          <p:cNvSpPr txBox="1"/>
          <p:nvPr/>
        </p:nvSpPr>
        <p:spPr>
          <a:xfrm>
            <a:off x="228600" y="5040868"/>
            <a:ext cx="82296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a:t>
            </a:r>
            <a:r>
              <a:rPr lang="en-US" sz="2000" dirty="0">
                <a:latin typeface="Times New Roman" panose="02020603050405020304" pitchFamily="18" charset="0"/>
                <a:ea typeface="LM Roman 12"/>
                <a:cs typeface="Times New Roman" panose="02020603050405020304" pitchFamily="18" charset="0"/>
              </a:rPr>
              <a:t>34</a:t>
            </a:r>
            <a:r>
              <a:rPr lang="en-US" sz="2000" dirty="0">
                <a:effectLst/>
                <a:latin typeface="Times New Roman" panose="02020603050405020304" pitchFamily="18" charset="0"/>
                <a:ea typeface="LM Roman 12"/>
                <a:cs typeface="Times New Roman" panose="02020603050405020304" pitchFamily="18" charset="0"/>
              </a:rPr>
              <a:t>:Training and Validation Accuracy and loss of 26 LFCC coefficients</a:t>
            </a:r>
            <a:endParaRPr lang="en-IN" sz="2000" dirty="0">
              <a:latin typeface="Times New Roman" panose="02020603050405020304" pitchFamily="18" charset="0"/>
              <a:cs typeface="Times New Roman" panose="02020603050405020304" pitchFamily="18" charset="0"/>
            </a:endParaRPr>
          </a:p>
        </p:txBody>
      </p:sp>
      <p:pic>
        <p:nvPicPr>
          <p:cNvPr id="13" name="image20.jpeg">
            <a:extLst>
              <a:ext uri="{FF2B5EF4-FFF2-40B4-BE49-F238E27FC236}">
                <a16:creationId xmlns:a16="http://schemas.microsoft.com/office/drawing/2014/main" id="{7D47A179-D36E-41B7-80DE-847746014D98}"/>
              </a:ext>
            </a:extLst>
          </p:cNvPr>
          <p:cNvPicPr/>
          <p:nvPr/>
        </p:nvPicPr>
        <p:blipFill>
          <a:blip r:embed="rId2" cstate="print"/>
          <a:stretch>
            <a:fillRect/>
          </a:stretch>
        </p:blipFill>
        <p:spPr>
          <a:xfrm>
            <a:off x="762000" y="614045"/>
            <a:ext cx="3581400" cy="1801351"/>
          </a:xfrm>
          <a:prstGeom prst="rect">
            <a:avLst/>
          </a:prstGeom>
        </p:spPr>
      </p:pic>
      <p:pic>
        <p:nvPicPr>
          <p:cNvPr id="14" name="image21.jpeg">
            <a:extLst>
              <a:ext uri="{FF2B5EF4-FFF2-40B4-BE49-F238E27FC236}">
                <a16:creationId xmlns:a16="http://schemas.microsoft.com/office/drawing/2014/main" id="{7B82A634-29F6-4F9A-863A-8893CCC7446F}"/>
              </a:ext>
            </a:extLst>
          </p:cNvPr>
          <p:cNvPicPr/>
          <p:nvPr/>
        </p:nvPicPr>
        <p:blipFill>
          <a:blip r:embed="rId3" cstate="print"/>
          <a:stretch>
            <a:fillRect/>
          </a:stretch>
        </p:blipFill>
        <p:spPr>
          <a:xfrm>
            <a:off x="4495800" y="672860"/>
            <a:ext cx="3657600" cy="1621766"/>
          </a:xfrm>
          <a:prstGeom prst="rect">
            <a:avLst/>
          </a:prstGeom>
        </p:spPr>
      </p:pic>
      <p:pic>
        <p:nvPicPr>
          <p:cNvPr id="15" name="image22.png">
            <a:extLst>
              <a:ext uri="{FF2B5EF4-FFF2-40B4-BE49-F238E27FC236}">
                <a16:creationId xmlns:a16="http://schemas.microsoft.com/office/drawing/2014/main" id="{4AC3F683-35EF-4742-BC93-61777FFD653A}"/>
              </a:ext>
            </a:extLst>
          </p:cNvPr>
          <p:cNvPicPr/>
          <p:nvPr/>
        </p:nvPicPr>
        <p:blipFill>
          <a:blip r:embed="rId4" cstate="print"/>
          <a:stretch>
            <a:fillRect/>
          </a:stretch>
        </p:blipFill>
        <p:spPr>
          <a:xfrm>
            <a:off x="762000" y="2983468"/>
            <a:ext cx="7391400" cy="2055325"/>
          </a:xfrm>
          <a:prstGeom prst="rect">
            <a:avLst/>
          </a:prstGeom>
        </p:spPr>
      </p:pic>
    </p:spTree>
    <p:extLst>
      <p:ext uri="{BB962C8B-B14F-4D97-AF65-F5344CB8AC3E}">
        <p14:creationId xmlns:p14="http://schemas.microsoft.com/office/powerpoint/2010/main" val="9556505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ACB4362-D7AF-46DC-9078-BC6DD843E7E7}"/>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B7E983A6-C2D8-40B0-A8DF-D5391E76624E}"/>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D59FB423-84CB-4D65-906E-55AEB66BD588}"/>
              </a:ext>
            </a:extLst>
          </p:cNvPr>
          <p:cNvSpPr>
            <a:spLocks noGrp="1"/>
          </p:cNvSpPr>
          <p:nvPr>
            <p:ph type="sldNum" sz="quarter" idx="12"/>
          </p:nvPr>
        </p:nvSpPr>
        <p:spPr/>
        <p:txBody>
          <a:bodyPr/>
          <a:lstStyle/>
          <a:p>
            <a:fld id="{B6F15528-21DE-4FAA-801E-634DDDAF4B2B}" type="slidenum">
              <a:rPr lang="en-US" smtClean="0"/>
              <a:pPr/>
              <a:t>74</a:t>
            </a:fld>
            <a:endParaRPr lang="en-US"/>
          </a:p>
        </p:txBody>
      </p:sp>
      <p:sp>
        <p:nvSpPr>
          <p:cNvPr id="7" name="Rectangle 4">
            <a:extLst>
              <a:ext uri="{FF2B5EF4-FFF2-40B4-BE49-F238E27FC236}">
                <a16:creationId xmlns:a16="http://schemas.microsoft.com/office/drawing/2014/main" id="{4FD2D0DB-1C95-4599-8D7B-1D9EF2EE0A22}"/>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9" name="Rectangle 5">
            <a:extLst>
              <a:ext uri="{FF2B5EF4-FFF2-40B4-BE49-F238E27FC236}">
                <a16:creationId xmlns:a16="http://schemas.microsoft.com/office/drawing/2014/main" id="{1543A287-67AA-4491-A761-ADA0AD2E13EE}"/>
              </a:ext>
            </a:extLst>
          </p:cNvPr>
          <p:cNvSpPr>
            <a:spLocks noChangeArrowheads="1"/>
          </p:cNvSpPr>
          <p:nvPr/>
        </p:nvSpPr>
        <p:spPr bwMode="auto">
          <a:xfrm>
            <a:off x="179388" y="2190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TextBox 9">
            <a:extLst>
              <a:ext uri="{FF2B5EF4-FFF2-40B4-BE49-F238E27FC236}">
                <a16:creationId xmlns:a16="http://schemas.microsoft.com/office/drawing/2014/main" id="{3C33397C-2AB2-46AD-ACD1-75AD63F09599}"/>
              </a:ext>
            </a:extLst>
          </p:cNvPr>
          <p:cNvSpPr txBox="1"/>
          <p:nvPr/>
        </p:nvSpPr>
        <p:spPr>
          <a:xfrm>
            <a:off x="457200" y="2514601"/>
            <a:ext cx="81534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a:t>
            </a:r>
            <a:r>
              <a:rPr lang="en-US" sz="2000" dirty="0">
                <a:latin typeface="Times New Roman" panose="02020603050405020304" pitchFamily="18" charset="0"/>
                <a:ea typeface="LM Roman 12"/>
                <a:cs typeface="Times New Roman" panose="02020603050405020304" pitchFamily="18" charset="0"/>
              </a:rPr>
              <a:t>35</a:t>
            </a:r>
            <a:r>
              <a:rPr lang="en-US" sz="2000" dirty="0">
                <a:effectLst/>
                <a:latin typeface="Times New Roman" panose="02020603050405020304" pitchFamily="18" charset="0"/>
                <a:ea typeface="LM Roman 12"/>
                <a:cs typeface="Times New Roman" panose="02020603050405020304" pitchFamily="18" charset="0"/>
              </a:rPr>
              <a:t>:Training and Validation Accuracy and loss of 39 LFCC coefficients</a:t>
            </a:r>
            <a:endParaRPr lang="en-IN" sz="2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51AFE1F5-50F4-4D7D-BC48-5C26935F8868}"/>
              </a:ext>
            </a:extLst>
          </p:cNvPr>
          <p:cNvSpPr txBox="1"/>
          <p:nvPr/>
        </p:nvSpPr>
        <p:spPr>
          <a:xfrm>
            <a:off x="609600" y="5086290"/>
            <a:ext cx="81534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a:t>
            </a:r>
            <a:r>
              <a:rPr lang="en-US" sz="2000" dirty="0">
                <a:latin typeface="Times New Roman" panose="02020603050405020304" pitchFamily="18" charset="0"/>
                <a:ea typeface="LM Roman 12"/>
                <a:cs typeface="Times New Roman" panose="02020603050405020304" pitchFamily="18" charset="0"/>
              </a:rPr>
              <a:t>36</a:t>
            </a:r>
            <a:r>
              <a:rPr lang="en-US" sz="2000" dirty="0">
                <a:effectLst/>
                <a:latin typeface="Times New Roman" panose="02020603050405020304" pitchFamily="18" charset="0"/>
                <a:ea typeface="LM Roman 12"/>
                <a:cs typeface="Times New Roman" panose="02020603050405020304" pitchFamily="18" charset="0"/>
              </a:rPr>
              <a:t>:Training and Validation Accuracy and loss of 27 LFCC coefficients</a:t>
            </a:r>
            <a:endParaRPr lang="en-IN" sz="2000" dirty="0">
              <a:latin typeface="Times New Roman" panose="02020603050405020304" pitchFamily="18" charset="0"/>
              <a:cs typeface="Times New Roman" panose="02020603050405020304" pitchFamily="18" charset="0"/>
            </a:endParaRPr>
          </a:p>
        </p:txBody>
      </p:sp>
      <p:pic>
        <p:nvPicPr>
          <p:cNvPr id="15" name="image23.jpeg">
            <a:extLst>
              <a:ext uri="{FF2B5EF4-FFF2-40B4-BE49-F238E27FC236}">
                <a16:creationId xmlns:a16="http://schemas.microsoft.com/office/drawing/2014/main" id="{B580E2EF-35A7-4090-93B0-EFBA6F34F72D}"/>
              </a:ext>
            </a:extLst>
          </p:cNvPr>
          <p:cNvPicPr/>
          <p:nvPr/>
        </p:nvPicPr>
        <p:blipFill>
          <a:blip r:embed="rId2" cstate="print"/>
          <a:stretch>
            <a:fillRect/>
          </a:stretch>
        </p:blipFill>
        <p:spPr>
          <a:xfrm>
            <a:off x="609600" y="257677"/>
            <a:ext cx="3733800" cy="2094070"/>
          </a:xfrm>
          <a:prstGeom prst="rect">
            <a:avLst/>
          </a:prstGeom>
        </p:spPr>
      </p:pic>
      <p:pic>
        <p:nvPicPr>
          <p:cNvPr id="16" name="image24.jpeg">
            <a:extLst>
              <a:ext uri="{FF2B5EF4-FFF2-40B4-BE49-F238E27FC236}">
                <a16:creationId xmlns:a16="http://schemas.microsoft.com/office/drawing/2014/main" id="{87AB21EC-D128-4F0F-BB09-CAE36905D4D7}"/>
              </a:ext>
            </a:extLst>
          </p:cNvPr>
          <p:cNvPicPr/>
          <p:nvPr/>
        </p:nvPicPr>
        <p:blipFill>
          <a:blip r:embed="rId3" cstate="print"/>
          <a:stretch>
            <a:fillRect/>
          </a:stretch>
        </p:blipFill>
        <p:spPr>
          <a:xfrm>
            <a:off x="4724400" y="274955"/>
            <a:ext cx="3505200" cy="2076791"/>
          </a:xfrm>
          <a:prstGeom prst="rect">
            <a:avLst/>
          </a:prstGeom>
        </p:spPr>
      </p:pic>
      <p:pic>
        <p:nvPicPr>
          <p:cNvPr id="17" name="image25.png">
            <a:extLst>
              <a:ext uri="{FF2B5EF4-FFF2-40B4-BE49-F238E27FC236}">
                <a16:creationId xmlns:a16="http://schemas.microsoft.com/office/drawing/2014/main" id="{1921551E-9AC7-4596-9281-305D3DB0B1A2}"/>
              </a:ext>
            </a:extLst>
          </p:cNvPr>
          <p:cNvPicPr/>
          <p:nvPr/>
        </p:nvPicPr>
        <p:blipFill>
          <a:blip r:embed="rId4" cstate="print"/>
          <a:stretch>
            <a:fillRect/>
          </a:stretch>
        </p:blipFill>
        <p:spPr>
          <a:xfrm>
            <a:off x="685800" y="3004819"/>
            <a:ext cx="7543800" cy="2079395"/>
          </a:xfrm>
          <a:prstGeom prst="rect">
            <a:avLst/>
          </a:prstGeom>
        </p:spPr>
      </p:pic>
    </p:spTree>
    <p:extLst>
      <p:ext uri="{BB962C8B-B14F-4D97-AF65-F5344CB8AC3E}">
        <p14:creationId xmlns:p14="http://schemas.microsoft.com/office/powerpoint/2010/main" val="20495193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64174-A60D-4A28-96F7-C57602AF5487}"/>
              </a:ext>
            </a:extLst>
          </p:cNvPr>
          <p:cNvSpPr>
            <a:spLocks noGrp="1"/>
          </p:cNvSpPr>
          <p:nvPr>
            <p:ph type="title"/>
          </p:nvPr>
        </p:nvSpPr>
        <p:spPr>
          <a:xfrm>
            <a:off x="228600" y="-381000"/>
            <a:ext cx="8229600" cy="1143000"/>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Result of GFCC</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04E47E3-EB58-4516-857D-4D20E736EFEB}"/>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4D03A3C3-48FF-4714-96B0-2D531F25F627}"/>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3DEA8721-2AC9-4D6E-B805-F06B4BB421AB}"/>
              </a:ext>
            </a:extLst>
          </p:cNvPr>
          <p:cNvSpPr>
            <a:spLocks noGrp="1"/>
          </p:cNvSpPr>
          <p:nvPr>
            <p:ph type="sldNum" sz="quarter" idx="12"/>
          </p:nvPr>
        </p:nvSpPr>
        <p:spPr/>
        <p:txBody>
          <a:bodyPr/>
          <a:lstStyle/>
          <a:p>
            <a:fld id="{B6F15528-21DE-4FAA-801E-634DDDAF4B2B}" type="slidenum">
              <a:rPr lang="en-US" smtClean="0"/>
              <a:pPr/>
              <a:t>75</a:t>
            </a:fld>
            <a:endParaRPr lang="en-US"/>
          </a:p>
        </p:txBody>
      </p:sp>
      <p:sp>
        <p:nvSpPr>
          <p:cNvPr id="9" name="TextBox 8">
            <a:extLst>
              <a:ext uri="{FF2B5EF4-FFF2-40B4-BE49-F238E27FC236}">
                <a16:creationId xmlns:a16="http://schemas.microsoft.com/office/drawing/2014/main" id="{8C979D48-CCC2-48AC-BB6D-EF0E12D06F98}"/>
              </a:ext>
            </a:extLst>
          </p:cNvPr>
          <p:cNvSpPr txBox="1"/>
          <p:nvPr/>
        </p:nvSpPr>
        <p:spPr>
          <a:xfrm>
            <a:off x="228600" y="2450068"/>
            <a:ext cx="83820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37</a:t>
            </a:r>
            <a:r>
              <a:rPr lang="en-US" sz="2000" dirty="0">
                <a:latin typeface="Times New Roman" panose="02020603050405020304" pitchFamily="18" charset="0"/>
                <a:ea typeface="LM Roman 12"/>
                <a:cs typeface="Times New Roman" panose="02020603050405020304" pitchFamily="18" charset="0"/>
              </a:rPr>
              <a:t>:</a:t>
            </a:r>
            <a:r>
              <a:rPr lang="en-US" sz="2000" dirty="0">
                <a:effectLst/>
                <a:latin typeface="Times New Roman" panose="02020603050405020304" pitchFamily="18" charset="0"/>
                <a:ea typeface="LM Roman 12"/>
                <a:cs typeface="Times New Roman" panose="02020603050405020304" pitchFamily="18" charset="0"/>
              </a:rPr>
              <a:t>Training and Validation Accuracy and loss of 13 GFCC coefficients</a:t>
            </a:r>
            <a:endParaRPr lang="en-IN"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EEBBF87-2F61-4E68-A6EB-571C84C9F269}"/>
              </a:ext>
            </a:extLst>
          </p:cNvPr>
          <p:cNvSpPr txBox="1"/>
          <p:nvPr/>
        </p:nvSpPr>
        <p:spPr>
          <a:xfrm>
            <a:off x="381000" y="5040868"/>
            <a:ext cx="83820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38:Training and Validation Accuracy and loss of 26 GFCC coefficients</a:t>
            </a:r>
            <a:endParaRPr lang="en-IN" sz="2000" dirty="0">
              <a:latin typeface="Times New Roman" panose="02020603050405020304" pitchFamily="18" charset="0"/>
              <a:cs typeface="Times New Roman" panose="02020603050405020304" pitchFamily="18" charset="0"/>
            </a:endParaRPr>
          </a:p>
        </p:txBody>
      </p:sp>
      <p:pic>
        <p:nvPicPr>
          <p:cNvPr id="12" name="image26.png">
            <a:extLst>
              <a:ext uri="{FF2B5EF4-FFF2-40B4-BE49-F238E27FC236}">
                <a16:creationId xmlns:a16="http://schemas.microsoft.com/office/drawing/2014/main" id="{593407B7-297A-4EC8-8D00-274796237D5A}"/>
              </a:ext>
            </a:extLst>
          </p:cNvPr>
          <p:cNvPicPr/>
          <p:nvPr/>
        </p:nvPicPr>
        <p:blipFill>
          <a:blip r:embed="rId2" cstate="print"/>
          <a:stretch>
            <a:fillRect/>
          </a:stretch>
        </p:blipFill>
        <p:spPr>
          <a:xfrm>
            <a:off x="685800" y="457200"/>
            <a:ext cx="7467600" cy="1990793"/>
          </a:xfrm>
          <a:prstGeom prst="rect">
            <a:avLst/>
          </a:prstGeom>
        </p:spPr>
      </p:pic>
      <p:grpSp>
        <p:nvGrpSpPr>
          <p:cNvPr id="3" name="Group 2">
            <a:extLst>
              <a:ext uri="{FF2B5EF4-FFF2-40B4-BE49-F238E27FC236}">
                <a16:creationId xmlns:a16="http://schemas.microsoft.com/office/drawing/2014/main" id="{61E517B5-8F8A-4199-B361-ED0844F8D3D6}"/>
              </a:ext>
            </a:extLst>
          </p:cNvPr>
          <p:cNvGrpSpPr>
            <a:grpSpLocks/>
          </p:cNvGrpSpPr>
          <p:nvPr/>
        </p:nvGrpSpPr>
        <p:grpSpPr bwMode="auto">
          <a:xfrm>
            <a:off x="685800" y="3048000"/>
            <a:ext cx="7394275" cy="1886100"/>
            <a:chOff x="2041" y="430"/>
            <a:chExt cx="8094" cy="2733"/>
          </a:xfrm>
        </p:grpSpPr>
        <p:pic>
          <p:nvPicPr>
            <p:cNvPr id="20483" name="Picture 3">
              <a:extLst>
                <a:ext uri="{FF2B5EF4-FFF2-40B4-BE49-F238E27FC236}">
                  <a16:creationId xmlns:a16="http://schemas.microsoft.com/office/drawing/2014/main" id="{7F77436A-50AE-4D6F-A99F-D76E2BD0D9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0" y="429"/>
              <a:ext cx="4079" cy="2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4" name="Picture 4">
              <a:extLst>
                <a:ext uri="{FF2B5EF4-FFF2-40B4-BE49-F238E27FC236}">
                  <a16:creationId xmlns:a16="http://schemas.microsoft.com/office/drawing/2014/main" id="{1EE5CEF9-7E88-4E04-A814-81474EDB90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8" y="454"/>
              <a:ext cx="4016" cy="2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8128308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ACB4362-D7AF-46DC-9078-BC6DD843E7E7}"/>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B7E983A6-C2D8-40B0-A8DF-D5391E76624E}"/>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D59FB423-84CB-4D65-906E-55AEB66BD588}"/>
              </a:ext>
            </a:extLst>
          </p:cNvPr>
          <p:cNvSpPr>
            <a:spLocks noGrp="1"/>
          </p:cNvSpPr>
          <p:nvPr>
            <p:ph type="sldNum" sz="quarter" idx="12"/>
          </p:nvPr>
        </p:nvSpPr>
        <p:spPr/>
        <p:txBody>
          <a:bodyPr/>
          <a:lstStyle/>
          <a:p>
            <a:fld id="{B6F15528-21DE-4FAA-801E-634DDDAF4B2B}" type="slidenum">
              <a:rPr lang="en-US" smtClean="0"/>
              <a:pPr/>
              <a:t>76</a:t>
            </a:fld>
            <a:endParaRPr lang="en-US"/>
          </a:p>
        </p:txBody>
      </p:sp>
      <p:sp>
        <p:nvSpPr>
          <p:cNvPr id="7" name="Rectangle 4">
            <a:extLst>
              <a:ext uri="{FF2B5EF4-FFF2-40B4-BE49-F238E27FC236}">
                <a16:creationId xmlns:a16="http://schemas.microsoft.com/office/drawing/2014/main" id="{4FD2D0DB-1C95-4599-8D7B-1D9EF2EE0A22}"/>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9" name="Rectangle 5">
            <a:extLst>
              <a:ext uri="{FF2B5EF4-FFF2-40B4-BE49-F238E27FC236}">
                <a16:creationId xmlns:a16="http://schemas.microsoft.com/office/drawing/2014/main" id="{1543A287-67AA-4491-A761-ADA0AD2E13EE}"/>
              </a:ext>
            </a:extLst>
          </p:cNvPr>
          <p:cNvSpPr>
            <a:spLocks noChangeArrowheads="1"/>
          </p:cNvSpPr>
          <p:nvPr/>
        </p:nvSpPr>
        <p:spPr bwMode="auto">
          <a:xfrm>
            <a:off x="179388" y="2190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TextBox 9">
            <a:extLst>
              <a:ext uri="{FF2B5EF4-FFF2-40B4-BE49-F238E27FC236}">
                <a16:creationId xmlns:a16="http://schemas.microsoft.com/office/drawing/2014/main" id="{3C33397C-2AB2-46AD-ACD1-75AD63F09599}"/>
              </a:ext>
            </a:extLst>
          </p:cNvPr>
          <p:cNvSpPr txBox="1"/>
          <p:nvPr/>
        </p:nvSpPr>
        <p:spPr>
          <a:xfrm>
            <a:off x="457200" y="2514601"/>
            <a:ext cx="81534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a:t>
            </a:r>
            <a:r>
              <a:rPr lang="en-US" sz="2000" dirty="0">
                <a:latin typeface="Times New Roman" panose="02020603050405020304" pitchFamily="18" charset="0"/>
                <a:ea typeface="LM Roman 12"/>
                <a:cs typeface="Times New Roman" panose="02020603050405020304" pitchFamily="18" charset="0"/>
              </a:rPr>
              <a:t>39</a:t>
            </a:r>
            <a:r>
              <a:rPr lang="en-US" sz="2000" dirty="0">
                <a:effectLst/>
                <a:latin typeface="Times New Roman" panose="02020603050405020304" pitchFamily="18" charset="0"/>
                <a:ea typeface="LM Roman 12"/>
                <a:cs typeface="Times New Roman" panose="02020603050405020304" pitchFamily="18" charset="0"/>
              </a:rPr>
              <a:t>:Training and Validation Accuracy and loss of 39 GFCC coefficients</a:t>
            </a:r>
            <a:endParaRPr lang="en-IN" sz="2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51AFE1F5-50F4-4D7D-BC48-5C26935F8868}"/>
              </a:ext>
            </a:extLst>
          </p:cNvPr>
          <p:cNvSpPr txBox="1"/>
          <p:nvPr/>
        </p:nvSpPr>
        <p:spPr>
          <a:xfrm>
            <a:off x="609600" y="5086290"/>
            <a:ext cx="81534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a:t>
            </a:r>
            <a:r>
              <a:rPr lang="en-US" sz="2000" dirty="0">
                <a:latin typeface="Times New Roman" panose="02020603050405020304" pitchFamily="18" charset="0"/>
                <a:ea typeface="LM Roman 12"/>
                <a:cs typeface="Times New Roman" panose="02020603050405020304" pitchFamily="18" charset="0"/>
              </a:rPr>
              <a:t>40</a:t>
            </a:r>
            <a:r>
              <a:rPr lang="en-US" sz="2000" dirty="0">
                <a:effectLst/>
                <a:latin typeface="Times New Roman" panose="02020603050405020304" pitchFamily="18" charset="0"/>
                <a:ea typeface="LM Roman 12"/>
                <a:cs typeface="Times New Roman" panose="02020603050405020304" pitchFamily="18" charset="0"/>
              </a:rPr>
              <a:t>:Training and Validation Accuracy and loss of 27 GFCC coefficients</a:t>
            </a:r>
            <a:endParaRPr lang="en-IN" sz="2000" dirty="0">
              <a:latin typeface="Times New Roman" panose="02020603050405020304" pitchFamily="18" charset="0"/>
              <a:cs typeface="Times New Roman" panose="02020603050405020304" pitchFamily="18" charset="0"/>
            </a:endParaRPr>
          </a:p>
        </p:txBody>
      </p:sp>
      <p:pic>
        <p:nvPicPr>
          <p:cNvPr id="12" name="image29.png">
            <a:extLst>
              <a:ext uri="{FF2B5EF4-FFF2-40B4-BE49-F238E27FC236}">
                <a16:creationId xmlns:a16="http://schemas.microsoft.com/office/drawing/2014/main" id="{2EFBFECA-5DC5-4B99-A8F0-127DCF7E7CB3}"/>
              </a:ext>
            </a:extLst>
          </p:cNvPr>
          <p:cNvPicPr/>
          <p:nvPr/>
        </p:nvPicPr>
        <p:blipFill>
          <a:blip r:embed="rId2" cstate="print"/>
          <a:stretch>
            <a:fillRect/>
          </a:stretch>
        </p:blipFill>
        <p:spPr>
          <a:xfrm>
            <a:off x="685800" y="380999"/>
            <a:ext cx="7543800" cy="2043455"/>
          </a:xfrm>
          <a:prstGeom prst="rect">
            <a:avLst/>
          </a:prstGeom>
        </p:spPr>
      </p:pic>
      <p:grpSp>
        <p:nvGrpSpPr>
          <p:cNvPr id="2" name="Group 2">
            <a:extLst>
              <a:ext uri="{FF2B5EF4-FFF2-40B4-BE49-F238E27FC236}">
                <a16:creationId xmlns:a16="http://schemas.microsoft.com/office/drawing/2014/main" id="{C77B4418-5DBC-4D6B-AB2A-C63CF2345C4B}"/>
              </a:ext>
            </a:extLst>
          </p:cNvPr>
          <p:cNvGrpSpPr>
            <a:grpSpLocks/>
          </p:cNvGrpSpPr>
          <p:nvPr/>
        </p:nvGrpSpPr>
        <p:grpSpPr bwMode="auto">
          <a:xfrm>
            <a:off x="866775" y="2915729"/>
            <a:ext cx="7362825" cy="2139350"/>
            <a:chOff x="1304" y="425"/>
            <a:chExt cx="8115" cy="2719"/>
          </a:xfrm>
        </p:grpSpPr>
        <p:pic>
          <p:nvPicPr>
            <p:cNvPr id="21507" name="Picture 3">
              <a:extLst>
                <a:ext uri="{FF2B5EF4-FFF2-40B4-BE49-F238E27FC236}">
                  <a16:creationId xmlns:a16="http://schemas.microsoft.com/office/drawing/2014/main" id="{D3720C7F-0E9F-452C-9A2D-987F2DF43E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3" y="424"/>
              <a:ext cx="4079" cy="2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8" name="Picture 4">
              <a:extLst>
                <a:ext uri="{FF2B5EF4-FFF2-40B4-BE49-F238E27FC236}">
                  <a16:creationId xmlns:a16="http://schemas.microsoft.com/office/drawing/2014/main" id="{98FE01EB-AF67-4A1C-9176-BE546D08AF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1" y="452"/>
              <a:ext cx="4037" cy="2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9094484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6884878-8504-4D4B-AB26-75C723AEDA7E}"/>
              </a:ext>
            </a:extLst>
          </p:cNvPr>
          <p:cNvSpPr>
            <a:spLocks noGrp="1"/>
          </p:cNvSpPr>
          <p:nvPr>
            <p:ph type="dt" sz="half" idx="10"/>
          </p:nvPr>
        </p:nvSpPr>
        <p:spPr>
          <a:xfrm>
            <a:off x="380999" y="5966618"/>
            <a:ext cx="2133600" cy="365125"/>
          </a:xfrm>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326C1D6B-1FB3-4F4F-8A85-0CF512EC50A6}"/>
              </a:ext>
            </a:extLst>
          </p:cNvPr>
          <p:cNvSpPr>
            <a:spLocks noGrp="1"/>
          </p:cNvSpPr>
          <p:nvPr>
            <p:ph type="ftr" sz="quarter" idx="11"/>
          </p:nvPr>
        </p:nvSpPr>
        <p:spPr>
          <a:xfrm>
            <a:off x="2133599" y="5964543"/>
            <a:ext cx="4800600" cy="365125"/>
          </a:xfrm>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A93EBA4E-EC02-4A8E-A756-4061AC67235E}"/>
              </a:ext>
            </a:extLst>
          </p:cNvPr>
          <p:cNvSpPr>
            <a:spLocks noGrp="1"/>
          </p:cNvSpPr>
          <p:nvPr>
            <p:ph type="sldNum" sz="quarter" idx="12"/>
          </p:nvPr>
        </p:nvSpPr>
        <p:spPr>
          <a:xfrm>
            <a:off x="8381999" y="137960"/>
            <a:ext cx="457200" cy="258121"/>
          </a:xfrm>
        </p:spPr>
        <p:txBody>
          <a:bodyPr/>
          <a:lstStyle/>
          <a:p>
            <a:fld id="{B6F15528-21DE-4FAA-801E-634DDDAF4B2B}" type="slidenum">
              <a:rPr lang="en-US" smtClean="0"/>
              <a:pPr/>
              <a:t>77</a:t>
            </a:fld>
            <a:endParaRPr lang="en-US"/>
          </a:p>
        </p:txBody>
      </p:sp>
      <p:graphicFrame>
        <p:nvGraphicFramePr>
          <p:cNvPr id="7" name="Table 6">
            <a:extLst>
              <a:ext uri="{FF2B5EF4-FFF2-40B4-BE49-F238E27FC236}">
                <a16:creationId xmlns:a16="http://schemas.microsoft.com/office/drawing/2014/main" id="{9A4AA110-20A5-47B5-B9E1-67E7F7279702}"/>
              </a:ext>
            </a:extLst>
          </p:cNvPr>
          <p:cNvGraphicFramePr>
            <a:graphicFrameLocks noGrp="1"/>
          </p:cNvGraphicFramePr>
          <p:nvPr>
            <p:extLst>
              <p:ext uri="{D42A27DB-BD31-4B8C-83A1-F6EECF244321}">
                <p14:modId xmlns:p14="http://schemas.microsoft.com/office/powerpoint/2010/main" val="3095226471"/>
              </p:ext>
            </p:extLst>
          </p:nvPr>
        </p:nvGraphicFramePr>
        <p:xfrm>
          <a:off x="1828799" y="1222375"/>
          <a:ext cx="5486401" cy="2206625"/>
        </p:xfrm>
        <a:graphic>
          <a:graphicData uri="http://schemas.openxmlformats.org/drawingml/2006/table">
            <a:tbl>
              <a:tblPr firstRow="1" firstCol="1" lastRow="1" lastCol="1" bandRow="1" bandCol="1">
                <a:tableStyleId>{5940675A-B579-460E-94D1-54222C63F5DA}</a:tableStyleId>
              </a:tblPr>
              <a:tblGrid>
                <a:gridCol w="931048">
                  <a:extLst>
                    <a:ext uri="{9D8B030D-6E8A-4147-A177-3AD203B41FA5}">
                      <a16:colId xmlns:a16="http://schemas.microsoft.com/office/drawing/2014/main" val="2435759561"/>
                    </a:ext>
                  </a:extLst>
                </a:gridCol>
                <a:gridCol w="1786952">
                  <a:extLst>
                    <a:ext uri="{9D8B030D-6E8A-4147-A177-3AD203B41FA5}">
                      <a16:colId xmlns:a16="http://schemas.microsoft.com/office/drawing/2014/main" val="1696460722"/>
                    </a:ext>
                  </a:extLst>
                </a:gridCol>
                <a:gridCol w="964954">
                  <a:extLst>
                    <a:ext uri="{9D8B030D-6E8A-4147-A177-3AD203B41FA5}">
                      <a16:colId xmlns:a16="http://schemas.microsoft.com/office/drawing/2014/main" val="192555452"/>
                    </a:ext>
                  </a:extLst>
                </a:gridCol>
                <a:gridCol w="878814">
                  <a:extLst>
                    <a:ext uri="{9D8B030D-6E8A-4147-A177-3AD203B41FA5}">
                      <a16:colId xmlns:a16="http://schemas.microsoft.com/office/drawing/2014/main" val="407479835"/>
                    </a:ext>
                  </a:extLst>
                </a:gridCol>
                <a:gridCol w="924633">
                  <a:extLst>
                    <a:ext uri="{9D8B030D-6E8A-4147-A177-3AD203B41FA5}">
                      <a16:colId xmlns:a16="http://schemas.microsoft.com/office/drawing/2014/main" val="4121152925"/>
                    </a:ext>
                  </a:extLst>
                </a:gridCol>
              </a:tblGrid>
              <a:tr h="441325">
                <a:tc>
                  <a:txBody>
                    <a:bodyPr/>
                    <a:lstStyle/>
                    <a:p>
                      <a:pPr marL="77470" algn="ctr">
                        <a:spcBef>
                          <a:spcPts val="145"/>
                        </a:spcBef>
                      </a:pPr>
                      <a:r>
                        <a:rPr lang="en-US" sz="2000">
                          <a:effectLst/>
                          <a:latin typeface="Times New Roman" panose="02020603050405020304" pitchFamily="18" charset="0"/>
                          <a:cs typeface="Times New Roman" panose="02020603050405020304" pitchFamily="18" charset="0"/>
                        </a:rPr>
                        <a:t>Sr No.</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45"/>
                        </a:spcBef>
                      </a:pPr>
                      <a:r>
                        <a:rPr lang="en-US" sz="2000">
                          <a:effectLst/>
                          <a:latin typeface="Times New Roman" panose="02020603050405020304" pitchFamily="18" charset="0"/>
                          <a:cs typeface="Times New Roman" panose="02020603050405020304" pitchFamily="18" charset="0"/>
                        </a:rPr>
                        <a:t>Feature vector</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lgn="ctr">
                        <a:spcBef>
                          <a:spcPts val="145"/>
                        </a:spcBef>
                        <a:spcAft>
                          <a:spcPts val="0"/>
                        </a:spcAft>
                      </a:pPr>
                      <a:r>
                        <a:rPr lang="en-US" sz="2000">
                          <a:effectLst/>
                          <a:latin typeface="Times New Roman" panose="02020603050405020304" pitchFamily="18" charset="0"/>
                          <a:cs typeface="Times New Roman" panose="02020603050405020304" pitchFamily="18" charset="0"/>
                        </a:rPr>
                        <a:t>MFCC</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45"/>
                        </a:spcBef>
                        <a:spcAft>
                          <a:spcPts val="0"/>
                        </a:spcAft>
                      </a:pPr>
                      <a:r>
                        <a:rPr lang="en-US" sz="2000">
                          <a:effectLst/>
                          <a:latin typeface="Times New Roman" panose="02020603050405020304" pitchFamily="18" charset="0"/>
                          <a:cs typeface="Times New Roman" panose="02020603050405020304" pitchFamily="18" charset="0"/>
                        </a:rPr>
                        <a:t>LFCC</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45"/>
                        </a:spcBef>
                        <a:spcAft>
                          <a:spcPts val="0"/>
                        </a:spcAft>
                      </a:pPr>
                      <a:r>
                        <a:rPr lang="en-US" sz="2000">
                          <a:effectLst/>
                          <a:latin typeface="Times New Roman" panose="02020603050405020304" pitchFamily="18" charset="0"/>
                          <a:cs typeface="Times New Roman" panose="02020603050405020304" pitchFamily="18" charset="0"/>
                        </a:rPr>
                        <a:t>GFCC</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883176276"/>
                  </a:ext>
                </a:extLst>
              </a:tr>
              <a:tr h="441325">
                <a:tc>
                  <a:txBody>
                    <a:bodyPr/>
                    <a:lstStyle/>
                    <a:p>
                      <a:pPr marL="77470" algn="ctr">
                        <a:spcBef>
                          <a:spcPts val="160"/>
                        </a:spcBef>
                      </a:pPr>
                      <a:r>
                        <a:rPr lang="en-US" sz="2000" dirty="0">
                          <a:effectLst/>
                          <a:latin typeface="Times New Roman" panose="02020603050405020304" pitchFamily="18" charset="0"/>
                          <a:cs typeface="Times New Roman" panose="02020603050405020304" pitchFamily="18" charset="0"/>
                        </a:rPr>
                        <a:t>1</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2000" dirty="0">
                          <a:effectLst/>
                          <a:latin typeface="Times New Roman" panose="02020603050405020304" pitchFamily="18" charset="0"/>
                          <a:cs typeface="Times New Roman" panose="02020603050405020304" pitchFamily="18" charset="0"/>
                        </a:rPr>
                        <a:t>13 coefficients</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lgn="ctr">
                        <a:spcBef>
                          <a:spcPts val="160"/>
                        </a:spcBef>
                        <a:spcAft>
                          <a:spcPts val="0"/>
                        </a:spcAft>
                      </a:pPr>
                      <a:r>
                        <a:rPr lang="en-US" sz="2000">
                          <a:effectLst/>
                          <a:latin typeface="Times New Roman" panose="02020603050405020304" pitchFamily="18" charset="0"/>
                          <a:cs typeface="Times New Roman" panose="02020603050405020304" pitchFamily="18" charset="0"/>
                        </a:rPr>
                        <a:t>91.6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a:effectLst/>
                          <a:latin typeface="Times New Roman" panose="02020603050405020304" pitchFamily="18" charset="0"/>
                          <a:cs typeface="Times New Roman" panose="02020603050405020304" pitchFamily="18" charset="0"/>
                        </a:rPr>
                        <a:t>92.03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a:effectLst/>
                          <a:latin typeface="Times New Roman" panose="02020603050405020304" pitchFamily="18" charset="0"/>
                          <a:cs typeface="Times New Roman" panose="02020603050405020304" pitchFamily="18" charset="0"/>
                        </a:rPr>
                        <a:t>92.67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680427922"/>
                  </a:ext>
                </a:extLst>
              </a:tr>
              <a:tr h="441325">
                <a:tc>
                  <a:txBody>
                    <a:bodyPr/>
                    <a:lstStyle/>
                    <a:p>
                      <a:pPr marL="77470" algn="ctr">
                        <a:spcBef>
                          <a:spcPts val="160"/>
                        </a:spcBef>
                      </a:pPr>
                      <a:r>
                        <a:rPr lang="en-US" sz="2000">
                          <a:effectLst/>
                          <a:latin typeface="Times New Roman" panose="02020603050405020304" pitchFamily="18" charset="0"/>
                          <a:cs typeface="Times New Roman" panose="02020603050405020304" pitchFamily="18" charset="0"/>
                        </a:rPr>
                        <a:t>2</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2000" dirty="0">
                          <a:effectLst/>
                          <a:latin typeface="Times New Roman" panose="02020603050405020304" pitchFamily="18" charset="0"/>
                          <a:cs typeface="Times New Roman" panose="02020603050405020304" pitchFamily="18" charset="0"/>
                        </a:rPr>
                        <a:t>26 coefficients</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lgn="ctr">
                        <a:spcBef>
                          <a:spcPts val="160"/>
                        </a:spcBef>
                        <a:spcAft>
                          <a:spcPts val="0"/>
                        </a:spcAft>
                      </a:pPr>
                      <a:r>
                        <a:rPr lang="en-US" sz="2000">
                          <a:effectLst/>
                          <a:latin typeface="Times New Roman" panose="02020603050405020304" pitchFamily="18" charset="0"/>
                          <a:cs typeface="Times New Roman" panose="02020603050405020304" pitchFamily="18" charset="0"/>
                        </a:rPr>
                        <a:t>92.07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a:effectLst/>
                          <a:latin typeface="Times New Roman" panose="02020603050405020304" pitchFamily="18" charset="0"/>
                          <a:cs typeface="Times New Roman" panose="02020603050405020304" pitchFamily="18" charset="0"/>
                        </a:rPr>
                        <a:t>91.66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a:effectLst/>
                          <a:latin typeface="Times New Roman" panose="02020603050405020304" pitchFamily="18" charset="0"/>
                          <a:cs typeface="Times New Roman" panose="02020603050405020304" pitchFamily="18" charset="0"/>
                        </a:rPr>
                        <a:t>92.87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086306158"/>
                  </a:ext>
                </a:extLst>
              </a:tr>
              <a:tr h="441325">
                <a:tc>
                  <a:txBody>
                    <a:bodyPr/>
                    <a:lstStyle/>
                    <a:p>
                      <a:pPr marL="77470" algn="ctr">
                        <a:spcBef>
                          <a:spcPts val="160"/>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2000">
                          <a:effectLst/>
                          <a:latin typeface="Times New Roman" panose="02020603050405020304" pitchFamily="18" charset="0"/>
                          <a:cs typeface="Times New Roman" panose="02020603050405020304" pitchFamily="18" charset="0"/>
                        </a:rPr>
                        <a:t>39 coefficients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lgn="ctr">
                        <a:spcBef>
                          <a:spcPts val="160"/>
                        </a:spcBef>
                        <a:spcAft>
                          <a:spcPts val="0"/>
                        </a:spcAft>
                      </a:pPr>
                      <a:r>
                        <a:rPr lang="en-US" sz="2000">
                          <a:effectLst/>
                          <a:latin typeface="Times New Roman" panose="02020603050405020304" pitchFamily="18" charset="0"/>
                          <a:cs typeface="Times New Roman" panose="02020603050405020304" pitchFamily="18" charset="0"/>
                        </a:rPr>
                        <a:t>91.94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a:effectLst/>
                          <a:latin typeface="Times New Roman" panose="02020603050405020304" pitchFamily="18" charset="0"/>
                          <a:cs typeface="Times New Roman" panose="02020603050405020304" pitchFamily="18" charset="0"/>
                        </a:rPr>
                        <a:t>91.88</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a:effectLst/>
                          <a:latin typeface="Times New Roman" panose="02020603050405020304" pitchFamily="18" charset="0"/>
                          <a:cs typeface="Times New Roman" panose="02020603050405020304" pitchFamily="18" charset="0"/>
                        </a:rPr>
                        <a:t>92.33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661261032"/>
                  </a:ext>
                </a:extLst>
              </a:tr>
              <a:tr h="441325">
                <a:tc>
                  <a:txBody>
                    <a:bodyPr/>
                    <a:lstStyle/>
                    <a:p>
                      <a:pPr marL="77470" algn="ctr">
                        <a:spcBef>
                          <a:spcPts val="160"/>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2000">
                          <a:effectLst/>
                          <a:latin typeface="Times New Roman" panose="02020603050405020304" pitchFamily="18" charset="0"/>
                          <a:cs typeface="Times New Roman" panose="02020603050405020304" pitchFamily="18" charset="0"/>
                        </a:rPr>
                        <a:t>27 coefficients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lgn="ctr">
                        <a:spcBef>
                          <a:spcPts val="160"/>
                        </a:spcBef>
                        <a:spcAft>
                          <a:spcPts val="0"/>
                        </a:spcAft>
                      </a:pPr>
                      <a:r>
                        <a:rPr lang="en-US" sz="2000">
                          <a:effectLst/>
                          <a:latin typeface="Times New Roman" panose="02020603050405020304" pitchFamily="18" charset="0"/>
                          <a:cs typeface="Times New Roman" panose="02020603050405020304" pitchFamily="18" charset="0"/>
                        </a:rPr>
                        <a:t>94.7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a:effectLst/>
                          <a:latin typeface="Times New Roman" panose="02020603050405020304" pitchFamily="18" charset="0"/>
                          <a:cs typeface="Times New Roman" panose="02020603050405020304" pitchFamily="18" charset="0"/>
                        </a:rPr>
                        <a:t>92.6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dirty="0">
                          <a:effectLst/>
                          <a:latin typeface="Times New Roman" panose="02020603050405020304" pitchFamily="18" charset="0"/>
                          <a:cs typeface="Times New Roman" panose="02020603050405020304" pitchFamily="18" charset="0"/>
                        </a:rPr>
                        <a:t>87.88</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508294363"/>
                  </a:ext>
                </a:extLst>
              </a:tr>
            </a:tbl>
          </a:graphicData>
        </a:graphic>
      </p:graphicFrame>
      <p:sp>
        <p:nvSpPr>
          <p:cNvPr id="8" name="TextBox 7">
            <a:extLst>
              <a:ext uri="{FF2B5EF4-FFF2-40B4-BE49-F238E27FC236}">
                <a16:creationId xmlns:a16="http://schemas.microsoft.com/office/drawing/2014/main" id="{72FB2952-7925-457E-956D-AE67D585B5CF}"/>
              </a:ext>
            </a:extLst>
          </p:cNvPr>
          <p:cNvSpPr txBox="1"/>
          <p:nvPr/>
        </p:nvSpPr>
        <p:spPr>
          <a:xfrm>
            <a:off x="685799" y="649069"/>
            <a:ext cx="7467600" cy="707886"/>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Table 29:Overall Accuracy of Feature Extraction using ANN algorithm</a:t>
            </a:r>
            <a:endParaRPr lang="en-IN" sz="2000" dirty="0">
              <a:effectLst/>
              <a:latin typeface="Times New Roman" panose="02020603050405020304" pitchFamily="18" charset="0"/>
              <a:ea typeface="LM Roman 12"/>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18063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E41D0-A7E7-4A0E-A41B-C6D00F818801}"/>
              </a:ext>
            </a:extLst>
          </p:cNvPr>
          <p:cNvSpPr>
            <a:spLocks noGrp="1"/>
          </p:cNvSpPr>
          <p:nvPr>
            <p:ph type="title"/>
          </p:nvPr>
        </p:nvSpPr>
        <p:spPr>
          <a:xfrm>
            <a:off x="457200" y="-152400"/>
            <a:ext cx="8229600" cy="1143000"/>
          </a:xfrm>
        </p:spPr>
        <p:txBody>
          <a:bodyPr/>
          <a:lstStyle/>
          <a:p>
            <a:pPr algn="l"/>
            <a:r>
              <a:rPr lang="en-IN" b="0" i="0" u="none" strike="noStrike" baseline="0" dirty="0">
                <a:solidFill>
                  <a:srgbClr val="FF0000"/>
                </a:solidFill>
                <a:latin typeface="Times New Roman" panose="02020603050405020304" pitchFamily="18" charset="0"/>
                <a:cs typeface="Times New Roman" panose="02020603050405020304" pitchFamily="18" charset="0"/>
              </a:rPr>
              <a:t>Convolutional Neural Network</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9DD38B1-39F2-4C6D-BFF8-F560F82BC000}"/>
              </a:ext>
            </a:extLst>
          </p:cNvPr>
          <p:cNvSpPr>
            <a:spLocks noGrp="1"/>
          </p:cNvSpPr>
          <p:nvPr>
            <p:ph idx="1"/>
          </p:nvPr>
        </p:nvSpPr>
        <p:spPr/>
        <p:txBody>
          <a:bodyPr/>
          <a:lstStyle/>
          <a:p>
            <a:pPr algn="l"/>
            <a:r>
              <a:rPr lang="en-US" sz="1800" b="0" i="0" u="none" strike="noStrike" baseline="0" dirty="0">
                <a:latin typeface="LMRoman12-Regular"/>
              </a:rPr>
              <a:t>The layers of CNN contain the Input layer, a hidden layer and an output layer. </a:t>
            </a:r>
          </a:p>
          <a:p>
            <a:pPr algn="l"/>
            <a:r>
              <a:rPr lang="en-US" sz="1800" b="0" i="0" u="none" strike="noStrike" baseline="0" dirty="0">
                <a:latin typeface="LMRoman12-Regular"/>
              </a:rPr>
              <a:t>It also includes multiple convolution layers, pooling </a:t>
            </a:r>
            <a:r>
              <a:rPr lang="en-IN" sz="1800" b="0" i="0" u="none" strike="noStrike" baseline="0" dirty="0">
                <a:latin typeface="LMRoman12-Regular"/>
              </a:rPr>
              <a:t>layers.</a:t>
            </a:r>
            <a:r>
              <a:rPr lang="en-US" sz="1800" b="0" i="0" u="none" strike="noStrike" baseline="0" dirty="0">
                <a:latin typeface="LMRoman12-Regular"/>
              </a:rPr>
              <a:t> The convolution network is a 2-D convolution layer.</a:t>
            </a:r>
            <a:endParaRPr lang="en-IN" dirty="0"/>
          </a:p>
        </p:txBody>
      </p:sp>
      <p:sp>
        <p:nvSpPr>
          <p:cNvPr id="4" name="Date Placeholder 3">
            <a:extLst>
              <a:ext uri="{FF2B5EF4-FFF2-40B4-BE49-F238E27FC236}">
                <a16:creationId xmlns:a16="http://schemas.microsoft.com/office/drawing/2014/main" id="{2484ED4B-9747-485E-A097-F061A45DD5DC}"/>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A8110077-A7AB-4E73-8AB6-B46062436C06}"/>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D9CB5C79-2544-4D95-A37A-E666DC39D8F6}"/>
              </a:ext>
            </a:extLst>
          </p:cNvPr>
          <p:cNvSpPr>
            <a:spLocks noGrp="1"/>
          </p:cNvSpPr>
          <p:nvPr>
            <p:ph type="sldNum" sz="quarter" idx="12"/>
          </p:nvPr>
        </p:nvSpPr>
        <p:spPr/>
        <p:txBody>
          <a:bodyPr/>
          <a:lstStyle/>
          <a:p>
            <a:fld id="{B6F15528-21DE-4FAA-801E-634DDDAF4B2B}" type="slidenum">
              <a:rPr lang="en-US" smtClean="0"/>
              <a:pPr/>
              <a:t>78</a:t>
            </a:fld>
            <a:endParaRPr lang="en-US"/>
          </a:p>
        </p:txBody>
      </p:sp>
      <p:pic>
        <p:nvPicPr>
          <p:cNvPr id="7" name="image12.png">
            <a:extLst>
              <a:ext uri="{FF2B5EF4-FFF2-40B4-BE49-F238E27FC236}">
                <a16:creationId xmlns:a16="http://schemas.microsoft.com/office/drawing/2014/main" id="{A36DFD0E-E71B-4378-AB1F-8585F36180BA}"/>
              </a:ext>
            </a:extLst>
          </p:cNvPr>
          <p:cNvPicPr/>
          <p:nvPr/>
        </p:nvPicPr>
        <p:blipFill>
          <a:blip r:embed="rId2" cstate="print"/>
          <a:stretch>
            <a:fillRect/>
          </a:stretch>
        </p:blipFill>
        <p:spPr>
          <a:xfrm>
            <a:off x="685800" y="1905001"/>
            <a:ext cx="7772400" cy="2770516"/>
          </a:xfrm>
          <a:prstGeom prst="rect">
            <a:avLst/>
          </a:prstGeom>
        </p:spPr>
      </p:pic>
      <p:sp>
        <p:nvSpPr>
          <p:cNvPr id="8" name="TextBox 7">
            <a:extLst>
              <a:ext uri="{FF2B5EF4-FFF2-40B4-BE49-F238E27FC236}">
                <a16:creationId xmlns:a16="http://schemas.microsoft.com/office/drawing/2014/main" id="{909C138D-3C56-455B-9AAF-E3EAD7AEC6C6}"/>
              </a:ext>
            </a:extLst>
          </p:cNvPr>
          <p:cNvSpPr txBox="1"/>
          <p:nvPr/>
        </p:nvSpPr>
        <p:spPr>
          <a:xfrm>
            <a:off x="838200" y="4781490"/>
            <a:ext cx="7467600" cy="400110"/>
          </a:xfrm>
          <a:prstGeom prst="rect">
            <a:avLst/>
          </a:prstGeom>
          <a:noFill/>
        </p:spPr>
        <p:txBody>
          <a:bodyPr wrap="square" rtlCol="0">
            <a:spAutoFit/>
          </a:bodyPr>
          <a:lstStyle/>
          <a:p>
            <a:pPr algn="ctr"/>
            <a:r>
              <a:rPr lang="en-US" sz="2000" dirty="0">
                <a:latin typeface="Times New Roman" panose="02020603050405020304" pitchFamily="18" charset="0"/>
                <a:cs typeface="Times New Roman" panose="02020603050405020304" pitchFamily="18" charset="0"/>
              </a:rPr>
              <a:t>Figure 41:</a:t>
            </a:r>
            <a:r>
              <a:rPr lang="en-US" sz="2000" dirty="0">
                <a:effectLst/>
                <a:latin typeface="Times New Roman" panose="02020603050405020304" pitchFamily="18" charset="0"/>
                <a:ea typeface="LM Roman 12"/>
                <a:cs typeface="Times New Roman" panose="02020603050405020304" pitchFamily="18" charset="0"/>
              </a:rPr>
              <a:t>Block Diagram of CNN Architecture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518044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64174-A60D-4A28-96F7-C57602AF5487}"/>
              </a:ext>
            </a:extLst>
          </p:cNvPr>
          <p:cNvSpPr>
            <a:spLocks noGrp="1"/>
          </p:cNvSpPr>
          <p:nvPr>
            <p:ph type="title"/>
          </p:nvPr>
        </p:nvSpPr>
        <p:spPr>
          <a:xfrm>
            <a:off x="228600" y="-381000"/>
            <a:ext cx="8229600" cy="1143000"/>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Result of MFCC</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04E47E3-EB58-4516-857D-4D20E736EFEB}"/>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4D03A3C3-48FF-4714-96B0-2D531F25F627}"/>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3DEA8721-2AC9-4D6E-B805-F06B4BB421AB}"/>
              </a:ext>
            </a:extLst>
          </p:cNvPr>
          <p:cNvSpPr>
            <a:spLocks noGrp="1"/>
          </p:cNvSpPr>
          <p:nvPr>
            <p:ph type="sldNum" sz="quarter" idx="12"/>
          </p:nvPr>
        </p:nvSpPr>
        <p:spPr/>
        <p:txBody>
          <a:bodyPr/>
          <a:lstStyle/>
          <a:p>
            <a:fld id="{B6F15528-21DE-4FAA-801E-634DDDAF4B2B}" type="slidenum">
              <a:rPr lang="en-US" smtClean="0"/>
              <a:pPr/>
              <a:t>79</a:t>
            </a:fld>
            <a:endParaRPr lang="en-US"/>
          </a:p>
        </p:txBody>
      </p:sp>
      <p:sp>
        <p:nvSpPr>
          <p:cNvPr id="9" name="TextBox 8">
            <a:extLst>
              <a:ext uri="{FF2B5EF4-FFF2-40B4-BE49-F238E27FC236}">
                <a16:creationId xmlns:a16="http://schemas.microsoft.com/office/drawing/2014/main" id="{8C979D48-CCC2-48AC-BB6D-EF0E12D06F98}"/>
              </a:ext>
            </a:extLst>
          </p:cNvPr>
          <p:cNvSpPr txBox="1"/>
          <p:nvPr/>
        </p:nvSpPr>
        <p:spPr>
          <a:xfrm>
            <a:off x="609600" y="2450068"/>
            <a:ext cx="7696200" cy="369332"/>
          </a:xfrm>
          <a:prstGeom prst="rect">
            <a:avLst/>
          </a:prstGeom>
          <a:noFill/>
        </p:spPr>
        <p:txBody>
          <a:bodyPr wrap="square" rtlCol="0">
            <a:spAutoFit/>
          </a:bodyPr>
          <a:lstStyle/>
          <a:p>
            <a:pPr algn="ctr"/>
            <a:r>
              <a:rPr lang="en-US" sz="1800" dirty="0">
                <a:effectLst/>
                <a:latin typeface="LM Roman 12"/>
                <a:ea typeface="LM Roman 12"/>
                <a:cs typeface="LM Roman 12"/>
              </a:rPr>
              <a:t>Figure </a:t>
            </a:r>
            <a:r>
              <a:rPr lang="en-US" dirty="0">
                <a:latin typeface="LM Roman 12"/>
                <a:ea typeface="LM Roman 12"/>
                <a:cs typeface="LM Roman 12"/>
              </a:rPr>
              <a:t>42</a:t>
            </a:r>
            <a:r>
              <a:rPr lang="en-US" sz="1800" dirty="0">
                <a:effectLst/>
                <a:latin typeface="LM Roman 12"/>
                <a:ea typeface="LM Roman 12"/>
                <a:cs typeface="LM Roman 12"/>
              </a:rPr>
              <a:t>:Training and Validation Accuracy and loss of 13 MFCC coefficients</a:t>
            </a:r>
            <a:endParaRPr lang="en-IN" dirty="0"/>
          </a:p>
        </p:txBody>
      </p:sp>
      <p:sp>
        <p:nvSpPr>
          <p:cNvPr id="11" name="TextBox 10">
            <a:extLst>
              <a:ext uri="{FF2B5EF4-FFF2-40B4-BE49-F238E27FC236}">
                <a16:creationId xmlns:a16="http://schemas.microsoft.com/office/drawing/2014/main" id="{AEEBBF87-2F61-4E68-A6EB-571C84C9F269}"/>
              </a:ext>
            </a:extLst>
          </p:cNvPr>
          <p:cNvSpPr txBox="1"/>
          <p:nvPr/>
        </p:nvSpPr>
        <p:spPr>
          <a:xfrm>
            <a:off x="762000" y="5040868"/>
            <a:ext cx="7696200" cy="369332"/>
          </a:xfrm>
          <a:prstGeom prst="rect">
            <a:avLst/>
          </a:prstGeom>
          <a:noFill/>
        </p:spPr>
        <p:txBody>
          <a:bodyPr wrap="square" rtlCol="0">
            <a:spAutoFit/>
          </a:bodyPr>
          <a:lstStyle/>
          <a:p>
            <a:pPr algn="ctr"/>
            <a:r>
              <a:rPr lang="en-US" sz="1800" dirty="0">
                <a:effectLst/>
                <a:latin typeface="LM Roman 12"/>
                <a:ea typeface="LM Roman 12"/>
                <a:cs typeface="LM Roman 12"/>
              </a:rPr>
              <a:t>Figure </a:t>
            </a:r>
            <a:r>
              <a:rPr lang="en-US" dirty="0">
                <a:latin typeface="LM Roman 12"/>
                <a:ea typeface="LM Roman 12"/>
                <a:cs typeface="LM Roman 12"/>
              </a:rPr>
              <a:t>43</a:t>
            </a:r>
            <a:r>
              <a:rPr lang="en-US" sz="1800" dirty="0">
                <a:effectLst/>
                <a:latin typeface="LM Roman 12"/>
                <a:ea typeface="LM Roman 12"/>
                <a:cs typeface="LM Roman 12"/>
              </a:rPr>
              <a:t>:Training and Validation Accuracy and loss of 26 MFCC coefficients</a:t>
            </a:r>
            <a:endParaRPr lang="en-IN" dirty="0"/>
          </a:p>
        </p:txBody>
      </p:sp>
      <p:pic>
        <p:nvPicPr>
          <p:cNvPr id="12" name="image32.jpeg">
            <a:extLst>
              <a:ext uri="{FF2B5EF4-FFF2-40B4-BE49-F238E27FC236}">
                <a16:creationId xmlns:a16="http://schemas.microsoft.com/office/drawing/2014/main" id="{B4BA7D94-470F-4B57-AFF0-16919E43D99E}"/>
              </a:ext>
            </a:extLst>
          </p:cNvPr>
          <p:cNvPicPr/>
          <p:nvPr/>
        </p:nvPicPr>
        <p:blipFill>
          <a:blip r:embed="rId2" cstate="print"/>
          <a:stretch>
            <a:fillRect/>
          </a:stretch>
        </p:blipFill>
        <p:spPr>
          <a:xfrm>
            <a:off x="773502" y="526257"/>
            <a:ext cx="3646098" cy="1814591"/>
          </a:xfrm>
          <a:prstGeom prst="rect">
            <a:avLst/>
          </a:prstGeom>
        </p:spPr>
      </p:pic>
      <p:pic>
        <p:nvPicPr>
          <p:cNvPr id="13" name="image33.jpeg">
            <a:extLst>
              <a:ext uri="{FF2B5EF4-FFF2-40B4-BE49-F238E27FC236}">
                <a16:creationId xmlns:a16="http://schemas.microsoft.com/office/drawing/2014/main" id="{5EBE0CDE-5A45-4D7B-BB88-13B4D0274E1F}"/>
              </a:ext>
            </a:extLst>
          </p:cNvPr>
          <p:cNvPicPr/>
          <p:nvPr/>
        </p:nvPicPr>
        <p:blipFill>
          <a:blip r:embed="rId3" cstate="print"/>
          <a:stretch>
            <a:fillRect/>
          </a:stretch>
        </p:blipFill>
        <p:spPr>
          <a:xfrm>
            <a:off x="4724402" y="457200"/>
            <a:ext cx="3352798" cy="1883648"/>
          </a:xfrm>
          <a:prstGeom prst="rect">
            <a:avLst/>
          </a:prstGeom>
        </p:spPr>
      </p:pic>
      <p:pic>
        <p:nvPicPr>
          <p:cNvPr id="14" name="image34.jpeg">
            <a:extLst>
              <a:ext uri="{FF2B5EF4-FFF2-40B4-BE49-F238E27FC236}">
                <a16:creationId xmlns:a16="http://schemas.microsoft.com/office/drawing/2014/main" id="{5553E30F-68B3-4D35-8A6B-E208D5BE92C1}"/>
              </a:ext>
            </a:extLst>
          </p:cNvPr>
          <p:cNvPicPr/>
          <p:nvPr/>
        </p:nvPicPr>
        <p:blipFill>
          <a:blip r:embed="rId4" cstate="print"/>
          <a:stretch>
            <a:fillRect/>
          </a:stretch>
        </p:blipFill>
        <p:spPr>
          <a:xfrm>
            <a:off x="773502" y="2992475"/>
            <a:ext cx="3646098" cy="2046318"/>
          </a:xfrm>
          <a:prstGeom prst="rect">
            <a:avLst/>
          </a:prstGeom>
        </p:spPr>
      </p:pic>
      <p:pic>
        <p:nvPicPr>
          <p:cNvPr id="15" name="image35.jpeg">
            <a:extLst>
              <a:ext uri="{FF2B5EF4-FFF2-40B4-BE49-F238E27FC236}">
                <a16:creationId xmlns:a16="http://schemas.microsoft.com/office/drawing/2014/main" id="{3DB0D801-2404-48EB-880C-A71B0B2830A6}"/>
              </a:ext>
            </a:extLst>
          </p:cNvPr>
          <p:cNvPicPr/>
          <p:nvPr/>
        </p:nvPicPr>
        <p:blipFill>
          <a:blip r:embed="rId5" cstate="print"/>
          <a:stretch>
            <a:fillRect/>
          </a:stretch>
        </p:blipFill>
        <p:spPr>
          <a:xfrm>
            <a:off x="4572000" y="2914015"/>
            <a:ext cx="3477260" cy="2124778"/>
          </a:xfrm>
          <a:prstGeom prst="rect">
            <a:avLst/>
          </a:prstGeom>
        </p:spPr>
      </p:pic>
    </p:spTree>
    <p:extLst>
      <p:ext uri="{BB962C8B-B14F-4D97-AF65-F5344CB8AC3E}">
        <p14:creationId xmlns:p14="http://schemas.microsoft.com/office/powerpoint/2010/main" val="38407074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ACB4362-D7AF-46DC-9078-BC6DD843E7E7}"/>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B7E983A6-C2D8-40B0-A8DF-D5391E76624E}"/>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D59FB423-84CB-4D65-906E-55AEB66BD588}"/>
              </a:ext>
            </a:extLst>
          </p:cNvPr>
          <p:cNvSpPr>
            <a:spLocks noGrp="1"/>
          </p:cNvSpPr>
          <p:nvPr>
            <p:ph type="sldNum" sz="quarter" idx="12"/>
          </p:nvPr>
        </p:nvSpPr>
        <p:spPr/>
        <p:txBody>
          <a:bodyPr/>
          <a:lstStyle/>
          <a:p>
            <a:fld id="{B6F15528-21DE-4FAA-801E-634DDDAF4B2B}" type="slidenum">
              <a:rPr lang="en-US" smtClean="0"/>
              <a:pPr/>
              <a:t>80</a:t>
            </a:fld>
            <a:endParaRPr lang="en-US"/>
          </a:p>
        </p:txBody>
      </p:sp>
      <p:sp>
        <p:nvSpPr>
          <p:cNvPr id="7" name="Rectangle 4">
            <a:extLst>
              <a:ext uri="{FF2B5EF4-FFF2-40B4-BE49-F238E27FC236}">
                <a16:creationId xmlns:a16="http://schemas.microsoft.com/office/drawing/2014/main" id="{4FD2D0DB-1C95-4599-8D7B-1D9EF2EE0A22}"/>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9" name="Rectangle 5">
            <a:extLst>
              <a:ext uri="{FF2B5EF4-FFF2-40B4-BE49-F238E27FC236}">
                <a16:creationId xmlns:a16="http://schemas.microsoft.com/office/drawing/2014/main" id="{1543A287-67AA-4491-A761-ADA0AD2E13EE}"/>
              </a:ext>
            </a:extLst>
          </p:cNvPr>
          <p:cNvSpPr>
            <a:spLocks noChangeArrowheads="1"/>
          </p:cNvSpPr>
          <p:nvPr/>
        </p:nvSpPr>
        <p:spPr bwMode="auto">
          <a:xfrm>
            <a:off x="179388" y="2190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TextBox 9">
            <a:extLst>
              <a:ext uri="{FF2B5EF4-FFF2-40B4-BE49-F238E27FC236}">
                <a16:creationId xmlns:a16="http://schemas.microsoft.com/office/drawing/2014/main" id="{3C33397C-2AB2-46AD-ACD1-75AD63F09599}"/>
              </a:ext>
            </a:extLst>
          </p:cNvPr>
          <p:cNvSpPr txBox="1"/>
          <p:nvPr/>
        </p:nvSpPr>
        <p:spPr>
          <a:xfrm>
            <a:off x="457200" y="2514601"/>
            <a:ext cx="81534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a:t>
            </a:r>
            <a:r>
              <a:rPr lang="en-US" sz="2000" dirty="0">
                <a:latin typeface="Times New Roman" panose="02020603050405020304" pitchFamily="18" charset="0"/>
                <a:ea typeface="LM Roman 12"/>
                <a:cs typeface="Times New Roman" panose="02020603050405020304" pitchFamily="18" charset="0"/>
              </a:rPr>
              <a:t>44</a:t>
            </a:r>
            <a:r>
              <a:rPr lang="en-US" sz="2000" dirty="0">
                <a:effectLst/>
                <a:latin typeface="Times New Roman" panose="02020603050405020304" pitchFamily="18" charset="0"/>
                <a:ea typeface="LM Roman 12"/>
                <a:cs typeface="Times New Roman" panose="02020603050405020304" pitchFamily="18" charset="0"/>
              </a:rPr>
              <a:t>:Training and Validation Accuracy and loss of 39 MFCC coefficients</a:t>
            </a:r>
            <a:endParaRPr lang="en-IN" sz="2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51AFE1F5-50F4-4D7D-BC48-5C26935F8868}"/>
              </a:ext>
            </a:extLst>
          </p:cNvPr>
          <p:cNvSpPr txBox="1"/>
          <p:nvPr/>
        </p:nvSpPr>
        <p:spPr>
          <a:xfrm>
            <a:off x="609600" y="5086290"/>
            <a:ext cx="81534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a:t>
            </a:r>
            <a:r>
              <a:rPr lang="en-US" sz="2000" dirty="0">
                <a:latin typeface="Times New Roman" panose="02020603050405020304" pitchFamily="18" charset="0"/>
                <a:ea typeface="LM Roman 12"/>
                <a:cs typeface="Times New Roman" panose="02020603050405020304" pitchFamily="18" charset="0"/>
              </a:rPr>
              <a:t>45</a:t>
            </a:r>
            <a:r>
              <a:rPr lang="en-US" sz="2000" dirty="0">
                <a:effectLst/>
                <a:latin typeface="Times New Roman" panose="02020603050405020304" pitchFamily="18" charset="0"/>
                <a:ea typeface="LM Roman 12"/>
                <a:cs typeface="Times New Roman" panose="02020603050405020304" pitchFamily="18" charset="0"/>
              </a:rPr>
              <a:t>:Training and Validation Accuracy and loss of 27 MFCC coefficients</a:t>
            </a:r>
            <a:endParaRPr lang="en-IN" sz="2000" dirty="0">
              <a:latin typeface="Times New Roman" panose="02020603050405020304" pitchFamily="18" charset="0"/>
              <a:cs typeface="Times New Roman" panose="02020603050405020304" pitchFamily="18" charset="0"/>
            </a:endParaRPr>
          </a:p>
        </p:txBody>
      </p:sp>
      <p:pic>
        <p:nvPicPr>
          <p:cNvPr id="15" name="image36.jpeg">
            <a:extLst>
              <a:ext uri="{FF2B5EF4-FFF2-40B4-BE49-F238E27FC236}">
                <a16:creationId xmlns:a16="http://schemas.microsoft.com/office/drawing/2014/main" id="{1B2F3F81-3793-41D9-AA85-D02DBBBB3484}"/>
              </a:ext>
            </a:extLst>
          </p:cNvPr>
          <p:cNvPicPr/>
          <p:nvPr/>
        </p:nvPicPr>
        <p:blipFill>
          <a:blip r:embed="rId2" cstate="print"/>
          <a:stretch>
            <a:fillRect/>
          </a:stretch>
        </p:blipFill>
        <p:spPr>
          <a:xfrm>
            <a:off x="609600" y="312439"/>
            <a:ext cx="3657600" cy="2109186"/>
          </a:xfrm>
          <a:prstGeom prst="rect">
            <a:avLst/>
          </a:prstGeom>
        </p:spPr>
      </p:pic>
      <p:pic>
        <p:nvPicPr>
          <p:cNvPr id="16" name="image37.jpeg">
            <a:extLst>
              <a:ext uri="{FF2B5EF4-FFF2-40B4-BE49-F238E27FC236}">
                <a16:creationId xmlns:a16="http://schemas.microsoft.com/office/drawing/2014/main" id="{C8B18553-1B8E-4351-9770-F3A242456A58}"/>
              </a:ext>
            </a:extLst>
          </p:cNvPr>
          <p:cNvPicPr/>
          <p:nvPr/>
        </p:nvPicPr>
        <p:blipFill>
          <a:blip r:embed="rId3" cstate="print"/>
          <a:stretch>
            <a:fillRect/>
          </a:stretch>
        </p:blipFill>
        <p:spPr>
          <a:xfrm>
            <a:off x="4572000" y="380999"/>
            <a:ext cx="3581400" cy="2109173"/>
          </a:xfrm>
          <a:prstGeom prst="rect">
            <a:avLst/>
          </a:prstGeom>
        </p:spPr>
      </p:pic>
      <p:pic>
        <p:nvPicPr>
          <p:cNvPr id="17" name="image38.jpeg">
            <a:extLst>
              <a:ext uri="{FF2B5EF4-FFF2-40B4-BE49-F238E27FC236}">
                <a16:creationId xmlns:a16="http://schemas.microsoft.com/office/drawing/2014/main" id="{DE6BAC2D-63CD-485E-A060-5CCAAFA79E5F}"/>
              </a:ext>
            </a:extLst>
          </p:cNvPr>
          <p:cNvPicPr/>
          <p:nvPr/>
        </p:nvPicPr>
        <p:blipFill>
          <a:blip r:embed="rId4" cstate="print"/>
          <a:stretch>
            <a:fillRect/>
          </a:stretch>
        </p:blipFill>
        <p:spPr>
          <a:xfrm>
            <a:off x="609600" y="3007685"/>
            <a:ext cx="3657600" cy="2193290"/>
          </a:xfrm>
          <a:prstGeom prst="rect">
            <a:avLst/>
          </a:prstGeom>
        </p:spPr>
      </p:pic>
      <p:pic>
        <p:nvPicPr>
          <p:cNvPr id="18" name="image39.jpeg">
            <a:extLst>
              <a:ext uri="{FF2B5EF4-FFF2-40B4-BE49-F238E27FC236}">
                <a16:creationId xmlns:a16="http://schemas.microsoft.com/office/drawing/2014/main" id="{8FE203FA-2BB8-4B69-9FA9-F74AF67883B0}"/>
              </a:ext>
            </a:extLst>
          </p:cNvPr>
          <p:cNvPicPr/>
          <p:nvPr/>
        </p:nvPicPr>
        <p:blipFill>
          <a:blip r:embed="rId5" cstate="print"/>
          <a:stretch>
            <a:fillRect/>
          </a:stretch>
        </p:blipFill>
        <p:spPr>
          <a:xfrm>
            <a:off x="4572000" y="2879540"/>
            <a:ext cx="3659823" cy="2334895"/>
          </a:xfrm>
          <a:prstGeom prst="rect">
            <a:avLst/>
          </a:prstGeom>
        </p:spPr>
      </p:pic>
    </p:spTree>
    <p:extLst>
      <p:ext uri="{BB962C8B-B14F-4D97-AF65-F5344CB8AC3E}">
        <p14:creationId xmlns:p14="http://schemas.microsoft.com/office/powerpoint/2010/main" val="247047102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64174-A60D-4A28-96F7-C57602AF5487}"/>
              </a:ext>
            </a:extLst>
          </p:cNvPr>
          <p:cNvSpPr>
            <a:spLocks noGrp="1"/>
          </p:cNvSpPr>
          <p:nvPr>
            <p:ph type="title"/>
          </p:nvPr>
        </p:nvSpPr>
        <p:spPr>
          <a:xfrm>
            <a:off x="228600" y="-381000"/>
            <a:ext cx="8229600" cy="1143000"/>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Result of LFCC</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04E47E3-EB58-4516-857D-4D20E736EFEB}"/>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4D03A3C3-48FF-4714-96B0-2D531F25F627}"/>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3DEA8721-2AC9-4D6E-B805-F06B4BB421AB}"/>
              </a:ext>
            </a:extLst>
          </p:cNvPr>
          <p:cNvSpPr>
            <a:spLocks noGrp="1"/>
          </p:cNvSpPr>
          <p:nvPr>
            <p:ph type="sldNum" sz="quarter" idx="12"/>
          </p:nvPr>
        </p:nvSpPr>
        <p:spPr/>
        <p:txBody>
          <a:bodyPr/>
          <a:lstStyle/>
          <a:p>
            <a:fld id="{B6F15528-21DE-4FAA-801E-634DDDAF4B2B}" type="slidenum">
              <a:rPr lang="en-US" smtClean="0"/>
              <a:pPr/>
              <a:t>81</a:t>
            </a:fld>
            <a:endParaRPr lang="en-US"/>
          </a:p>
        </p:txBody>
      </p:sp>
      <p:sp>
        <p:nvSpPr>
          <p:cNvPr id="9" name="TextBox 8">
            <a:extLst>
              <a:ext uri="{FF2B5EF4-FFF2-40B4-BE49-F238E27FC236}">
                <a16:creationId xmlns:a16="http://schemas.microsoft.com/office/drawing/2014/main" id="{8C979D48-CCC2-48AC-BB6D-EF0E12D06F98}"/>
              </a:ext>
            </a:extLst>
          </p:cNvPr>
          <p:cNvSpPr txBox="1"/>
          <p:nvPr/>
        </p:nvSpPr>
        <p:spPr>
          <a:xfrm>
            <a:off x="381000" y="2450068"/>
            <a:ext cx="80772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a:t>
            </a:r>
            <a:r>
              <a:rPr lang="en-US" sz="2000" dirty="0">
                <a:latin typeface="Times New Roman" panose="02020603050405020304" pitchFamily="18" charset="0"/>
                <a:ea typeface="LM Roman 12"/>
                <a:cs typeface="Times New Roman" panose="02020603050405020304" pitchFamily="18" charset="0"/>
              </a:rPr>
              <a:t>46</a:t>
            </a:r>
            <a:r>
              <a:rPr lang="en-US" sz="2000" dirty="0">
                <a:effectLst/>
                <a:latin typeface="Times New Roman" panose="02020603050405020304" pitchFamily="18" charset="0"/>
                <a:ea typeface="LM Roman 12"/>
                <a:cs typeface="Times New Roman" panose="02020603050405020304" pitchFamily="18" charset="0"/>
              </a:rPr>
              <a:t>:Training and Validation Accuracy and loss of 13 LFCC coefficients</a:t>
            </a:r>
            <a:endParaRPr lang="en-IN"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EEBBF87-2F61-4E68-A6EB-571C84C9F269}"/>
              </a:ext>
            </a:extLst>
          </p:cNvPr>
          <p:cNvSpPr txBox="1"/>
          <p:nvPr/>
        </p:nvSpPr>
        <p:spPr>
          <a:xfrm>
            <a:off x="228600" y="5040868"/>
            <a:ext cx="84582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a:t>
            </a:r>
            <a:r>
              <a:rPr lang="en-US" sz="2000" dirty="0">
                <a:latin typeface="Times New Roman" panose="02020603050405020304" pitchFamily="18" charset="0"/>
                <a:ea typeface="LM Roman 12"/>
                <a:cs typeface="Times New Roman" panose="02020603050405020304" pitchFamily="18" charset="0"/>
              </a:rPr>
              <a:t>47</a:t>
            </a:r>
            <a:r>
              <a:rPr lang="en-US" sz="2000" dirty="0">
                <a:effectLst/>
                <a:latin typeface="Times New Roman" panose="02020603050405020304" pitchFamily="18" charset="0"/>
                <a:ea typeface="LM Roman 12"/>
                <a:cs typeface="Times New Roman" panose="02020603050405020304" pitchFamily="18" charset="0"/>
              </a:rPr>
              <a:t>:Training and Validation Accuracy and loss of 26 LFCC coefficients</a:t>
            </a:r>
            <a:endParaRPr lang="en-IN" sz="2000" dirty="0">
              <a:latin typeface="Times New Roman" panose="02020603050405020304" pitchFamily="18" charset="0"/>
              <a:cs typeface="Times New Roman" panose="02020603050405020304" pitchFamily="18" charset="0"/>
            </a:endParaRPr>
          </a:p>
        </p:txBody>
      </p:sp>
      <p:pic>
        <p:nvPicPr>
          <p:cNvPr id="12" name="image40.jpeg">
            <a:extLst>
              <a:ext uri="{FF2B5EF4-FFF2-40B4-BE49-F238E27FC236}">
                <a16:creationId xmlns:a16="http://schemas.microsoft.com/office/drawing/2014/main" id="{A3EB6BF6-03F9-42A0-93A1-F0F57DF30261}"/>
              </a:ext>
            </a:extLst>
          </p:cNvPr>
          <p:cNvPicPr/>
          <p:nvPr/>
        </p:nvPicPr>
        <p:blipFill>
          <a:blip r:embed="rId2" cstate="print"/>
          <a:stretch>
            <a:fillRect/>
          </a:stretch>
        </p:blipFill>
        <p:spPr>
          <a:xfrm>
            <a:off x="685800" y="587003"/>
            <a:ext cx="3810000" cy="1860990"/>
          </a:xfrm>
          <a:prstGeom prst="rect">
            <a:avLst/>
          </a:prstGeom>
        </p:spPr>
      </p:pic>
      <p:pic>
        <p:nvPicPr>
          <p:cNvPr id="16" name="image41.jpeg">
            <a:extLst>
              <a:ext uri="{FF2B5EF4-FFF2-40B4-BE49-F238E27FC236}">
                <a16:creationId xmlns:a16="http://schemas.microsoft.com/office/drawing/2014/main" id="{E166A4D8-E834-4C03-8DAC-F9D3D82F240C}"/>
              </a:ext>
            </a:extLst>
          </p:cNvPr>
          <p:cNvPicPr/>
          <p:nvPr/>
        </p:nvPicPr>
        <p:blipFill>
          <a:blip r:embed="rId3" cstate="print"/>
          <a:stretch>
            <a:fillRect/>
          </a:stretch>
        </p:blipFill>
        <p:spPr>
          <a:xfrm>
            <a:off x="4572000" y="608162"/>
            <a:ext cx="3429001" cy="1860990"/>
          </a:xfrm>
          <a:prstGeom prst="rect">
            <a:avLst/>
          </a:prstGeom>
        </p:spPr>
      </p:pic>
      <p:pic>
        <p:nvPicPr>
          <p:cNvPr id="17" name="image42.jpeg">
            <a:extLst>
              <a:ext uri="{FF2B5EF4-FFF2-40B4-BE49-F238E27FC236}">
                <a16:creationId xmlns:a16="http://schemas.microsoft.com/office/drawing/2014/main" id="{05DA64FC-B226-4ED7-B420-AAE2A120D488}"/>
              </a:ext>
            </a:extLst>
          </p:cNvPr>
          <p:cNvPicPr/>
          <p:nvPr/>
        </p:nvPicPr>
        <p:blipFill>
          <a:blip r:embed="rId4" cstate="print"/>
          <a:stretch>
            <a:fillRect/>
          </a:stretch>
        </p:blipFill>
        <p:spPr>
          <a:xfrm>
            <a:off x="992187" y="3072848"/>
            <a:ext cx="3436189" cy="1803952"/>
          </a:xfrm>
          <a:prstGeom prst="rect">
            <a:avLst/>
          </a:prstGeom>
        </p:spPr>
      </p:pic>
      <p:pic>
        <p:nvPicPr>
          <p:cNvPr id="18" name="image43.jpeg">
            <a:extLst>
              <a:ext uri="{FF2B5EF4-FFF2-40B4-BE49-F238E27FC236}">
                <a16:creationId xmlns:a16="http://schemas.microsoft.com/office/drawing/2014/main" id="{2A93256F-DE86-4F4A-9AD4-9D8788675F01}"/>
              </a:ext>
            </a:extLst>
          </p:cNvPr>
          <p:cNvPicPr/>
          <p:nvPr/>
        </p:nvPicPr>
        <p:blipFill>
          <a:blip r:embed="rId5" cstate="print"/>
          <a:stretch>
            <a:fillRect/>
          </a:stretch>
        </p:blipFill>
        <p:spPr>
          <a:xfrm>
            <a:off x="4572000" y="2973729"/>
            <a:ext cx="3436189" cy="2065064"/>
          </a:xfrm>
          <a:prstGeom prst="rect">
            <a:avLst/>
          </a:prstGeom>
        </p:spPr>
      </p:pic>
    </p:spTree>
    <p:extLst>
      <p:ext uri="{BB962C8B-B14F-4D97-AF65-F5344CB8AC3E}">
        <p14:creationId xmlns:p14="http://schemas.microsoft.com/office/powerpoint/2010/main" val="11202150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ACB4362-D7AF-46DC-9078-BC6DD843E7E7}"/>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B7E983A6-C2D8-40B0-A8DF-D5391E76624E}"/>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D59FB423-84CB-4D65-906E-55AEB66BD588}"/>
              </a:ext>
            </a:extLst>
          </p:cNvPr>
          <p:cNvSpPr>
            <a:spLocks noGrp="1"/>
          </p:cNvSpPr>
          <p:nvPr>
            <p:ph type="sldNum" sz="quarter" idx="12"/>
          </p:nvPr>
        </p:nvSpPr>
        <p:spPr/>
        <p:txBody>
          <a:bodyPr/>
          <a:lstStyle/>
          <a:p>
            <a:fld id="{B6F15528-21DE-4FAA-801E-634DDDAF4B2B}" type="slidenum">
              <a:rPr lang="en-US" smtClean="0"/>
              <a:pPr/>
              <a:t>82</a:t>
            </a:fld>
            <a:endParaRPr lang="en-US"/>
          </a:p>
        </p:txBody>
      </p:sp>
      <p:sp>
        <p:nvSpPr>
          <p:cNvPr id="7" name="Rectangle 4">
            <a:extLst>
              <a:ext uri="{FF2B5EF4-FFF2-40B4-BE49-F238E27FC236}">
                <a16:creationId xmlns:a16="http://schemas.microsoft.com/office/drawing/2014/main" id="{4FD2D0DB-1C95-4599-8D7B-1D9EF2EE0A22}"/>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9" name="Rectangle 5">
            <a:extLst>
              <a:ext uri="{FF2B5EF4-FFF2-40B4-BE49-F238E27FC236}">
                <a16:creationId xmlns:a16="http://schemas.microsoft.com/office/drawing/2014/main" id="{1543A287-67AA-4491-A761-ADA0AD2E13EE}"/>
              </a:ext>
            </a:extLst>
          </p:cNvPr>
          <p:cNvSpPr>
            <a:spLocks noChangeArrowheads="1"/>
          </p:cNvSpPr>
          <p:nvPr/>
        </p:nvSpPr>
        <p:spPr bwMode="auto">
          <a:xfrm>
            <a:off x="179388" y="2190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TextBox 9">
            <a:extLst>
              <a:ext uri="{FF2B5EF4-FFF2-40B4-BE49-F238E27FC236}">
                <a16:creationId xmlns:a16="http://schemas.microsoft.com/office/drawing/2014/main" id="{3C33397C-2AB2-46AD-ACD1-75AD63F09599}"/>
              </a:ext>
            </a:extLst>
          </p:cNvPr>
          <p:cNvSpPr txBox="1"/>
          <p:nvPr/>
        </p:nvSpPr>
        <p:spPr>
          <a:xfrm>
            <a:off x="457200" y="2438400"/>
            <a:ext cx="81534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48:Training and Validation Accuracy and loss of 39 LFCC coefficients</a:t>
            </a:r>
            <a:endParaRPr lang="en-IN" sz="2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51AFE1F5-50F4-4D7D-BC48-5C26935F8868}"/>
              </a:ext>
            </a:extLst>
          </p:cNvPr>
          <p:cNvSpPr txBox="1"/>
          <p:nvPr/>
        </p:nvSpPr>
        <p:spPr>
          <a:xfrm>
            <a:off x="609600" y="5086290"/>
            <a:ext cx="81534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a:t>
            </a:r>
            <a:r>
              <a:rPr lang="en-US" sz="2000" dirty="0">
                <a:latin typeface="Times New Roman" panose="02020603050405020304" pitchFamily="18" charset="0"/>
                <a:ea typeface="LM Roman 12"/>
                <a:cs typeface="Times New Roman" panose="02020603050405020304" pitchFamily="18" charset="0"/>
              </a:rPr>
              <a:t>49</a:t>
            </a:r>
            <a:r>
              <a:rPr lang="en-US" sz="2000" dirty="0">
                <a:effectLst/>
                <a:latin typeface="Times New Roman" panose="02020603050405020304" pitchFamily="18" charset="0"/>
                <a:ea typeface="LM Roman 12"/>
                <a:cs typeface="Times New Roman" panose="02020603050405020304" pitchFamily="18" charset="0"/>
              </a:rPr>
              <a:t>:Training and Validation Accuracy and loss of 27 LFCC coefficients</a:t>
            </a:r>
            <a:endParaRPr lang="en-IN" sz="2000" dirty="0">
              <a:latin typeface="Times New Roman" panose="02020603050405020304" pitchFamily="18" charset="0"/>
              <a:cs typeface="Times New Roman" panose="02020603050405020304" pitchFamily="18" charset="0"/>
            </a:endParaRPr>
          </a:p>
        </p:txBody>
      </p:sp>
      <p:pic>
        <p:nvPicPr>
          <p:cNvPr id="12" name="image44.jpeg">
            <a:extLst>
              <a:ext uri="{FF2B5EF4-FFF2-40B4-BE49-F238E27FC236}">
                <a16:creationId xmlns:a16="http://schemas.microsoft.com/office/drawing/2014/main" id="{F779AD9A-4F25-49EF-A35B-F0ACA3A29A74}"/>
              </a:ext>
            </a:extLst>
          </p:cNvPr>
          <p:cNvPicPr/>
          <p:nvPr/>
        </p:nvPicPr>
        <p:blipFill>
          <a:blip r:embed="rId2" cstate="print"/>
          <a:stretch>
            <a:fillRect/>
          </a:stretch>
        </p:blipFill>
        <p:spPr>
          <a:xfrm>
            <a:off x="685800" y="304800"/>
            <a:ext cx="3733801" cy="2046943"/>
          </a:xfrm>
          <a:prstGeom prst="rect">
            <a:avLst/>
          </a:prstGeom>
        </p:spPr>
      </p:pic>
      <p:pic>
        <p:nvPicPr>
          <p:cNvPr id="13" name="image45.jpeg">
            <a:extLst>
              <a:ext uri="{FF2B5EF4-FFF2-40B4-BE49-F238E27FC236}">
                <a16:creationId xmlns:a16="http://schemas.microsoft.com/office/drawing/2014/main" id="{9D4E74FC-BBD3-4AD9-8A9D-AC94CA92CFC9}"/>
              </a:ext>
            </a:extLst>
          </p:cNvPr>
          <p:cNvPicPr/>
          <p:nvPr/>
        </p:nvPicPr>
        <p:blipFill>
          <a:blip r:embed="rId3" cstate="print"/>
          <a:stretch>
            <a:fillRect/>
          </a:stretch>
        </p:blipFill>
        <p:spPr>
          <a:xfrm>
            <a:off x="4724401" y="304800"/>
            <a:ext cx="3505199" cy="2207724"/>
          </a:xfrm>
          <a:prstGeom prst="rect">
            <a:avLst/>
          </a:prstGeom>
        </p:spPr>
      </p:pic>
      <p:pic>
        <p:nvPicPr>
          <p:cNvPr id="18" name="image46.jpeg">
            <a:extLst>
              <a:ext uri="{FF2B5EF4-FFF2-40B4-BE49-F238E27FC236}">
                <a16:creationId xmlns:a16="http://schemas.microsoft.com/office/drawing/2014/main" id="{F9D5E873-9B49-467A-BA68-41A0ABCDDA2C}"/>
              </a:ext>
            </a:extLst>
          </p:cNvPr>
          <p:cNvPicPr/>
          <p:nvPr/>
        </p:nvPicPr>
        <p:blipFill>
          <a:blip r:embed="rId4" cstate="print"/>
          <a:stretch>
            <a:fillRect/>
          </a:stretch>
        </p:blipFill>
        <p:spPr>
          <a:xfrm>
            <a:off x="685801" y="2860077"/>
            <a:ext cx="3733800" cy="2281265"/>
          </a:xfrm>
          <a:prstGeom prst="rect">
            <a:avLst/>
          </a:prstGeom>
        </p:spPr>
      </p:pic>
      <p:pic>
        <p:nvPicPr>
          <p:cNvPr id="19" name="image47.jpeg">
            <a:extLst>
              <a:ext uri="{FF2B5EF4-FFF2-40B4-BE49-F238E27FC236}">
                <a16:creationId xmlns:a16="http://schemas.microsoft.com/office/drawing/2014/main" id="{8E87B0C2-0454-439D-8AC8-650079910B37}"/>
              </a:ext>
            </a:extLst>
          </p:cNvPr>
          <p:cNvPicPr/>
          <p:nvPr/>
        </p:nvPicPr>
        <p:blipFill>
          <a:blip r:embed="rId5" cstate="print"/>
          <a:stretch>
            <a:fillRect/>
          </a:stretch>
        </p:blipFill>
        <p:spPr>
          <a:xfrm>
            <a:off x="4634544" y="2914711"/>
            <a:ext cx="3595056" cy="2169504"/>
          </a:xfrm>
          <a:prstGeom prst="rect">
            <a:avLst/>
          </a:prstGeom>
        </p:spPr>
      </p:pic>
    </p:spTree>
    <p:extLst>
      <p:ext uri="{BB962C8B-B14F-4D97-AF65-F5344CB8AC3E}">
        <p14:creationId xmlns:p14="http://schemas.microsoft.com/office/powerpoint/2010/main" val="2873146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64174-A60D-4A28-96F7-C57602AF5487}"/>
              </a:ext>
            </a:extLst>
          </p:cNvPr>
          <p:cNvSpPr>
            <a:spLocks noGrp="1"/>
          </p:cNvSpPr>
          <p:nvPr>
            <p:ph type="title"/>
          </p:nvPr>
        </p:nvSpPr>
        <p:spPr>
          <a:xfrm>
            <a:off x="228600" y="-381000"/>
            <a:ext cx="8229600" cy="1143000"/>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Result of GFCC</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04E47E3-EB58-4516-857D-4D20E736EFEB}"/>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4D03A3C3-48FF-4714-96B0-2D531F25F627}"/>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3DEA8721-2AC9-4D6E-B805-F06B4BB421AB}"/>
              </a:ext>
            </a:extLst>
          </p:cNvPr>
          <p:cNvSpPr>
            <a:spLocks noGrp="1"/>
          </p:cNvSpPr>
          <p:nvPr>
            <p:ph type="sldNum" sz="quarter" idx="12"/>
          </p:nvPr>
        </p:nvSpPr>
        <p:spPr/>
        <p:txBody>
          <a:bodyPr/>
          <a:lstStyle/>
          <a:p>
            <a:fld id="{B6F15528-21DE-4FAA-801E-634DDDAF4B2B}" type="slidenum">
              <a:rPr lang="en-US" smtClean="0"/>
              <a:pPr/>
              <a:t>83</a:t>
            </a:fld>
            <a:endParaRPr lang="en-US"/>
          </a:p>
        </p:txBody>
      </p:sp>
      <p:sp>
        <p:nvSpPr>
          <p:cNvPr id="9" name="TextBox 8">
            <a:extLst>
              <a:ext uri="{FF2B5EF4-FFF2-40B4-BE49-F238E27FC236}">
                <a16:creationId xmlns:a16="http://schemas.microsoft.com/office/drawing/2014/main" id="{8C979D48-CCC2-48AC-BB6D-EF0E12D06F98}"/>
              </a:ext>
            </a:extLst>
          </p:cNvPr>
          <p:cNvSpPr txBox="1"/>
          <p:nvPr/>
        </p:nvSpPr>
        <p:spPr>
          <a:xfrm>
            <a:off x="228599" y="2450068"/>
            <a:ext cx="8229599"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a:t>
            </a:r>
            <a:r>
              <a:rPr lang="en-US" sz="2000" dirty="0">
                <a:latin typeface="Times New Roman" panose="02020603050405020304" pitchFamily="18" charset="0"/>
                <a:ea typeface="LM Roman 12"/>
                <a:cs typeface="Times New Roman" panose="02020603050405020304" pitchFamily="18" charset="0"/>
              </a:rPr>
              <a:t>50</a:t>
            </a:r>
            <a:r>
              <a:rPr lang="en-US" sz="2000" dirty="0">
                <a:effectLst/>
                <a:latin typeface="Times New Roman" panose="02020603050405020304" pitchFamily="18" charset="0"/>
                <a:ea typeface="LM Roman 12"/>
                <a:cs typeface="Times New Roman" panose="02020603050405020304" pitchFamily="18" charset="0"/>
              </a:rPr>
              <a:t>:Training and Validation Accuracy and loss of 13 GFCC coefficients</a:t>
            </a:r>
            <a:endParaRPr lang="en-IN"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EEBBF87-2F61-4E68-A6EB-571C84C9F269}"/>
              </a:ext>
            </a:extLst>
          </p:cNvPr>
          <p:cNvSpPr txBox="1"/>
          <p:nvPr/>
        </p:nvSpPr>
        <p:spPr>
          <a:xfrm>
            <a:off x="228599" y="5040868"/>
            <a:ext cx="8229601"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51</a:t>
            </a:r>
            <a:r>
              <a:rPr lang="en-US" sz="2000" dirty="0">
                <a:latin typeface="Times New Roman" panose="02020603050405020304" pitchFamily="18" charset="0"/>
                <a:ea typeface="LM Roman 12"/>
                <a:cs typeface="Times New Roman" panose="02020603050405020304" pitchFamily="18" charset="0"/>
              </a:rPr>
              <a:t>:</a:t>
            </a:r>
            <a:r>
              <a:rPr lang="en-US" sz="2000" dirty="0">
                <a:effectLst/>
                <a:latin typeface="Times New Roman" panose="02020603050405020304" pitchFamily="18" charset="0"/>
                <a:ea typeface="LM Roman 12"/>
                <a:cs typeface="Times New Roman" panose="02020603050405020304" pitchFamily="18" charset="0"/>
              </a:rPr>
              <a:t>Training and Validation Accuracy and loss of 26 GFCC coefficients</a:t>
            </a:r>
            <a:endParaRPr lang="en-IN" sz="2000" dirty="0">
              <a:latin typeface="Times New Roman" panose="02020603050405020304" pitchFamily="18" charset="0"/>
              <a:cs typeface="Times New Roman" panose="02020603050405020304" pitchFamily="18" charset="0"/>
            </a:endParaRPr>
          </a:p>
        </p:txBody>
      </p:sp>
      <p:pic>
        <p:nvPicPr>
          <p:cNvPr id="13" name="image48.jpeg">
            <a:extLst>
              <a:ext uri="{FF2B5EF4-FFF2-40B4-BE49-F238E27FC236}">
                <a16:creationId xmlns:a16="http://schemas.microsoft.com/office/drawing/2014/main" id="{F1BD6588-EB52-4AF5-8887-B85F486DC541}"/>
              </a:ext>
            </a:extLst>
          </p:cNvPr>
          <p:cNvPicPr/>
          <p:nvPr/>
        </p:nvPicPr>
        <p:blipFill>
          <a:blip r:embed="rId2" cstate="print"/>
          <a:stretch>
            <a:fillRect/>
          </a:stretch>
        </p:blipFill>
        <p:spPr>
          <a:xfrm>
            <a:off x="685800" y="457200"/>
            <a:ext cx="3724544" cy="1958196"/>
          </a:xfrm>
          <a:prstGeom prst="rect">
            <a:avLst/>
          </a:prstGeom>
        </p:spPr>
      </p:pic>
      <p:pic>
        <p:nvPicPr>
          <p:cNvPr id="14" name="image49.jpeg">
            <a:extLst>
              <a:ext uri="{FF2B5EF4-FFF2-40B4-BE49-F238E27FC236}">
                <a16:creationId xmlns:a16="http://schemas.microsoft.com/office/drawing/2014/main" id="{CCAE08BB-99D8-4CB9-9050-D107DF09B648}"/>
              </a:ext>
            </a:extLst>
          </p:cNvPr>
          <p:cNvPicPr/>
          <p:nvPr/>
        </p:nvPicPr>
        <p:blipFill>
          <a:blip r:embed="rId3" cstate="print"/>
          <a:stretch>
            <a:fillRect/>
          </a:stretch>
        </p:blipFill>
        <p:spPr>
          <a:xfrm>
            <a:off x="4733658" y="457200"/>
            <a:ext cx="3419742" cy="1958196"/>
          </a:xfrm>
          <a:prstGeom prst="rect">
            <a:avLst/>
          </a:prstGeom>
        </p:spPr>
      </p:pic>
      <p:pic>
        <p:nvPicPr>
          <p:cNvPr id="15" name="image50.jpeg">
            <a:extLst>
              <a:ext uri="{FF2B5EF4-FFF2-40B4-BE49-F238E27FC236}">
                <a16:creationId xmlns:a16="http://schemas.microsoft.com/office/drawing/2014/main" id="{3A904CC4-077E-4B98-8BEC-04FF61F7C814}"/>
              </a:ext>
            </a:extLst>
          </p:cNvPr>
          <p:cNvPicPr/>
          <p:nvPr/>
        </p:nvPicPr>
        <p:blipFill>
          <a:blip r:embed="rId4" cstate="print"/>
          <a:stretch>
            <a:fillRect/>
          </a:stretch>
        </p:blipFill>
        <p:spPr>
          <a:xfrm>
            <a:off x="685799" y="2938962"/>
            <a:ext cx="3724544" cy="2072708"/>
          </a:xfrm>
          <a:prstGeom prst="rect">
            <a:avLst/>
          </a:prstGeom>
        </p:spPr>
      </p:pic>
      <p:pic>
        <p:nvPicPr>
          <p:cNvPr id="16" name="image51.jpeg">
            <a:extLst>
              <a:ext uri="{FF2B5EF4-FFF2-40B4-BE49-F238E27FC236}">
                <a16:creationId xmlns:a16="http://schemas.microsoft.com/office/drawing/2014/main" id="{D8B6F972-7606-47BD-9701-32D3A669FFCA}"/>
              </a:ext>
            </a:extLst>
          </p:cNvPr>
          <p:cNvPicPr/>
          <p:nvPr/>
        </p:nvPicPr>
        <p:blipFill>
          <a:blip r:embed="rId5" cstate="print"/>
          <a:stretch>
            <a:fillRect/>
          </a:stretch>
        </p:blipFill>
        <p:spPr>
          <a:xfrm>
            <a:off x="4733658" y="2966085"/>
            <a:ext cx="3352432" cy="2072708"/>
          </a:xfrm>
          <a:prstGeom prst="rect">
            <a:avLst/>
          </a:prstGeom>
        </p:spPr>
      </p:pic>
    </p:spTree>
    <p:extLst>
      <p:ext uri="{BB962C8B-B14F-4D97-AF65-F5344CB8AC3E}">
        <p14:creationId xmlns:p14="http://schemas.microsoft.com/office/powerpoint/2010/main" val="29270644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ACB4362-D7AF-46DC-9078-BC6DD843E7E7}"/>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B7E983A6-C2D8-40B0-A8DF-D5391E76624E}"/>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D59FB423-84CB-4D65-906E-55AEB66BD588}"/>
              </a:ext>
            </a:extLst>
          </p:cNvPr>
          <p:cNvSpPr>
            <a:spLocks noGrp="1"/>
          </p:cNvSpPr>
          <p:nvPr>
            <p:ph type="sldNum" sz="quarter" idx="12"/>
          </p:nvPr>
        </p:nvSpPr>
        <p:spPr/>
        <p:txBody>
          <a:bodyPr/>
          <a:lstStyle/>
          <a:p>
            <a:fld id="{B6F15528-21DE-4FAA-801E-634DDDAF4B2B}" type="slidenum">
              <a:rPr lang="en-US" smtClean="0"/>
              <a:pPr/>
              <a:t>84</a:t>
            </a:fld>
            <a:endParaRPr lang="en-US"/>
          </a:p>
        </p:txBody>
      </p:sp>
      <p:sp>
        <p:nvSpPr>
          <p:cNvPr id="7" name="Rectangle 4">
            <a:extLst>
              <a:ext uri="{FF2B5EF4-FFF2-40B4-BE49-F238E27FC236}">
                <a16:creationId xmlns:a16="http://schemas.microsoft.com/office/drawing/2014/main" id="{4FD2D0DB-1C95-4599-8D7B-1D9EF2EE0A22}"/>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9" name="Rectangle 5">
            <a:extLst>
              <a:ext uri="{FF2B5EF4-FFF2-40B4-BE49-F238E27FC236}">
                <a16:creationId xmlns:a16="http://schemas.microsoft.com/office/drawing/2014/main" id="{1543A287-67AA-4491-A761-ADA0AD2E13EE}"/>
              </a:ext>
            </a:extLst>
          </p:cNvPr>
          <p:cNvSpPr>
            <a:spLocks noChangeArrowheads="1"/>
          </p:cNvSpPr>
          <p:nvPr/>
        </p:nvSpPr>
        <p:spPr bwMode="auto">
          <a:xfrm>
            <a:off x="179388" y="2190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TextBox 9">
            <a:extLst>
              <a:ext uri="{FF2B5EF4-FFF2-40B4-BE49-F238E27FC236}">
                <a16:creationId xmlns:a16="http://schemas.microsoft.com/office/drawing/2014/main" id="{3C33397C-2AB2-46AD-ACD1-75AD63F09599}"/>
              </a:ext>
            </a:extLst>
          </p:cNvPr>
          <p:cNvSpPr txBox="1"/>
          <p:nvPr/>
        </p:nvSpPr>
        <p:spPr>
          <a:xfrm>
            <a:off x="457200" y="2514601"/>
            <a:ext cx="81534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a:t>
            </a:r>
            <a:r>
              <a:rPr lang="en-US" sz="2000" dirty="0">
                <a:latin typeface="Times New Roman" panose="02020603050405020304" pitchFamily="18" charset="0"/>
                <a:ea typeface="LM Roman 12"/>
                <a:cs typeface="Times New Roman" panose="02020603050405020304" pitchFamily="18" charset="0"/>
              </a:rPr>
              <a:t>52</a:t>
            </a:r>
            <a:r>
              <a:rPr lang="en-US" sz="2000" dirty="0">
                <a:effectLst/>
                <a:latin typeface="Times New Roman" panose="02020603050405020304" pitchFamily="18" charset="0"/>
                <a:ea typeface="LM Roman 12"/>
                <a:cs typeface="Times New Roman" panose="02020603050405020304" pitchFamily="18" charset="0"/>
              </a:rPr>
              <a:t>:Training and Validation Accuracy and loss of 39 GFCC coefficients</a:t>
            </a:r>
            <a:endParaRPr lang="en-IN" sz="2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51AFE1F5-50F4-4D7D-BC48-5C26935F8868}"/>
              </a:ext>
            </a:extLst>
          </p:cNvPr>
          <p:cNvSpPr txBox="1"/>
          <p:nvPr/>
        </p:nvSpPr>
        <p:spPr>
          <a:xfrm>
            <a:off x="609600" y="5086290"/>
            <a:ext cx="8153400" cy="400110"/>
          </a:xfrm>
          <a:prstGeom prst="rect">
            <a:avLst/>
          </a:prstGeom>
          <a:noFill/>
        </p:spPr>
        <p:txBody>
          <a:bodyPr wrap="square" rtlCol="0">
            <a:spAutoFit/>
          </a:bodyPr>
          <a:lstStyle/>
          <a:p>
            <a:pPr algn="ctr"/>
            <a:r>
              <a:rPr lang="en-US" sz="2000" dirty="0">
                <a:effectLst/>
                <a:latin typeface="Times New Roman" panose="02020603050405020304" pitchFamily="18" charset="0"/>
                <a:ea typeface="LM Roman 12"/>
                <a:cs typeface="Times New Roman" panose="02020603050405020304" pitchFamily="18" charset="0"/>
              </a:rPr>
              <a:t>Figure </a:t>
            </a:r>
            <a:r>
              <a:rPr lang="en-US" sz="2000" dirty="0">
                <a:latin typeface="Times New Roman" panose="02020603050405020304" pitchFamily="18" charset="0"/>
                <a:ea typeface="LM Roman 12"/>
                <a:cs typeface="Times New Roman" panose="02020603050405020304" pitchFamily="18" charset="0"/>
              </a:rPr>
              <a:t>53</a:t>
            </a:r>
            <a:r>
              <a:rPr lang="en-US" sz="2000" dirty="0">
                <a:effectLst/>
                <a:latin typeface="Times New Roman" panose="02020603050405020304" pitchFamily="18" charset="0"/>
                <a:ea typeface="LM Roman 12"/>
                <a:cs typeface="Times New Roman" panose="02020603050405020304" pitchFamily="18" charset="0"/>
              </a:rPr>
              <a:t>:Training and Validation Accuracy and loss of 27 GFCC coefficients</a:t>
            </a:r>
            <a:endParaRPr lang="en-IN" sz="2000" dirty="0">
              <a:latin typeface="Times New Roman" panose="02020603050405020304" pitchFamily="18" charset="0"/>
              <a:cs typeface="Times New Roman" panose="02020603050405020304" pitchFamily="18" charset="0"/>
            </a:endParaRPr>
          </a:p>
        </p:txBody>
      </p:sp>
      <p:pic>
        <p:nvPicPr>
          <p:cNvPr id="13" name="image52.jpeg">
            <a:extLst>
              <a:ext uri="{FF2B5EF4-FFF2-40B4-BE49-F238E27FC236}">
                <a16:creationId xmlns:a16="http://schemas.microsoft.com/office/drawing/2014/main" id="{FAAA1729-0717-4605-8674-1A6D6EA391DC}"/>
              </a:ext>
            </a:extLst>
          </p:cNvPr>
          <p:cNvPicPr/>
          <p:nvPr/>
        </p:nvPicPr>
        <p:blipFill>
          <a:blip r:embed="rId2" cstate="print"/>
          <a:stretch>
            <a:fillRect/>
          </a:stretch>
        </p:blipFill>
        <p:spPr>
          <a:xfrm>
            <a:off x="762000" y="366474"/>
            <a:ext cx="3810000" cy="2262291"/>
          </a:xfrm>
          <a:prstGeom prst="rect">
            <a:avLst/>
          </a:prstGeom>
        </p:spPr>
      </p:pic>
      <p:pic>
        <p:nvPicPr>
          <p:cNvPr id="15" name="image53.jpeg">
            <a:extLst>
              <a:ext uri="{FF2B5EF4-FFF2-40B4-BE49-F238E27FC236}">
                <a16:creationId xmlns:a16="http://schemas.microsoft.com/office/drawing/2014/main" id="{C79BC9B5-4AF0-47B8-8ACE-404A27D57296}"/>
              </a:ext>
            </a:extLst>
          </p:cNvPr>
          <p:cNvPicPr/>
          <p:nvPr/>
        </p:nvPicPr>
        <p:blipFill>
          <a:blip r:embed="rId3" cstate="print"/>
          <a:stretch>
            <a:fillRect/>
          </a:stretch>
        </p:blipFill>
        <p:spPr>
          <a:xfrm>
            <a:off x="4576313" y="304800"/>
            <a:ext cx="3652379" cy="2262291"/>
          </a:xfrm>
          <a:prstGeom prst="rect">
            <a:avLst/>
          </a:prstGeom>
        </p:spPr>
      </p:pic>
      <p:grpSp>
        <p:nvGrpSpPr>
          <p:cNvPr id="3" name="Group 2">
            <a:extLst>
              <a:ext uri="{FF2B5EF4-FFF2-40B4-BE49-F238E27FC236}">
                <a16:creationId xmlns:a16="http://schemas.microsoft.com/office/drawing/2014/main" id="{16786109-3BB3-4523-BE44-133B3FDB36B0}"/>
              </a:ext>
            </a:extLst>
          </p:cNvPr>
          <p:cNvGrpSpPr>
            <a:grpSpLocks/>
          </p:cNvGrpSpPr>
          <p:nvPr/>
        </p:nvGrpSpPr>
        <p:grpSpPr bwMode="auto">
          <a:xfrm>
            <a:off x="838200" y="2971800"/>
            <a:ext cx="7390492" cy="2184400"/>
            <a:chOff x="1304" y="323"/>
            <a:chExt cx="8091" cy="3438"/>
          </a:xfrm>
        </p:grpSpPr>
        <p:pic>
          <p:nvPicPr>
            <p:cNvPr id="24579" name="Picture 3">
              <a:extLst>
                <a:ext uri="{FF2B5EF4-FFF2-40B4-BE49-F238E27FC236}">
                  <a16:creationId xmlns:a16="http://schemas.microsoft.com/office/drawing/2014/main" id="{D154242E-9595-4BB8-8F0F-488BCCE8D2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3" y="322"/>
              <a:ext cx="4038" cy="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4">
              <a:extLst>
                <a:ext uri="{FF2B5EF4-FFF2-40B4-BE49-F238E27FC236}">
                  <a16:creationId xmlns:a16="http://schemas.microsoft.com/office/drawing/2014/main" id="{7FAA79A5-6259-4F8A-87D1-DC066A2505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81" y="487"/>
              <a:ext cx="4013" cy="3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0068890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F1E4EF1-EB12-4753-A462-33F1AC88FE7C}"/>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B3CE2472-49BE-43A1-B6DE-38FA60D639ED}"/>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BCA339C9-A49C-4126-829B-89CE5C5CF1F8}"/>
              </a:ext>
            </a:extLst>
          </p:cNvPr>
          <p:cNvSpPr>
            <a:spLocks noGrp="1"/>
          </p:cNvSpPr>
          <p:nvPr>
            <p:ph type="sldNum" sz="quarter" idx="12"/>
          </p:nvPr>
        </p:nvSpPr>
        <p:spPr/>
        <p:txBody>
          <a:bodyPr/>
          <a:lstStyle/>
          <a:p>
            <a:fld id="{B6F15528-21DE-4FAA-801E-634DDDAF4B2B}" type="slidenum">
              <a:rPr lang="en-US" smtClean="0"/>
              <a:pPr/>
              <a:t>85</a:t>
            </a:fld>
            <a:endParaRPr lang="en-US"/>
          </a:p>
        </p:txBody>
      </p:sp>
      <p:graphicFrame>
        <p:nvGraphicFramePr>
          <p:cNvPr id="7" name="Table 6">
            <a:extLst>
              <a:ext uri="{FF2B5EF4-FFF2-40B4-BE49-F238E27FC236}">
                <a16:creationId xmlns:a16="http://schemas.microsoft.com/office/drawing/2014/main" id="{DADCE6E5-456A-47E3-8B90-9D1BBDC2DF43}"/>
              </a:ext>
            </a:extLst>
          </p:cNvPr>
          <p:cNvGraphicFramePr>
            <a:graphicFrameLocks noGrp="1"/>
          </p:cNvGraphicFramePr>
          <p:nvPr>
            <p:extLst>
              <p:ext uri="{D42A27DB-BD31-4B8C-83A1-F6EECF244321}">
                <p14:modId xmlns:p14="http://schemas.microsoft.com/office/powerpoint/2010/main" val="3869454856"/>
              </p:ext>
            </p:extLst>
          </p:nvPr>
        </p:nvGraphicFramePr>
        <p:xfrm>
          <a:off x="1143000" y="1600199"/>
          <a:ext cx="6095999" cy="1981200"/>
        </p:xfrm>
        <a:graphic>
          <a:graphicData uri="http://schemas.openxmlformats.org/drawingml/2006/table">
            <a:tbl>
              <a:tblPr firstRow="1" firstCol="1" lastRow="1" lastCol="1" bandRow="1" bandCol="1">
                <a:tableStyleId>{5940675A-B579-460E-94D1-54222C63F5DA}</a:tableStyleId>
              </a:tblPr>
              <a:tblGrid>
                <a:gridCol w="1034497">
                  <a:extLst>
                    <a:ext uri="{9D8B030D-6E8A-4147-A177-3AD203B41FA5}">
                      <a16:colId xmlns:a16="http://schemas.microsoft.com/office/drawing/2014/main" val="1346080742"/>
                    </a:ext>
                  </a:extLst>
                </a:gridCol>
                <a:gridCol w="1985502">
                  <a:extLst>
                    <a:ext uri="{9D8B030D-6E8A-4147-A177-3AD203B41FA5}">
                      <a16:colId xmlns:a16="http://schemas.microsoft.com/office/drawing/2014/main" val="4154394575"/>
                    </a:ext>
                  </a:extLst>
                </a:gridCol>
                <a:gridCol w="1072170">
                  <a:extLst>
                    <a:ext uri="{9D8B030D-6E8A-4147-A177-3AD203B41FA5}">
                      <a16:colId xmlns:a16="http://schemas.microsoft.com/office/drawing/2014/main" val="2472697089"/>
                    </a:ext>
                  </a:extLst>
                </a:gridCol>
                <a:gridCol w="976460">
                  <a:extLst>
                    <a:ext uri="{9D8B030D-6E8A-4147-A177-3AD203B41FA5}">
                      <a16:colId xmlns:a16="http://schemas.microsoft.com/office/drawing/2014/main" val="3686896555"/>
                    </a:ext>
                  </a:extLst>
                </a:gridCol>
                <a:gridCol w="1027370">
                  <a:extLst>
                    <a:ext uri="{9D8B030D-6E8A-4147-A177-3AD203B41FA5}">
                      <a16:colId xmlns:a16="http://schemas.microsoft.com/office/drawing/2014/main" val="4188558598"/>
                    </a:ext>
                  </a:extLst>
                </a:gridCol>
              </a:tblGrid>
              <a:tr h="396240">
                <a:tc>
                  <a:txBody>
                    <a:bodyPr/>
                    <a:lstStyle/>
                    <a:p>
                      <a:pPr marL="77470" algn="ctr">
                        <a:spcBef>
                          <a:spcPts val="145"/>
                        </a:spcBef>
                      </a:pPr>
                      <a:r>
                        <a:rPr lang="en-US" sz="2000" b="1" dirty="0">
                          <a:effectLst/>
                          <a:latin typeface="Times New Roman" panose="02020603050405020304" pitchFamily="18" charset="0"/>
                          <a:cs typeface="Times New Roman" panose="02020603050405020304" pitchFamily="18" charset="0"/>
                        </a:rPr>
                        <a:t>Sr No.</a:t>
                      </a:r>
                      <a:endParaRPr lang="en-IN" sz="2000" b="1"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45"/>
                        </a:spcBef>
                      </a:pPr>
                      <a:r>
                        <a:rPr lang="en-US" sz="2000" b="1">
                          <a:effectLst/>
                          <a:latin typeface="Times New Roman" panose="02020603050405020304" pitchFamily="18" charset="0"/>
                          <a:cs typeface="Times New Roman" panose="02020603050405020304" pitchFamily="18" charset="0"/>
                        </a:rPr>
                        <a:t>Feature vector</a:t>
                      </a:r>
                      <a:endParaRPr lang="en-IN" sz="2000" b="1">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lgn="ctr">
                        <a:spcBef>
                          <a:spcPts val="145"/>
                        </a:spcBef>
                        <a:spcAft>
                          <a:spcPts val="0"/>
                        </a:spcAft>
                      </a:pPr>
                      <a:r>
                        <a:rPr lang="en-US" sz="2000" b="1">
                          <a:effectLst/>
                          <a:latin typeface="Times New Roman" panose="02020603050405020304" pitchFamily="18" charset="0"/>
                          <a:cs typeface="Times New Roman" panose="02020603050405020304" pitchFamily="18" charset="0"/>
                        </a:rPr>
                        <a:t>MFCC</a:t>
                      </a:r>
                      <a:endParaRPr lang="en-IN" sz="2000" b="1">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45"/>
                        </a:spcBef>
                        <a:spcAft>
                          <a:spcPts val="0"/>
                        </a:spcAft>
                      </a:pPr>
                      <a:r>
                        <a:rPr lang="en-US" sz="2000" b="1">
                          <a:effectLst/>
                          <a:latin typeface="Times New Roman" panose="02020603050405020304" pitchFamily="18" charset="0"/>
                          <a:cs typeface="Times New Roman" panose="02020603050405020304" pitchFamily="18" charset="0"/>
                        </a:rPr>
                        <a:t>LFCC</a:t>
                      </a:r>
                      <a:endParaRPr lang="en-IN" sz="2000" b="1">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45"/>
                        </a:spcBef>
                        <a:spcAft>
                          <a:spcPts val="0"/>
                        </a:spcAft>
                      </a:pPr>
                      <a:r>
                        <a:rPr lang="en-US" sz="2000" b="1" dirty="0">
                          <a:effectLst/>
                          <a:latin typeface="Times New Roman" panose="02020603050405020304" pitchFamily="18" charset="0"/>
                          <a:cs typeface="Times New Roman" panose="02020603050405020304" pitchFamily="18" charset="0"/>
                        </a:rPr>
                        <a:t>GFCC</a:t>
                      </a:r>
                      <a:endParaRPr lang="en-IN" sz="2000" b="1" dirty="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790581142"/>
                  </a:ext>
                </a:extLst>
              </a:tr>
              <a:tr h="396240">
                <a:tc>
                  <a:txBody>
                    <a:bodyPr/>
                    <a:lstStyle/>
                    <a:p>
                      <a:pPr marL="77470" algn="ctr">
                        <a:spcBef>
                          <a:spcPts val="160"/>
                        </a:spcBef>
                      </a:pPr>
                      <a:r>
                        <a:rPr lang="en-US" sz="2000">
                          <a:effectLst/>
                          <a:latin typeface="Times New Roman" panose="02020603050405020304" pitchFamily="18" charset="0"/>
                          <a:cs typeface="Times New Roman" panose="02020603050405020304" pitchFamily="18" charset="0"/>
                        </a:rPr>
                        <a:t>1</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2000">
                          <a:effectLst/>
                          <a:latin typeface="Times New Roman" panose="02020603050405020304" pitchFamily="18" charset="0"/>
                          <a:cs typeface="Times New Roman" panose="02020603050405020304" pitchFamily="18" charset="0"/>
                        </a:rPr>
                        <a:t>13 coefficients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lgn="ctr">
                        <a:spcBef>
                          <a:spcPts val="160"/>
                        </a:spcBef>
                        <a:spcAft>
                          <a:spcPts val="0"/>
                        </a:spcAft>
                      </a:pPr>
                      <a:r>
                        <a:rPr lang="en-US" sz="2000">
                          <a:effectLst/>
                          <a:latin typeface="Times New Roman" panose="02020603050405020304" pitchFamily="18" charset="0"/>
                          <a:cs typeface="Times New Roman" panose="02020603050405020304" pitchFamily="18" charset="0"/>
                        </a:rPr>
                        <a:t>91.6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a:effectLst/>
                          <a:latin typeface="Times New Roman" panose="02020603050405020304" pitchFamily="18" charset="0"/>
                          <a:cs typeface="Times New Roman" panose="02020603050405020304" pitchFamily="18" charset="0"/>
                        </a:rPr>
                        <a:t>92.03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a:effectLst/>
                          <a:latin typeface="Times New Roman" panose="02020603050405020304" pitchFamily="18" charset="0"/>
                          <a:cs typeface="Times New Roman" panose="02020603050405020304" pitchFamily="18" charset="0"/>
                        </a:rPr>
                        <a:t>92.67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842867011"/>
                  </a:ext>
                </a:extLst>
              </a:tr>
              <a:tr h="396240">
                <a:tc>
                  <a:txBody>
                    <a:bodyPr/>
                    <a:lstStyle/>
                    <a:p>
                      <a:pPr marL="77470" algn="ctr">
                        <a:spcBef>
                          <a:spcPts val="160"/>
                        </a:spcBef>
                      </a:pPr>
                      <a:r>
                        <a:rPr lang="en-US" sz="2000" dirty="0">
                          <a:effectLst/>
                          <a:latin typeface="Times New Roman" panose="02020603050405020304" pitchFamily="18" charset="0"/>
                          <a:cs typeface="Times New Roman" panose="02020603050405020304" pitchFamily="18" charset="0"/>
                        </a:rPr>
                        <a:t>2</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2000">
                          <a:effectLst/>
                          <a:latin typeface="Times New Roman" panose="02020603050405020304" pitchFamily="18" charset="0"/>
                          <a:cs typeface="Times New Roman" panose="02020603050405020304" pitchFamily="18" charset="0"/>
                        </a:rPr>
                        <a:t>26 coefficients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lgn="ctr">
                        <a:spcBef>
                          <a:spcPts val="160"/>
                        </a:spcBef>
                        <a:spcAft>
                          <a:spcPts val="0"/>
                        </a:spcAft>
                      </a:pPr>
                      <a:r>
                        <a:rPr lang="en-US" sz="2000" dirty="0">
                          <a:effectLst/>
                          <a:latin typeface="Times New Roman" panose="02020603050405020304" pitchFamily="18" charset="0"/>
                          <a:cs typeface="Times New Roman" panose="02020603050405020304" pitchFamily="18" charset="0"/>
                        </a:rPr>
                        <a:t>92.07</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a:effectLst/>
                          <a:latin typeface="Times New Roman" panose="02020603050405020304" pitchFamily="18" charset="0"/>
                          <a:cs typeface="Times New Roman" panose="02020603050405020304" pitchFamily="18" charset="0"/>
                        </a:rPr>
                        <a:t>91.66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a:effectLst/>
                          <a:latin typeface="Times New Roman" panose="02020603050405020304" pitchFamily="18" charset="0"/>
                          <a:cs typeface="Times New Roman" panose="02020603050405020304" pitchFamily="18" charset="0"/>
                        </a:rPr>
                        <a:t>92.87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704388636"/>
                  </a:ext>
                </a:extLst>
              </a:tr>
              <a:tr h="396240">
                <a:tc>
                  <a:txBody>
                    <a:bodyPr/>
                    <a:lstStyle/>
                    <a:p>
                      <a:pPr marL="77470" algn="ctr">
                        <a:spcBef>
                          <a:spcPts val="160"/>
                        </a:spcBef>
                      </a:pPr>
                      <a:r>
                        <a:rPr lang="en-US" sz="2000">
                          <a:effectLst/>
                          <a:latin typeface="Times New Roman" panose="02020603050405020304" pitchFamily="18" charset="0"/>
                          <a:cs typeface="Times New Roman" panose="02020603050405020304" pitchFamily="18" charset="0"/>
                        </a:rPr>
                        <a:t>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2000">
                          <a:effectLst/>
                          <a:latin typeface="Times New Roman" panose="02020603050405020304" pitchFamily="18" charset="0"/>
                          <a:cs typeface="Times New Roman" panose="02020603050405020304" pitchFamily="18" charset="0"/>
                        </a:rPr>
                        <a:t>39 coefficients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lgn="ctr">
                        <a:spcBef>
                          <a:spcPts val="160"/>
                        </a:spcBef>
                        <a:spcAft>
                          <a:spcPts val="0"/>
                        </a:spcAft>
                      </a:pPr>
                      <a:r>
                        <a:rPr lang="en-US" sz="2000">
                          <a:effectLst/>
                          <a:latin typeface="Times New Roman" panose="02020603050405020304" pitchFamily="18" charset="0"/>
                          <a:cs typeface="Times New Roman" panose="02020603050405020304" pitchFamily="18" charset="0"/>
                        </a:rPr>
                        <a:t>91.94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dirty="0">
                          <a:effectLst/>
                          <a:latin typeface="Times New Roman" panose="02020603050405020304" pitchFamily="18" charset="0"/>
                          <a:cs typeface="Times New Roman" panose="02020603050405020304" pitchFamily="18" charset="0"/>
                        </a:rPr>
                        <a:t>91.88</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a:effectLst/>
                          <a:latin typeface="Times New Roman" panose="02020603050405020304" pitchFamily="18" charset="0"/>
                          <a:cs typeface="Times New Roman" panose="02020603050405020304" pitchFamily="18" charset="0"/>
                        </a:rPr>
                        <a:t>92.33</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216498774"/>
                  </a:ext>
                </a:extLst>
              </a:tr>
              <a:tr h="396240">
                <a:tc>
                  <a:txBody>
                    <a:bodyPr/>
                    <a:lstStyle/>
                    <a:p>
                      <a:pPr marL="77470" algn="ctr">
                        <a:spcBef>
                          <a:spcPts val="160"/>
                        </a:spcBef>
                      </a:pPr>
                      <a:r>
                        <a:rPr lang="en-US" sz="2000">
                          <a:effectLst/>
                          <a:latin typeface="Times New Roman" panose="02020603050405020304" pitchFamily="18" charset="0"/>
                          <a:cs typeface="Times New Roman" panose="02020603050405020304" pitchFamily="18" charset="0"/>
                        </a:rPr>
                        <a:t>4</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lgn="ctr">
                        <a:spcBef>
                          <a:spcPts val="160"/>
                        </a:spcBef>
                      </a:pPr>
                      <a:r>
                        <a:rPr lang="en-US" sz="2000">
                          <a:effectLst/>
                          <a:latin typeface="Times New Roman" panose="02020603050405020304" pitchFamily="18" charset="0"/>
                          <a:cs typeface="Times New Roman" panose="02020603050405020304" pitchFamily="18" charset="0"/>
                        </a:rPr>
                        <a:t>27 coefficients</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835" algn="ctr">
                        <a:spcBef>
                          <a:spcPts val="160"/>
                        </a:spcBef>
                        <a:spcAft>
                          <a:spcPts val="0"/>
                        </a:spcAft>
                      </a:pPr>
                      <a:r>
                        <a:rPr lang="en-US" sz="2000">
                          <a:effectLst/>
                          <a:latin typeface="Times New Roman" panose="02020603050405020304" pitchFamily="18" charset="0"/>
                          <a:cs typeface="Times New Roman" panose="02020603050405020304" pitchFamily="18" charset="0"/>
                        </a:rPr>
                        <a:t>94.7</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a:effectLst/>
                          <a:latin typeface="Times New Roman" panose="02020603050405020304" pitchFamily="18" charset="0"/>
                          <a:cs typeface="Times New Roman" panose="02020603050405020304" pitchFamily="18" charset="0"/>
                        </a:rPr>
                        <a:t>92.6</a:t>
                      </a:r>
                      <a:endParaRPr lang="en-IN" sz="20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6200" algn="ctr">
                        <a:spcBef>
                          <a:spcPts val="160"/>
                        </a:spcBef>
                        <a:spcAft>
                          <a:spcPts val="0"/>
                        </a:spcAft>
                      </a:pPr>
                      <a:r>
                        <a:rPr lang="en-US" sz="2000" dirty="0">
                          <a:effectLst/>
                          <a:latin typeface="Times New Roman" panose="02020603050405020304" pitchFamily="18" charset="0"/>
                          <a:cs typeface="Times New Roman" panose="02020603050405020304" pitchFamily="18" charset="0"/>
                        </a:rPr>
                        <a:t>87.88</a:t>
                      </a:r>
                      <a:endParaRPr lang="en-IN" sz="2000" dirty="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428188398"/>
                  </a:ext>
                </a:extLst>
              </a:tr>
            </a:tbl>
          </a:graphicData>
        </a:graphic>
      </p:graphicFrame>
      <p:sp>
        <p:nvSpPr>
          <p:cNvPr id="10" name="TextBox 9">
            <a:extLst>
              <a:ext uri="{FF2B5EF4-FFF2-40B4-BE49-F238E27FC236}">
                <a16:creationId xmlns:a16="http://schemas.microsoft.com/office/drawing/2014/main" id="{5BA8A9F8-53B5-4E0F-86D5-9C5D4BDC327D}"/>
              </a:ext>
            </a:extLst>
          </p:cNvPr>
          <p:cNvSpPr txBox="1"/>
          <p:nvPr/>
        </p:nvSpPr>
        <p:spPr>
          <a:xfrm>
            <a:off x="609600" y="990600"/>
            <a:ext cx="762000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Table 30:</a:t>
            </a:r>
            <a:r>
              <a:rPr lang="en-US" sz="2000" dirty="0">
                <a:effectLst/>
                <a:latin typeface="Times New Roman" panose="02020603050405020304" pitchFamily="18" charset="0"/>
                <a:ea typeface="LM Roman 12"/>
                <a:cs typeface="Times New Roman" panose="02020603050405020304" pitchFamily="18" charset="0"/>
              </a:rPr>
              <a:t>Overall Accuracy of Feature Extraction using CNN algorithm</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587243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D6110DB-4AC7-4087-86C9-12EEE960B88C}"/>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55DC500C-97E2-4258-AC29-2C354809AFCF}"/>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26F554DD-61DE-4FA7-8E1E-F5666ADC5061}"/>
              </a:ext>
            </a:extLst>
          </p:cNvPr>
          <p:cNvSpPr>
            <a:spLocks noGrp="1"/>
          </p:cNvSpPr>
          <p:nvPr>
            <p:ph type="sldNum" sz="quarter" idx="12"/>
          </p:nvPr>
        </p:nvSpPr>
        <p:spPr/>
        <p:txBody>
          <a:bodyPr/>
          <a:lstStyle/>
          <a:p>
            <a:fld id="{B6F15528-21DE-4FAA-801E-634DDDAF4B2B}" type="slidenum">
              <a:rPr lang="en-US" smtClean="0"/>
              <a:pPr/>
              <a:t>86</a:t>
            </a:fld>
            <a:endParaRPr lang="en-US"/>
          </a:p>
        </p:txBody>
      </p:sp>
      <p:graphicFrame>
        <p:nvGraphicFramePr>
          <p:cNvPr id="7" name="Table 6">
            <a:extLst>
              <a:ext uri="{FF2B5EF4-FFF2-40B4-BE49-F238E27FC236}">
                <a16:creationId xmlns:a16="http://schemas.microsoft.com/office/drawing/2014/main" id="{86046142-7BC5-45A5-B45C-5F21C7A4C7C8}"/>
              </a:ext>
            </a:extLst>
          </p:cNvPr>
          <p:cNvGraphicFramePr>
            <a:graphicFrameLocks noGrp="1"/>
          </p:cNvGraphicFramePr>
          <p:nvPr>
            <p:extLst>
              <p:ext uri="{D42A27DB-BD31-4B8C-83A1-F6EECF244321}">
                <p14:modId xmlns:p14="http://schemas.microsoft.com/office/powerpoint/2010/main" val="2020912567"/>
              </p:ext>
            </p:extLst>
          </p:nvPr>
        </p:nvGraphicFramePr>
        <p:xfrm>
          <a:off x="685800" y="526257"/>
          <a:ext cx="7401913" cy="4931648"/>
        </p:xfrm>
        <a:graphic>
          <a:graphicData uri="http://schemas.openxmlformats.org/drawingml/2006/table">
            <a:tbl>
              <a:tblPr firstRow="1" firstCol="1" lastRow="1" lastCol="1" bandRow="1" bandCol="1">
                <a:tableStyleId>{5940675A-B579-460E-94D1-54222C63F5DA}</a:tableStyleId>
              </a:tblPr>
              <a:tblGrid>
                <a:gridCol w="597757">
                  <a:extLst>
                    <a:ext uri="{9D8B030D-6E8A-4147-A177-3AD203B41FA5}">
                      <a16:colId xmlns:a16="http://schemas.microsoft.com/office/drawing/2014/main" val="494481954"/>
                    </a:ext>
                  </a:extLst>
                </a:gridCol>
                <a:gridCol w="1569112">
                  <a:extLst>
                    <a:ext uri="{9D8B030D-6E8A-4147-A177-3AD203B41FA5}">
                      <a16:colId xmlns:a16="http://schemas.microsoft.com/office/drawing/2014/main" val="4080587865"/>
                    </a:ext>
                  </a:extLst>
                </a:gridCol>
                <a:gridCol w="1414531">
                  <a:extLst>
                    <a:ext uri="{9D8B030D-6E8A-4147-A177-3AD203B41FA5}">
                      <a16:colId xmlns:a16="http://schemas.microsoft.com/office/drawing/2014/main" val="2412960702"/>
                    </a:ext>
                  </a:extLst>
                </a:gridCol>
                <a:gridCol w="976497">
                  <a:extLst>
                    <a:ext uri="{9D8B030D-6E8A-4147-A177-3AD203B41FA5}">
                      <a16:colId xmlns:a16="http://schemas.microsoft.com/office/drawing/2014/main" val="2203069283"/>
                    </a:ext>
                  </a:extLst>
                </a:gridCol>
                <a:gridCol w="896636">
                  <a:extLst>
                    <a:ext uri="{9D8B030D-6E8A-4147-A177-3AD203B41FA5}">
                      <a16:colId xmlns:a16="http://schemas.microsoft.com/office/drawing/2014/main" val="2820845013"/>
                    </a:ext>
                  </a:extLst>
                </a:gridCol>
                <a:gridCol w="821916">
                  <a:extLst>
                    <a:ext uri="{9D8B030D-6E8A-4147-A177-3AD203B41FA5}">
                      <a16:colId xmlns:a16="http://schemas.microsoft.com/office/drawing/2014/main" val="1362900677"/>
                    </a:ext>
                  </a:extLst>
                </a:gridCol>
                <a:gridCol w="1125464">
                  <a:extLst>
                    <a:ext uri="{9D8B030D-6E8A-4147-A177-3AD203B41FA5}">
                      <a16:colId xmlns:a16="http://schemas.microsoft.com/office/drawing/2014/main" val="1894603658"/>
                    </a:ext>
                  </a:extLst>
                </a:gridCol>
              </a:tblGrid>
              <a:tr h="357311">
                <a:tc rowSpan="2">
                  <a:txBody>
                    <a:bodyPr/>
                    <a:lstStyle/>
                    <a:p>
                      <a:pPr marL="77470">
                        <a:spcBef>
                          <a:spcPts val="795"/>
                        </a:spcBef>
                      </a:pPr>
                      <a:r>
                        <a:rPr lang="en-US" sz="1600" b="1">
                          <a:effectLst/>
                          <a:latin typeface="Times New Roman" panose="02020603050405020304" pitchFamily="18" charset="0"/>
                          <a:cs typeface="Times New Roman" panose="02020603050405020304" pitchFamily="18" charset="0"/>
                        </a:rPr>
                        <a:t>Sr.No</a:t>
                      </a:r>
                      <a:endParaRPr lang="en-IN" sz="1600" b="1">
                        <a:effectLst/>
                        <a:latin typeface="Times New Roman" panose="02020603050405020304" pitchFamily="18" charset="0"/>
                        <a:ea typeface="LM Roman 8"/>
                        <a:cs typeface="Times New Roman" panose="02020603050405020304" pitchFamily="18" charset="0"/>
                      </a:endParaRPr>
                    </a:p>
                  </a:txBody>
                  <a:tcPr marL="0" marR="0" marT="0" marB="0"/>
                </a:tc>
                <a:tc rowSpan="2">
                  <a:txBody>
                    <a:bodyPr/>
                    <a:lstStyle/>
                    <a:p>
                      <a:pPr marL="77470">
                        <a:spcBef>
                          <a:spcPts val="795"/>
                        </a:spcBef>
                      </a:pPr>
                      <a:r>
                        <a:rPr lang="en-US" sz="1600" b="1">
                          <a:effectLst/>
                          <a:latin typeface="Times New Roman" panose="02020603050405020304" pitchFamily="18" charset="0"/>
                          <a:cs typeface="Times New Roman" panose="02020603050405020304" pitchFamily="18" charset="0"/>
                        </a:rPr>
                        <a:t>Feature Set</a:t>
                      </a:r>
                      <a:endParaRPr lang="en-IN" sz="1600" b="1">
                        <a:effectLst/>
                        <a:latin typeface="Times New Roman" panose="02020603050405020304" pitchFamily="18" charset="0"/>
                        <a:ea typeface="LM Roman 8"/>
                        <a:cs typeface="Times New Roman" panose="02020603050405020304" pitchFamily="18" charset="0"/>
                      </a:endParaRPr>
                    </a:p>
                  </a:txBody>
                  <a:tcPr marL="0" marR="0" marT="0" marB="0"/>
                </a:tc>
                <a:tc rowSpan="2">
                  <a:txBody>
                    <a:bodyPr/>
                    <a:lstStyle/>
                    <a:p>
                      <a:pPr marL="77470">
                        <a:spcBef>
                          <a:spcPts val="795"/>
                        </a:spcBef>
                      </a:pPr>
                      <a:r>
                        <a:rPr lang="en-US" sz="1600" b="1" dirty="0">
                          <a:effectLst/>
                          <a:latin typeface="Times New Roman" panose="02020603050405020304" pitchFamily="18" charset="0"/>
                          <a:cs typeface="Times New Roman" panose="02020603050405020304" pitchFamily="18" charset="0"/>
                        </a:rPr>
                        <a:t>Length of</a:t>
                      </a:r>
                    </a:p>
                    <a:p>
                      <a:pPr marL="77470">
                        <a:spcBef>
                          <a:spcPts val="795"/>
                        </a:spcBef>
                      </a:pPr>
                      <a:r>
                        <a:rPr lang="en-US" sz="1600" b="1" dirty="0">
                          <a:effectLst/>
                          <a:latin typeface="Times New Roman" panose="02020603050405020304" pitchFamily="18" charset="0"/>
                          <a:cs typeface="Times New Roman" panose="02020603050405020304" pitchFamily="18" charset="0"/>
                        </a:rPr>
                        <a:t>Feature Vector</a:t>
                      </a:r>
                      <a:endParaRPr lang="en-IN" sz="1600" b="1" dirty="0">
                        <a:effectLst/>
                        <a:latin typeface="Times New Roman" panose="02020603050405020304" pitchFamily="18" charset="0"/>
                        <a:ea typeface="LM Roman 8"/>
                        <a:cs typeface="Times New Roman" panose="02020603050405020304" pitchFamily="18" charset="0"/>
                      </a:endParaRPr>
                    </a:p>
                  </a:txBody>
                  <a:tcPr marL="0" marR="0" marT="0" marB="0"/>
                </a:tc>
                <a:tc gridSpan="4">
                  <a:txBody>
                    <a:bodyPr/>
                    <a:lstStyle/>
                    <a:p>
                      <a:pPr marL="749935" marR="745490" algn="l">
                        <a:spcBef>
                          <a:spcPts val="85"/>
                        </a:spcBef>
                        <a:spcAft>
                          <a:spcPts val="0"/>
                        </a:spcAft>
                      </a:pPr>
                      <a:r>
                        <a:rPr lang="en-US" sz="1600" b="1" dirty="0">
                          <a:effectLst/>
                          <a:latin typeface="Times New Roman" panose="02020603050405020304" pitchFamily="18" charset="0"/>
                          <a:cs typeface="Times New Roman" panose="02020603050405020304" pitchFamily="18" charset="0"/>
                        </a:rPr>
                        <a:t>Accuracy</a:t>
                      </a:r>
                      <a:endParaRPr lang="en-IN" sz="1600" b="1" dirty="0">
                        <a:effectLst/>
                        <a:latin typeface="Times New Roman" panose="02020603050405020304" pitchFamily="18" charset="0"/>
                        <a:ea typeface="LM Roman 8"/>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122196983"/>
                  </a:ext>
                </a:extLst>
              </a:tr>
              <a:tr h="239160">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marL="77470">
                        <a:spcBef>
                          <a:spcPts val="65"/>
                        </a:spcBef>
                      </a:pPr>
                      <a:r>
                        <a:rPr lang="en-US" sz="1600" b="1" dirty="0">
                          <a:effectLst/>
                          <a:latin typeface="Times New Roman" panose="02020603050405020304" pitchFamily="18" charset="0"/>
                          <a:cs typeface="Times New Roman" panose="02020603050405020304" pitchFamily="18" charset="0"/>
                        </a:rPr>
                        <a:t>KNN</a:t>
                      </a:r>
                      <a:endParaRPr lang="en-IN" sz="1600" b="1"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b="1" dirty="0">
                          <a:effectLst/>
                          <a:latin typeface="Times New Roman" panose="02020603050405020304" pitchFamily="18" charset="0"/>
                          <a:cs typeface="Times New Roman" panose="02020603050405020304" pitchFamily="18" charset="0"/>
                        </a:rPr>
                        <a:t>SVM</a:t>
                      </a:r>
                      <a:endParaRPr lang="en-IN" sz="1600" b="1"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b="1" dirty="0">
                          <a:effectLst/>
                          <a:latin typeface="Times New Roman" panose="02020603050405020304" pitchFamily="18" charset="0"/>
                          <a:cs typeface="Times New Roman" panose="02020603050405020304" pitchFamily="18" charset="0"/>
                        </a:rPr>
                        <a:t>ANN</a:t>
                      </a:r>
                      <a:endParaRPr lang="en-IN" sz="1600" b="1"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b="1" dirty="0">
                          <a:effectLst/>
                          <a:latin typeface="Times New Roman" panose="02020603050405020304" pitchFamily="18" charset="0"/>
                          <a:cs typeface="Times New Roman" panose="02020603050405020304" pitchFamily="18" charset="0"/>
                        </a:rPr>
                        <a:t>CNN</a:t>
                      </a:r>
                      <a:endParaRPr lang="en-IN" sz="1600" b="1" dirty="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812263381"/>
                  </a:ext>
                </a:extLst>
              </a:tr>
              <a:tr h="357311">
                <a:tc rowSpan="4">
                  <a:txBody>
                    <a:bodyPr/>
                    <a:lstStyle/>
                    <a:p>
                      <a:pPr marL="77470">
                        <a:spcBef>
                          <a:spcPts val="35"/>
                        </a:spcBef>
                        <a:spcAft>
                          <a:spcPts val="0"/>
                        </a:spcAft>
                      </a:pPr>
                      <a:r>
                        <a:rPr lang="en-US" sz="1600">
                          <a:effectLst/>
                          <a:latin typeface="Times New Roman" panose="02020603050405020304" pitchFamily="18" charset="0"/>
                          <a:cs typeface="Times New Roman" panose="02020603050405020304" pitchFamily="18" charset="0"/>
                        </a:rPr>
                        <a:t> </a:t>
                      </a:r>
                      <a:endParaRPr lang="en-IN" sz="1600">
                        <a:effectLst/>
                        <a:latin typeface="Times New Roman" panose="02020603050405020304" pitchFamily="18" charset="0"/>
                        <a:cs typeface="Times New Roman" panose="02020603050405020304" pitchFamily="18" charset="0"/>
                      </a:endParaRPr>
                    </a:p>
                    <a:p>
                      <a:pPr marL="77470">
                        <a:spcBef>
                          <a:spcPts val="85"/>
                        </a:spcBef>
                      </a:pPr>
                      <a:r>
                        <a:rPr lang="en-US" sz="1600">
                          <a:effectLst/>
                          <a:latin typeface="Times New Roman" panose="02020603050405020304" pitchFamily="18" charset="0"/>
                          <a:cs typeface="Times New Roman" panose="02020603050405020304" pitchFamily="18" charset="0"/>
                        </a:rPr>
                        <a:t>1</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rowSpan="4">
                  <a:txBody>
                    <a:bodyPr/>
                    <a:lstStyle/>
                    <a:p>
                      <a:pPr marL="77470">
                        <a:spcBef>
                          <a:spcPts val="35"/>
                        </a:spcBef>
                        <a:spcAft>
                          <a:spcPts val="0"/>
                        </a:spcAft>
                      </a:pPr>
                      <a:r>
                        <a:rPr lang="en-US" sz="1600" dirty="0">
                          <a:effectLst/>
                          <a:latin typeface="Times New Roman" panose="02020603050405020304" pitchFamily="18" charset="0"/>
                          <a:cs typeface="Times New Roman" panose="02020603050405020304" pitchFamily="18" charset="0"/>
                        </a:rPr>
                        <a:t> </a:t>
                      </a:r>
                      <a:endParaRPr lang="en-IN" sz="1600" dirty="0">
                        <a:effectLst/>
                        <a:latin typeface="Times New Roman" panose="02020603050405020304" pitchFamily="18" charset="0"/>
                        <a:cs typeface="Times New Roman" panose="02020603050405020304" pitchFamily="18" charset="0"/>
                      </a:endParaRPr>
                    </a:p>
                    <a:p>
                      <a:pPr marL="77470">
                        <a:spcBef>
                          <a:spcPts val="85"/>
                        </a:spcBef>
                      </a:pPr>
                      <a:r>
                        <a:rPr lang="en-US" sz="1600" dirty="0">
                          <a:effectLst/>
                          <a:latin typeface="Times New Roman" panose="02020603050405020304" pitchFamily="18" charset="0"/>
                          <a:cs typeface="Times New Roman" panose="02020603050405020304" pitchFamily="18" charset="0"/>
                        </a:rPr>
                        <a:t>Mel Frequency Cepstral Coefficients</a:t>
                      </a:r>
                      <a:endParaRPr lang="en-IN" sz="16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600">
                          <a:effectLst/>
                          <a:latin typeface="Times New Roman" panose="02020603050405020304" pitchFamily="18" charset="0"/>
                          <a:cs typeface="Times New Roman" panose="02020603050405020304" pitchFamily="18" charset="0"/>
                        </a:rPr>
                        <a:t>13</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600">
                          <a:effectLst/>
                          <a:latin typeface="Times New Roman" panose="02020603050405020304" pitchFamily="18" charset="0"/>
                          <a:cs typeface="Times New Roman" panose="02020603050405020304" pitchFamily="18" charset="0"/>
                        </a:rPr>
                        <a:t>91.13%</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600">
                          <a:effectLst/>
                          <a:latin typeface="Times New Roman" panose="02020603050405020304" pitchFamily="18" charset="0"/>
                          <a:cs typeface="Times New Roman" panose="02020603050405020304" pitchFamily="18" charset="0"/>
                        </a:rPr>
                        <a:t>82.38%</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600">
                          <a:effectLst/>
                          <a:latin typeface="Times New Roman" panose="02020603050405020304" pitchFamily="18" charset="0"/>
                          <a:cs typeface="Times New Roman" panose="02020603050405020304" pitchFamily="18" charset="0"/>
                        </a:rPr>
                        <a:t>91.60%</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600">
                          <a:effectLst/>
                          <a:latin typeface="Times New Roman" panose="02020603050405020304" pitchFamily="18" charset="0"/>
                          <a:cs typeface="Times New Roman" panose="02020603050405020304" pitchFamily="18" charset="0"/>
                        </a:rPr>
                        <a:t>91.13%</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474023016"/>
                  </a:ext>
                </a:extLst>
              </a:tr>
              <a:tr h="357311">
                <a:tc vMerge="1">
                  <a:txBody>
                    <a:bodyPr/>
                    <a:lstStyle/>
                    <a:p>
                      <a:endParaRPr lang="en-IN"/>
                    </a:p>
                  </a:txBody>
                  <a:tcPr/>
                </a:tc>
                <a:tc vMerge="1">
                  <a:txBody>
                    <a:bodyPr/>
                    <a:lstStyle/>
                    <a:p>
                      <a:endParaRPr lang="en-IN"/>
                    </a:p>
                  </a:txBody>
                  <a:tcPr/>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26</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91.50%</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81.33%</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92.07%</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90.36%</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509598160"/>
                  </a:ext>
                </a:extLst>
              </a:tr>
              <a:tr h="357311">
                <a:tc vMerge="1">
                  <a:txBody>
                    <a:bodyPr/>
                    <a:lstStyle/>
                    <a:p>
                      <a:endParaRPr lang="en-IN"/>
                    </a:p>
                  </a:txBody>
                  <a:tcPr/>
                </a:tc>
                <a:tc vMerge="1">
                  <a:txBody>
                    <a:bodyPr/>
                    <a:lstStyle/>
                    <a:p>
                      <a:endParaRPr lang="en-IN"/>
                    </a:p>
                  </a:txBody>
                  <a:tcPr/>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39</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93.64%</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82.21%</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91.94%</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92.70%</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417354444"/>
                  </a:ext>
                </a:extLst>
              </a:tr>
              <a:tr h="357311">
                <a:tc vMerge="1">
                  <a:txBody>
                    <a:bodyPr/>
                    <a:lstStyle/>
                    <a:p>
                      <a:endParaRPr lang="en-IN"/>
                    </a:p>
                  </a:txBody>
                  <a:tcPr/>
                </a:tc>
                <a:tc vMerge="1">
                  <a:txBody>
                    <a:bodyPr/>
                    <a:lstStyle/>
                    <a:p>
                      <a:endParaRPr lang="en-IN"/>
                    </a:p>
                  </a:txBody>
                  <a:tcPr/>
                </a:tc>
                <a:tc>
                  <a:txBody>
                    <a:bodyPr/>
                    <a:lstStyle/>
                    <a:p>
                      <a:pPr marL="77470">
                        <a:spcBef>
                          <a:spcPts val="65"/>
                        </a:spcBef>
                      </a:pPr>
                      <a:r>
                        <a:rPr lang="en-US" sz="1600" dirty="0">
                          <a:effectLst/>
                          <a:latin typeface="Times New Roman" panose="02020603050405020304" pitchFamily="18" charset="0"/>
                          <a:cs typeface="Times New Roman" panose="02020603050405020304" pitchFamily="18" charset="0"/>
                        </a:rPr>
                        <a:t>27</a:t>
                      </a:r>
                      <a:endParaRPr lang="en-IN" sz="16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94.70%</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73.58%</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94.70%</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93.60%</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10332292"/>
                  </a:ext>
                </a:extLst>
              </a:tr>
              <a:tr h="357311">
                <a:tc rowSpan="4">
                  <a:txBody>
                    <a:bodyPr/>
                    <a:lstStyle/>
                    <a:p>
                      <a:pPr marL="77470">
                        <a:spcBef>
                          <a:spcPts val="35"/>
                        </a:spcBef>
                        <a:spcAft>
                          <a:spcPts val="0"/>
                        </a:spcAft>
                      </a:pPr>
                      <a:r>
                        <a:rPr lang="en-US" sz="1600">
                          <a:effectLst/>
                          <a:latin typeface="Times New Roman" panose="02020603050405020304" pitchFamily="18" charset="0"/>
                          <a:cs typeface="Times New Roman" panose="02020603050405020304" pitchFamily="18" charset="0"/>
                        </a:rPr>
                        <a:t> </a:t>
                      </a:r>
                      <a:endParaRPr lang="en-IN" sz="1600">
                        <a:effectLst/>
                        <a:latin typeface="Times New Roman" panose="02020603050405020304" pitchFamily="18" charset="0"/>
                        <a:cs typeface="Times New Roman" panose="02020603050405020304" pitchFamily="18" charset="0"/>
                      </a:endParaRPr>
                    </a:p>
                    <a:p>
                      <a:pPr marL="77470">
                        <a:spcBef>
                          <a:spcPts val="85"/>
                        </a:spcBef>
                      </a:pPr>
                      <a:r>
                        <a:rPr lang="en-US" sz="1600">
                          <a:effectLst/>
                          <a:latin typeface="Times New Roman" panose="02020603050405020304" pitchFamily="18" charset="0"/>
                          <a:cs typeface="Times New Roman" panose="02020603050405020304" pitchFamily="18" charset="0"/>
                        </a:rPr>
                        <a:t>2</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rowSpan="4">
                  <a:txBody>
                    <a:bodyPr/>
                    <a:lstStyle/>
                    <a:p>
                      <a:pPr marL="77470">
                        <a:spcBef>
                          <a:spcPts val="35"/>
                        </a:spcBef>
                        <a:spcAft>
                          <a:spcPts val="0"/>
                        </a:spcAft>
                      </a:pPr>
                      <a:r>
                        <a:rPr lang="en-US" sz="1600">
                          <a:effectLst/>
                          <a:latin typeface="Times New Roman" panose="02020603050405020304" pitchFamily="18" charset="0"/>
                          <a:cs typeface="Times New Roman" panose="02020603050405020304" pitchFamily="18" charset="0"/>
                        </a:rPr>
                        <a:t> </a:t>
                      </a:r>
                      <a:endParaRPr lang="en-IN" sz="1600">
                        <a:effectLst/>
                        <a:latin typeface="Times New Roman" panose="02020603050405020304" pitchFamily="18" charset="0"/>
                        <a:cs typeface="Times New Roman" panose="02020603050405020304" pitchFamily="18" charset="0"/>
                      </a:endParaRPr>
                    </a:p>
                    <a:p>
                      <a:pPr marL="77470">
                        <a:spcBef>
                          <a:spcPts val="85"/>
                        </a:spcBef>
                      </a:pPr>
                      <a:r>
                        <a:rPr lang="en-US" sz="1600">
                          <a:effectLst/>
                          <a:latin typeface="Times New Roman" panose="02020603050405020304" pitchFamily="18" charset="0"/>
                          <a:cs typeface="Times New Roman" panose="02020603050405020304" pitchFamily="18" charset="0"/>
                        </a:rPr>
                        <a:t>Linear Frequency Cepstral Coefficients</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600">
                          <a:effectLst/>
                          <a:latin typeface="Times New Roman" panose="02020603050405020304" pitchFamily="18" charset="0"/>
                          <a:cs typeface="Times New Roman" panose="02020603050405020304" pitchFamily="18" charset="0"/>
                        </a:rPr>
                        <a:t>13</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600">
                          <a:effectLst/>
                          <a:latin typeface="Times New Roman" panose="02020603050405020304" pitchFamily="18" charset="0"/>
                          <a:cs typeface="Times New Roman" panose="02020603050405020304" pitchFamily="18" charset="0"/>
                        </a:rPr>
                        <a:t>91.80%</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600">
                          <a:effectLst/>
                          <a:latin typeface="Times New Roman" panose="02020603050405020304" pitchFamily="18" charset="0"/>
                          <a:cs typeface="Times New Roman" panose="02020603050405020304" pitchFamily="18" charset="0"/>
                        </a:rPr>
                        <a:t>85.53%</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600">
                          <a:effectLst/>
                          <a:latin typeface="Times New Roman" panose="02020603050405020304" pitchFamily="18" charset="0"/>
                          <a:cs typeface="Times New Roman" panose="02020603050405020304" pitchFamily="18" charset="0"/>
                        </a:rPr>
                        <a:t>92.03%</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600">
                          <a:effectLst/>
                          <a:latin typeface="Times New Roman" panose="02020603050405020304" pitchFamily="18" charset="0"/>
                          <a:cs typeface="Times New Roman" panose="02020603050405020304" pitchFamily="18" charset="0"/>
                        </a:rPr>
                        <a:t>91.67%</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577319968"/>
                  </a:ext>
                </a:extLst>
              </a:tr>
              <a:tr h="357311">
                <a:tc vMerge="1">
                  <a:txBody>
                    <a:bodyPr/>
                    <a:lstStyle/>
                    <a:p>
                      <a:endParaRPr lang="en-IN"/>
                    </a:p>
                  </a:txBody>
                  <a:tcPr/>
                </a:tc>
                <a:tc vMerge="1">
                  <a:txBody>
                    <a:bodyPr/>
                    <a:lstStyle/>
                    <a:p>
                      <a:endParaRPr lang="en-IN"/>
                    </a:p>
                  </a:txBody>
                  <a:tcPr/>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26</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91.76%</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85.49%</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91.66%</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90.67%</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977170821"/>
                  </a:ext>
                </a:extLst>
              </a:tr>
              <a:tr h="400076">
                <a:tc vMerge="1">
                  <a:txBody>
                    <a:bodyPr/>
                    <a:lstStyle/>
                    <a:p>
                      <a:endParaRPr lang="en-IN"/>
                    </a:p>
                  </a:txBody>
                  <a:tcPr/>
                </a:tc>
                <a:tc vMerge="1">
                  <a:txBody>
                    <a:bodyPr/>
                    <a:lstStyle/>
                    <a:p>
                      <a:endParaRPr lang="en-IN"/>
                    </a:p>
                  </a:txBody>
                  <a:tcPr/>
                </a:tc>
                <a:tc>
                  <a:txBody>
                    <a:bodyPr/>
                    <a:lstStyle/>
                    <a:p>
                      <a:pPr marL="77470">
                        <a:spcBef>
                          <a:spcPts val="65"/>
                        </a:spcBef>
                      </a:pPr>
                      <a:r>
                        <a:rPr lang="en-US" sz="1600" dirty="0">
                          <a:effectLst/>
                          <a:latin typeface="Times New Roman" panose="02020603050405020304" pitchFamily="18" charset="0"/>
                          <a:cs typeface="Times New Roman" panose="02020603050405020304" pitchFamily="18" charset="0"/>
                        </a:rPr>
                        <a:t>39</a:t>
                      </a:r>
                      <a:endParaRPr lang="en-IN" sz="16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91.90%</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85.88%</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91.88%</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92.80%</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114390813"/>
                  </a:ext>
                </a:extLst>
              </a:tr>
              <a:tr h="357311">
                <a:tc vMerge="1">
                  <a:txBody>
                    <a:bodyPr/>
                    <a:lstStyle/>
                    <a:p>
                      <a:endParaRPr lang="en-IN"/>
                    </a:p>
                  </a:txBody>
                  <a:tcPr/>
                </a:tc>
                <a:tc vMerge="1">
                  <a:txBody>
                    <a:bodyPr/>
                    <a:lstStyle/>
                    <a:p>
                      <a:endParaRPr lang="en-IN"/>
                    </a:p>
                  </a:txBody>
                  <a:tcPr/>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27</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95.05%</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87.56%</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92.60%</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93.80%</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3975893737"/>
                  </a:ext>
                </a:extLst>
              </a:tr>
              <a:tr h="357311">
                <a:tc rowSpan="4">
                  <a:txBody>
                    <a:bodyPr/>
                    <a:lstStyle/>
                    <a:p>
                      <a:pPr marL="77470">
                        <a:spcBef>
                          <a:spcPts val="35"/>
                        </a:spcBef>
                        <a:spcAft>
                          <a:spcPts val="0"/>
                        </a:spcAft>
                      </a:pPr>
                      <a:r>
                        <a:rPr lang="en-US" sz="1600">
                          <a:effectLst/>
                          <a:latin typeface="Times New Roman" panose="02020603050405020304" pitchFamily="18" charset="0"/>
                          <a:cs typeface="Times New Roman" panose="02020603050405020304" pitchFamily="18" charset="0"/>
                        </a:rPr>
                        <a:t> </a:t>
                      </a:r>
                      <a:endParaRPr lang="en-IN" sz="1600">
                        <a:effectLst/>
                        <a:latin typeface="Times New Roman" panose="02020603050405020304" pitchFamily="18" charset="0"/>
                        <a:cs typeface="Times New Roman" panose="02020603050405020304" pitchFamily="18" charset="0"/>
                      </a:endParaRPr>
                    </a:p>
                    <a:p>
                      <a:pPr marL="77470">
                        <a:spcBef>
                          <a:spcPts val="85"/>
                        </a:spcBef>
                      </a:pPr>
                      <a:r>
                        <a:rPr lang="en-US" sz="1600">
                          <a:effectLst/>
                          <a:latin typeface="Times New Roman" panose="02020603050405020304" pitchFamily="18" charset="0"/>
                          <a:cs typeface="Times New Roman" panose="02020603050405020304" pitchFamily="18" charset="0"/>
                        </a:rPr>
                        <a:t>3</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rowSpan="4">
                  <a:txBody>
                    <a:bodyPr/>
                    <a:lstStyle/>
                    <a:p>
                      <a:pPr marL="77470">
                        <a:spcBef>
                          <a:spcPts val="35"/>
                        </a:spcBef>
                        <a:spcAft>
                          <a:spcPts val="0"/>
                        </a:spcAft>
                      </a:pPr>
                      <a:r>
                        <a:rPr lang="en-US" sz="1600" dirty="0">
                          <a:effectLst/>
                          <a:latin typeface="Times New Roman" panose="02020603050405020304" pitchFamily="18" charset="0"/>
                          <a:cs typeface="Times New Roman" panose="02020603050405020304" pitchFamily="18" charset="0"/>
                        </a:rPr>
                        <a:t> </a:t>
                      </a:r>
                      <a:endParaRPr lang="en-IN" sz="1600" dirty="0">
                        <a:effectLst/>
                        <a:latin typeface="Times New Roman" panose="02020603050405020304" pitchFamily="18" charset="0"/>
                        <a:cs typeface="Times New Roman" panose="02020603050405020304" pitchFamily="18" charset="0"/>
                      </a:endParaRPr>
                    </a:p>
                    <a:p>
                      <a:pPr marL="77470">
                        <a:spcBef>
                          <a:spcPts val="85"/>
                        </a:spcBef>
                      </a:pPr>
                      <a:r>
                        <a:rPr lang="en-US" sz="1600" dirty="0">
                          <a:effectLst/>
                          <a:latin typeface="Times New Roman" panose="02020603050405020304" pitchFamily="18" charset="0"/>
                          <a:cs typeface="Times New Roman" panose="02020603050405020304" pitchFamily="18" charset="0"/>
                        </a:rPr>
                        <a:t>Gammatone Frequency Cepstral coefficients</a:t>
                      </a:r>
                      <a:endParaRPr lang="en-IN" sz="1600" dirty="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600">
                          <a:effectLst/>
                          <a:latin typeface="Times New Roman" panose="02020603050405020304" pitchFamily="18" charset="0"/>
                          <a:cs typeface="Times New Roman" panose="02020603050405020304" pitchFamily="18" charset="0"/>
                        </a:rPr>
                        <a:t>13</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600">
                          <a:effectLst/>
                          <a:latin typeface="Times New Roman" panose="02020603050405020304" pitchFamily="18" charset="0"/>
                          <a:cs typeface="Times New Roman" panose="02020603050405020304" pitchFamily="18" charset="0"/>
                        </a:rPr>
                        <a:t>91.64%</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600">
                          <a:effectLst/>
                          <a:latin typeface="Times New Roman" panose="02020603050405020304" pitchFamily="18" charset="0"/>
                          <a:cs typeface="Times New Roman" panose="02020603050405020304" pitchFamily="18" charset="0"/>
                        </a:rPr>
                        <a:t>87.64%</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600">
                          <a:effectLst/>
                          <a:latin typeface="Times New Roman" panose="02020603050405020304" pitchFamily="18" charset="0"/>
                          <a:cs typeface="Times New Roman" panose="02020603050405020304" pitchFamily="18" charset="0"/>
                        </a:rPr>
                        <a:t>92.67%</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85"/>
                        </a:spcBef>
                      </a:pPr>
                      <a:r>
                        <a:rPr lang="en-US" sz="1600">
                          <a:effectLst/>
                          <a:latin typeface="Times New Roman" panose="02020603050405020304" pitchFamily="18" charset="0"/>
                          <a:cs typeface="Times New Roman" panose="02020603050405020304" pitchFamily="18" charset="0"/>
                        </a:rPr>
                        <a:t>91.58%</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1502357904"/>
                  </a:ext>
                </a:extLst>
              </a:tr>
              <a:tr h="357311">
                <a:tc vMerge="1">
                  <a:txBody>
                    <a:bodyPr/>
                    <a:lstStyle/>
                    <a:p>
                      <a:endParaRPr lang="en-IN"/>
                    </a:p>
                  </a:txBody>
                  <a:tcPr/>
                </a:tc>
                <a:tc vMerge="1">
                  <a:txBody>
                    <a:bodyPr/>
                    <a:lstStyle/>
                    <a:p>
                      <a:endParaRPr lang="en-IN"/>
                    </a:p>
                  </a:txBody>
                  <a:tcPr/>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26</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92.32%</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87.44%</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92.87%</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91.18%</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990259242"/>
                  </a:ext>
                </a:extLst>
              </a:tr>
              <a:tr h="357311">
                <a:tc vMerge="1">
                  <a:txBody>
                    <a:bodyPr/>
                    <a:lstStyle/>
                    <a:p>
                      <a:endParaRPr lang="en-IN"/>
                    </a:p>
                  </a:txBody>
                  <a:tcPr/>
                </a:tc>
                <a:tc vMerge="1">
                  <a:txBody>
                    <a:bodyPr/>
                    <a:lstStyle/>
                    <a:p>
                      <a:endParaRPr lang="en-IN"/>
                    </a:p>
                  </a:txBody>
                  <a:tcPr/>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39</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91.61%</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85.88%</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92.33%</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90.18%</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558950858"/>
                  </a:ext>
                </a:extLst>
              </a:tr>
              <a:tr h="357311">
                <a:tc vMerge="1">
                  <a:txBody>
                    <a:bodyPr/>
                    <a:lstStyle/>
                    <a:p>
                      <a:endParaRPr lang="en-IN"/>
                    </a:p>
                  </a:txBody>
                  <a:tcPr/>
                </a:tc>
                <a:tc vMerge="1">
                  <a:txBody>
                    <a:bodyPr/>
                    <a:lstStyle/>
                    <a:p>
                      <a:endParaRPr lang="en-IN"/>
                    </a:p>
                  </a:txBody>
                  <a:tcPr/>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27</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91.66%</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85.22%</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a:effectLst/>
                          <a:latin typeface="Times New Roman" panose="02020603050405020304" pitchFamily="18" charset="0"/>
                          <a:cs typeface="Times New Roman" panose="02020603050405020304" pitchFamily="18" charset="0"/>
                        </a:rPr>
                        <a:t>87.88%</a:t>
                      </a:r>
                      <a:endParaRPr lang="en-IN" sz="1600">
                        <a:effectLst/>
                        <a:latin typeface="Times New Roman" panose="02020603050405020304" pitchFamily="18" charset="0"/>
                        <a:ea typeface="LM Roman 8"/>
                        <a:cs typeface="Times New Roman" panose="02020603050405020304" pitchFamily="18" charset="0"/>
                      </a:endParaRPr>
                    </a:p>
                  </a:txBody>
                  <a:tcPr marL="0" marR="0" marT="0" marB="0"/>
                </a:tc>
                <a:tc>
                  <a:txBody>
                    <a:bodyPr/>
                    <a:lstStyle/>
                    <a:p>
                      <a:pPr marL="77470">
                        <a:spcBef>
                          <a:spcPts val="65"/>
                        </a:spcBef>
                      </a:pPr>
                      <a:r>
                        <a:rPr lang="en-US" sz="1600" dirty="0">
                          <a:effectLst/>
                          <a:latin typeface="Times New Roman" panose="02020603050405020304" pitchFamily="18" charset="0"/>
                          <a:cs typeface="Times New Roman" panose="02020603050405020304" pitchFamily="18" charset="0"/>
                        </a:rPr>
                        <a:t>93.44%</a:t>
                      </a:r>
                      <a:endParaRPr lang="en-IN" sz="1600" dirty="0">
                        <a:effectLst/>
                        <a:latin typeface="Times New Roman" panose="02020603050405020304" pitchFamily="18" charset="0"/>
                        <a:ea typeface="LM Roman 8"/>
                        <a:cs typeface="Times New Roman" panose="02020603050405020304" pitchFamily="18" charset="0"/>
                      </a:endParaRPr>
                    </a:p>
                  </a:txBody>
                  <a:tcPr marL="0" marR="0" marT="0" marB="0"/>
                </a:tc>
                <a:extLst>
                  <a:ext uri="{0D108BD9-81ED-4DB2-BD59-A6C34878D82A}">
                    <a16:rowId xmlns:a16="http://schemas.microsoft.com/office/drawing/2014/main" val="2159562788"/>
                  </a:ext>
                </a:extLst>
              </a:tr>
            </a:tbl>
          </a:graphicData>
        </a:graphic>
      </p:graphicFrame>
      <p:sp>
        <p:nvSpPr>
          <p:cNvPr id="8" name="TextBox 7">
            <a:extLst>
              <a:ext uri="{FF2B5EF4-FFF2-40B4-BE49-F238E27FC236}">
                <a16:creationId xmlns:a16="http://schemas.microsoft.com/office/drawing/2014/main" id="{E09E590E-7146-4707-BAAE-4A826180E48B}"/>
              </a:ext>
            </a:extLst>
          </p:cNvPr>
          <p:cNvSpPr txBox="1"/>
          <p:nvPr/>
        </p:nvSpPr>
        <p:spPr>
          <a:xfrm>
            <a:off x="599087" y="87868"/>
            <a:ext cx="7630513"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Table 31:</a:t>
            </a:r>
            <a:r>
              <a:rPr lang="en-US" sz="2000" dirty="0">
                <a:effectLst/>
                <a:latin typeface="Times New Roman" panose="02020603050405020304" pitchFamily="18" charset="0"/>
                <a:ea typeface="LM Roman 12"/>
                <a:cs typeface="Times New Roman" panose="02020603050405020304" pitchFamily="18" charset="0"/>
              </a:rPr>
              <a:t>Classification accuracy of Different Feature set and classifiers</a:t>
            </a:r>
            <a:endParaRPr lang="en-IN" sz="2000" dirty="0">
              <a:effectLst/>
              <a:latin typeface="Times New Roman" panose="02020603050405020304" pitchFamily="18" charset="0"/>
              <a:ea typeface="LM Roman 12"/>
              <a:cs typeface="Times New Roman" panose="02020603050405020304" pitchFamily="18" charset="0"/>
            </a:endParaRPr>
          </a:p>
        </p:txBody>
      </p:sp>
    </p:spTree>
    <p:extLst>
      <p:ext uri="{BB962C8B-B14F-4D97-AF65-F5344CB8AC3E}">
        <p14:creationId xmlns:p14="http://schemas.microsoft.com/office/powerpoint/2010/main" val="41034778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CA7BB-618F-48A3-A4B1-3CBD4BC3E3E5}"/>
              </a:ext>
            </a:extLst>
          </p:cNvPr>
          <p:cNvSpPr>
            <a:spLocks noGrp="1"/>
          </p:cNvSpPr>
          <p:nvPr>
            <p:ph type="title"/>
          </p:nvPr>
        </p:nvSpPr>
        <p:spPr>
          <a:xfrm>
            <a:off x="457200" y="-152400"/>
            <a:ext cx="8229600" cy="1143000"/>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Conclusion</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B00A687-4E3A-4C19-99E5-8F2377B4F42D}"/>
              </a:ext>
            </a:extLst>
          </p:cNvPr>
          <p:cNvSpPr>
            <a:spLocks noGrp="1"/>
          </p:cNvSpPr>
          <p:nvPr>
            <p:ph idx="1"/>
          </p:nvPr>
        </p:nvSpPr>
        <p:spPr/>
        <p:txBody>
          <a:bodyPr/>
          <a:lstStyle/>
          <a:p>
            <a:pPr algn="just"/>
            <a:r>
              <a:rPr lang="en-US" sz="2000" dirty="0">
                <a:effectLst/>
                <a:latin typeface="Times New Roman" panose="02020603050405020304" pitchFamily="18" charset="0"/>
                <a:ea typeface="LM Roman 12"/>
                <a:cs typeface="Times New Roman" panose="02020603050405020304" pitchFamily="18" charset="0"/>
              </a:rPr>
              <a:t>Three sets of classifiers and feature sets are selected to classify bird species.</a:t>
            </a:r>
            <a:r>
              <a:rPr lang="en-US" sz="2000" spc="355" dirty="0">
                <a:effectLst/>
                <a:latin typeface="Times New Roman" panose="02020603050405020304" pitchFamily="18" charset="0"/>
                <a:ea typeface="LM Roman 12"/>
                <a:cs typeface="Times New Roman" panose="02020603050405020304" pitchFamily="18" charset="0"/>
              </a:rPr>
              <a:t> </a:t>
            </a:r>
          </a:p>
          <a:p>
            <a:pPr algn="just"/>
            <a:r>
              <a:rPr lang="en-US" sz="2000" dirty="0">
                <a:effectLst/>
                <a:latin typeface="Times New Roman" panose="02020603050405020304" pitchFamily="18" charset="0"/>
                <a:ea typeface="LM Roman 12"/>
                <a:cs typeface="Times New Roman" panose="02020603050405020304" pitchFamily="18" charset="0"/>
              </a:rPr>
              <a:t>Gammatone </a:t>
            </a:r>
            <a:r>
              <a:rPr lang="en-US" sz="2000" spc="-15" dirty="0">
                <a:effectLst/>
                <a:latin typeface="Times New Roman" panose="02020603050405020304" pitchFamily="18" charset="0"/>
                <a:ea typeface="LM Roman 12"/>
                <a:cs typeface="Times New Roman" panose="02020603050405020304" pitchFamily="18" charset="0"/>
              </a:rPr>
              <a:t>Frequency </a:t>
            </a:r>
            <a:r>
              <a:rPr lang="en-US" sz="2000" dirty="0">
                <a:effectLst/>
                <a:latin typeface="Times New Roman" panose="02020603050405020304" pitchFamily="18" charset="0"/>
                <a:ea typeface="LM Roman 12"/>
                <a:cs typeface="Times New Roman" panose="02020603050405020304" pitchFamily="18" charset="0"/>
              </a:rPr>
              <a:t>Cepstral Coefficients with feature selection technique gives an accuracy of 93.44 %. </a:t>
            </a:r>
          </a:p>
          <a:p>
            <a:pPr algn="just"/>
            <a:r>
              <a:rPr lang="en-US" sz="2000" dirty="0">
                <a:effectLst/>
                <a:latin typeface="Times New Roman" panose="02020603050405020304" pitchFamily="18" charset="0"/>
                <a:ea typeface="LM Roman 12"/>
                <a:cs typeface="Times New Roman" panose="02020603050405020304" pitchFamily="18" charset="0"/>
              </a:rPr>
              <a:t>Linear </a:t>
            </a:r>
            <a:r>
              <a:rPr lang="en-US" sz="2000" spc="-15" dirty="0">
                <a:effectLst/>
                <a:latin typeface="Times New Roman" panose="02020603050405020304" pitchFamily="18" charset="0"/>
                <a:ea typeface="LM Roman 12"/>
                <a:cs typeface="Times New Roman" panose="02020603050405020304" pitchFamily="18" charset="0"/>
              </a:rPr>
              <a:t>Frequency </a:t>
            </a:r>
            <a:r>
              <a:rPr lang="en-US" sz="2000" dirty="0">
                <a:effectLst/>
                <a:latin typeface="Times New Roman" panose="02020603050405020304" pitchFamily="18" charset="0"/>
                <a:ea typeface="LM Roman 12"/>
                <a:cs typeface="Times New Roman" panose="02020603050405020304" pitchFamily="18" charset="0"/>
              </a:rPr>
              <a:t>Cepstral Coefficients with feature selection techniques offers maximum accuracy of 95.05 %.</a:t>
            </a:r>
            <a:endParaRPr lang="en-US" sz="2000" dirty="0">
              <a:latin typeface="Times New Roman" panose="02020603050405020304" pitchFamily="18" charset="0"/>
              <a:ea typeface="LM Roman 12"/>
              <a:cs typeface="Times New Roman" panose="02020603050405020304" pitchFamily="18" charset="0"/>
            </a:endParaRPr>
          </a:p>
          <a:p>
            <a:pPr algn="just"/>
            <a:r>
              <a:rPr lang="en-US" sz="2000" dirty="0">
                <a:effectLst/>
                <a:latin typeface="Times New Roman" panose="02020603050405020304" pitchFamily="18" charset="0"/>
                <a:ea typeface="LM Roman 12"/>
                <a:cs typeface="Times New Roman" panose="02020603050405020304" pitchFamily="18" charset="0"/>
              </a:rPr>
              <a:t>The Recursive </a:t>
            </a:r>
            <a:r>
              <a:rPr lang="en-US" sz="2000" spc="-15" dirty="0">
                <a:effectLst/>
                <a:latin typeface="Times New Roman" panose="02020603050405020304" pitchFamily="18" charset="0"/>
                <a:ea typeface="LM Roman 12"/>
                <a:cs typeface="Times New Roman" panose="02020603050405020304" pitchFamily="18" charset="0"/>
              </a:rPr>
              <a:t>Feature </a:t>
            </a:r>
            <a:r>
              <a:rPr lang="en-US" sz="2000" dirty="0">
                <a:effectLst/>
                <a:latin typeface="Times New Roman" panose="02020603050405020304" pitchFamily="18" charset="0"/>
                <a:ea typeface="LM Roman 12"/>
                <a:cs typeface="Times New Roman" panose="02020603050405020304" pitchFamily="18" charset="0"/>
              </a:rPr>
              <a:t>Elimination (RFE) algorithm further improves the</a:t>
            </a:r>
            <a:r>
              <a:rPr lang="en-US" sz="2000" spc="-50" dirty="0">
                <a:effectLst/>
                <a:latin typeface="Times New Roman" panose="02020603050405020304" pitchFamily="18" charset="0"/>
                <a:ea typeface="LM Roman 12"/>
                <a:cs typeface="Times New Roman" panose="02020603050405020304" pitchFamily="18" charset="0"/>
              </a:rPr>
              <a:t> </a:t>
            </a:r>
            <a:r>
              <a:rPr lang="en-US" sz="2000" spc="-15" dirty="0">
                <a:effectLst/>
                <a:latin typeface="Times New Roman" panose="02020603050405020304" pitchFamily="18" charset="0"/>
                <a:ea typeface="LM Roman 12"/>
                <a:cs typeface="Times New Roman" panose="02020603050405020304" pitchFamily="18" charset="0"/>
              </a:rPr>
              <a:t>accuracy.</a:t>
            </a:r>
          </a:p>
          <a:p>
            <a:pPr algn="just"/>
            <a:r>
              <a:rPr lang="en-US" sz="2000" dirty="0">
                <a:effectLst/>
                <a:latin typeface="Times New Roman" panose="02020603050405020304" pitchFamily="18" charset="0"/>
                <a:ea typeface="LM Roman 12"/>
                <a:cs typeface="Times New Roman" panose="02020603050405020304" pitchFamily="18" charset="0"/>
              </a:rPr>
              <a:t>CNN</a:t>
            </a:r>
            <a:r>
              <a:rPr lang="en-US" sz="2000" spc="-4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with</a:t>
            </a:r>
            <a:r>
              <a:rPr lang="en-US" sz="2000" spc="-50"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MFCC</a:t>
            </a:r>
            <a:r>
              <a:rPr lang="en-US" sz="2000" spc="-4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as</a:t>
            </a:r>
            <a:r>
              <a:rPr lang="en-US" sz="2000" spc="-4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features</a:t>
            </a:r>
            <a:r>
              <a:rPr lang="en-US" sz="2000" spc="-4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gives</a:t>
            </a:r>
            <a:r>
              <a:rPr lang="en-US" sz="2000" spc="-4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the</a:t>
            </a:r>
            <a:r>
              <a:rPr lang="en-US" sz="2000" spc="-4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highest</a:t>
            </a:r>
            <a:r>
              <a:rPr lang="en-US" sz="2000" spc="-4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accuracy</a:t>
            </a:r>
            <a:r>
              <a:rPr lang="en-US" sz="2000" spc="-45"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compared</a:t>
            </a:r>
            <a:r>
              <a:rPr lang="en-US" sz="2000" spc="-50" dirty="0">
                <a:effectLst/>
                <a:latin typeface="Times New Roman" panose="02020603050405020304" pitchFamily="18" charset="0"/>
                <a:ea typeface="LM Roman 12"/>
                <a:cs typeface="Times New Roman" panose="02020603050405020304" pitchFamily="18" charset="0"/>
              </a:rPr>
              <a:t> </a:t>
            </a:r>
            <a:r>
              <a:rPr lang="en-US" sz="2000" dirty="0">
                <a:effectLst/>
                <a:latin typeface="Times New Roman" panose="02020603050405020304" pitchFamily="18" charset="0"/>
                <a:ea typeface="LM Roman 12"/>
                <a:cs typeface="Times New Roman" panose="02020603050405020304" pitchFamily="18" charset="0"/>
              </a:rPr>
              <a:t>to LFCC and GFCC. </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DDC4A6E-F6CD-4121-ACE3-BCB5EC964F13}"/>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C4034C23-143C-475D-8CB9-9C813F9ED0AD}"/>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7E155D5B-815D-4AC2-A961-09DA4A77615B}"/>
              </a:ext>
            </a:extLst>
          </p:cNvPr>
          <p:cNvSpPr>
            <a:spLocks noGrp="1"/>
          </p:cNvSpPr>
          <p:nvPr>
            <p:ph type="sldNum" sz="quarter" idx="12"/>
          </p:nvPr>
        </p:nvSpPr>
        <p:spPr/>
        <p:txBody>
          <a:bodyPr/>
          <a:lstStyle/>
          <a:p>
            <a:fld id="{B6F15528-21DE-4FAA-801E-634DDDAF4B2B}" type="slidenum">
              <a:rPr lang="en-US" smtClean="0"/>
              <a:pPr/>
              <a:t>87</a:t>
            </a:fld>
            <a:endParaRPr lang="en-US"/>
          </a:p>
        </p:txBody>
      </p:sp>
    </p:spTree>
    <p:extLst>
      <p:ext uri="{BB962C8B-B14F-4D97-AF65-F5344CB8AC3E}">
        <p14:creationId xmlns:p14="http://schemas.microsoft.com/office/powerpoint/2010/main" val="404080894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DB28E5F-E418-4312-8128-3E79D8863E8E}"/>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9513ACEC-4FAE-432F-AE94-6706813C3748}"/>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2BE56D9E-6319-4C95-9A59-97153579B087}"/>
              </a:ext>
            </a:extLst>
          </p:cNvPr>
          <p:cNvSpPr>
            <a:spLocks noGrp="1"/>
          </p:cNvSpPr>
          <p:nvPr>
            <p:ph type="sldNum" sz="quarter" idx="12"/>
          </p:nvPr>
        </p:nvSpPr>
        <p:spPr/>
        <p:txBody>
          <a:bodyPr/>
          <a:lstStyle/>
          <a:p>
            <a:fld id="{B6F15528-21DE-4FAA-801E-634DDDAF4B2B}" type="slidenum">
              <a:rPr lang="en-US" smtClean="0"/>
              <a:pPr/>
              <a:t>88</a:t>
            </a:fld>
            <a:endParaRPr lang="en-US"/>
          </a:p>
        </p:txBody>
      </p:sp>
      <p:graphicFrame>
        <p:nvGraphicFramePr>
          <p:cNvPr id="7" name="Table 7">
            <a:extLst>
              <a:ext uri="{FF2B5EF4-FFF2-40B4-BE49-F238E27FC236}">
                <a16:creationId xmlns:a16="http://schemas.microsoft.com/office/drawing/2014/main" id="{DDF40EF1-3E13-4A55-AF08-6BAB9DCC0B1D}"/>
              </a:ext>
            </a:extLst>
          </p:cNvPr>
          <p:cNvGraphicFramePr>
            <a:graphicFrameLocks noGrp="1"/>
          </p:cNvGraphicFramePr>
          <p:nvPr>
            <p:extLst>
              <p:ext uri="{D42A27DB-BD31-4B8C-83A1-F6EECF244321}">
                <p14:modId xmlns:p14="http://schemas.microsoft.com/office/powerpoint/2010/main" val="1963673560"/>
              </p:ext>
            </p:extLst>
          </p:nvPr>
        </p:nvGraphicFramePr>
        <p:xfrm>
          <a:off x="457200" y="914400"/>
          <a:ext cx="7848600" cy="3291840"/>
        </p:xfrm>
        <a:graphic>
          <a:graphicData uri="http://schemas.openxmlformats.org/drawingml/2006/table">
            <a:tbl>
              <a:tblPr firstRow="1" bandRow="1">
                <a:tableStyleId>{5940675A-B579-460E-94D1-54222C63F5DA}</a:tableStyleId>
              </a:tblPr>
              <a:tblGrid>
                <a:gridCol w="3429000">
                  <a:extLst>
                    <a:ext uri="{9D8B030D-6E8A-4147-A177-3AD203B41FA5}">
                      <a16:colId xmlns:a16="http://schemas.microsoft.com/office/drawing/2014/main" val="3180324140"/>
                    </a:ext>
                  </a:extLst>
                </a:gridCol>
                <a:gridCol w="4419600">
                  <a:extLst>
                    <a:ext uri="{9D8B030D-6E8A-4147-A177-3AD203B41FA5}">
                      <a16:colId xmlns:a16="http://schemas.microsoft.com/office/drawing/2014/main" val="251704053"/>
                    </a:ext>
                  </a:extLst>
                </a:gridCol>
              </a:tblGrid>
              <a:tr h="370840">
                <a:tc>
                  <a:txBody>
                    <a:bodyPr/>
                    <a:lstStyle/>
                    <a:p>
                      <a:r>
                        <a:rPr lang="en-US" sz="2000" dirty="0">
                          <a:latin typeface="Times New Roman" panose="02020603050405020304" pitchFamily="18" charset="0"/>
                          <a:cs typeface="Times New Roman" panose="02020603050405020304" pitchFamily="18" charset="0"/>
                        </a:rPr>
                        <a:t>Conference Name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b="0" i="0" kern="1200" dirty="0">
                          <a:solidFill>
                            <a:schemeClr val="tx1"/>
                          </a:solidFill>
                          <a:effectLst/>
                          <a:latin typeface="Times New Roman" panose="02020603050405020304" pitchFamily="18" charset="0"/>
                          <a:ea typeface="+mn-ea"/>
                          <a:cs typeface="Times New Roman" panose="02020603050405020304" pitchFamily="18" charset="0"/>
                        </a:rPr>
                        <a:t>8th International Conference on Signal Processing and Integrated Networks (SPIN 2021)</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21419538"/>
                  </a:ext>
                </a:extLst>
              </a:tr>
              <a:tr h="370840">
                <a:tc>
                  <a:txBody>
                    <a:bodyPr/>
                    <a:lstStyle/>
                    <a:p>
                      <a:r>
                        <a:rPr lang="en-US" sz="2000" dirty="0">
                          <a:latin typeface="Times New Roman" panose="02020603050405020304" pitchFamily="18" charset="0"/>
                          <a:cs typeface="Times New Roman" panose="02020603050405020304" pitchFamily="18" charset="0"/>
                        </a:rPr>
                        <a:t>Paper Title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Bird Classification Based on Bird Sounds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62035588"/>
                  </a:ext>
                </a:extLst>
              </a:tr>
              <a:tr h="370840">
                <a:tc>
                  <a:txBody>
                    <a:bodyPr/>
                    <a:lstStyle/>
                    <a:p>
                      <a:r>
                        <a:rPr lang="en-US" sz="2000" dirty="0">
                          <a:latin typeface="Times New Roman" panose="02020603050405020304" pitchFamily="18" charset="0"/>
                          <a:cs typeface="Times New Roman" panose="02020603050405020304" pitchFamily="18" charset="0"/>
                        </a:rPr>
                        <a:t>Status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ACCEPTED</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0626122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Acceptance Notification</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13-07-2021</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76939694"/>
                  </a:ext>
                </a:extLst>
              </a:tr>
              <a:tr h="370840">
                <a:tc>
                  <a:txBody>
                    <a:bodyPr/>
                    <a:lstStyle/>
                    <a:p>
                      <a:r>
                        <a:rPr lang="en-US" sz="2000" dirty="0">
                          <a:latin typeface="Times New Roman" panose="02020603050405020304" pitchFamily="18" charset="0"/>
                          <a:cs typeface="Times New Roman" panose="02020603050405020304" pitchFamily="18" charset="0"/>
                        </a:rPr>
                        <a:t>Conference Date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b="1" i="0" kern="1200" dirty="0">
                          <a:solidFill>
                            <a:schemeClr val="tx1"/>
                          </a:solidFill>
                          <a:effectLst/>
                          <a:latin typeface="Times New Roman" panose="02020603050405020304" pitchFamily="18" charset="0"/>
                          <a:ea typeface="+mn-ea"/>
                          <a:cs typeface="Times New Roman" panose="02020603050405020304" pitchFamily="18" charset="0"/>
                        </a:rPr>
                        <a:t>26-27 August 2021</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94891005"/>
                  </a:ext>
                </a:extLst>
              </a:tr>
              <a:tr h="370840">
                <a:tc>
                  <a:txBody>
                    <a:bodyPr/>
                    <a:lstStyle/>
                    <a:p>
                      <a:r>
                        <a:rPr lang="en-US" sz="2000" dirty="0">
                          <a:latin typeface="Times New Roman" panose="02020603050405020304" pitchFamily="18" charset="0"/>
                          <a:cs typeface="Times New Roman" panose="02020603050405020304" pitchFamily="18" charset="0"/>
                        </a:rPr>
                        <a:t>IEEE Conference Record Number</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52536</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6364018"/>
                  </a:ext>
                </a:extLst>
              </a:tr>
            </a:tbl>
          </a:graphicData>
        </a:graphic>
      </p:graphicFrame>
      <p:sp>
        <p:nvSpPr>
          <p:cNvPr id="8" name="TextBox 7">
            <a:extLst>
              <a:ext uri="{FF2B5EF4-FFF2-40B4-BE49-F238E27FC236}">
                <a16:creationId xmlns:a16="http://schemas.microsoft.com/office/drawing/2014/main" id="{D8C3F9DA-AA08-4030-B4C9-44BE05A35618}"/>
              </a:ext>
            </a:extLst>
          </p:cNvPr>
          <p:cNvSpPr txBox="1"/>
          <p:nvPr/>
        </p:nvSpPr>
        <p:spPr>
          <a:xfrm>
            <a:off x="762000" y="137960"/>
            <a:ext cx="7162800" cy="523220"/>
          </a:xfrm>
          <a:prstGeom prst="rect">
            <a:avLst/>
          </a:prstGeom>
          <a:noFill/>
        </p:spPr>
        <p:txBody>
          <a:bodyPr wrap="square" rtlCol="0">
            <a:spAutoFit/>
          </a:bodyPr>
          <a:lstStyle/>
          <a:p>
            <a:r>
              <a:rPr lang="en-US" sz="2800" dirty="0">
                <a:solidFill>
                  <a:srgbClr val="FF0000"/>
                </a:solidFill>
                <a:latin typeface="Times New Roman" panose="02020603050405020304" pitchFamily="18" charset="0"/>
                <a:cs typeface="Times New Roman" panose="02020603050405020304" pitchFamily="18" charset="0"/>
              </a:rPr>
              <a:t>Research Paper</a:t>
            </a:r>
            <a:endParaRPr lang="en-IN"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416516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0DBD7-9D65-4105-86E0-18BFA704BE5F}"/>
              </a:ext>
            </a:extLst>
          </p:cNvPr>
          <p:cNvSpPr>
            <a:spLocks noGrp="1"/>
          </p:cNvSpPr>
          <p:nvPr>
            <p:ph type="title"/>
          </p:nvPr>
        </p:nvSpPr>
        <p:spPr>
          <a:xfrm>
            <a:off x="304800" y="-228600"/>
            <a:ext cx="8229600" cy="1143000"/>
          </a:xfrm>
        </p:spPr>
        <p:txBody>
          <a:bodyPr/>
          <a:lstStyle/>
          <a:p>
            <a:pPr algn="l"/>
            <a:r>
              <a:rPr lang="en-US" dirty="0">
                <a:solidFill>
                  <a:srgbClr val="FF0000"/>
                </a:solidFill>
                <a:latin typeface="Times New Roman" panose="02020603050405020304" pitchFamily="18" charset="0"/>
                <a:cs typeface="Times New Roman" panose="02020603050405020304" pitchFamily="18" charset="0"/>
              </a:rPr>
              <a:t>References: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1A0ADE2-CFE9-444B-A386-4F3D5E35046E}"/>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6A18262A-CBD9-4469-800F-4DD00AE97859}"/>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0249827B-8B37-49FB-B562-1E80AC2F5F04}"/>
              </a:ext>
            </a:extLst>
          </p:cNvPr>
          <p:cNvSpPr>
            <a:spLocks noGrp="1"/>
          </p:cNvSpPr>
          <p:nvPr>
            <p:ph type="sldNum" sz="quarter" idx="12"/>
          </p:nvPr>
        </p:nvSpPr>
        <p:spPr/>
        <p:txBody>
          <a:bodyPr/>
          <a:lstStyle/>
          <a:p>
            <a:fld id="{B6F15528-21DE-4FAA-801E-634DDDAF4B2B}" type="slidenum">
              <a:rPr lang="en-US" smtClean="0"/>
              <a:pPr/>
              <a:t>89</a:t>
            </a:fld>
            <a:endParaRPr lang="en-US"/>
          </a:p>
        </p:txBody>
      </p:sp>
      <p:sp>
        <p:nvSpPr>
          <p:cNvPr id="7" name="Content Placeholder 11">
            <a:extLst>
              <a:ext uri="{FF2B5EF4-FFF2-40B4-BE49-F238E27FC236}">
                <a16:creationId xmlns:a16="http://schemas.microsoft.com/office/drawing/2014/main" id="{DA800C28-C2D6-4BE2-BD1F-56526048CDE1}"/>
              </a:ext>
            </a:extLst>
          </p:cNvPr>
          <p:cNvSpPr>
            <a:spLocks noGrp="1"/>
          </p:cNvSpPr>
          <p:nvPr>
            <p:ph idx="1"/>
          </p:nvPr>
        </p:nvSpPr>
        <p:spPr>
          <a:xfrm>
            <a:off x="304800" y="831761"/>
            <a:ext cx="8534400" cy="4343400"/>
          </a:xfrm>
        </p:spPr>
        <p:txBody>
          <a:bodyPr/>
          <a:lstStyle/>
          <a:p>
            <a:pPr marL="0" indent="0" algn="just">
              <a:buNone/>
            </a:pPr>
            <a:r>
              <a:rPr lang="en-IN" sz="1600" b="1" dirty="0">
                <a:latin typeface="Times New Roman" panose="02020603050405020304" pitchFamily="18" charset="0"/>
                <a:cs typeface="Times New Roman" panose="02020603050405020304" pitchFamily="18" charset="0"/>
              </a:rPr>
              <a:t>[1]</a:t>
            </a:r>
            <a:r>
              <a:rPr lang="en-IN" sz="1600" dirty="0">
                <a:latin typeface="Times New Roman" panose="02020603050405020304" pitchFamily="18" charset="0"/>
                <a:cs typeface="Times New Roman" panose="02020603050405020304" pitchFamily="18" charset="0"/>
              </a:rPr>
              <a:t> </a:t>
            </a:r>
            <a:r>
              <a:rPr lang="en-US" sz="1600" b="0" u="none" strike="noStrike" baseline="0" dirty="0">
                <a:latin typeface="Times New Roman" panose="02020603050405020304" pitchFamily="18" charset="0"/>
                <a:cs typeface="Times New Roman" panose="02020603050405020304" pitchFamily="18" charset="0"/>
              </a:rPr>
              <a:t>A. Charisma, M.R. </a:t>
            </a:r>
            <a:r>
              <a:rPr lang="en-US" sz="1600" b="0" u="none" strike="noStrike" baseline="0" dirty="0" err="1">
                <a:latin typeface="Times New Roman" panose="02020603050405020304" pitchFamily="18" charset="0"/>
                <a:cs typeface="Times New Roman" panose="02020603050405020304" pitchFamily="18" charset="0"/>
              </a:rPr>
              <a:t>Hidayat</a:t>
            </a:r>
            <a:r>
              <a:rPr lang="en-US" sz="1600" b="0" u="none" strike="noStrike" baseline="0" dirty="0">
                <a:latin typeface="Times New Roman" panose="02020603050405020304" pitchFamily="18" charset="0"/>
                <a:cs typeface="Times New Roman" panose="02020603050405020304" pitchFamily="18" charset="0"/>
              </a:rPr>
              <a:t> and Y.B. Zainal (2017). </a:t>
            </a:r>
            <a:r>
              <a:rPr lang="en-US" sz="1600" b="0" i="1" u="none" strike="noStrike" baseline="0" dirty="0">
                <a:latin typeface="Times New Roman" panose="02020603050405020304" pitchFamily="18" charset="0"/>
                <a:cs typeface="Times New Roman" panose="02020603050405020304" pitchFamily="18" charset="0"/>
              </a:rPr>
              <a:t>Speaker recognition using </a:t>
            </a:r>
            <a:r>
              <a:rPr lang="en-US" sz="1600" b="0" i="1" u="none" strike="noStrike" baseline="0" dirty="0" err="1">
                <a:latin typeface="Times New Roman" panose="02020603050405020304" pitchFamily="18" charset="0"/>
                <a:cs typeface="Times New Roman" panose="02020603050405020304" pitchFamily="18" charset="0"/>
              </a:rPr>
              <a:t>mel</a:t>
            </a:r>
            <a:r>
              <a:rPr lang="en-US" sz="1600" b="0" i="1" u="none" strike="noStrike" baseline="0" dirty="0">
                <a:latin typeface="Times New Roman" panose="02020603050405020304" pitchFamily="18" charset="0"/>
                <a:cs typeface="Times New Roman" panose="02020603050405020304" pitchFamily="18" charset="0"/>
              </a:rPr>
              <a:t>-  frequency </a:t>
            </a:r>
            <a:r>
              <a:rPr lang="en-US" sz="1600" b="0" i="1" u="none" strike="noStrike" baseline="0" dirty="0" err="1">
                <a:latin typeface="Times New Roman" panose="02020603050405020304" pitchFamily="18" charset="0"/>
                <a:cs typeface="Times New Roman" panose="02020603050405020304" pitchFamily="18" charset="0"/>
              </a:rPr>
              <a:t>cepstrum</a:t>
            </a:r>
            <a:r>
              <a:rPr lang="en-US" sz="1600" b="0" i="1" u="none" strike="noStrike" baseline="0" dirty="0">
                <a:latin typeface="Times New Roman" panose="02020603050405020304" pitchFamily="18" charset="0"/>
                <a:cs typeface="Times New Roman" panose="02020603050405020304" pitchFamily="18" charset="0"/>
              </a:rPr>
              <a:t> coefficients and sum square error </a:t>
            </a:r>
            <a:r>
              <a:rPr lang="en-US" sz="1600" b="0" u="none" strike="noStrike" baseline="0" dirty="0">
                <a:latin typeface="Times New Roman" panose="02020603050405020304" pitchFamily="18" charset="0"/>
                <a:cs typeface="Times New Roman" panose="02020603050405020304" pitchFamily="18" charset="0"/>
              </a:rPr>
              <a:t>(3rd International Conference on Wireless and Telematics (ICWT), 2017),pp. 160-163.</a:t>
            </a:r>
            <a:endParaRPr lang="en-IN" sz="1600" b="1" dirty="0">
              <a:latin typeface="Times New Roman" panose="02020603050405020304" pitchFamily="18" charset="0"/>
              <a:cs typeface="Times New Roman" panose="02020603050405020304" pitchFamily="18" charset="0"/>
            </a:endParaRPr>
          </a:p>
          <a:p>
            <a:pPr marL="0" indent="0" algn="just">
              <a:buNone/>
            </a:pPr>
            <a:r>
              <a:rPr lang="en-IN" sz="1600" b="1" dirty="0">
                <a:latin typeface="Times New Roman" panose="02020603050405020304" pitchFamily="18" charset="0"/>
                <a:cs typeface="Times New Roman" panose="02020603050405020304" pitchFamily="18" charset="0"/>
              </a:rPr>
              <a:t>[2] </a:t>
            </a:r>
            <a:r>
              <a:rPr lang="en-US" sz="1600" b="0" u="none" strike="noStrike" baseline="0" dirty="0">
                <a:latin typeface="Times New Roman" panose="02020603050405020304" pitchFamily="18" charset="0"/>
                <a:cs typeface="Times New Roman" panose="02020603050405020304" pitchFamily="18" charset="0"/>
              </a:rPr>
              <a:t>J. </a:t>
            </a:r>
            <a:r>
              <a:rPr lang="en-US" sz="1600" b="0" u="none" strike="noStrike" baseline="0" dirty="0" err="1">
                <a:latin typeface="Times New Roman" panose="02020603050405020304" pitchFamily="18" charset="0"/>
                <a:cs typeface="Times New Roman" panose="02020603050405020304" pitchFamily="18" charset="0"/>
              </a:rPr>
              <a:t>Xie</a:t>
            </a:r>
            <a:r>
              <a:rPr lang="en-US" sz="1600" b="0" u="none" strike="noStrike" baseline="0" dirty="0">
                <a:latin typeface="Times New Roman" panose="02020603050405020304" pitchFamily="18" charset="0"/>
                <a:cs typeface="Times New Roman" panose="02020603050405020304" pitchFamily="18" charset="0"/>
              </a:rPr>
              <a:t>, K. Hu, M. Zhu, J. Yu and Q. Zhu (2019). </a:t>
            </a:r>
            <a:r>
              <a:rPr lang="en-US" sz="1600" b="0" i="1" u="none" strike="noStrike" baseline="0" dirty="0">
                <a:latin typeface="Times New Roman" panose="02020603050405020304" pitchFamily="18" charset="0"/>
                <a:cs typeface="Times New Roman" panose="02020603050405020304" pitchFamily="18" charset="0"/>
              </a:rPr>
              <a:t>Investigation of Different CNN-Based Models for Improved Bird Sound Classification, </a:t>
            </a:r>
            <a:r>
              <a:rPr lang="en-US" sz="1600" b="0" u="none" strike="noStrike" baseline="0" dirty="0">
                <a:latin typeface="Times New Roman" panose="02020603050405020304" pitchFamily="18" charset="0"/>
                <a:cs typeface="Times New Roman" panose="02020603050405020304" pitchFamily="18" charset="0"/>
              </a:rPr>
              <a:t>vol. 7, pp. 175353- </a:t>
            </a:r>
            <a:r>
              <a:rPr lang="en-IN" sz="1600" b="0" u="none" strike="noStrike" baseline="0" dirty="0">
                <a:latin typeface="Times New Roman" panose="02020603050405020304" pitchFamily="18" charset="0"/>
                <a:cs typeface="Times New Roman" panose="02020603050405020304" pitchFamily="18" charset="0"/>
              </a:rPr>
              <a:t>175361</a:t>
            </a:r>
            <a:endParaRPr lang="en-IN" sz="1600" b="1" dirty="0">
              <a:latin typeface="Times New Roman" panose="02020603050405020304" pitchFamily="18" charset="0"/>
              <a:cs typeface="Times New Roman" panose="02020603050405020304" pitchFamily="18" charset="0"/>
            </a:endParaRPr>
          </a:p>
          <a:p>
            <a:pPr marL="0" indent="0" algn="just">
              <a:buNone/>
            </a:pPr>
            <a:r>
              <a:rPr lang="en-IN" sz="1600" b="1" dirty="0">
                <a:latin typeface="Times New Roman" panose="02020603050405020304" pitchFamily="18" charset="0"/>
                <a:cs typeface="Times New Roman" panose="02020603050405020304" pitchFamily="18" charset="0"/>
              </a:rPr>
              <a:t>[3]</a:t>
            </a:r>
            <a:r>
              <a:rPr lang="en-IN" sz="1600" dirty="0">
                <a:latin typeface="Times New Roman" panose="02020603050405020304" pitchFamily="18" charset="0"/>
                <a:cs typeface="Times New Roman" panose="02020603050405020304" pitchFamily="18" charset="0"/>
              </a:rPr>
              <a:t> </a:t>
            </a:r>
            <a:r>
              <a:rPr lang="en-IN" sz="1600" b="0" u="none" strike="noStrike" baseline="0" dirty="0">
                <a:latin typeface="Times New Roman" panose="02020603050405020304" pitchFamily="18" charset="0"/>
                <a:cs typeface="Times New Roman" panose="02020603050405020304" pitchFamily="18" charset="0"/>
              </a:rPr>
              <a:t>A. </a:t>
            </a:r>
            <a:r>
              <a:rPr lang="en-IN" sz="1600" b="0" u="none" strike="noStrike" baseline="0" dirty="0" err="1">
                <a:latin typeface="Times New Roman" panose="02020603050405020304" pitchFamily="18" charset="0"/>
                <a:cs typeface="Times New Roman" panose="02020603050405020304" pitchFamily="18" charset="0"/>
              </a:rPr>
              <a:t>Incze</a:t>
            </a:r>
            <a:r>
              <a:rPr lang="en-IN" sz="1600" b="0" u="none" strike="noStrike" baseline="0" dirty="0">
                <a:latin typeface="Times New Roman" panose="02020603050405020304" pitchFamily="18" charset="0"/>
                <a:cs typeface="Times New Roman" panose="02020603050405020304" pitchFamily="18" charset="0"/>
              </a:rPr>
              <a:t>, H. </a:t>
            </a:r>
            <a:r>
              <a:rPr lang="en-IN" sz="1600" b="0" u="none" strike="noStrike" baseline="0" dirty="0" err="1">
                <a:latin typeface="Times New Roman" panose="02020603050405020304" pitchFamily="18" charset="0"/>
                <a:cs typeface="Times New Roman" panose="02020603050405020304" pitchFamily="18" charset="0"/>
              </a:rPr>
              <a:t>Jancs´o</a:t>
            </a:r>
            <a:r>
              <a:rPr lang="en-IN" sz="1600" b="0" u="none" strike="noStrike" baseline="0" dirty="0">
                <a:latin typeface="Times New Roman" panose="02020603050405020304" pitchFamily="18" charset="0"/>
                <a:cs typeface="Times New Roman" panose="02020603050405020304" pitchFamily="18" charset="0"/>
              </a:rPr>
              <a:t>, Z. </a:t>
            </a:r>
            <a:r>
              <a:rPr lang="en-IN" sz="1600" b="0" u="none" strike="noStrike" baseline="0" dirty="0" err="1">
                <a:latin typeface="Times New Roman" panose="02020603050405020304" pitchFamily="18" charset="0"/>
                <a:cs typeface="Times New Roman" panose="02020603050405020304" pitchFamily="18" charset="0"/>
              </a:rPr>
              <a:t>Szil´agyi</a:t>
            </a:r>
            <a:r>
              <a:rPr lang="en-IN" sz="1600" b="0" u="none" strike="noStrike" baseline="0" dirty="0">
                <a:latin typeface="Times New Roman" panose="02020603050405020304" pitchFamily="18" charset="0"/>
                <a:cs typeface="Times New Roman" panose="02020603050405020304" pitchFamily="18" charset="0"/>
              </a:rPr>
              <a:t>, A. Farkas and C. </a:t>
            </a:r>
            <a:r>
              <a:rPr lang="en-IN" sz="1600" b="0" u="none" strike="noStrike" baseline="0" dirty="0" err="1">
                <a:latin typeface="Times New Roman" panose="02020603050405020304" pitchFamily="18" charset="0"/>
                <a:cs typeface="Times New Roman" panose="02020603050405020304" pitchFamily="18" charset="0"/>
              </a:rPr>
              <a:t>Sulyok</a:t>
            </a:r>
            <a:r>
              <a:rPr lang="en-IN" sz="1600" b="0" u="none" strike="noStrike" baseline="0" dirty="0">
                <a:latin typeface="Times New Roman" panose="02020603050405020304" pitchFamily="18" charset="0"/>
                <a:cs typeface="Times New Roman" panose="02020603050405020304" pitchFamily="18" charset="0"/>
              </a:rPr>
              <a:t>,(2018). </a:t>
            </a:r>
            <a:r>
              <a:rPr lang="en-IN" sz="1600" b="0" i="1" u="none" strike="noStrike" baseline="0" dirty="0">
                <a:latin typeface="Times New Roman" panose="02020603050405020304" pitchFamily="18" charset="0"/>
                <a:cs typeface="Times New Roman" panose="02020603050405020304" pitchFamily="18" charset="0"/>
              </a:rPr>
              <a:t>Bird sound </a:t>
            </a:r>
            <a:r>
              <a:rPr lang="en-US" sz="1600" b="0" i="1" u="none" strike="noStrike" baseline="0" dirty="0">
                <a:latin typeface="Times New Roman" panose="02020603050405020304" pitchFamily="18" charset="0"/>
                <a:cs typeface="Times New Roman" panose="02020603050405020304" pitchFamily="18" charset="0"/>
              </a:rPr>
              <a:t>recognition using a convolutional neural </a:t>
            </a:r>
            <a:r>
              <a:rPr lang="en-US" sz="1600" b="0" i="1" u="none" strike="noStrike" baseline="0" dirty="0" err="1">
                <a:latin typeface="Times New Roman" panose="02020603050405020304" pitchFamily="18" charset="0"/>
                <a:cs typeface="Times New Roman" panose="02020603050405020304" pitchFamily="18" charset="0"/>
              </a:rPr>
              <a:t>network,</a:t>
            </a:r>
            <a:r>
              <a:rPr lang="en-US" sz="1600" b="0" u="none" strike="noStrike" baseline="0" dirty="0" err="1">
                <a:latin typeface="Times New Roman" panose="02020603050405020304" pitchFamily="18" charset="0"/>
                <a:cs typeface="Times New Roman" panose="02020603050405020304" pitchFamily="18" charset="0"/>
              </a:rPr>
              <a:t>Proc</a:t>
            </a:r>
            <a:r>
              <a:rPr lang="en-US" sz="1600" b="0" u="none" strike="noStrike" baseline="0" dirty="0">
                <a:latin typeface="Times New Roman" panose="02020603050405020304" pitchFamily="18" charset="0"/>
                <a:cs typeface="Times New Roman" panose="02020603050405020304" pitchFamily="18" charset="0"/>
              </a:rPr>
              <a:t>. IEEE 16th Int. </a:t>
            </a:r>
            <a:r>
              <a:rPr lang="en-US" sz="1600" b="0" u="none" strike="noStrike" baseline="0" dirty="0" err="1">
                <a:latin typeface="Times New Roman" panose="02020603050405020304" pitchFamily="18" charset="0"/>
                <a:cs typeface="Times New Roman" panose="02020603050405020304" pitchFamily="18" charset="0"/>
              </a:rPr>
              <a:t>Symp</a:t>
            </a:r>
            <a:r>
              <a:rPr lang="en-US" sz="1600" b="0" u="none" strike="noStrike" baseline="0" dirty="0">
                <a:latin typeface="Times New Roman" panose="02020603050405020304" pitchFamily="18" charset="0"/>
                <a:cs typeface="Times New Roman" panose="02020603050405020304" pitchFamily="18" charset="0"/>
              </a:rPr>
              <a:t>. </a:t>
            </a:r>
            <a:r>
              <a:rPr lang="en-IN" sz="1600" b="0" u="none" strike="noStrike" baseline="0" dirty="0" err="1">
                <a:latin typeface="Times New Roman" panose="02020603050405020304" pitchFamily="18" charset="0"/>
                <a:cs typeface="Times New Roman" panose="02020603050405020304" pitchFamily="18" charset="0"/>
              </a:rPr>
              <a:t>Intell</a:t>
            </a:r>
            <a:r>
              <a:rPr lang="en-IN" sz="1600" b="0" u="none" strike="noStrike" baseline="0" dirty="0">
                <a:latin typeface="Times New Roman" panose="02020603050405020304" pitchFamily="18" charset="0"/>
                <a:cs typeface="Times New Roman" panose="02020603050405020304" pitchFamily="18" charset="0"/>
              </a:rPr>
              <a:t>. Syst. Inform. (SISY), pp. 000295-000300,</a:t>
            </a:r>
            <a:endParaRPr lang="en-IN" sz="1600" b="1" dirty="0">
              <a:latin typeface="Times New Roman" panose="02020603050405020304" pitchFamily="18" charset="0"/>
              <a:cs typeface="Times New Roman" panose="02020603050405020304" pitchFamily="18" charset="0"/>
            </a:endParaRPr>
          </a:p>
          <a:p>
            <a:pPr marL="0" indent="0" algn="just">
              <a:buNone/>
            </a:pPr>
            <a:r>
              <a:rPr lang="en-IN" sz="1600" b="1" dirty="0">
                <a:latin typeface="Times New Roman" panose="02020603050405020304" pitchFamily="18" charset="0"/>
                <a:cs typeface="Times New Roman" panose="02020603050405020304" pitchFamily="18" charset="0"/>
              </a:rPr>
              <a:t>[4]</a:t>
            </a:r>
            <a:r>
              <a:rPr lang="en-US" sz="1600" b="0" u="none" strike="noStrike" baseline="0" dirty="0">
                <a:latin typeface="Times New Roman" panose="02020603050405020304" pitchFamily="18" charset="0"/>
                <a:cs typeface="Times New Roman" panose="02020603050405020304" pitchFamily="18" charset="0"/>
              </a:rPr>
              <a:t> P. </a:t>
            </a:r>
            <a:r>
              <a:rPr lang="en-US" sz="1600" b="0" u="none" strike="noStrike" baseline="0" dirty="0" err="1">
                <a:latin typeface="Times New Roman" panose="02020603050405020304" pitchFamily="18" charset="0"/>
                <a:cs typeface="Times New Roman" panose="02020603050405020304" pitchFamily="18" charset="0"/>
              </a:rPr>
              <a:t>Jancovic</a:t>
            </a:r>
            <a:r>
              <a:rPr lang="en-US" sz="1600" b="0" u="none" strike="noStrike" baseline="0" dirty="0">
                <a:latin typeface="Times New Roman" panose="02020603050405020304" pitchFamily="18" charset="0"/>
                <a:cs typeface="Times New Roman" panose="02020603050405020304" pitchFamily="18" charset="0"/>
              </a:rPr>
              <a:t>, M. K  ok¨ </a:t>
            </a:r>
            <a:r>
              <a:rPr lang="en-US" sz="1600" b="0" u="none" strike="noStrike" baseline="0" dirty="0" err="1">
                <a:latin typeface="Times New Roman" panose="02020603050405020304" pitchFamily="18" charset="0"/>
                <a:cs typeface="Times New Roman" panose="02020603050405020304" pitchFamily="18" charset="0"/>
              </a:rPr>
              <a:t>uer</a:t>
            </a:r>
            <a:r>
              <a:rPr lang="en-US" sz="1600" b="0" u="none" strike="noStrike" baseline="0" dirty="0">
                <a:latin typeface="Times New Roman" panose="02020603050405020304" pitchFamily="18" charset="0"/>
                <a:cs typeface="Times New Roman" panose="02020603050405020304" pitchFamily="18" charset="0"/>
              </a:rPr>
              <a:t>, M. </a:t>
            </a:r>
            <a:r>
              <a:rPr lang="en-US" sz="1600" b="0" u="none" strike="noStrike" baseline="0" dirty="0" err="1">
                <a:latin typeface="Times New Roman" panose="02020603050405020304" pitchFamily="18" charset="0"/>
                <a:cs typeface="Times New Roman" panose="02020603050405020304" pitchFamily="18" charset="0"/>
              </a:rPr>
              <a:t>Zakeri</a:t>
            </a:r>
            <a:r>
              <a:rPr lang="en-US" sz="1600" b="0" u="none" strike="noStrike" baseline="0" dirty="0">
                <a:latin typeface="Times New Roman" panose="02020603050405020304" pitchFamily="18" charset="0"/>
                <a:cs typeface="Times New Roman" panose="02020603050405020304" pitchFamily="18" charset="0"/>
              </a:rPr>
              <a:t>, and M. Russell, (2016). </a:t>
            </a:r>
            <a:r>
              <a:rPr lang="en-US" sz="1600" b="0" i="1" u="none" strike="noStrike" baseline="0" dirty="0">
                <a:latin typeface="Times New Roman" panose="02020603050405020304" pitchFamily="18" charset="0"/>
                <a:cs typeface="Times New Roman" panose="02020603050405020304" pitchFamily="18" charset="0"/>
              </a:rPr>
              <a:t>Bird species recognition using HMM-based unsupervised modelling of individual syllables with incorporated duration modelling, </a:t>
            </a:r>
            <a:r>
              <a:rPr lang="en-US" sz="1600" b="0" u="none" strike="noStrike" baseline="0" dirty="0">
                <a:latin typeface="Times New Roman" panose="02020603050405020304" pitchFamily="18" charset="0"/>
                <a:cs typeface="Times New Roman" panose="02020603050405020304" pitchFamily="18" charset="0"/>
              </a:rPr>
              <a:t>in International Conference on Acoustics, Speech and Signal Processing (</a:t>
            </a:r>
            <a:r>
              <a:rPr lang="en-US" sz="1600" b="0" u="none" strike="noStrike" baseline="0" dirty="0" err="1">
                <a:latin typeface="Times New Roman" panose="02020603050405020304" pitchFamily="18" charset="0"/>
                <a:cs typeface="Times New Roman" panose="02020603050405020304" pitchFamily="18" charset="0"/>
              </a:rPr>
              <a:t>ICASSP,pp</a:t>
            </a:r>
            <a:r>
              <a:rPr lang="en-US" sz="1600" b="0" u="none" strike="noStrike" baseline="0" dirty="0">
                <a:latin typeface="Times New Roman" panose="02020603050405020304" pitchFamily="18" charset="0"/>
                <a:cs typeface="Times New Roman" panose="02020603050405020304" pitchFamily="18" charset="0"/>
              </a:rPr>
              <a:t>. 559–563.</a:t>
            </a:r>
          </a:p>
          <a:p>
            <a:pPr marL="0" indent="0" algn="just">
              <a:buNone/>
            </a:pPr>
            <a:r>
              <a:rPr lang="en-IN" sz="1600" b="1" dirty="0">
                <a:latin typeface="Times New Roman" panose="02020603050405020304" pitchFamily="18" charset="0"/>
                <a:cs typeface="Times New Roman" panose="02020603050405020304" pitchFamily="18" charset="0"/>
              </a:rPr>
              <a:t>[5]</a:t>
            </a:r>
            <a:r>
              <a:rPr lang="en-IN" sz="1600" dirty="0">
                <a:latin typeface="Times New Roman" panose="02020603050405020304" pitchFamily="18" charset="0"/>
                <a:cs typeface="Times New Roman" panose="02020603050405020304" pitchFamily="18" charset="0"/>
              </a:rPr>
              <a:t> </a:t>
            </a:r>
            <a:r>
              <a:rPr lang="en-IN" sz="1600" b="0" i="0" u="none" strike="noStrike" baseline="0" dirty="0">
                <a:latin typeface="Times New Roman" panose="02020603050405020304" pitchFamily="18" charset="0"/>
                <a:cs typeface="Times New Roman" panose="02020603050405020304" pitchFamily="18" charset="0"/>
              </a:rPr>
              <a:t>Lee, Chang-</a:t>
            </a:r>
            <a:r>
              <a:rPr lang="en-IN" sz="1600" b="0" i="0" u="none" strike="noStrike" baseline="0" dirty="0" err="1">
                <a:latin typeface="Times New Roman" panose="02020603050405020304" pitchFamily="18" charset="0"/>
                <a:cs typeface="Times New Roman" panose="02020603050405020304" pitchFamily="18" charset="0"/>
              </a:rPr>
              <a:t>Hsing</a:t>
            </a:r>
            <a:r>
              <a:rPr lang="en-IN" sz="1600" b="0" i="0" u="none" strike="noStrike" baseline="0" dirty="0">
                <a:latin typeface="Times New Roman" panose="02020603050405020304" pitchFamily="18" charset="0"/>
                <a:cs typeface="Times New Roman" panose="02020603050405020304" pitchFamily="18" charset="0"/>
              </a:rPr>
              <a:t> &amp; Lee, </a:t>
            </a:r>
            <a:r>
              <a:rPr lang="en-IN" sz="1600" b="0" i="0" u="none" strike="noStrike" baseline="0" dirty="0" err="1">
                <a:latin typeface="Times New Roman" panose="02020603050405020304" pitchFamily="18" charset="0"/>
                <a:cs typeface="Times New Roman" panose="02020603050405020304" pitchFamily="18" charset="0"/>
              </a:rPr>
              <a:t>Yeuan-kuen</a:t>
            </a:r>
            <a:r>
              <a:rPr lang="en-IN" sz="1600" b="0" i="0" u="none" strike="noStrike" baseline="0" dirty="0">
                <a:latin typeface="Times New Roman" panose="02020603050405020304" pitchFamily="18" charset="0"/>
                <a:cs typeface="Times New Roman" panose="02020603050405020304" pitchFamily="18" charset="0"/>
              </a:rPr>
              <a:t> &amp; Huang, Ren-</a:t>
            </a:r>
            <a:r>
              <a:rPr lang="en-IN" sz="1600" b="0" i="0" u="none" strike="noStrike" baseline="0" dirty="0" err="1">
                <a:latin typeface="Times New Roman" panose="02020603050405020304" pitchFamily="18" charset="0"/>
                <a:cs typeface="Times New Roman" panose="02020603050405020304" pitchFamily="18" charset="0"/>
              </a:rPr>
              <a:t>zhuang</a:t>
            </a:r>
            <a:r>
              <a:rPr lang="en-IN" sz="1600" b="0" i="0" u="none" strike="noStrike" baseline="0" dirty="0">
                <a:latin typeface="Times New Roman" panose="02020603050405020304" pitchFamily="18" charset="0"/>
                <a:cs typeface="Times New Roman" panose="02020603050405020304" pitchFamily="18" charset="0"/>
              </a:rPr>
              <a:t>.(2006). </a:t>
            </a:r>
            <a:r>
              <a:rPr lang="en-IN" sz="1600" b="0" i="1" u="none" strike="noStrike" baseline="0" dirty="0">
                <a:latin typeface="Times New Roman" panose="02020603050405020304" pitchFamily="18" charset="0"/>
                <a:cs typeface="Times New Roman" panose="02020603050405020304" pitchFamily="18" charset="0"/>
              </a:rPr>
              <a:t>Automatic </a:t>
            </a:r>
            <a:r>
              <a:rPr lang="en-US" sz="1600" b="0" i="1" u="none" strike="noStrike" baseline="0" dirty="0">
                <a:latin typeface="Times New Roman" panose="02020603050405020304" pitchFamily="18" charset="0"/>
                <a:cs typeface="Times New Roman" panose="02020603050405020304" pitchFamily="18" charset="0"/>
              </a:rPr>
              <a:t>Recognition of Bird Songs Using Cepstral </a:t>
            </a:r>
            <a:r>
              <a:rPr lang="en-US" sz="1600" b="0" i="1" u="none" strike="noStrike" baseline="0" dirty="0" err="1">
                <a:latin typeface="Times New Roman" panose="02020603050405020304" pitchFamily="18" charset="0"/>
                <a:cs typeface="Times New Roman" panose="02020603050405020304" pitchFamily="18" charset="0"/>
              </a:rPr>
              <a:t>Coefficients.</a:t>
            </a:r>
            <a:r>
              <a:rPr lang="en-US" sz="1600" b="0" i="0" u="none" strike="noStrike" baseline="0" dirty="0" err="1">
                <a:latin typeface="Times New Roman" panose="02020603050405020304" pitchFamily="18" charset="0"/>
                <a:cs typeface="Times New Roman" panose="02020603050405020304" pitchFamily="18" charset="0"/>
              </a:rPr>
              <a:t>Journal</a:t>
            </a:r>
            <a:r>
              <a:rPr lang="en-US" sz="1600" b="0" i="0" u="none" strike="noStrike" baseline="0" dirty="0">
                <a:latin typeface="Times New Roman" panose="02020603050405020304" pitchFamily="18" charset="0"/>
                <a:cs typeface="Times New Roman" panose="02020603050405020304" pitchFamily="18" charset="0"/>
              </a:rPr>
              <a:t> of Information Technology and Applications Vol. 1 No. 1,May, 2006, pp.17-23.</a:t>
            </a:r>
          </a:p>
          <a:p>
            <a:pPr marL="0" indent="0" algn="just">
              <a:buNone/>
            </a:pPr>
            <a:r>
              <a:rPr lang="en-IN" sz="1600" b="1" dirty="0">
                <a:latin typeface="Times New Roman" panose="02020603050405020304" pitchFamily="18" charset="0"/>
                <a:cs typeface="Times New Roman" panose="02020603050405020304" pitchFamily="18" charset="0"/>
              </a:rPr>
              <a:t>[6]</a:t>
            </a:r>
            <a:r>
              <a:rPr lang="en-IN" sz="1600" dirty="0">
                <a:latin typeface="Times New Roman" panose="02020603050405020304" pitchFamily="18" charset="0"/>
                <a:cs typeface="Times New Roman" panose="02020603050405020304" pitchFamily="18" charset="0"/>
              </a:rPr>
              <a:t> </a:t>
            </a:r>
            <a:r>
              <a:rPr lang="en-US" sz="1600" b="0" i="0" u="none" strike="noStrike" baseline="0" dirty="0" err="1">
                <a:latin typeface="Times New Roman" panose="02020603050405020304" pitchFamily="18" charset="0"/>
                <a:cs typeface="Times New Roman" panose="02020603050405020304" pitchFamily="18" charset="0"/>
              </a:rPr>
              <a:t>Patole</a:t>
            </a:r>
            <a:r>
              <a:rPr lang="en-US" sz="1600" b="0" i="0" u="none" strike="noStrike" baseline="0" dirty="0">
                <a:latin typeface="Times New Roman" panose="02020603050405020304" pitchFamily="18" charset="0"/>
                <a:cs typeface="Times New Roman" panose="02020603050405020304" pitchFamily="18" charset="0"/>
              </a:rPr>
              <a:t> R., </a:t>
            </a:r>
            <a:r>
              <a:rPr lang="en-US" sz="1600" b="0" i="0" u="none" strike="noStrike" baseline="0" dirty="0" err="1">
                <a:latin typeface="Times New Roman" panose="02020603050405020304" pitchFamily="18" charset="0"/>
                <a:cs typeface="Times New Roman" panose="02020603050405020304" pitchFamily="18" charset="0"/>
              </a:rPr>
              <a:t>Rege</a:t>
            </a:r>
            <a:r>
              <a:rPr lang="en-US" sz="1600" b="0" i="0" u="none" strike="noStrike" baseline="0" dirty="0">
                <a:latin typeface="Times New Roman" panose="02020603050405020304" pitchFamily="18" charset="0"/>
                <a:cs typeface="Times New Roman" panose="02020603050405020304" pitchFamily="18" charset="0"/>
              </a:rPr>
              <a:t> P. (2021). </a:t>
            </a:r>
            <a:r>
              <a:rPr lang="en-US" sz="1600" b="0" i="1" u="none" strike="noStrike" baseline="0" dirty="0">
                <a:latin typeface="Times New Roman" panose="02020603050405020304" pitchFamily="18" charset="0"/>
                <a:cs typeface="Times New Roman" panose="02020603050405020304" pitchFamily="18" charset="0"/>
              </a:rPr>
              <a:t>Acoustic Classification of Bird Species. </a:t>
            </a:r>
            <a:r>
              <a:rPr lang="en-US" sz="1600" b="0" i="0" u="none" strike="noStrike" baseline="0" dirty="0">
                <a:latin typeface="Times New Roman" panose="02020603050405020304" pitchFamily="18" charset="0"/>
                <a:cs typeface="Times New Roman" panose="02020603050405020304" pitchFamily="18" charset="0"/>
              </a:rPr>
              <a:t>Advances in Signal and Data Processing. Lecture Notes in Electrical Engineering, vol 703. </a:t>
            </a:r>
            <a:r>
              <a:rPr lang="en-IN" sz="1600" b="0" i="0" u="none" strike="noStrike" baseline="0" dirty="0">
                <a:latin typeface="Times New Roman" panose="02020603050405020304" pitchFamily="18" charset="0"/>
                <a:cs typeface="Times New Roman" panose="02020603050405020304" pitchFamily="18" charset="0"/>
              </a:rPr>
              <a:t>Springer, Singapore.</a:t>
            </a:r>
            <a:endParaRPr lang="en-IN" sz="1600" dirty="0">
              <a:latin typeface="Times New Roman" panose="02020603050405020304" pitchFamily="18" charset="0"/>
              <a:cs typeface="Times New Roman" panose="02020603050405020304" pitchFamily="18" charset="0"/>
            </a:endParaRPr>
          </a:p>
          <a:p>
            <a:pPr marL="0" indent="0" algn="just">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692848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A590400-37FB-42F7-9B46-B19D54398859}"/>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503B9BD4-7088-4A29-9EAC-81F1808C3895}"/>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9A7445CD-A6CD-4E1A-AB0D-00BCF3B31A20}"/>
              </a:ext>
            </a:extLst>
          </p:cNvPr>
          <p:cNvSpPr>
            <a:spLocks noGrp="1"/>
          </p:cNvSpPr>
          <p:nvPr>
            <p:ph type="sldNum" sz="quarter" idx="12"/>
          </p:nvPr>
        </p:nvSpPr>
        <p:spPr/>
        <p:txBody>
          <a:bodyPr/>
          <a:lstStyle/>
          <a:p>
            <a:fld id="{B6F15528-21DE-4FAA-801E-634DDDAF4B2B}" type="slidenum">
              <a:rPr lang="en-US" smtClean="0"/>
              <a:pPr/>
              <a:t>90</a:t>
            </a:fld>
            <a:endParaRPr lang="en-US"/>
          </a:p>
        </p:txBody>
      </p:sp>
      <p:sp>
        <p:nvSpPr>
          <p:cNvPr id="7" name="Content Placeholder 9">
            <a:extLst>
              <a:ext uri="{FF2B5EF4-FFF2-40B4-BE49-F238E27FC236}">
                <a16:creationId xmlns:a16="http://schemas.microsoft.com/office/drawing/2014/main" id="{D78B1F65-A474-4345-B86D-5D7D000293D0}"/>
              </a:ext>
            </a:extLst>
          </p:cNvPr>
          <p:cNvSpPr>
            <a:spLocks noGrp="1"/>
          </p:cNvSpPr>
          <p:nvPr>
            <p:ph idx="1"/>
          </p:nvPr>
        </p:nvSpPr>
        <p:spPr>
          <a:xfrm>
            <a:off x="457200" y="526257"/>
            <a:ext cx="7772400" cy="4419600"/>
          </a:xfrm>
        </p:spPr>
        <p:txBody>
          <a:bodyPr/>
          <a:lstStyle/>
          <a:p>
            <a:pPr marL="0" indent="0" algn="just">
              <a:buNone/>
            </a:pPr>
            <a:r>
              <a:rPr lang="en-IN" sz="1600" dirty="0">
                <a:latin typeface="Times New Roman" panose="02020603050405020304" pitchFamily="18" charset="0"/>
                <a:cs typeface="Times New Roman" panose="02020603050405020304" pitchFamily="18" charset="0"/>
              </a:rPr>
              <a:t> </a:t>
            </a:r>
            <a:endParaRPr lang="en-IN" sz="1600" b="1" dirty="0">
              <a:latin typeface="Times New Roman" panose="02020603050405020304" pitchFamily="18" charset="0"/>
              <a:cs typeface="Times New Roman" panose="02020603050405020304" pitchFamily="18" charset="0"/>
            </a:endParaRPr>
          </a:p>
          <a:p>
            <a:pPr marL="0" indent="0" algn="just">
              <a:buNone/>
            </a:pPr>
            <a:r>
              <a:rPr lang="en-IN" sz="1600" b="1" dirty="0">
                <a:latin typeface="Times New Roman" panose="02020603050405020304" pitchFamily="18" charset="0"/>
                <a:cs typeface="Times New Roman" panose="02020603050405020304" pitchFamily="18" charset="0"/>
              </a:rPr>
              <a:t>[7]</a:t>
            </a:r>
            <a:r>
              <a:rPr lang="en-IN" sz="1600" dirty="0">
                <a:latin typeface="Times New Roman" panose="02020603050405020304" pitchFamily="18" charset="0"/>
                <a:cs typeface="Times New Roman" panose="02020603050405020304" pitchFamily="18" charset="0"/>
              </a:rPr>
              <a:t> </a:t>
            </a:r>
            <a:r>
              <a:rPr lang="en-IN" sz="1600" b="0" i="0" u="none" strike="noStrike" baseline="0" dirty="0" err="1">
                <a:latin typeface="Times New Roman" panose="02020603050405020304" pitchFamily="18" charset="0"/>
                <a:cs typeface="Times New Roman" panose="02020603050405020304" pitchFamily="18" charset="0"/>
              </a:rPr>
              <a:t>Trifa</a:t>
            </a:r>
            <a:r>
              <a:rPr lang="en-IN" sz="1600" b="0" i="0" u="none" strike="noStrike" baseline="0" dirty="0">
                <a:latin typeface="Times New Roman" panose="02020603050405020304" pitchFamily="18" charset="0"/>
                <a:cs typeface="Times New Roman" panose="02020603050405020304" pitchFamily="18" charset="0"/>
              </a:rPr>
              <a:t> VM, </a:t>
            </a:r>
            <a:r>
              <a:rPr lang="en-IN" sz="1600" b="0" i="0" u="none" strike="noStrike" baseline="0" dirty="0" err="1">
                <a:latin typeface="Times New Roman" panose="02020603050405020304" pitchFamily="18" charset="0"/>
                <a:cs typeface="Times New Roman" panose="02020603050405020304" pitchFamily="18" charset="0"/>
              </a:rPr>
              <a:t>Kirschel</a:t>
            </a:r>
            <a:r>
              <a:rPr lang="en-IN" sz="1600" b="0" i="0" u="none" strike="noStrike" baseline="0" dirty="0">
                <a:latin typeface="Times New Roman" panose="02020603050405020304" pitchFamily="18" charset="0"/>
                <a:cs typeface="Times New Roman" panose="02020603050405020304" pitchFamily="18" charset="0"/>
              </a:rPr>
              <a:t> AN, Taylor CE, Vallejo EE (2008). species recognition of </a:t>
            </a:r>
            <a:r>
              <a:rPr lang="en-US" sz="1600" b="0" i="0" u="none" strike="noStrike" baseline="0" dirty="0">
                <a:latin typeface="Times New Roman" panose="02020603050405020304" pitchFamily="18" charset="0"/>
                <a:cs typeface="Times New Roman" panose="02020603050405020304" pitchFamily="18" charset="0"/>
              </a:rPr>
              <a:t>antbirds in a Mexican rainforest using hidden Markov models. IJ </a:t>
            </a:r>
            <a:r>
              <a:rPr lang="en-US" sz="1600" b="0" i="0" u="none" strike="noStrike" baseline="0" dirty="0" err="1">
                <a:latin typeface="Times New Roman" panose="02020603050405020304" pitchFamily="18" charset="0"/>
                <a:cs typeface="Times New Roman" panose="02020603050405020304" pitchFamily="18" charset="0"/>
              </a:rPr>
              <a:t>Acoust</a:t>
            </a:r>
            <a:r>
              <a:rPr lang="en-US" sz="1600" b="0" i="0" u="none" strike="noStrike" baseline="0" dirty="0">
                <a:latin typeface="Times New Roman" panose="02020603050405020304" pitchFamily="18" charset="0"/>
                <a:cs typeface="Times New Roman" panose="02020603050405020304" pitchFamily="18" charset="0"/>
              </a:rPr>
              <a:t> Soc </a:t>
            </a:r>
            <a:r>
              <a:rPr lang="en-IN" sz="1600" b="0" i="0" u="none" strike="noStrike" baseline="0" dirty="0">
                <a:latin typeface="Times New Roman" panose="02020603050405020304" pitchFamily="18" charset="0"/>
                <a:cs typeface="Times New Roman" panose="02020603050405020304" pitchFamily="18" charset="0"/>
              </a:rPr>
              <a:t>Am. ;123(4):pp2424-2431.</a:t>
            </a:r>
            <a:endParaRPr lang="en-IN" sz="1600" dirty="0">
              <a:latin typeface="Times New Roman" panose="02020603050405020304" pitchFamily="18" charset="0"/>
              <a:cs typeface="Times New Roman" panose="02020603050405020304" pitchFamily="18" charset="0"/>
            </a:endParaRPr>
          </a:p>
          <a:p>
            <a:pPr marL="0" indent="0" algn="just">
              <a:buNone/>
            </a:pPr>
            <a:r>
              <a:rPr lang="en-IN" sz="1600" b="1" dirty="0">
                <a:latin typeface="Times New Roman" panose="02020603050405020304" pitchFamily="18" charset="0"/>
                <a:cs typeface="Times New Roman" panose="02020603050405020304" pitchFamily="18" charset="0"/>
              </a:rPr>
              <a:t>[8]</a:t>
            </a:r>
            <a:r>
              <a:rPr lang="en-IN" sz="1600" dirty="0">
                <a:latin typeface="Times New Roman" panose="02020603050405020304" pitchFamily="18" charset="0"/>
                <a:cs typeface="Times New Roman" panose="02020603050405020304" pitchFamily="18" charset="0"/>
              </a:rPr>
              <a:t> </a:t>
            </a:r>
            <a:r>
              <a:rPr lang="en-IN" sz="1600" b="0" i="0" u="none" strike="noStrike" baseline="0" dirty="0" err="1">
                <a:latin typeface="Times New Roman" panose="02020603050405020304" pitchFamily="18" charset="0"/>
                <a:cs typeface="Times New Roman" panose="02020603050405020304" pitchFamily="18" charset="0"/>
              </a:rPr>
              <a:t>Dewi</a:t>
            </a:r>
            <a:r>
              <a:rPr lang="en-IN" sz="1600" b="0" i="0" u="none" strike="noStrike" baseline="0" dirty="0">
                <a:latin typeface="Times New Roman" panose="02020603050405020304" pitchFamily="18" charset="0"/>
                <a:cs typeface="Times New Roman" panose="02020603050405020304" pitchFamily="18" charset="0"/>
              </a:rPr>
              <a:t>, Sita &amp; </a:t>
            </a:r>
            <a:r>
              <a:rPr lang="en-IN" sz="1600" b="0" i="0" u="none" strike="noStrike" baseline="0" dirty="0" err="1">
                <a:latin typeface="Times New Roman" panose="02020603050405020304" pitchFamily="18" charset="0"/>
                <a:cs typeface="Times New Roman" panose="02020603050405020304" pitchFamily="18" charset="0"/>
              </a:rPr>
              <a:t>Prasasti</a:t>
            </a:r>
            <a:r>
              <a:rPr lang="en-IN" sz="1600" b="0" i="0" u="none" strike="noStrike" baseline="0" dirty="0">
                <a:latin typeface="Times New Roman" panose="02020603050405020304" pitchFamily="18" charset="0"/>
                <a:cs typeface="Times New Roman" panose="02020603050405020304" pitchFamily="18" charset="0"/>
              </a:rPr>
              <a:t>, </a:t>
            </a:r>
            <a:r>
              <a:rPr lang="en-IN" sz="1600" b="0" i="0" u="none" strike="noStrike" baseline="0" dirty="0" err="1">
                <a:latin typeface="Times New Roman" panose="02020603050405020304" pitchFamily="18" charset="0"/>
                <a:cs typeface="Times New Roman" panose="02020603050405020304" pitchFamily="18" charset="0"/>
              </a:rPr>
              <a:t>Anggunmeka</a:t>
            </a:r>
            <a:r>
              <a:rPr lang="en-IN" sz="1600" b="0" i="0" u="none" strike="noStrike" baseline="0" dirty="0">
                <a:latin typeface="Times New Roman" panose="02020603050405020304" pitchFamily="18" charset="0"/>
                <a:cs typeface="Times New Roman" panose="02020603050405020304" pitchFamily="18" charset="0"/>
              </a:rPr>
              <a:t> &amp; </a:t>
            </a:r>
            <a:r>
              <a:rPr lang="en-IN" sz="1600" b="0" i="0" u="none" strike="noStrike" baseline="0" dirty="0" err="1">
                <a:latin typeface="Times New Roman" panose="02020603050405020304" pitchFamily="18" charset="0"/>
                <a:cs typeface="Times New Roman" panose="02020603050405020304" pitchFamily="18" charset="0"/>
              </a:rPr>
              <a:t>Irawan</a:t>
            </a:r>
            <a:r>
              <a:rPr lang="en-IN" sz="1600" b="0" i="0" u="none" strike="noStrike" baseline="0" dirty="0">
                <a:latin typeface="Times New Roman" panose="02020603050405020304" pitchFamily="18" charset="0"/>
                <a:cs typeface="Times New Roman" panose="02020603050405020304" pitchFamily="18" charset="0"/>
              </a:rPr>
              <a:t>, </a:t>
            </a:r>
            <a:r>
              <a:rPr lang="en-IN" sz="1600" b="0" i="0" u="none" strike="noStrike" baseline="0" dirty="0" err="1">
                <a:latin typeface="Times New Roman" panose="02020603050405020304" pitchFamily="18" charset="0"/>
                <a:cs typeface="Times New Roman" panose="02020603050405020304" pitchFamily="18" charset="0"/>
              </a:rPr>
              <a:t>Budhi</a:t>
            </a:r>
            <a:r>
              <a:rPr lang="en-IN" sz="1600" b="0" i="0" u="none" strike="noStrike" baseline="0" dirty="0">
                <a:latin typeface="Times New Roman" panose="02020603050405020304" pitchFamily="18" charset="0"/>
                <a:cs typeface="Times New Roman" panose="02020603050405020304" pitchFamily="18" charset="0"/>
              </a:rPr>
              <a:t>.(2019) </a:t>
            </a:r>
            <a:r>
              <a:rPr lang="en-IN" sz="1600" b="0" i="1" u="none" strike="noStrike" baseline="0" dirty="0">
                <a:latin typeface="Times New Roman" panose="02020603050405020304" pitchFamily="18" charset="0"/>
                <a:cs typeface="Times New Roman" panose="02020603050405020304" pitchFamily="18" charset="0"/>
              </a:rPr>
              <a:t>Analysis of LFCC </a:t>
            </a:r>
            <a:r>
              <a:rPr lang="en-US" sz="1600" b="0" i="1" u="none" strike="noStrike" baseline="0" dirty="0">
                <a:latin typeface="Times New Roman" panose="02020603050405020304" pitchFamily="18" charset="0"/>
                <a:cs typeface="Times New Roman" panose="02020603050405020304" pitchFamily="18" charset="0"/>
              </a:rPr>
              <a:t>Feature Extraction in Baby Crying Classification using KNN </a:t>
            </a:r>
            <a:r>
              <a:rPr lang="en-US" sz="1600" b="0" i="0" u="none" strike="noStrike" baseline="0" dirty="0">
                <a:latin typeface="Times New Roman" panose="02020603050405020304" pitchFamily="18" charset="0"/>
                <a:cs typeface="Times New Roman" panose="02020603050405020304" pitchFamily="18" charset="0"/>
              </a:rPr>
              <a:t>(IEEE International Conference on Internet of Things and Intelligence System (</a:t>
            </a:r>
            <a:r>
              <a:rPr lang="en-US" sz="1600" b="0" i="0" u="none" strike="noStrike" baseline="0" dirty="0" err="1">
                <a:latin typeface="Times New Roman" panose="02020603050405020304" pitchFamily="18" charset="0"/>
                <a:cs typeface="Times New Roman" panose="02020603050405020304" pitchFamily="18" charset="0"/>
              </a:rPr>
              <a:t>IoTaIS</a:t>
            </a:r>
            <a:r>
              <a:rPr lang="en-US" sz="1600" b="0" i="0" u="none" strike="noStrike" baseline="0" dirty="0">
                <a:latin typeface="Times New Roman" panose="02020603050405020304" pitchFamily="18" charset="0"/>
                <a:cs typeface="Times New Roman" panose="02020603050405020304" pitchFamily="18" charset="0"/>
              </a:rPr>
              <a:t>),pp.</a:t>
            </a:r>
            <a:r>
              <a:rPr lang="en-IN" sz="1600" b="0" i="0" u="none" strike="noStrike" baseline="0" dirty="0">
                <a:latin typeface="Times New Roman" panose="02020603050405020304" pitchFamily="18" charset="0"/>
                <a:cs typeface="Times New Roman" panose="02020603050405020304" pitchFamily="18" charset="0"/>
              </a:rPr>
              <a:t>86-91).</a:t>
            </a:r>
            <a:r>
              <a:rPr lang="en-IN" sz="1600" dirty="0">
                <a:latin typeface="Times New Roman" panose="02020603050405020304" pitchFamily="18" charset="0"/>
                <a:cs typeface="Times New Roman" panose="02020603050405020304" pitchFamily="18" charset="0"/>
              </a:rPr>
              <a:t>.</a:t>
            </a:r>
          </a:p>
          <a:p>
            <a:pPr marL="0" indent="0" algn="just">
              <a:buNone/>
            </a:pPr>
            <a:r>
              <a:rPr lang="en-IN" sz="1600" dirty="0">
                <a:latin typeface="Times New Roman" panose="02020603050405020304" pitchFamily="18" charset="0"/>
                <a:cs typeface="Times New Roman" panose="02020603050405020304" pitchFamily="18" charset="0"/>
              </a:rPr>
              <a:t>[9]</a:t>
            </a:r>
            <a:r>
              <a:rPr lang="en-US" sz="1600" b="0" i="0" u="none" strike="noStrike" baseline="0" dirty="0">
                <a:latin typeface="Times New Roman" panose="02020603050405020304" pitchFamily="18" charset="0"/>
                <a:cs typeface="Times New Roman" panose="02020603050405020304" pitchFamily="18" charset="0"/>
              </a:rPr>
              <a:t> </a:t>
            </a:r>
            <a:r>
              <a:rPr lang="en-US" sz="1600" b="0" i="0" u="none" strike="noStrike" baseline="0" dirty="0" err="1">
                <a:latin typeface="Times New Roman" panose="02020603050405020304" pitchFamily="18" charset="0"/>
                <a:cs typeface="Times New Roman" panose="02020603050405020304" pitchFamily="18" charset="0"/>
              </a:rPr>
              <a:t>Jianyu</a:t>
            </a:r>
            <a:r>
              <a:rPr lang="en-US" sz="1600" b="0" i="0" u="none" strike="noStrike" baseline="0" dirty="0">
                <a:latin typeface="Times New Roman" panose="02020603050405020304" pitchFamily="18" charset="0"/>
                <a:cs typeface="Times New Roman" panose="02020603050405020304" pitchFamily="18" charset="0"/>
              </a:rPr>
              <a:t> Miao, </a:t>
            </a:r>
            <a:r>
              <a:rPr lang="en-US" sz="1600" b="0" i="0" u="none" strike="noStrike" baseline="0" dirty="0" err="1">
                <a:latin typeface="Times New Roman" panose="02020603050405020304" pitchFamily="18" charset="0"/>
                <a:cs typeface="Times New Roman" panose="02020603050405020304" pitchFamily="18" charset="0"/>
              </a:rPr>
              <a:t>Lingfeng</a:t>
            </a:r>
            <a:r>
              <a:rPr lang="en-US" sz="1600" b="0" i="0" u="none" strike="noStrike" baseline="0" dirty="0">
                <a:latin typeface="Times New Roman" panose="02020603050405020304" pitchFamily="18" charset="0"/>
                <a:cs typeface="Times New Roman" panose="02020603050405020304" pitchFamily="18" charset="0"/>
              </a:rPr>
              <a:t> </a:t>
            </a:r>
            <a:r>
              <a:rPr lang="en-US" sz="1600" b="0" i="0" u="none" strike="noStrike" baseline="0" dirty="0" err="1">
                <a:latin typeface="Times New Roman" panose="02020603050405020304" pitchFamily="18" charset="0"/>
                <a:cs typeface="Times New Roman" panose="02020603050405020304" pitchFamily="18" charset="0"/>
              </a:rPr>
              <a:t>Niu</a:t>
            </a:r>
            <a:r>
              <a:rPr lang="en-US" sz="1600" b="0" i="0" u="none" strike="noStrike" baseline="0" dirty="0">
                <a:latin typeface="Times New Roman" panose="02020603050405020304" pitchFamily="18" charset="0"/>
                <a:cs typeface="Times New Roman" panose="02020603050405020304" pitchFamily="18" charset="0"/>
              </a:rPr>
              <a:t>(2016)„ </a:t>
            </a:r>
            <a:r>
              <a:rPr lang="en-US" sz="1600" b="0" i="1" u="none" strike="noStrike" baseline="0" dirty="0">
                <a:latin typeface="Times New Roman" panose="02020603050405020304" pitchFamily="18" charset="0"/>
                <a:cs typeface="Times New Roman" panose="02020603050405020304" pitchFamily="18" charset="0"/>
              </a:rPr>
              <a:t>A Survey on Feature Selection </a:t>
            </a:r>
            <a:r>
              <a:rPr lang="en-US" sz="1600" b="0" i="0" u="none" strike="noStrike" baseline="0" dirty="0">
                <a:latin typeface="Times New Roman" panose="02020603050405020304" pitchFamily="18" charset="0"/>
                <a:cs typeface="Times New Roman" panose="02020603050405020304" pitchFamily="18" charset="0"/>
              </a:rPr>
              <a:t>Procedia </a:t>
            </a:r>
            <a:r>
              <a:rPr lang="fr-FR" sz="1600" b="0" i="0" u="none" strike="noStrike" baseline="0" dirty="0">
                <a:latin typeface="Times New Roman" panose="02020603050405020304" pitchFamily="18" charset="0"/>
                <a:cs typeface="Times New Roman" panose="02020603050405020304" pitchFamily="18" charset="0"/>
              </a:rPr>
              <a:t>Computer </a:t>
            </a:r>
            <a:r>
              <a:rPr lang="fr-FR" sz="1600" b="0" i="0" u="none" strike="noStrike" baseline="0" dirty="0" err="1">
                <a:latin typeface="Times New Roman" panose="02020603050405020304" pitchFamily="18" charset="0"/>
                <a:cs typeface="Times New Roman" panose="02020603050405020304" pitchFamily="18" charset="0"/>
              </a:rPr>
              <a:t>Science,Volume</a:t>
            </a:r>
            <a:r>
              <a:rPr lang="fr-FR" sz="1600" b="0" i="0" u="none" strike="noStrike" baseline="0" dirty="0">
                <a:latin typeface="Times New Roman" panose="02020603050405020304" pitchFamily="18" charset="0"/>
                <a:cs typeface="Times New Roman" panose="02020603050405020304" pitchFamily="18" charset="0"/>
              </a:rPr>
              <a:t> 91,Pages 919-926.</a:t>
            </a:r>
          </a:p>
          <a:p>
            <a:pPr marL="0" indent="0" algn="just">
              <a:buNone/>
            </a:pPr>
            <a:r>
              <a:rPr lang="en-IN" sz="1600" b="1" dirty="0">
                <a:latin typeface="Times New Roman" panose="02020603050405020304" pitchFamily="18" charset="0"/>
                <a:cs typeface="Times New Roman" panose="02020603050405020304" pitchFamily="18" charset="0"/>
              </a:rPr>
              <a:t>[10]</a:t>
            </a:r>
            <a:r>
              <a:rPr lang="en-IN" sz="1600" dirty="0">
                <a:latin typeface="Times New Roman" panose="02020603050405020304" pitchFamily="18" charset="0"/>
                <a:cs typeface="Times New Roman" panose="02020603050405020304" pitchFamily="18" charset="0"/>
              </a:rPr>
              <a:t> </a:t>
            </a:r>
            <a:r>
              <a:rPr lang="en-IN" sz="1600" b="0" i="0" u="none" strike="noStrike" baseline="0" dirty="0" err="1">
                <a:latin typeface="Times New Roman" panose="02020603050405020304" pitchFamily="18" charset="0"/>
                <a:cs typeface="Times New Roman" panose="02020603050405020304" pitchFamily="18" charset="0"/>
              </a:rPr>
              <a:t>S´anchez-Maro˜no</a:t>
            </a:r>
            <a:r>
              <a:rPr lang="en-IN" sz="1600" b="0" i="0" u="none" strike="noStrike" baseline="0" dirty="0">
                <a:latin typeface="Times New Roman" panose="02020603050405020304" pitchFamily="18" charset="0"/>
                <a:cs typeface="Times New Roman" panose="02020603050405020304" pitchFamily="18" charset="0"/>
              </a:rPr>
              <a:t> N., Alonso-</a:t>
            </a:r>
            <a:r>
              <a:rPr lang="en-IN" sz="1600" b="0" i="0" u="none" strike="noStrike" baseline="0" dirty="0" err="1">
                <a:latin typeface="Times New Roman" panose="02020603050405020304" pitchFamily="18" charset="0"/>
                <a:cs typeface="Times New Roman" panose="02020603050405020304" pitchFamily="18" charset="0"/>
              </a:rPr>
              <a:t>Betanzos</a:t>
            </a:r>
            <a:r>
              <a:rPr lang="en-IN" sz="1600" b="0" i="0" u="none" strike="noStrike" baseline="0" dirty="0">
                <a:latin typeface="Times New Roman" panose="02020603050405020304" pitchFamily="18" charset="0"/>
                <a:cs typeface="Times New Roman" panose="02020603050405020304" pitchFamily="18" charset="0"/>
              </a:rPr>
              <a:t> A., </a:t>
            </a:r>
            <a:r>
              <a:rPr lang="en-IN" sz="1600" b="0" i="0" u="none" strike="noStrike" baseline="0" dirty="0" err="1">
                <a:latin typeface="Times New Roman" panose="02020603050405020304" pitchFamily="18" charset="0"/>
                <a:cs typeface="Times New Roman" panose="02020603050405020304" pitchFamily="18" charset="0"/>
              </a:rPr>
              <a:t>Tombilla-Sanrom´an</a:t>
            </a:r>
            <a:r>
              <a:rPr lang="en-IN" sz="1600" b="0" i="0" u="none" strike="noStrike" baseline="0" dirty="0">
                <a:latin typeface="Times New Roman" panose="02020603050405020304" pitchFamily="18" charset="0"/>
                <a:cs typeface="Times New Roman" panose="02020603050405020304" pitchFamily="18" charset="0"/>
              </a:rPr>
              <a:t> M.(2007) </a:t>
            </a:r>
            <a:r>
              <a:rPr lang="en-IN" sz="1600" b="0" i="1" u="none" strike="noStrike" baseline="0" dirty="0">
                <a:latin typeface="Times New Roman" panose="02020603050405020304" pitchFamily="18" charset="0"/>
                <a:cs typeface="Times New Roman" panose="02020603050405020304" pitchFamily="18" charset="0"/>
              </a:rPr>
              <a:t>Filter </a:t>
            </a:r>
            <a:r>
              <a:rPr lang="en-US" sz="1600" b="0" i="1" u="none" strike="noStrike" baseline="0" dirty="0">
                <a:latin typeface="Times New Roman" panose="02020603050405020304" pitchFamily="18" charset="0"/>
                <a:cs typeface="Times New Roman" panose="02020603050405020304" pitchFamily="18" charset="0"/>
              </a:rPr>
              <a:t>Methods for Feature Selection – A Comparative Study </a:t>
            </a:r>
            <a:r>
              <a:rPr lang="en-US" sz="1600" b="0" i="0" u="none" strike="noStrike" baseline="0" dirty="0">
                <a:latin typeface="Times New Roman" panose="02020603050405020304" pitchFamily="18" charset="0"/>
                <a:cs typeface="Times New Roman" panose="02020603050405020304" pitchFamily="18" charset="0"/>
              </a:rPr>
              <a:t>( Intelligent Data Engineering and Automated Learning - </a:t>
            </a:r>
            <a:r>
              <a:rPr lang="en-US" sz="1600" b="0" i="0" u="none" strike="noStrike" baseline="0" dirty="0" err="1">
                <a:latin typeface="Times New Roman" panose="02020603050405020304" pitchFamily="18" charset="0"/>
                <a:cs typeface="Times New Roman" panose="02020603050405020304" pitchFamily="18" charset="0"/>
              </a:rPr>
              <a:t>IDEAL,vol</a:t>
            </a:r>
            <a:r>
              <a:rPr lang="en-US" sz="1600" b="0" i="0" u="none" strike="noStrike" baseline="0" dirty="0">
                <a:latin typeface="Times New Roman" panose="02020603050405020304" pitchFamily="18" charset="0"/>
                <a:cs typeface="Times New Roman" panose="02020603050405020304" pitchFamily="18" charset="0"/>
              </a:rPr>
              <a:t> 488</a:t>
            </a:r>
            <a:endParaRPr lang="en-IN" sz="1600" dirty="0">
              <a:latin typeface="Times New Roman" panose="02020603050405020304" pitchFamily="18" charset="0"/>
              <a:cs typeface="Times New Roman" panose="02020603050405020304" pitchFamily="18" charset="0"/>
            </a:endParaRPr>
          </a:p>
          <a:p>
            <a:pPr marL="0" indent="0" algn="just">
              <a:buNone/>
            </a:pPr>
            <a:r>
              <a:rPr lang="en-IN" sz="1600" b="1" dirty="0">
                <a:latin typeface="Times New Roman" panose="02020603050405020304" pitchFamily="18" charset="0"/>
                <a:cs typeface="Times New Roman" panose="02020603050405020304" pitchFamily="18" charset="0"/>
              </a:rPr>
              <a:t>[11]</a:t>
            </a:r>
            <a:r>
              <a:rPr lang="en-US" sz="1600" b="0" i="0" u="none" strike="noStrike" baseline="0" dirty="0">
                <a:latin typeface="Times New Roman" panose="02020603050405020304" pitchFamily="18" charset="0"/>
                <a:cs typeface="Times New Roman" panose="02020603050405020304" pitchFamily="18" charset="0"/>
              </a:rPr>
              <a:t> Guyon, I., Weston, J., Barnhill, S. et al..(2002) </a:t>
            </a:r>
            <a:r>
              <a:rPr lang="en-US" sz="1600" b="0" i="1" u="none" strike="noStrike" baseline="0" dirty="0">
                <a:latin typeface="Times New Roman" panose="02020603050405020304" pitchFamily="18" charset="0"/>
                <a:cs typeface="Times New Roman" panose="02020603050405020304" pitchFamily="18" charset="0"/>
              </a:rPr>
              <a:t>Gene Selection for Cancer Classification</a:t>
            </a:r>
            <a:r>
              <a:rPr lang="en-US" sz="1600" i="1" dirty="0">
                <a:latin typeface="Times New Roman" panose="02020603050405020304" pitchFamily="18" charset="0"/>
                <a:cs typeface="Times New Roman" panose="02020603050405020304" pitchFamily="18" charset="0"/>
              </a:rPr>
              <a:t> </a:t>
            </a:r>
            <a:r>
              <a:rPr lang="en-US" sz="1600" b="0" i="1" u="none" strike="noStrike" baseline="0" dirty="0">
                <a:latin typeface="Times New Roman" panose="02020603050405020304" pitchFamily="18" charset="0"/>
                <a:cs typeface="Times New Roman" panose="02020603050405020304" pitchFamily="18" charset="0"/>
              </a:rPr>
              <a:t>using Support Vector Machines. </a:t>
            </a:r>
            <a:r>
              <a:rPr lang="en-US" sz="1600" b="0" i="0" u="none" strike="noStrike" baseline="0" dirty="0">
                <a:latin typeface="Times New Roman" panose="02020603050405020304" pitchFamily="18" charset="0"/>
                <a:cs typeface="Times New Roman" panose="02020603050405020304" pitchFamily="18" charset="0"/>
              </a:rPr>
              <a:t>Machine Learning 46, pp. 389–422</a:t>
            </a:r>
            <a:endParaRPr lang="en-IN" sz="1600" b="1" dirty="0">
              <a:latin typeface="Times New Roman" panose="02020603050405020304" pitchFamily="18" charset="0"/>
              <a:cs typeface="Times New Roman" panose="02020603050405020304" pitchFamily="18" charset="0"/>
            </a:endParaRPr>
          </a:p>
          <a:p>
            <a:pPr marL="0" indent="0" algn="just">
              <a:buNone/>
            </a:pPr>
            <a:r>
              <a:rPr lang="en-IN" sz="1600" b="1" dirty="0">
                <a:latin typeface="Times New Roman" panose="02020603050405020304" pitchFamily="18" charset="0"/>
                <a:cs typeface="Times New Roman" panose="02020603050405020304" pitchFamily="18" charset="0"/>
              </a:rPr>
              <a:t>[12]</a:t>
            </a:r>
            <a:r>
              <a:rPr lang="en-IN" sz="1600" dirty="0">
                <a:latin typeface="Times New Roman" panose="02020603050405020304" pitchFamily="18" charset="0"/>
                <a:cs typeface="Times New Roman" panose="02020603050405020304" pitchFamily="18" charset="0"/>
              </a:rPr>
              <a:t> </a:t>
            </a:r>
            <a:r>
              <a:rPr lang="en-US" sz="1600" b="0" i="0" u="none" strike="noStrike" baseline="0" dirty="0" err="1">
                <a:latin typeface="Times New Roman" panose="02020603050405020304" pitchFamily="18" charset="0"/>
                <a:cs typeface="Times New Roman" panose="02020603050405020304" pitchFamily="18" charset="0"/>
              </a:rPr>
              <a:t>Rassak</a:t>
            </a:r>
            <a:r>
              <a:rPr lang="en-US" sz="1600" b="0" i="0" u="none" strike="noStrike" baseline="0" dirty="0">
                <a:latin typeface="Times New Roman" panose="02020603050405020304" pitchFamily="18" charset="0"/>
                <a:cs typeface="Times New Roman" panose="02020603050405020304" pitchFamily="18" charset="0"/>
              </a:rPr>
              <a:t> S, </a:t>
            </a:r>
            <a:r>
              <a:rPr lang="en-US" sz="1600" b="0" i="0" u="none" strike="noStrike" baseline="0" dirty="0" err="1">
                <a:latin typeface="Times New Roman" panose="02020603050405020304" pitchFamily="18" charset="0"/>
                <a:cs typeface="Times New Roman" panose="02020603050405020304" pitchFamily="18" charset="0"/>
              </a:rPr>
              <a:t>Nachamai</a:t>
            </a:r>
            <a:r>
              <a:rPr lang="en-US" sz="1600" b="0" i="0" u="none" strike="noStrike" baseline="0" dirty="0">
                <a:latin typeface="Times New Roman" panose="02020603050405020304" pitchFamily="18" charset="0"/>
                <a:cs typeface="Times New Roman" panose="02020603050405020304" pitchFamily="18" charset="0"/>
              </a:rPr>
              <a:t> M(2016) </a:t>
            </a:r>
            <a:r>
              <a:rPr lang="en-US" sz="1600" b="0" i="1" u="none" strike="noStrike" baseline="0" dirty="0">
                <a:latin typeface="Times New Roman" panose="02020603050405020304" pitchFamily="18" charset="0"/>
                <a:cs typeface="Times New Roman" panose="02020603050405020304" pitchFamily="18" charset="0"/>
              </a:rPr>
              <a:t>Survey study on the methods of bird vocalization classification </a:t>
            </a:r>
            <a:r>
              <a:rPr lang="en-US" sz="1600" b="0" i="0" u="none" strike="noStrike" baseline="0" dirty="0">
                <a:latin typeface="Times New Roman" panose="02020603050405020304" pitchFamily="18" charset="0"/>
                <a:cs typeface="Times New Roman" panose="02020603050405020304" pitchFamily="18" charset="0"/>
              </a:rPr>
              <a:t>IEEE international conference on current trends in advanced </a:t>
            </a:r>
            <a:r>
              <a:rPr lang="en-IN" sz="1600" b="0" i="0" u="none" strike="noStrike" baseline="0" dirty="0">
                <a:latin typeface="Times New Roman" panose="02020603050405020304" pitchFamily="18" charset="0"/>
                <a:cs typeface="Times New Roman" panose="02020603050405020304" pitchFamily="18" charset="0"/>
              </a:rPr>
              <a:t>computing (ICCTAC),pp 1-8.</a:t>
            </a:r>
            <a:endParaRPr lang="en-IN" sz="1600" dirty="0">
              <a:latin typeface="Times New Roman" panose="02020603050405020304" pitchFamily="18" charset="0"/>
              <a:cs typeface="Times New Roman" panose="02020603050405020304" pitchFamily="18" charset="0"/>
            </a:endParaRPr>
          </a:p>
          <a:p>
            <a:pPr marL="0" indent="0" algn="just">
              <a:buNone/>
            </a:pPr>
            <a:endParaRPr lang="en-IN" sz="1600" dirty="0">
              <a:latin typeface="Times New Roman" panose="02020603050405020304" pitchFamily="18" charset="0"/>
              <a:cs typeface="Times New Roman" panose="02020603050405020304" pitchFamily="18" charset="0"/>
            </a:endParaRPr>
          </a:p>
          <a:p>
            <a:pPr marL="0" indent="0" algn="just">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67293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8E1B277-C5A8-4CD4-891D-B2722DFF9C10}"/>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D9DA6192-E49C-4A4D-AA47-96C47B36DABF}"/>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7081B7DC-55B1-4AB1-8DD1-19B93E66742A}"/>
              </a:ext>
            </a:extLst>
          </p:cNvPr>
          <p:cNvSpPr>
            <a:spLocks noGrp="1"/>
          </p:cNvSpPr>
          <p:nvPr>
            <p:ph type="sldNum" sz="quarter" idx="12"/>
          </p:nvPr>
        </p:nvSpPr>
        <p:spPr/>
        <p:txBody>
          <a:bodyPr/>
          <a:lstStyle/>
          <a:p>
            <a:fld id="{B6F15528-21DE-4FAA-801E-634DDDAF4B2B}" type="slidenum">
              <a:rPr lang="en-US" smtClean="0"/>
              <a:pPr/>
              <a:t>91</a:t>
            </a:fld>
            <a:endParaRPr lang="en-US"/>
          </a:p>
        </p:txBody>
      </p:sp>
      <p:sp>
        <p:nvSpPr>
          <p:cNvPr id="7" name="Content Placeholder 9">
            <a:extLst>
              <a:ext uri="{FF2B5EF4-FFF2-40B4-BE49-F238E27FC236}">
                <a16:creationId xmlns:a16="http://schemas.microsoft.com/office/drawing/2014/main" id="{5C143ED6-E215-4575-B227-BECCB91B5272}"/>
              </a:ext>
            </a:extLst>
          </p:cNvPr>
          <p:cNvSpPr txBox="1">
            <a:spLocks/>
          </p:cNvSpPr>
          <p:nvPr/>
        </p:nvSpPr>
        <p:spPr>
          <a:xfrm>
            <a:off x="457200" y="662734"/>
            <a:ext cx="7772400" cy="489986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IN" sz="1600" b="1" dirty="0">
                <a:latin typeface="Times New Roman" panose="02020603050405020304" pitchFamily="18" charset="0"/>
                <a:cs typeface="Times New Roman" panose="02020603050405020304" pitchFamily="18" charset="0"/>
              </a:rPr>
              <a:t>[13]</a:t>
            </a:r>
            <a:r>
              <a:rPr lang="en-IN" sz="1600" dirty="0">
                <a:latin typeface="Times New Roman" panose="02020603050405020304" pitchFamily="18" charset="0"/>
                <a:cs typeface="Times New Roman" panose="02020603050405020304" pitchFamily="18" charset="0"/>
              </a:rPr>
              <a:t> </a:t>
            </a:r>
            <a:r>
              <a:rPr lang="en-US" sz="1600" b="0" i="0" u="none" strike="noStrike" baseline="0" dirty="0">
                <a:latin typeface="Times New Roman" panose="02020603050405020304" pitchFamily="18" charset="0"/>
                <a:cs typeface="Times New Roman" panose="02020603050405020304" pitchFamily="18" charset="0"/>
              </a:rPr>
              <a:t>Valero X, Alias F(2012) </a:t>
            </a:r>
            <a:r>
              <a:rPr lang="en-US" sz="1600" b="0" i="1" u="none" strike="noStrike" baseline="0" dirty="0">
                <a:latin typeface="Times New Roman" panose="02020603050405020304" pitchFamily="18" charset="0"/>
                <a:cs typeface="Times New Roman" panose="02020603050405020304" pitchFamily="18" charset="0"/>
              </a:rPr>
              <a:t>Gammatone cepstral coefficients: Biologically inspired features for non-speech audio classification. </a:t>
            </a:r>
            <a:r>
              <a:rPr lang="en-US" sz="1600" b="0" i="0" u="none" strike="noStrike" baseline="0" dirty="0">
                <a:latin typeface="Times New Roman" panose="02020603050405020304" pitchFamily="18" charset="0"/>
                <a:cs typeface="Times New Roman" panose="02020603050405020304" pitchFamily="18" charset="0"/>
              </a:rPr>
              <a:t>IEEE Trans Multimedia 14(6): </a:t>
            </a:r>
            <a:r>
              <a:rPr lang="en-IN" sz="1600" b="0" i="0" u="none" strike="noStrike" baseline="0" dirty="0">
                <a:latin typeface="Times New Roman" panose="02020603050405020304" pitchFamily="18" charset="0"/>
                <a:cs typeface="Times New Roman" panose="02020603050405020304" pitchFamily="18" charset="0"/>
              </a:rPr>
              <a:t>pp1684–1689.</a:t>
            </a:r>
            <a:endParaRPr lang="en-IN" sz="1600" dirty="0">
              <a:latin typeface="Times New Roman" panose="02020603050405020304" pitchFamily="18" charset="0"/>
              <a:cs typeface="Times New Roman" panose="02020603050405020304" pitchFamily="18" charset="0"/>
            </a:endParaRPr>
          </a:p>
          <a:p>
            <a:pPr marL="0" indent="0" algn="just">
              <a:buNone/>
            </a:pPr>
            <a:r>
              <a:rPr lang="en-IN" sz="1600" dirty="0">
                <a:latin typeface="Times New Roman" panose="02020603050405020304" pitchFamily="18" charset="0"/>
                <a:cs typeface="Times New Roman" panose="02020603050405020304" pitchFamily="18" charset="0"/>
              </a:rPr>
              <a:t>[14]Towards </a:t>
            </a:r>
            <a:r>
              <a:rPr lang="en-IN" sz="1600" dirty="0" err="1">
                <a:latin typeface="Times New Roman" panose="02020603050405020304" pitchFamily="18" charset="0"/>
                <a:cs typeface="Times New Roman" panose="02020603050405020304" pitchFamily="18" charset="0"/>
              </a:rPr>
              <a:t>Datascience</a:t>
            </a:r>
            <a:r>
              <a:rPr lang="en-IN" sz="1600" dirty="0">
                <a:latin typeface="Times New Roman" panose="02020603050405020304" pitchFamily="18" charset="0"/>
                <a:cs typeface="Times New Roman" panose="02020603050405020304" pitchFamily="18" charset="0"/>
              </a:rPr>
              <a:t> Homepage </a:t>
            </a:r>
            <a:r>
              <a:rPr lang="en-IN" sz="1600" dirty="0">
                <a:latin typeface="Times New Roman" panose="02020603050405020304" pitchFamily="18" charset="0"/>
                <a:cs typeface="Times New Roman" panose="02020603050405020304" pitchFamily="18" charset="0"/>
                <a:hlinkClick r:id="rId2"/>
              </a:rPr>
              <a:t>https://machinelearningmastery.com/feature-selection-with-real-and-categorical-data/</a:t>
            </a:r>
            <a:endParaRPr lang="en-IN" sz="1600" dirty="0">
              <a:latin typeface="Times New Roman" panose="02020603050405020304" pitchFamily="18" charset="0"/>
              <a:cs typeface="Times New Roman" panose="02020603050405020304" pitchFamily="18" charset="0"/>
            </a:endParaRPr>
          </a:p>
          <a:p>
            <a:pPr marL="0" indent="0" algn="just">
              <a:buNone/>
            </a:pPr>
            <a:r>
              <a:rPr lang="en-IN" sz="1600" dirty="0">
                <a:latin typeface="Times New Roman" panose="02020603050405020304" pitchFamily="18" charset="0"/>
                <a:cs typeface="Times New Roman" panose="02020603050405020304" pitchFamily="18" charset="0"/>
              </a:rPr>
              <a:t>[15]</a:t>
            </a:r>
            <a:r>
              <a:rPr lang="en-US" sz="1600" b="0" i="0" u="none" strike="noStrike" baseline="0" dirty="0">
                <a:latin typeface="Times New Roman" panose="02020603050405020304" pitchFamily="18" charset="0"/>
                <a:cs typeface="Times New Roman" panose="02020603050405020304" pitchFamily="18" charset="0"/>
              </a:rPr>
              <a:t> X. Chen and J. C. </a:t>
            </a:r>
            <a:r>
              <a:rPr lang="en-US" sz="1600" b="0" i="0" u="none" strike="noStrike" baseline="0" dirty="0" err="1">
                <a:latin typeface="Times New Roman" panose="02020603050405020304" pitchFamily="18" charset="0"/>
                <a:cs typeface="Times New Roman" panose="02020603050405020304" pitchFamily="18" charset="0"/>
              </a:rPr>
              <a:t>Jeong</a:t>
            </a:r>
            <a:r>
              <a:rPr lang="en-US" sz="1600" b="0" i="0" u="none" strike="noStrike" baseline="0" dirty="0">
                <a:latin typeface="Times New Roman" panose="02020603050405020304" pitchFamily="18" charset="0"/>
                <a:cs typeface="Times New Roman" panose="02020603050405020304" pitchFamily="18" charset="0"/>
              </a:rPr>
              <a:t>(2007) recursive feature elimination. Sixth International</a:t>
            </a:r>
            <a:r>
              <a:rPr lang="en-US" sz="1600" dirty="0">
                <a:latin typeface="Times New Roman" panose="02020603050405020304" pitchFamily="18" charset="0"/>
                <a:cs typeface="Times New Roman" panose="02020603050405020304" pitchFamily="18" charset="0"/>
              </a:rPr>
              <a:t> </a:t>
            </a:r>
            <a:r>
              <a:rPr lang="en-US" sz="1600" b="0" i="0" u="none" strike="noStrike" baseline="0" dirty="0">
                <a:latin typeface="Times New Roman" panose="02020603050405020304" pitchFamily="18" charset="0"/>
                <a:cs typeface="Times New Roman" panose="02020603050405020304" pitchFamily="18" charset="0"/>
              </a:rPr>
              <a:t>Conference on Machine Learning and Applications pp. 429-435.</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380808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954217A-D8DE-4B7E-A5CD-2DF3105E2BB7}"/>
              </a:ext>
            </a:extLst>
          </p:cNvPr>
          <p:cNvSpPr>
            <a:spLocks noGrp="1"/>
          </p:cNvSpPr>
          <p:nvPr>
            <p:ph type="dt" sz="half" idx="10"/>
          </p:nvPr>
        </p:nvSpPr>
        <p:spPr/>
        <p:txBody>
          <a:bodyPr/>
          <a:lstStyle/>
          <a:p>
            <a:fld id="{4ADEF49E-FE29-4424-8721-6199021D9F80}" type="datetime1">
              <a:rPr lang="en-US" smtClean="0"/>
              <a:pPr/>
              <a:t>7/26/2021</a:t>
            </a:fld>
            <a:endParaRPr lang="en-US"/>
          </a:p>
        </p:txBody>
      </p:sp>
      <p:sp>
        <p:nvSpPr>
          <p:cNvPr id="5" name="Footer Placeholder 4">
            <a:extLst>
              <a:ext uri="{FF2B5EF4-FFF2-40B4-BE49-F238E27FC236}">
                <a16:creationId xmlns:a16="http://schemas.microsoft.com/office/drawing/2014/main" id="{73981A67-9E12-41A0-BC7B-533E2E4262F6}"/>
              </a:ext>
            </a:extLst>
          </p:cNvPr>
          <p:cNvSpPr>
            <a:spLocks noGrp="1"/>
          </p:cNvSpPr>
          <p:nvPr>
            <p:ph type="ftr" sz="quarter" idx="11"/>
          </p:nvPr>
        </p:nvSpPr>
        <p:spPr/>
        <p:txBody>
          <a:bodyPr/>
          <a:lstStyle/>
          <a:p>
            <a:r>
              <a:rPr lang="en-US"/>
              <a:t>College of Engineering, Pune</a:t>
            </a:r>
            <a:endParaRPr lang="en-US" dirty="0"/>
          </a:p>
        </p:txBody>
      </p:sp>
      <p:sp>
        <p:nvSpPr>
          <p:cNvPr id="6" name="Slide Number Placeholder 5">
            <a:extLst>
              <a:ext uri="{FF2B5EF4-FFF2-40B4-BE49-F238E27FC236}">
                <a16:creationId xmlns:a16="http://schemas.microsoft.com/office/drawing/2014/main" id="{F4B836A9-5A8F-405A-A712-15CBD041A2B3}"/>
              </a:ext>
            </a:extLst>
          </p:cNvPr>
          <p:cNvSpPr>
            <a:spLocks noGrp="1"/>
          </p:cNvSpPr>
          <p:nvPr>
            <p:ph type="sldNum" sz="quarter" idx="12"/>
          </p:nvPr>
        </p:nvSpPr>
        <p:spPr/>
        <p:txBody>
          <a:bodyPr/>
          <a:lstStyle/>
          <a:p>
            <a:fld id="{B6F15528-21DE-4FAA-801E-634DDDAF4B2B}" type="slidenum">
              <a:rPr lang="en-US" smtClean="0"/>
              <a:pPr/>
              <a:t>92</a:t>
            </a:fld>
            <a:endParaRPr lang="en-US"/>
          </a:p>
        </p:txBody>
      </p:sp>
      <p:sp>
        <p:nvSpPr>
          <p:cNvPr id="7" name="TextBox 6">
            <a:extLst>
              <a:ext uri="{FF2B5EF4-FFF2-40B4-BE49-F238E27FC236}">
                <a16:creationId xmlns:a16="http://schemas.microsoft.com/office/drawing/2014/main" id="{C95102D0-5183-4835-805D-CC83D53F684B}"/>
              </a:ext>
            </a:extLst>
          </p:cNvPr>
          <p:cNvSpPr txBox="1"/>
          <p:nvPr/>
        </p:nvSpPr>
        <p:spPr>
          <a:xfrm>
            <a:off x="1828800" y="2340114"/>
            <a:ext cx="5638800" cy="707886"/>
          </a:xfrm>
          <a:prstGeom prst="rect">
            <a:avLst/>
          </a:prstGeom>
          <a:noFill/>
        </p:spPr>
        <p:txBody>
          <a:bodyPr wrap="square" rtlCol="0">
            <a:spAutoFit/>
          </a:bodyPr>
          <a:lstStyle/>
          <a:p>
            <a:pPr algn="ctr"/>
            <a:r>
              <a:rPr lang="en-US" sz="4000" dirty="0">
                <a:latin typeface="Times New Roman" panose="02020603050405020304" pitchFamily="18" charset="0"/>
                <a:cs typeface="Times New Roman" panose="02020603050405020304" pitchFamily="18" charset="0"/>
              </a:rPr>
              <a:t>Thank You</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6543247"/>
      </p:ext>
    </p:extLst>
  </p:cSld>
  <p:clrMapOvr>
    <a:masterClrMapping/>
  </p:clrMapOvr>
</p:sld>
</file>

<file path=ppt/theme/theme1.xml><?xml version="1.0" encoding="utf-8"?>
<a:theme xmlns:a="http://schemas.openxmlformats.org/drawingml/2006/main" name="COEP_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COEP_THEME</Template>
  <TotalTime>11648</TotalTime>
  <Words>7946</Words>
  <Application>Microsoft Office PowerPoint</Application>
  <PresentationFormat>On-screen Show (4:3)</PresentationFormat>
  <Paragraphs>4415</Paragraphs>
  <Slides>92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92</vt:i4>
      </vt:variant>
    </vt:vector>
  </HeadingPairs>
  <TitlesOfParts>
    <vt:vector size="101" baseType="lpstr">
      <vt:lpstr>Arial</vt:lpstr>
      <vt:lpstr>Arial Rounded MT Bold</vt:lpstr>
      <vt:lpstr>Calibri</vt:lpstr>
      <vt:lpstr>LM Roman 12</vt:lpstr>
      <vt:lpstr>LM Roman 8</vt:lpstr>
      <vt:lpstr>LMRoman12-Regular</vt:lpstr>
      <vt:lpstr>Times New Roman</vt:lpstr>
      <vt:lpstr>Wingdings</vt:lpstr>
      <vt:lpstr>COEP_THEME</vt:lpstr>
      <vt:lpstr>PowerPoint Presentation</vt:lpstr>
      <vt:lpstr>CONTENTS:</vt:lpstr>
      <vt:lpstr>Problem Statement</vt:lpstr>
      <vt:lpstr>Introduction</vt:lpstr>
      <vt:lpstr>PowerPoint Presentation</vt:lpstr>
      <vt:lpstr>PowerPoint Presentation</vt:lpstr>
      <vt:lpstr>PowerPoint Presentation</vt:lpstr>
      <vt:lpstr>Aim and Objective</vt:lpstr>
      <vt:lpstr>PowerPoint Presentation</vt:lpstr>
      <vt:lpstr> Feature Extraction</vt:lpstr>
      <vt:lpstr>PowerPoint Presentation</vt:lpstr>
      <vt:lpstr>Mel Filter bank</vt:lpstr>
      <vt:lpstr>Result of Feature Extraction</vt:lpstr>
      <vt:lpstr>Support Vector Machine</vt:lpstr>
      <vt:lpstr>Result of MFCC</vt:lpstr>
      <vt:lpstr>PowerPoint Presentation</vt:lpstr>
      <vt:lpstr>PowerPoint Presentation</vt:lpstr>
      <vt:lpstr>PowerPoint Presentation</vt:lpstr>
      <vt:lpstr>PowerPoint Presentation</vt:lpstr>
      <vt:lpstr>PowerPoint Presentation</vt:lpstr>
      <vt:lpstr>Result of LFCC</vt:lpstr>
      <vt:lpstr>PowerPoint Presentation</vt:lpstr>
      <vt:lpstr>PowerPoint Presentation</vt:lpstr>
      <vt:lpstr>PowerPoint Presentation</vt:lpstr>
      <vt:lpstr>PowerPoint Presentation</vt:lpstr>
      <vt:lpstr>PowerPoint Presentation</vt:lpstr>
      <vt:lpstr>Result of GFCC</vt:lpstr>
      <vt:lpstr>PowerPoint Presentation</vt:lpstr>
      <vt:lpstr>PowerPoint Presentation</vt:lpstr>
      <vt:lpstr>PowerPoint Presentation</vt:lpstr>
      <vt:lpstr>PowerPoint Presentation</vt:lpstr>
      <vt:lpstr>PowerPoint Presentation</vt:lpstr>
      <vt:lpstr>PowerPoint Presentation</vt:lpstr>
      <vt:lpstr>Feature Selection</vt:lpstr>
      <vt:lpstr>Recursive Feature Elimination (RFE) </vt:lpstr>
      <vt:lpstr>PowerPoint Presentation</vt:lpstr>
      <vt:lpstr>Result of MFCC</vt:lpstr>
      <vt:lpstr>PowerPoint Presentation</vt:lpstr>
      <vt:lpstr>PowerPoint Presentation</vt:lpstr>
      <vt:lpstr>PowerPoint Presentation</vt:lpstr>
      <vt:lpstr>Result of LFCC</vt:lpstr>
      <vt:lpstr>PowerPoint Presentation</vt:lpstr>
      <vt:lpstr>PowerPoint Presentation</vt:lpstr>
      <vt:lpstr>PowerPoint Presentation</vt:lpstr>
      <vt:lpstr>Result of GFCC</vt:lpstr>
      <vt:lpstr>PowerPoint Presentation</vt:lpstr>
      <vt:lpstr>PowerPoint Presentation</vt:lpstr>
      <vt:lpstr>PowerPoint Presentation</vt:lpstr>
      <vt:lpstr>PowerPoint Presentation</vt:lpstr>
      <vt:lpstr>K-Nearest Neighbors</vt:lpstr>
      <vt:lpstr>Result of MFCC</vt:lpstr>
      <vt:lpstr>PowerPoint Presentation</vt:lpstr>
      <vt:lpstr>PowerPoint Presentation</vt:lpstr>
      <vt:lpstr>PowerPoint Presentation</vt:lpstr>
      <vt:lpstr>PowerPoint Presentation</vt:lpstr>
      <vt:lpstr>PowerPoint Presentation</vt:lpstr>
      <vt:lpstr>Result of LFCC</vt:lpstr>
      <vt:lpstr>PowerPoint Presentation</vt:lpstr>
      <vt:lpstr>PowerPoint Presentation</vt:lpstr>
      <vt:lpstr>PowerPoint Presentation</vt:lpstr>
      <vt:lpstr>PowerPoint Presentation</vt:lpstr>
      <vt:lpstr>PowerPoint Presentation</vt:lpstr>
      <vt:lpstr>Result of GFCC</vt:lpstr>
      <vt:lpstr>PowerPoint Presentation</vt:lpstr>
      <vt:lpstr>PowerPoint Presentation</vt:lpstr>
      <vt:lpstr>PowerPoint Presentation</vt:lpstr>
      <vt:lpstr>PowerPoint Presentation</vt:lpstr>
      <vt:lpstr>PowerPoint Presentation</vt:lpstr>
      <vt:lpstr>PowerPoint Presentation</vt:lpstr>
      <vt:lpstr>Artificial Neural Network</vt:lpstr>
      <vt:lpstr>Result of MFCC</vt:lpstr>
      <vt:lpstr>PowerPoint Presentation</vt:lpstr>
      <vt:lpstr>Result of LFCC</vt:lpstr>
      <vt:lpstr>PowerPoint Presentation</vt:lpstr>
      <vt:lpstr>Result of GFCC</vt:lpstr>
      <vt:lpstr>PowerPoint Presentation</vt:lpstr>
      <vt:lpstr>PowerPoint Presentation</vt:lpstr>
      <vt:lpstr>Convolutional Neural Network</vt:lpstr>
      <vt:lpstr>Result of MFCC</vt:lpstr>
      <vt:lpstr>PowerPoint Presentation</vt:lpstr>
      <vt:lpstr>Result of LFCC</vt:lpstr>
      <vt:lpstr>PowerPoint Presentation</vt:lpstr>
      <vt:lpstr>Result of GFCC</vt:lpstr>
      <vt:lpstr>PowerPoint Presentation</vt:lpstr>
      <vt:lpstr>PowerPoint Presentation</vt:lpstr>
      <vt:lpstr>PowerPoint Presentation</vt:lpstr>
      <vt:lpstr>Conclusion</vt:lpstr>
      <vt:lpstr>PowerPoint Presentation</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implementation of ALPR</dc:title>
  <dc:creator>Girish</dc:creator>
  <cp:lastModifiedBy>Girish Rane</cp:lastModifiedBy>
  <cp:revision>649</cp:revision>
  <dcterms:created xsi:type="dcterms:W3CDTF">2006-08-16T00:00:00Z</dcterms:created>
  <dcterms:modified xsi:type="dcterms:W3CDTF">2021-07-26T09:43:15Z</dcterms:modified>
</cp:coreProperties>
</file>